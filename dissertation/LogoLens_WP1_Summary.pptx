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7A746A"/>
                </a:solidFill>
                <a:latin typeface="Calibri"/>
              </a:rPr>
              <a:t>MSc DISSERTATION SUMMAR</a:t>
            </a:r>
            <a:r>
              <a:rPr lang="en-US" sz="1100" b="1" i="0" dirty="0">
                <a:solidFill>
                  <a:srgbClr val="7A746A"/>
                </a:solidFill>
                <a:latin typeface="Calibri"/>
              </a:rPr>
              <a:t>Y</a:t>
            </a:r>
            <a:endParaRPr sz="1100" b="1" i="0" dirty="0">
              <a:solidFill>
                <a:srgbClr val="7A746A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143000" cy="41148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2148840"/>
            <a:ext cx="8229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vi-VN" b="1" dirty="0"/>
              <a:t>COMPUTER-VISION FRAMEWORK FOR SPONSOR-LOGO DETECTION AND VISIBILITY-QUALITY ASSESSMENT IN SPORTS</a:t>
            </a:r>
            <a:endParaRPr sz="5800" b="1" i="0" dirty="0">
              <a:solidFill>
                <a:srgbClr val="4A151D"/>
              </a:solidFill>
              <a:latin typeface="Georg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6D1F2B"/>
                </a:solidFill>
                <a:latin typeface="Georgia"/>
              </a:rPr>
              <a:t>Work Package 1: Logo Detection and Visibility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7498079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454138"/>
                </a:solidFill>
                <a:latin typeface="Calibri"/>
              </a:rPr>
              <a:t>A closed-set multi-logo detection system and a transparent prototype framework for turning sponsor-logo detections into auditable visibility evidence — evaluated on unseen Bradford Bulls broadcast footage.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82296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7A746A"/>
                </a:solidFill>
                <a:latin typeface="Calibri"/>
              </a:rPr>
              <a:t>MSc Applied Artificial Intelligence and Data Analytics · University of Bradford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A39C8E"/>
                </a:solidFill>
                <a:latin typeface="Calibri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7A746A"/>
                </a:solidFill>
                <a:latin typeface="Calibri"/>
              </a:rPr>
              <a:t>THE PROBLEM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49808"/>
            <a:ext cx="548640" cy="0"/>
          </a:xfrm>
          <a:prstGeom prst="line">
            <a:avLst/>
          </a:prstGeom>
          <a:ln w="27940">
            <a:solidFill>
              <a:srgbClr val="6D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84124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4A151D"/>
                </a:solidFill>
                <a:latin typeface="Georgia"/>
              </a:rPr>
              <a:t>The measurement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60350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600"/>
              </a:spcAft>
            </a:pPr>
            <a:r>
              <a:rPr sz="1500" dirty="0">
                <a:solidFill>
                  <a:srgbClr val="3A362F"/>
                </a:solidFill>
                <a:latin typeface="Calibri"/>
              </a:rPr>
              <a:t>Every broadcast and highlight clip is already a complete visual record of which sponsor marks appeared — but sponsorship is still priced on precedent, not on that evidence.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sz="1500" dirty="0">
                <a:solidFill>
                  <a:srgbClr val="3A362F"/>
                </a:solidFill>
                <a:latin typeface="Calibri"/>
              </a:rPr>
              <a:t>Nielsen, </a:t>
            </a:r>
            <a:r>
              <a:rPr sz="1500" dirty="0" err="1">
                <a:solidFill>
                  <a:srgbClr val="3A362F"/>
                </a:solidFill>
                <a:latin typeface="Calibri"/>
              </a:rPr>
              <a:t>Relo</a:t>
            </a:r>
            <a:r>
              <a:rPr sz="1500" dirty="0">
                <a:solidFill>
                  <a:srgbClr val="3A362F"/>
                </a:solidFill>
                <a:latin typeface="Calibri"/>
              </a:rPr>
              <a:t> Metrics and </a:t>
            </a:r>
            <a:r>
              <a:rPr sz="1500" dirty="0" err="1">
                <a:solidFill>
                  <a:srgbClr val="3A362F"/>
                </a:solidFill>
                <a:latin typeface="Calibri"/>
              </a:rPr>
              <a:t>Blinkfire</a:t>
            </a:r>
            <a:r>
              <a:rPr sz="1500" dirty="0">
                <a:solidFill>
                  <a:srgbClr val="3A362F"/>
                </a:solidFill>
                <a:latin typeface="Calibri"/>
              </a:rPr>
              <a:t> prove automated exposure tracking is feasible at scale — but their methods and evaluation data are proprietary.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sz="1500" dirty="0">
                <a:solidFill>
                  <a:srgbClr val="3A362F"/>
                </a:solidFill>
                <a:latin typeface="Calibri"/>
              </a:rPr>
              <a:t>Clubs receiving those reports cannot check a figure against the footage; smaller clubs like Bradford Bulls have no independent means of telling whether a sponsorship is delivering fair value.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828800"/>
            <a:ext cx="47548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754880" cy="45720"/>
          </a:xfrm>
          <a:prstGeom prst="rect">
            <a:avLst/>
          </a:prstGeom>
          <a:solidFill>
            <a:srgbClr val="6D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86600" y="205740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D1F2B"/>
                </a:solidFill>
                <a:latin typeface="Georgia"/>
              </a:rPr>
              <a:t>THE ASYMMETRY THIS DISSERTATION MEASURES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42316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50">
                <a:solidFill>
                  <a:srgbClr val="3A362F"/>
                </a:solidFill>
                <a:latin typeface="Calibri"/>
              </a:rPr>
              <a:t>The same shirt position can be legible in a close-up or a few indistinct pixels in a wide shot. This dissertation puts numbers on exactly that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86600" y="3520440"/>
            <a:ext cx="2011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86600" y="363016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6D1F2B"/>
                </a:solidFill>
                <a:latin typeface="Georgia"/>
              </a:rPr>
              <a:t>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434340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7A746A"/>
                </a:solidFill>
                <a:latin typeface="Calibri"/>
              </a:rPr>
              <a:t>RECALL, CLOSE &amp; MEDIUM SHOTS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81160" y="3520440"/>
            <a:ext cx="2011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81160" y="363016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6D1F2B"/>
                </a:solidFill>
                <a:latin typeface="Georgia"/>
              </a:rPr>
              <a:t>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434340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7A746A"/>
                </a:solidFill>
                <a:latin typeface="Calibri"/>
              </a:rPr>
              <a:t>RECALL, WIDE TACTICAL SHOTS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A39C8E"/>
                </a:solidFill>
                <a:latin typeface="Calibri"/>
              </a:rPr>
              <a:t>LogoLens · WP1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A39C8E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7A746A"/>
                </a:solidFill>
                <a:latin typeface="Calibri"/>
              </a:rPr>
              <a:t>AIM &amp; RESEARCH QUESTIONS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49808"/>
            <a:ext cx="548640" cy="0"/>
          </a:xfrm>
          <a:prstGeom prst="line">
            <a:avLst/>
          </a:prstGeom>
          <a:ln w="27940">
            <a:solidFill>
              <a:srgbClr val="6D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84124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4A151D"/>
                </a:solidFill>
                <a:latin typeface="Georgia"/>
              </a:rPr>
              <a:t>Aim &amp; research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0642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45720" cy="82296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3A362F"/>
                </a:solidFill>
                <a:latin typeface="Calibri"/>
              </a:rPr>
              <a:t>Aim: develop and evaluate an accurate multi-logo detection system for unseen sports footage, and implement a transparent prototype that converts frame-level detections into auditable visibility evidence.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094232"/>
              </p:ext>
            </p:extLst>
          </p:nvPr>
        </p:nvGraphicFramePr>
        <p:xfrm>
          <a:off x="548640" y="2880360"/>
          <a:ext cx="11064239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0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1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A746A"/>
                          </a:solidFill>
                          <a:latin typeface="Calibri"/>
                        </a:rPr>
                        <a:t>RQ</a:t>
                      </a:r>
                    </a:p>
                  </a:txBody>
                  <a:tcPr marL="73152" marR="73152" marT="27432" marB="27432"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A746A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b="1" dirty="0">
                          <a:solidFill>
                            <a:srgbClr val="7A746A"/>
                          </a:solidFill>
                          <a:latin typeface="Calibri"/>
                        </a:rPr>
                        <a:t>Solution</a:t>
                      </a:r>
                      <a:endParaRPr sz="1050" b="1" dirty="0">
                        <a:solidFill>
                          <a:srgbClr val="7A746A"/>
                        </a:solidFill>
                        <a:latin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D1F2B"/>
                          </a:solidFill>
                          <a:latin typeface="Georgia"/>
                        </a:rPr>
                        <a:t>RQ1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62F"/>
                          </a:solidFill>
                          <a:latin typeface="Calibri"/>
                        </a:rPr>
                        <a:t>How accurately and efficiently can the system identify multiple known sponsor logos in unseen footage?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62F"/>
                          </a:solidFill>
                          <a:latin typeface="Calibri"/>
                        </a:rPr>
                        <a:t>Train &amp; evaluate detection models · detect multiple logos simultaneously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D1F2B"/>
                          </a:solidFill>
                          <a:latin typeface="Georgia"/>
                        </a:rPr>
                        <a:t>RQ2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62F"/>
                          </a:solidFill>
                          <a:latin typeface="Calibri"/>
                        </a:rPr>
                        <a:t>How does held-out detection performance vary across logo size, camera distance, lighting and resolution?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dirty="0" err="1">
                          <a:solidFill>
                            <a:srgbClr val="3A362F"/>
                          </a:solidFill>
                          <a:latin typeface="Calibri"/>
                        </a:rPr>
                        <a:t>Analyse</a:t>
                      </a:r>
                      <a:r>
                        <a:rPr sz="1150" b="0" dirty="0">
                          <a:solidFill>
                            <a:srgbClr val="3A362F"/>
                          </a:solidFill>
                          <a:latin typeface="Calibri"/>
                        </a:rPr>
                        <a:t> logo size &amp; screen coverage · measure occlusion · assess image quality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D1F2B"/>
                          </a:solidFill>
                          <a:latin typeface="Georgia"/>
                        </a:rPr>
                        <a:t>RQ3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dirty="0">
                          <a:solidFill>
                            <a:srgbClr val="3A362F"/>
                          </a:solidFill>
                          <a:latin typeface="Calibri"/>
                        </a:rPr>
                        <a:t>How can detections be transformed into a transparent, auditable measure of visibility duration and quality — and what validation is still required?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dirty="0">
                          <a:solidFill>
                            <a:srgbClr val="3A362F"/>
                          </a:solidFill>
                          <a:latin typeface="Calibri"/>
                        </a:rPr>
                        <a:t>Measure visibility duration · develop the Logo Visibility Score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A39C8E"/>
                </a:solidFill>
                <a:latin typeface="Calibri"/>
              </a:rPr>
              <a:t>LogoLens · WP1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A39C8E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7A746A"/>
                </a:solidFill>
                <a:latin typeface="Calibri"/>
              </a:rPr>
              <a:t>DATA &amp; EVALUATION 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49808"/>
            <a:ext cx="548640" cy="0"/>
          </a:xfrm>
          <a:prstGeom prst="line">
            <a:avLst/>
          </a:prstGeom>
          <a:ln w="27940">
            <a:solidFill>
              <a:srgbClr val="6D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84124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4A151D"/>
                </a:solidFill>
                <a:latin typeface="Georgia"/>
              </a:rPr>
              <a:t>Dataset &amp; leakage-aware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6060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6D1F2B"/>
                </a:solidFill>
                <a:latin typeface="Georgia"/>
              </a:rPr>
              <a:t>584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7A746A"/>
                </a:solidFill>
                <a:latin typeface="Calibri"/>
              </a:rPr>
              <a:t>IMAGES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828800"/>
            <a:ext cx="26060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938528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6D1F2B"/>
                </a:solidFill>
                <a:latin typeface="Georgia"/>
              </a:rPr>
              <a:t>1,903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37744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7A746A"/>
                </a:solidFill>
                <a:latin typeface="Calibri"/>
              </a:rPr>
              <a:t>ANNOTATED BOXES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828800"/>
            <a:ext cx="26060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35040" y="1938528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6D1F2B"/>
                </a:solidFill>
                <a:latin typeface="Georgia"/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37744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7A746A"/>
                </a:solidFill>
                <a:latin typeface="Calibri"/>
              </a:rPr>
              <a:t>SPONSOR CLASSES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1828800"/>
            <a:ext cx="26060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0" y="1938528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6D1F2B"/>
                </a:solidFill>
                <a:latin typeface="Georgia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237744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7A746A"/>
                </a:solidFill>
                <a:latin typeface="Calibri"/>
              </a:rPr>
              <a:t>DISJOINT MATCH GROUPS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2971800"/>
          <a:ext cx="11064236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1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7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76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76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398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A746A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 marL="73152" marR="73152" marT="27432" marB="27432"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A746A"/>
                          </a:solidFill>
                          <a:latin typeface="Calibri"/>
                        </a:rPr>
                        <a:t>Matches</a:t>
                      </a:r>
                    </a:p>
                  </a:txBody>
                  <a:tcPr marL="73152" marR="73152" marT="27432" marB="27432"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A746A"/>
                          </a:solidFill>
                          <a:latin typeface="Calibri"/>
                        </a:rPr>
                        <a:t>Images</a:t>
                      </a:r>
                    </a:p>
                  </a:txBody>
                  <a:tcPr marL="73152" marR="73152" marT="27432" marB="27432"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A746A"/>
                          </a:solidFill>
                          <a:latin typeface="Calibri"/>
                        </a:rPr>
                        <a:t>Boxes</a:t>
                      </a:r>
                    </a:p>
                  </a:txBody>
                  <a:tcPr marL="73152" marR="73152" marT="27432" marB="27432"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A746A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27432" marB="27432" anchor="ctr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460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1,611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Weight optimisation &amp; augmentation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127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Checkpoint selection &amp; stopping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Test (held-out)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165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Final evaluation only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48640" y="46634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>
                <a:solidFill>
                  <a:srgbClr val="575149"/>
                </a:solidFill>
                <a:latin typeface="Calibri"/>
              </a:rPr>
              <a:t>The unit of independence is the match, not the frame. An earlier frame-level split let 51 of 56 validation frames share a training frame from the same clip within two seconds.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45720" cy="82296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539496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3A362F"/>
                </a:solidFill>
                <a:latin typeface="Calibri"/>
              </a:rPr>
              <a:t>Why this matters: applying the final checkpoint to familiar match material scores 0.998 mAP@0.50 — on genuinely unseen matches it scores 0.933. The gap is evaluation optimism, not model improvement.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A39C8E"/>
                </a:solidFill>
                <a:latin typeface="Calibri"/>
              </a:rPr>
              <a:t>LogoLens · WP1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A39C8E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dirty="0">
                <a:solidFill>
                  <a:srgbClr val="7A746A"/>
                </a:solidFill>
                <a:latin typeface="Calibri"/>
              </a:rPr>
              <a:t>MODEL COMPARISON</a:t>
            </a:r>
            <a:endParaRPr sz="1050" b="1" i="0" dirty="0">
              <a:solidFill>
                <a:srgbClr val="7A746A"/>
              </a:solidFill>
              <a:latin typeface="Calibri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48640" y="749808"/>
            <a:ext cx="548640" cy="0"/>
          </a:xfrm>
          <a:prstGeom prst="line">
            <a:avLst/>
          </a:prstGeom>
          <a:ln w="27940">
            <a:solidFill>
              <a:srgbClr val="6D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84124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4A151D"/>
                </a:solidFill>
                <a:latin typeface="Georgia"/>
              </a:rPr>
              <a:t>RF-DETR vs. YOLO26 — one accuracy protocol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20240"/>
          <a:ext cx="11064238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87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2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1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7A746A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A746A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marL="73152" marR="73152" marT="27432" marB="27432"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A746A"/>
                          </a:solidFill>
                          <a:latin typeface="Calibri"/>
                        </a:rPr>
                        <a:t>mAP@0.50</a:t>
                      </a:r>
                    </a:p>
                  </a:txBody>
                  <a:tcPr marL="73152" marR="73152" marT="27432" marB="27432"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A746A"/>
                          </a:solidFill>
                          <a:latin typeface="Calibri"/>
                        </a:rPr>
                        <a:t>mAP@0.75</a:t>
                      </a:r>
                    </a:p>
                  </a:txBody>
                  <a:tcPr marL="73152" marR="73152" marT="27432" marB="27432"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A746A"/>
                          </a:solidFill>
                          <a:latin typeface="Calibri"/>
                        </a:rPr>
                        <a:t>mAP[.50:.95]</a:t>
                      </a:r>
                    </a:p>
                  </a:txBody>
                  <a:tcPr marL="73152" marR="73152" marT="27432" marB="27432"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7A746A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73152" marR="73152" marT="27432" marB="27432" anchor="ctr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YOLO26-n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2.5M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0.551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0.485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0.389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0.691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YOLO26-s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10.0M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0.772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0.673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0.552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0.810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YOLO26-m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21.8M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0.747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0.618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0.529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A362F"/>
                          </a:solidFill>
                          <a:latin typeface="Calibri"/>
                        </a:rPr>
                        <a:t>0.822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RF-DETR Small</a:t>
                      </a:r>
                    </a:p>
                  </a:txBody>
                  <a:tcPr marL="73152" marR="73152" marT="27432" marB="27432" anchor="ctr">
                    <a:solidFill>
                      <a:srgbClr val="6D1F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31.8M</a:t>
                      </a:r>
                    </a:p>
                  </a:txBody>
                  <a:tcPr marL="73152" marR="73152" marT="27432" marB="27432" anchor="ctr">
                    <a:solidFill>
                      <a:srgbClr val="6D1F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0.933</a:t>
                      </a:r>
                    </a:p>
                  </a:txBody>
                  <a:tcPr marL="73152" marR="73152" marT="27432" marB="27432" anchor="ctr">
                    <a:solidFill>
                      <a:srgbClr val="6D1F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0.917</a:t>
                      </a:r>
                    </a:p>
                  </a:txBody>
                  <a:tcPr marL="73152" marR="73152" marT="27432" marB="27432" anchor="ctr">
                    <a:solidFill>
                      <a:srgbClr val="6D1F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0.747</a:t>
                      </a:r>
                    </a:p>
                  </a:txBody>
                  <a:tcPr marL="73152" marR="73152" marT="27432" marB="27432" anchor="ctr">
                    <a:solidFill>
                      <a:srgbClr val="6D1F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0.898</a:t>
                      </a:r>
                    </a:p>
                  </a:txBody>
                  <a:tcPr marL="73152" marR="73152" marT="27432" marB="27432" anchor="ctr">
                    <a:solidFill>
                      <a:srgbClr val="6D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300">
                <a:solidFill>
                  <a:srgbClr val="575149"/>
                </a:solidFill>
                <a:latin typeface="Calibri"/>
              </a:rPr>
              <a:t>Same images, match-disjoint split, 896px input and scoring code for all four models. RF-DETR Small leads the strongest YOLO26 baseline by +16.1 points at mAP@0.50 and +24.4 points at the stricter mAP@0.75 — but pre-training, capacity and augmentation recipe are not equal, so this is a system-level result, not an architecture ablation.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A39C8E"/>
                </a:solidFill>
                <a:latin typeface="Calibri"/>
              </a:rPr>
              <a:t>LogoLens · WP1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A39C8E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7A746A"/>
                </a:solidFill>
                <a:latin typeface="Calibri"/>
              </a:rPr>
              <a:t>DETECTION LOGO</a:t>
            </a:r>
            <a:endParaRPr sz="1050" b="1" i="0" dirty="0">
              <a:solidFill>
                <a:srgbClr val="7A746A"/>
              </a:solidFill>
              <a:latin typeface="Calibri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48640" y="749808"/>
            <a:ext cx="548640" cy="0"/>
          </a:xfrm>
          <a:prstGeom prst="line">
            <a:avLst/>
          </a:prstGeom>
          <a:ln w="27940">
            <a:solidFill>
              <a:srgbClr val="6D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84124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4A151D"/>
                </a:solidFill>
                <a:latin typeface="Georgia"/>
              </a:rPr>
              <a:t>Headline result — and why it holds up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20848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92808"/>
            <a:ext cx="20848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6D1F2B"/>
                </a:solidFill>
                <a:latin typeface="Georgia"/>
              </a:rPr>
              <a:t>0.933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199339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7A746A"/>
                </a:solidFill>
                <a:latin typeface="Calibri"/>
              </a:rPr>
              <a:t>MAP@0.50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24911" y="1783080"/>
            <a:ext cx="20848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24911" y="1892808"/>
            <a:ext cx="20848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6D1F2B"/>
                </a:solidFill>
                <a:latin typeface="Georgia"/>
              </a:rPr>
              <a:t>0.917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0631" y="2331720"/>
            <a:ext cx="199339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7A746A"/>
                </a:solidFill>
                <a:latin typeface="Calibri"/>
              </a:rPr>
              <a:t>MAP@0.75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01182" y="1783080"/>
            <a:ext cx="20848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01182" y="1892808"/>
            <a:ext cx="20848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6D1F2B"/>
                </a:solidFill>
                <a:latin typeface="Georgia"/>
              </a:rPr>
              <a:t>0.747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6902" y="2331720"/>
            <a:ext cx="199339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7A746A"/>
                </a:solidFill>
                <a:latin typeface="Calibri"/>
              </a:rPr>
              <a:t>MAP[.50:.95]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77453" y="1783080"/>
            <a:ext cx="20848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77453" y="1892808"/>
            <a:ext cx="20848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6D1F2B"/>
                </a:solidFill>
                <a:latin typeface="Georgia"/>
              </a:rPr>
              <a:t>0.898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3173" y="2331720"/>
            <a:ext cx="199339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7A746A"/>
                </a:solidFill>
                <a:latin typeface="Calibri"/>
              </a:rPr>
              <a:t>F1 @ CONF 0.35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53724" y="1783080"/>
            <a:ext cx="2084831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53724" y="1892808"/>
            <a:ext cx="20848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6D1F2B"/>
                </a:solidFill>
                <a:latin typeface="Georgia"/>
              </a:rPr>
              <a:t>19.8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4" y="2331720"/>
            <a:ext cx="199339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7A746A"/>
                </a:solidFill>
                <a:latin typeface="Calibri"/>
              </a:rPr>
              <a:t>PRED. FPS</a:t>
            </a:r>
          </a:p>
        </p:txBody>
      </p:sp>
      <p:pic>
        <p:nvPicPr>
          <p:cNvPr id="21" name="Picture 20" descr="slide_multi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80360"/>
            <a:ext cx="5486400" cy="30861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5989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75149"/>
                </a:solidFill>
                <a:latin typeface="Calibri"/>
              </a:rPr>
              <a:t>Real held-out frame (M_CAS): 12 of 12 matched logos across 6 sponsor classes, no false positive.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880360"/>
            <a:ext cx="5330952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9360" y="2880360"/>
            <a:ext cx="36576" cy="987552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2953512"/>
            <a:ext cx="49651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4A151D"/>
                </a:solidFill>
                <a:latin typeface="Georgia"/>
              </a:rPr>
              <a:t>Leakage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227832"/>
            <a:ext cx="4965192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950" dirty="0">
                <a:solidFill>
                  <a:srgbClr val="3A362F"/>
                </a:solidFill>
                <a:latin typeface="Calibri"/>
              </a:rPr>
              <a:t>0.998 familiar → 0.933 unseen. The 6.5-point drop is the evaluation-optimism a naive split would have hidden.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995928"/>
            <a:ext cx="5330952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3995928"/>
            <a:ext cx="36576" cy="987552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4069080"/>
            <a:ext cx="49651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4A151D"/>
                </a:solidFill>
                <a:latin typeface="Georgia"/>
              </a:rPr>
              <a:t>Support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343400"/>
            <a:ext cx="4965192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950" dirty="0">
                <a:solidFill>
                  <a:srgbClr val="3A362F"/>
                </a:solidFill>
                <a:latin typeface="Calibri"/>
              </a:rPr>
              <a:t>4 of 15 classes carry 7 of 165 test boxes. Restricted mean (n≥5): 0.917 — reported alongside 0.9335.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5111496"/>
            <a:ext cx="5330952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0" y="5111496"/>
            <a:ext cx="36576" cy="987552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5184648"/>
            <a:ext cx="49651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4A151D"/>
                </a:solidFill>
                <a:latin typeface="Georgia"/>
              </a:rPr>
              <a:t>Stability check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458968"/>
            <a:ext cx="4965192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950">
                <a:solidFill>
                  <a:srgbClr val="3A362F"/>
                </a:solidFill>
                <a:latin typeface="Calibri"/>
              </a:rPr>
              <a:t>Per-match mAP@0.50: 0.973 / 0.934 / 0.976 — the aggregate is not carried by one match.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A39C8E"/>
                </a:solidFill>
                <a:latin typeface="Calibri"/>
              </a:rPr>
              <a:t>LogoLens · WP1 Summary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A39C8E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7A746A"/>
                </a:solidFill>
                <a:latin typeface="Calibri"/>
              </a:rPr>
              <a:t>BREAKDOWN DETECTION</a:t>
            </a:r>
            <a:endParaRPr sz="1050" b="1" i="0" dirty="0">
              <a:solidFill>
                <a:srgbClr val="7A746A"/>
              </a:solidFill>
              <a:latin typeface="Calibri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48640" y="749808"/>
            <a:ext cx="548640" cy="0"/>
          </a:xfrm>
          <a:prstGeom prst="line">
            <a:avLst/>
          </a:prstGeom>
          <a:ln w="27940">
            <a:solidFill>
              <a:srgbClr val="6D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84124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4A151D"/>
                </a:solidFill>
                <a:latin typeface="Georgia"/>
              </a:rPr>
              <a:t>Where detection breaks 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713757"/>
            <a:ext cx="777240" cy="2132563"/>
          </a:xfrm>
          <a:prstGeom prst="rect">
            <a:avLst/>
          </a:prstGeom>
          <a:solidFill>
            <a:srgbClr val="6D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47997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4A151D"/>
                </a:solidFill>
                <a:latin typeface="Georgia"/>
              </a:rPr>
              <a:t>0.897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93776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7A746A"/>
                </a:solidFill>
                <a:latin typeface="Calibri"/>
              </a:rPr>
              <a:t>Close-up
(126 boxes)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2685228"/>
            <a:ext cx="777240" cy="2161092"/>
          </a:xfrm>
          <a:prstGeom prst="rect">
            <a:avLst/>
          </a:prstGeom>
          <a:solidFill>
            <a:srgbClr val="6D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2319468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4A151D"/>
                </a:solidFill>
                <a:latin typeface="Georgia"/>
              </a:rPr>
              <a:t>0.909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493776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7A746A"/>
                </a:solidFill>
                <a:latin typeface="Calibri"/>
              </a:rPr>
              <a:t>Medium
(33 boxes)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3657600"/>
            <a:ext cx="777240" cy="118872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3291840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4A151D"/>
                </a:solidFill>
                <a:latin typeface="Georgia"/>
              </a:rPr>
              <a:t>0.500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493776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7A746A"/>
                </a:solidFill>
                <a:latin typeface="Calibri"/>
              </a:rPr>
              <a:t>Wide
(6 boxes)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235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75149"/>
                </a:solidFill>
                <a:latin typeface="Calibri"/>
              </a:rPr>
              <a:t>Recall by camera distance, held-out test set (61 images).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1828800"/>
            <a:ext cx="6565392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74920" y="1828800"/>
            <a:ext cx="6565392" cy="4572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0" y="2057400"/>
            <a:ext cx="61264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b="1" i="0" dirty="0">
                <a:solidFill>
                  <a:srgbClr val="4A151D"/>
                </a:solidFill>
                <a:latin typeface="Georgia"/>
              </a:rPr>
              <a:t>Wide-shot errors are misses, not false alarms</a:t>
            </a:r>
            <a:endParaRPr sz="1500" b="1" i="0" dirty="0">
              <a:solidFill>
                <a:srgbClr val="4A151D"/>
              </a:solidFill>
              <a:latin typeface="Georgi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03520" y="2560320"/>
            <a:ext cx="61264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250" dirty="0">
                <a:solidFill>
                  <a:srgbClr val="3A362F"/>
                </a:solidFill>
                <a:latin typeface="Calibri"/>
              </a:rPr>
              <a:t>The detector doesn't invent remote logos — it fails to record them. This is a predictable, one-directional bias, not random noise.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250" dirty="0">
                <a:solidFill>
                  <a:srgbClr val="3A362F"/>
                </a:solidFill>
                <a:latin typeface="Calibri"/>
              </a:rPr>
              <a:t>Consequence: any duration estimate built on this detector will under-count exposure in passages dominated by wide tactical play.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250" dirty="0">
                <a:solidFill>
                  <a:srgbClr val="3A362F"/>
                </a:solidFill>
                <a:latin typeface="Calibri"/>
              </a:rPr>
              <a:t>Occlusion is illustrated qualitatively (Figure 8, three-level scale) but not yet quantified across the full held-out set.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A39C8E"/>
                </a:solidFill>
                <a:latin typeface="Calibri"/>
              </a:rPr>
              <a:t>LogoLens · WP1 Summary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A39C8E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dirty="0">
                <a:solidFill>
                  <a:srgbClr val="7A746A"/>
                </a:solidFill>
                <a:latin typeface="Calibri"/>
              </a:rPr>
              <a:t>LOGO VISIBILITY</a:t>
            </a:r>
            <a:endParaRPr sz="1050" b="1" i="0" dirty="0">
              <a:solidFill>
                <a:srgbClr val="7A746A"/>
              </a:solidFill>
              <a:latin typeface="Calibri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48640" y="749808"/>
            <a:ext cx="548640" cy="0"/>
          </a:xfrm>
          <a:prstGeom prst="line">
            <a:avLst/>
          </a:prstGeom>
          <a:ln w="27940">
            <a:solidFill>
              <a:srgbClr val="6D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84124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4A151D"/>
                </a:solidFill>
                <a:latin typeface="Georgia"/>
              </a:rPr>
              <a:t>From a detection to a Logo Visibility Score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48640" y="1341469"/>
                <a:ext cx="11064240" cy="96281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ED7C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vi-V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vi-V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clip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ar-AE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ar-AE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ar-AE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ar-AE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ar-AE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ar-AE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ar-AE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  <m: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func>
                                <m:funcPr>
                                  <m:ctrlPr>
                                    <a:rPr lang="vi-V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vi-V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ar-AE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ar-AE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Sup>
                                            <m:sSubSupPr>
                                              <m:ctrlPr>
                                                <a:rPr lang="ar-AE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ar-AE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ar-AE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bSup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ar-AE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ar-AE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ar-AE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0.3</m:t>
                                                  </m:r>
                                                  <m:r>
                                                    <a:rPr lang="ar-AE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𝑊</m:t>
                                                  </m:r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ar-AE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r>
                                <a:rPr lang="ar-A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ar-AE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ar-AE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ar-AE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341469"/>
                <a:ext cx="11064240" cy="9628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solidFill>
                  <a:srgbClr val="DED7C9"/>
                </a:solidFill>
              </a:ln>
              <a:effectLst/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48640" y="2761488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75149"/>
                </a:solidFill>
                <a:latin typeface="Calibri"/>
              </a:rPr>
              <a:t>Worked example — real held-out detection: KLG mark, M_CAS match, t=21.000s, IoU 0.85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2673500"/>
                  </p:ext>
                </p:extLst>
              </p:nvPr>
            </p:nvGraphicFramePr>
            <p:xfrm>
              <a:off x="548640" y="3127248"/>
              <a:ext cx="5669280" cy="268833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8976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716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84048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050" b="1">
                              <a:solidFill>
                                <a:srgbClr val="7A746A"/>
                              </a:solidFill>
                              <a:latin typeface="Calibri"/>
                            </a:rPr>
                            <a:t>Term</a:t>
                          </a:r>
                        </a:p>
                      </a:txBody>
                      <a:tcPr marL="73152" marR="73152" marT="27432" marB="27432" anchor="ctr">
                        <a:solidFill>
                          <a:srgbClr val="FAF8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sz="1050" b="1">
                              <a:solidFill>
                                <a:srgbClr val="7A746A"/>
                              </a:solidFill>
                              <a:latin typeface="Calibri"/>
                            </a:rPr>
                            <a:t>Value</a:t>
                          </a:r>
                        </a:p>
                      </a:txBody>
                      <a:tcPr marL="73152" marR="73152" marT="27432" marB="27432" anchor="ctr">
                        <a:solidFill>
                          <a:srgbClr val="FAF8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4048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vi-VN" sz="1250" b="0" i="1" smtClean="0">
                                      <a:solidFill>
                                        <a:srgbClr val="3A362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1250" b="0" i="1" smtClean="0">
                                      <a:solidFill>
                                        <a:srgbClr val="3A362F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vi-VN" sz="1250" b="0" i="1" smtClean="0">
                                      <a:solidFill>
                                        <a:srgbClr val="3A362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sz="1250" b="0" dirty="0">
                              <a:solidFill>
                                <a:srgbClr val="3A362F"/>
                              </a:solidFill>
                              <a:latin typeface="Calibri"/>
                            </a:rPr>
                            <a:t> /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vi-VN" sz="1250" b="0" i="1" smtClean="0">
                                      <a:solidFill>
                                        <a:srgbClr val="3A362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1250" b="0" i="1" smtClean="0">
                                      <a:solidFill>
                                        <a:srgbClr val="3A362F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vi-VN" sz="1250" b="0" i="1" smtClean="0">
                                      <a:solidFill>
                                        <a:srgbClr val="3A362F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oMath>
                          </a14:m>
                          <a:r>
                            <a:rPr sz="1250" b="0" dirty="0">
                              <a:solidFill>
                                <a:srgbClr val="3A362F"/>
                              </a:solidFill>
                              <a:latin typeface="Calibri"/>
                            </a:rPr>
                            <a:t>  (box area / frame area)</a:t>
                          </a:r>
                        </a:p>
                      </a:txBody>
                      <a:tcPr marL="73152" marR="73152" marT="27432" marB="27432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sz="1250" b="0">
                              <a:solidFill>
                                <a:srgbClr val="3A362F"/>
                              </a:solidFill>
                              <a:latin typeface="Calibri"/>
                            </a:rPr>
                            <a:t>0.0021</a:t>
                          </a:r>
                        </a:p>
                      </a:txBody>
                      <a:tcPr marL="73152" marR="73152" marT="27432" marB="27432"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4048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50" b="0" dirty="0">
                              <a:solidFill>
                                <a:srgbClr val="3A362F"/>
                              </a:solidFill>
                              <a:latin typeface="Calibri"/>
                            </a:rPr>
                            <a:t>sqrt(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sz="1250" b="0" i="1" smtClean="0">
                                      <a:solidFill>
                                        <a:srgbClr val="3A362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250" b="0" i="1" smtClean="0">
                                      <a:solidFill>
                                        <a:srgbClr val="3A362F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ar-AE" sz="1250" b="0" i="1" smtClean="0">
                                      <a:solidFill>
                                        <a:srgbClr val="3A362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ar-AE" sz="1250" b="0" dirty="0">
                              <a:solidFill>
                                <a:srgbClr val="3A362F"/>
                              </a:solidFill>
                              <a:latin typeface="+mn-lt"/>
                            </a:rPr>
                            <a:t> /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sz="1250" b="0" i="1" smtClean="0">
                                      <a:solidFill>
                                        <a:srgbClr val="3A362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250" b="0" i="1" smtClean="0">
                                      <a:solidFill>
                                        <a:srgbClr val="3A362F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ar-AE" sz="1250" b="0" i="1" smtClean="0">
                                      <a:solidFill>
                                        <a:srgbClr val="3A362F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oMath>
                          </a14:m>
                          <a:r>
                            <a:rPr sz="1250" b="0" dirty="0">
                              <a:solidFill>
                                <a:srgbClr val="3A362F"/>
                              </a:solidFill>
                              <a:latin typeface="Calibri"/>
                            </a:rPr>
                            <a:t>)  — size term</a:t>
                          </a:r>
                        </a:p>
                      </a:txBody>
                      <a:tcPr marL="73152" marR="73152" marT="27432" marB="27432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sz="1250" b="0">
                              <a:solidFill>
                                <a:srgbClr val="3A362F"/>
                              </a:solidFill>
                              <a:latin typeface="Calibri"/>
                            </a:rPr>
                            <a:t>0.046</a:t>
                          </a:r>
                        </a:p>
                      </a:txBody>
                      <a:tcPr marL="73152" marR="73152" marT="27432" marB="27432"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4048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vi-VN" sz="1250" b="0" smtClean="0">
                                      <a:solidFill>
                                        <a:srgbClr val="3A362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1250" b="0" smtClean="0">
                                      <a:solidFill>
                                        <a:srgbClr val="3A362F"/>
                                      </a:solidFill>
                                      <a:latin typeface="Cambria Math" panose="02040503050406030204" pitchFamily="18" charset="0"/>
                                    </a:rPr>
                                    <m:t>ⅆ</m:t>
                                  </m:r>
                                </m:e>
                                <m:sub>
                                  <m:r>
                                    <a:rPr lang="vi-VN" sz="1250" b="0" i="1" smtClean="0">
                                      <a:solidFill>
                                        <a:srgbClr val="3A362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sz="1250" b="0" dirty="0">
                              <a:solidFill>
                                <a:srgbClr val="3A362F"/>
                              </a:solidFill>
                              <a:latin typeface="Calibri"/>
                            </a:rPr>
                            <a:t>  — distance from frame </a:t>
                          </a:r>
                          <a:r>
                            <a:rPr sz="1250" b="0" dirty="0" err="1">
                              <a:solidFill>
                                <a:srgbClr val="3A362F"/>
                              </a:solidFill>
                              <a:latin typeface="Calibri"/>
                            </a:rPr>
                            <a:t>centre</a:t>
                          </a:r>
                          <a:endParaRPr sz="1250" b="0" dirty="0">
                            <a:solidFill>
                              <a:srgbClr val="3A362F"/>
                            </a:solidFill>
                            <a:latin typeface="Calibri"/>
                          </a:endParaRPr>
                        </a:p>
                      </a:txBody>
                      <a:tcPr marL="73152" marR="73152" marT="27432" marB="27432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sz="1250" b="0">
                              <a:solidFill>
                                <a:srgbClr val="3A362F"/>
                              </a:solidFill>
                              <a:latin typeface="Calibri"/>
                            </a:rPr>
                            <a:t>578 px</a:t>
                          </a:r>
                        </a:p>
                      </a:txBody>
                      <a:tcPr marL="73152" marR="73152" marT="27432" marB="27432"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4048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50" b="0" dirty="0">
                              <a:solidFill>
                                <a:srgbClr val="3A362F"/>
                              </a:solidFill>
                              <a:latin typeface="Calibri"/>
                            </a:rPr>
                            <a:t>Position term</a:t>
                          </a:r>
                        </a:p>
                      </a:txBody>
                      <a:tcPr marL="73152" marR="73152" marT="27432" marB="27432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sz="1250" b="0">
                              <a:solidFill>
                                <a:srgbClr val="3A362F"/>
                              </a:solidFill>
                              <a:latin typeface="Calibri"/>
                            </a:rPr>
                            <a:t>0.365</a:t>
                          </a:r>
                        </a:p>
                      </a:txBody>
                      <a:tcPr marL="73152" marR="73152" marT="27432" marB="27432"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84048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vi-VN" sz="1250" b="0" i="1" smtClean="0">
                                      <a:solidFill>
                                        <a:srgbClr val="3A362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1250" b="0" i="1" smtClean="0">
                                      <a:solidFill>
                                        <a:srgbClr val="3A362F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vi-VN" sz="1250" b="0" i="1" smtClean="0">
                                      <a:solidFill>
                                        <a:srgbClr val="3A362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sz="1250" b="0" dirty="0">
                              <a:solidFill>
                                <a:srgbClr val="3A362F"/>
                              </a:solidFill>
                              <a:latin typeface="Calibri"/>
                            </a:rPr>
                            <a:t>  — detector confidence</a:t>
                          </a:r>
                        </a:p>
                      </a:txBody>
                      <a:tcPr marL="73152" marR="73152" marT="27432" marB="27432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sz="1250" b="0">
                              <a:solidFill>
                                <a:srgbClr val="3A362F"/>
                              </a:solidFill>
                              <a:latin typeface="Calibri"/>
                            </a:rPr>
                            <a:t>0.925</a:t>
                          </a:r>
                        </a:p>
                      </a:txBody>
                      <a:tcPr marL="73152" marR="73152" marT="27432" marB="27432"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84048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50" b="1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Vi</a:t>
                          </a:r>
                        </a:p>
                      </a:txBody>
                      <a:tcPr marL="73152" marR="73152" marT="27432" marB="27432" anchor="ctr">
                        <a:solidFill>
                          <a:srgbClr val="6D1F2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sz="1250" b="1" dirty="0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0.016</a:t>
                          </a:r>
                        </a:p>
                      </a:txBody>
                      <a:tcPr marL="73152" marR="73152" marT="27432" marB="27432" anchor="ctr">
                        <a:solidFill>
                          <a:srgbClr val="6D1F2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2673500"/>
                  </p:ext>
                </p:extLst>
              </p:nvPr>
            </p:nvGraphicFramePr>
            <p:xfrm>
              <a:off x="548640" y="3127248"/>
              <a:ext cx="5669280" cy="268833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89763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716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84048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050" b="1">
                              <a:solidFill>
                                <a:srgbClr val="7A746A"/>
                              </a:solidFill>
                              <a:latin typeface="Calibri"/>
                            </a:rPr>
                            <a:t>Term</a:t>
                          </a:r>
                        </a:p>
                      </a:txBody>
                      <a:tcPr marL="73152" marR="73152" marT="27432" marB="27432" anchor="ctr">
                        <a:solidFill>
                          <a:srgbClr val="FAF8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sz="1050" b="1">
                              <a:solidFill>
                                <a:srgbClr val="7A746A"/>
                              </a:solidFill>
                              <a:latin typeface="Calibri"/>
                            </a:rPr>
                            <a:t>Value</a:t>
                          </a:r>
                        </a:p>
                      </a:txBody>
                      <a:tcPr marL="73152" marR="73152" marT="27432" marB="27432" anchor="ctr">
                        <a:solidFill>
                          <a:srgbClr val="FAF8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4048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marL="73152" marR="73152" marT="27432" marB="27432" anchor="ctr">
                        <a:blipFill>
                          <a:blip r:embed="rId3"/>
                          <a:stretch>
                            <a:fillRect l="-313" t="-103175" r="-46009" b="-5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sz="1250" b="0">
                              <a:solidFill>
                                <a:srgbClr val="3A362F"/>
                              </a:solidFill>
                              <a:latin typeface="Calibri"/>
                            </a:rPr>
                            <a:t>0.0021</a:t>
                          </a:r>
                        </a:p>
                      </a:txBody>
                      <a:tcPr marL="73152" marR="73152" marT="27432" marB="27432"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4048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marL="73152" marR="73152" marT="27432" marB="27432" anchor="ctr">
                        <a:blipFill>
                          <a:blip r:embed="rId3"/>
                          <a:stretch>
                            <a:fillRect l="-313" t="-203175" r="-46009" b="-4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sz="1250" b="0">
                              <a:solidFill>
                                <a:srgbClr val="3A362F"/>
                              </a:solidFill>
                              <a:latin typeface="Calibri"/>
                            </a:rPr>
                            <a:t>0.046</a:t>
                          </a:r>
                        </a:p>
                      </a:txBody>
                      <a:tcPr marL="73152" marR="73152" marT="27432" marB="27432"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4048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marL="73152" marR="73152" marT="27432" marB="27432" anchor="ctr">
                        <a:blipFill>
                          <a:blip r:embed="rId3"/>
                          <a:stretch>
                            <a:fillRect l="-313" t="-303175" r="-46009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sz="1250" b="0">
                              <a:solidFill>
                                <a:srgbClr val="3A362F"/>
                              </a:solidFill>
                              <a:latin typeface="Calibri"/>
                            </a:rPr>
                            <a:t>578 px</a:t>
                          </a:r>
                        </a:p>
                      </a:txBody>
                      <a:tcPr marL="73152" marR="73152" marT="27432" marB="27432"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4048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50" b="0" dirty="0">
                              <a:solidFill>
                                <a:srgbClr val="3A362F"/>
                              </a:solidFill>
                              <a:latin typeface="Calibri"/>
                            </a:rPr>
                            <a:t>Position term</a:t>
                          </a:r>
                        </a:p>
                      </a:txBody>
                      <a:tcPr marL="73152" marR="73152" marT="27432" marB="27432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sz="1250" b="0">
                              <a:solidFill>
                                <a:srgbClr val="3A362F"/>
                              </a:solidFill>
                              <a:latin typeface="Calibri"/>
                            </a:rPr>
                            <a:t>0.365</a:t>
                          </a:r>
                        </a:p>
                      </a:txBody>
                      <a:tcPr marL="73152" marR="73152" marT="27432" marB="27432"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84048">
                    <a:tc>
                      <a:txBody>
                        <a:bodyPr/>
                        <a:lstStyle/>
                        <a:p>
                          <a:endParaRPr lang="vi-VN"/>
                        </a:p>
                      </a:txBody>
                      <a:tcPr marL="73152" marR="73152" marT="27432" marB="27432" anchor="ctr">
                        <a:blipFill>
                          <a:blip r:embed="rId3"/>
                          <a:stretch>
                            <a:fillRect l="-313" t="-503175" r="-46009" b="-1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sz="1250" b="0">
                              <a:solidFill>
                                <a:srgbClr val="3A362F"/>
                              </a:solidFill>
                              <a:latin typeface="Calibri"/>
                            </a:rPr>
                            <a:t>0.925</a:t>
                          </a:r>
                        </a:p>
                      </a:txBody>
                      <a:tcPr marL="73152" marR="73152" marT="27432" marB="27432"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84048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250" b="1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Vi</a:t>
                          </a:r>
                        </a:p>
                      </a:txBody>
                      <a:tcPr marL="73152" marR="73152" marT="27432" marB="27432" anchor="ctr">
                        <a:solidFill>
                          <a:srgbClr val="6D1F2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sz="1250" b="1" dirty="0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0.016</a:t>
                          </a:r>
                        </a:p>
                      </a:txBody>
                      <a:tcPr marL="73152" marR="73152" marT="27432" marB="27432" anchor="ctr">
                        <a:solidFill>
                          <a:srgbClr val="6D1F2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Picture 10" descr="slide_worked_exampl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761488"/>
            <a:ext cx="5166360" cy="290607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46520" y="5667565"/>
            <a:ext cx="5166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75149"/>
                </a:solidFill>
                <a:latin typeface="Calibri"/>
              </a:rPr>
              <a:t>KLG mark, confidence 0.925 — real held-out frame, boxes are actual model predictions.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016752"/>
            <a:ext cx="110642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6016752"/>
            <a:ext cx="41148" cy="384048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6071616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A362F"/>
                </a:solidFill>
                <a:latin typeface="Calibri"/>
              </a:rPr>
              <a:t>A confident, accurately-matched detection still scores low off-centre — a transparent heuristic, not yet a validated readability measure.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A39C8E"/>
                </a:solidFill>
                <a:latin typeface="Calibri"/>
              </a:rPr>
              <a:t>LogoLens · WP1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A39C8E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515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dirty="0">
                <a:solidFill>
                  <a:srgbClr val="7A746A"/>
                </a:solidFill>
                <a:latin typeface="Calibri"/>
              </a:rPr>
              <a:t>MSc DISSERTATION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522976" y="2880360"/>
            <a:ext cx="1143000" cy="41148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>
                <a:solidFill>
                  <a:srgbClr val="4A151D"/>
                </a:solidFill>
                <a:latin typeface="Georgia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dirty="0">
                <a:solidFill>
                  <a:srgbClr val="6D1F2B"/>
                </a:solidFill>
                <a:latin typeface="Georgia"/>
              </a:rPr>
              <a:t>Questions &amp; discussion welcome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dirty="0">
                <a:solidFill>
                  <a:srgbClr val="7A746A"/>
                </a:solidFill>
                <a:latin typeface="Calibri"/>
              </a:rPr>
              <a:t>MSc Applied Artificial Intelligence and Data Analytics · University of Bradford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A39C8E"/>
                </a:solidFill>
                <a:latin typeface="Calibri"/>
              </a:rPr>
              <a:t>LogoLens · WP1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A39C8E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997</Words>
  <Application>Microsoft Office PowerPoint</Application>
  <PresentationFormat>Widescreen</PresentationFormat>
  <Paragraphs>169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 Math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Hoa Mai Xuan</cp:lastModifiedBy>
  <cp:revision>4</cp:revision>
  <dcterms:created xsi:type="dcterms:W3CDTF">2013-01-27T09:14:16Z</dcterms:created>
  <dcterms:modified xsi:type="dcterms:W3CDTF">2026-08-20T11:03:48Z</dcterms:modified>
  <cp:category/>
</cp:coreProperties>
</file>