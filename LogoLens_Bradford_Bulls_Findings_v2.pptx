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picture on the right: that is the Bradford home shirt as the system sees it — every sponsor mark found and named automatically. Then the question: each of those positions has a price, but nobody has ever measured what each one actually delivers on screen. That is what this project did, across two complete matches.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gap before you show the solution. The club is not doing anything unusual — almost every club prices shirt positions this way. The point is simply that nobody has ever had the measurement, so there has been nothing to check the price list against.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but only three matter to a club audience. One: it watches the whole match, not a clip. Two: it only counts Bradford players — opponent kit and pitch-side boards never enter the numbers. Three: a mark in the corner of a wide shot does not count the same as one filling a close-up.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large clip and narrate lightly: boxes appear as marks become readable, the opponent in dark kit is never counted, and around fifty seconds a ruck brings ten marks into one frame. Then the small clip — that is how the system knows a logo is on the shorts rather than the shirt. Both files also sit in the artifacts folder if a venue machine will not play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credibility slide. The line to say out loud: anybody can count frames — the reason these numbers are worth arguing over is that a mark tucked in a corner at forty pixels does not score the same as one filling the centre of a close-up.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it top to bottom. Hollow ring is the price share, red dot is the measured share, and the line between them is the disagreement. Two rows carry the whole conversation: KLG at the top, and Top Notch third. Everything after this slide is either explaining that picture or testing whether to believe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people photograph, so give it room. One number on each position: what the camera gave it divided by what the club charges for it. Point at the back of the shorts at 4.7×, then at the collar at 0.3×. That contrast is the entire argument in one picture.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replaces four separate placement slides — everything a club needs is in the one picture. The three notes underneath are the three arguments: shorts are under-sold, the chest premium needs a non-broadcast justification, and the sleeve block hides a six-fold difference between two positions sold at a 2.75× price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what this is: where on the television picture the logos appeared. Not pitch coordinates, not player running data. The commercial read is one sentence — the camera lives around the contact area, and the kit that sits in the contact area is the shorts and the lower back.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Volunteering the weaknesses is what earns the right to the recommendations. The same model scores 0.998 on matches it has already seen and 0.933 on new ones — we report the harder number. And because it misses marks in wide play rather than inventing them, the gaps you saw earlier are if anything understated.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commercial argument here. The one line worth repeating: this does not replace commercial judgement, it gives that judgement something to point at. If a sponsor asks why their sleeve costs what it costs, there is now an answer with a number attached.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sequence, not the technology. The club does one thing first — confirm the inventory map — and everything else follows. Offer to run the next fixture as soon as the footage exists.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room has time, play the film — it covers the team, the partnership and the pipeline in two and a half minutes. If not, finish on the line on the left and go to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slide. Every figure reproduces from the two match reports; offer to send the underlying Excel exports.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4.jpg"/><Relationship Id="rId5" Type="http://schemas.microsoft.com/office/2007/relationships/media" Target="../media/media2.mp4"/><Relationship Id="rId6" Type="http://schemas.openxmlformats.org/officeDocument/2006/relationships/video" Target="../media/media2.mp4"/><Relationship Id="rId7" Type="http://schemas.openxmlformats.org/officeDocument/2006/relationships/image" Target="../media/image5.jp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18.jp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hero_front.jpg"/>
          <p:cNvPicPr>
            <a:picLocks noChangeAspect="1"/>
          </p:cNvPicPr>
          <p:nvPr/>
        </p:nvPicPr>
        <p:blipFill>
          <a:blip r:embed="rId2"/>
          <a:srcRect l="3319" r="3319"/>
          <a:stretch>
            <a:fillRect/>
          </a:stretch>
        </p:blipFill>
        <p:spPr>
          <a:xfrm>
            <a:off x="7360920" y="-502920"/>
            <a:ext cx="4828032" cy="7863840"/>
          </a:xfrm>
          <a:prstGeom prst="rect">
            <a:avLst/>
          </a:prstGeom>
        </p:spPr>
      </p:pic>
      <p:sp>
        <p:nvSpPr>
          <p:cNvPr id="4" name="Rectangle 3"/>
          <p:cNvSpPr/>
          <p:nvPr/>
        </p:nvSpPr>
        <p:spPr>
          <a:xfrm>
            <a:off x="0" y="0"/>
            <a:ext cx="146304"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46304" y="0"/>
            <a:ext cx="68580"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reeform 5"/>
          <p:cNvSpPr/>
          <p:nvPr/>
        </p:nvSpPr>
        <p:spPr>
          <a:xfrm>
            <a:off x="640080" y="914400"/>
            <a:ext cx="475488" cy="202996"/>
          </a:xfrm>
          <a:custGeom>
            <a:avLst/>
            <a:gdLst/>
            <a:ahLst/>
            <a:cxnLst/>
            <a:rect l="l" t="t" r="r" b="b"/>
            <a:pathLst>
              <a:path w="475488" h="202996">
                <a:moveTo>
                  <a:pt x="0" y="0"/>
                </a:moveTo>
                <a:lnTo>
                  <a:pt x="237744" y="137160"/>
                </a:lnTo>
                <a:lnTo>
                  <a:pt x="475488" y="0"/>
                </a:lnTo>
                <a:lnTo>
                  <a:pt x="475488" y="65836"/>
                </a:lnTo>
                <a:lnTo>
                  <a:pt x="237744" y="202996"/>
                </a:lnTo>
                <a:lnTo>
                  <a:pt x="0" y="658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640080" y="1133856"/>
            <a:ext cx="475488" cy="202996"/>
          </a:xfrm>
          <a:custGeom>
            <a:avLst/>
            <a:gdLst/>
            <a:ahLst/>
            <a:cxnLst/>
            <a:rect l="l" t="t" r="r" b="b"/>
            <a:pathLst>
              <a:path w="475488" h="202996">
                <a:moveTo>
                  <a:pt x="0" y="0"/>
                </a:moveTo>
                <a:lnTo>
                  <a:pt x="237744" y="137160"/>
                </a:lnTo>
                <a:lnTo>
                  <a:pt x="475488" y="0"/>
                </a:lnTo>
                <a:lnTo>
                  <a:pt x="475488" y="65836"/>
                </a:lnTo>
                <a:lnTo>
                  <a:pt x="237744" y="202996"/>
                </a:lnTo>
                <a:lnTo>
                  <a:pt x="0" y="65836"/>
                </a:lnTo>
                <a:close/>
              </a:path>
            </a:pathLst>
          </a:cu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00784"/>
            <a:ext cx="6400800" cy="274320"/>
          </a:xfrm>
          <a:prstGeom prst="rect">
            <a:avLst/>
          </a:prstGeom>
          <a:noFill/>
        </p:spPr>
        <p:txBody>
          <a:bodyPr wrap="square" lIns="0" rIns="0" tIns="0" bIns="0" anchor="t">
            <a:spAutoFit/>
          </a:bodyPr>
          <a:lstStyle/>
          <a:p>
            <a:pPr algn="l">
              <a:lnSpc>
                <a:spcPct val="120000"/>
              </a:lnSpc>
            </a:pPr>
            <a:r>
              <a:rPr sz="1200" b="1" i="0" spc="240">
                <a:solidFill>
                  <a:srgbClr val="FFC20E"/>
                </a:solidFill>
                <a:latin typeface="Arial"/>
              </a:rPr>
              <a:t>BRADFORD BULLS  ·  SPONSORSHIP VISIBILITY REVIEW</a:t>
            </a:r>
          </a:p>
        </p:txBody>
      </p:sp>
      <p:sp>
        <p:nvSpPr>
          <p:cNvPr id="9" name="TextBox 8"/>
          <p:cNvSpPr txBox="1"/>
          <p:nvPr/>
        </p:nvSpPr>
        <p:spPr>
          <a:xfrm>
            <a:off x="640080" y="2029968"/>
            <a:ext cx="6583680" cy="1920240"/>
          </a:xfrm>
          <a:prstGeom prst="rect">
            <a:avLst/>
          </a:prstGeom>
          <a:noFill/>
        </p:spPr>
        <p:txBody>
          <a:bodyPr wrap="square" lIns="0" rIns="0" tIns="0" bIns="0" anchor="t">
            <a:spAutoFit/>
          </a:bodyPr>
          <a:lstStyle/>
          <a:p>
            <a:pPr algn="l">
              <a:lnSpc>
                <a:spcPct val="103000"/>
              </a:lnSpc>
            </a:pPr>
            <a:r>
              <a:rPr sz="4800" b="1" i="0">
                <a:solidFill>
                  <a:srgbClr val="FFFFFF"/>
                </a:solidFill>
                <a:latin typeface="Arial"/>
              </a:rPr>
              <a:t>What the shirt</a:t>
            </a:r>
          </a:p>
          <a:p>
            <a:pPr algn="l">
              <a:lnSpc>
                <a:spcPct val="103000"/>
              </a:lnSpc>
            </a:pPr>
            <a:r>
              <a:rPr sz="4800" b="1" i="0">
                <a:solidFill>
                  <a:srgbClr val="FFFFFF"/>
                </a:solidFill>
                <a:latin typeface="Arial"/>
              </a:rPr>
              <a:t>is really worth</a:t>
            </a:r>
          </a:p>
          <a:p>
            <a:pPr algn="l">
              <a:lnSpc>
                <a:spcPct val="103000"/>
              </a:lnSpc>
            </a:pPr>
            <a:r>
              <a:rPr sz="4800" b="1" i="0">
                <a:solidFill>
                  <a:srgbClr val="FFFFFF"/>
                </a:solidFill>
                <a:latin typeface="Arial"/>
              </a:rPr>
              <a:t>on screen</a:t>
            </a:r>
          </a:p>
        </p:txBody>
      </p:sp>
      <p:sp>
        <p:nvSpPr>
          <p:cNvPr id="10" name="Rectangle 9"/>
          <p:cNvSpPr/>
          <p:nvPr/>
        </p:nvSpPr>
        <p:spPr>
          <a:xfrm>
            <a:off x="640080" y="4370832"/>
            <a:ext cx="1371600"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4626864"/>
            <a:ext cx="5943600" cy="914400"/>
          </a:xfrm>
          <a:prstGeom prst="rect">
            <a:avLst/>
          </a:prstGeom>
          <a:noFill/>
        </p:spPr>
        <p:txBody>
          <a:bodyPr wrap="square" lIns="0" rIns="0" tIns="0" bIns="0" anchor="t">
            <a:spAutoFit/>
          </a:bodyPr>
          <a:lstStyle/>
          <a:p>
            <a:pPr algn="l">
              <a:lnSpc>
                <a:spcPct val="144000"/>
              </a:lnSpc>
            </a:pPr>
            <a:r>
              <a:rPr sz="1500" b="0" i="0">
                <a:solidFill>
                  <a:srgbClr val="DCE4EF"/>
                </a:solidFill>
                <a:latin typeface="Arial"/>
              </a:rPr>
              <a:t>Every sponsor mark on the kit, measured frame by frame across two complete broadcasts — then placed next to what the club charges for it.</a:t>
            </a:r>
          </a:p>
        </p:txBody>
      </p:sp>
      <p:sp>
        <p:nvSpPr>
          <p:cNvPr id="12" name="TextBox 11"/>
          <p:cNvSpPr txBox="1"/>
          <p:nvPr/>
        </p:nvSpPr>
        <p:spPr>
          <a:xfrm>
            <a:off x="640080" y="6144768"/>
            <a:ext cx="6400800" cy="274320"/>
          </a:xfrm>
          <a:prstGeom prst="rect">
            <a:avLst/>
          </a:prstGeom>
          <a:noFill/>
        </p:spPr>
        <p:txBody>
          <a:bodyPr wrap="square" lIns="0" rIns="0" tIns="0" bIns="0" anchor="t">
            <a:spAutoFit/>
          </a:bodyPr>
          <a:lstStyle/>
          <a:p>
            <a:pPr algn="l">
              <a:lnSpc>
                <a:spcPct val="120000"/>
              </a:lnSpc>
            </a:pPr>
            <a:r>
              <a:rPr sz="960" b="0" i="0">
                <a:solidFill>
                  <a:srgbClr val="56657C"/>
                </a:solidFill>
                <a:latin typeface="Arial"/>
              </a:rPr>
              <a:t>LogoLens  ·  MSc Applied AI &amp; Data Analytics, University of Bradford  ·  in partnership with Bradford Bulls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bg_problem.jpg"/>
          <p:cNvPicPr>
            <a:picLocks noChangeAspect="1"/>
          </p:cNvPicPr>
          <p:nvPr/>
        </p:nvPicPr>
        <p:blipFill>
          <a:blip r:embed="rId2"/>
          <a:srcRect l="0" r="0"/>
          <a:stretch>
            <a:fillRect/>
          </a:stretch>
        </p:blipFill>
        <p:spPr>
          <a:xfrm>
            <a:off x="0" y="0"/>
            <a:ext cx="12191969" cy="6858000"/>
          </a:xfrm>
          <a:prstGeom prst="rect">
            <a:avLst/>
          </a:prstGeom>
        </p:spPr>
      </p:pic>
      <p:sp>
        <p:nvSpPr>
          <p:cNvPr id="4" name="Rectangle 3"/>
          <p:cNvSpPr/>
          <p:nvPr/>
        </p:nvSpPr>
        <p:spPr>
          <a:xfrm>
            <a:off x="0" y="0"/>
            <a:ext cx="6766560" cy="6858000"/>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766560" y="0"/>
            <a:ext cx="1371600" cy="6858000"/>
          </a:xfrm>
          <a:custGeom>
            <a:avLst/>
            <a:gdLst/>
            <a:ahLst/>
            <a:cxnLst/>
            <a:rect l="l" t="t" r="r" b="b"/>
            <a:pathLst>
              <a:path w="1371600" h="6858000">
                <a:moveTo>
                  <a:pt x="0" y="0"/>
                </a:moveTo>
                <a:lnTo>
                  <a:pt x="1371600" y="0"/>
                </a:lnTo>
                <a:lnTo>
                  <a:pt x="0" y="6858000"/>
                </a:lnTo>
                <a:close/>
              </a:path>
            </a:pathLst>
          </a:custGeom>
          <a:solidFill>
            <a:srgbClr val="070A0F">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46304"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46304" y="0"/>
            <a:ext cx="68580"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reeform 7"/>
          <p:cNvSpPr/>
          <p:nvPr/>
        </p:nvSpPr>
        <p:spPr>
          <a:xfrm>
            <a:off x="640080" y="1129284"/>
            <a:ext cx="152476" cy="173735"/>
          </a:xfrm>
          <a:custGeom>
            <a:avLst/>
            <a:gdLst/>
            <a:ahLst/>
            <a:cxnLst/>
            <a:rect l="l" t="t" r="r" b="b"/>
            <a:pathLst>
              <a:path w="152476" h="173735">
                <a:moveTo>
                  <a:pt x="47320" y="0"/>
                </a:moveTo>
                <a:lnTo>
                  <a:pt x="152476" y="0"/>
                </a:lnTo>
                <a:lnTo>
                  <a:pt x="105156" y="173735"/>
                </a:lnTo>
                <a:lnTo>
                  <a:pt x="0" y="173735"/>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11556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THE PROBLEM</a:t>
            </a:r>
          </a:p>
        </p:txBody>
      </p:sp>
      <p:sp>
        <p:nvSpPr>
          <p:cNvPr id="10" name="TextBox 9"/>
          <p:cNvSpPr txBox="1"/>
          <p:nvPr/>
        </p:nvSpPr>
        <p:spPr>
          <a:xfrm>
            <a:off x="640080" y="1536192"/>
            <a:ext cx="6309360" cy="1645920"/>
          </a:xfrm>
          <a:prstGeom prst="rect">
            <a:avLst/>
          </a:prstGeom>
          <a:noFill/>
        </p:spPr>
        <p:txBody>
          <a:bodyPr wrap="square" lIns="0" rIns="0" tIns="0" bIns="0" anchor="t">
            <a:spAutoFit/>
          </a:bodyPr>
          <a:lstStyle/>
          <a:p>
            <a:pPr algn="l">
              <a:lnSpc>
                <a:spcPct val="106000"/>
              </a:lnSpc>
            </a:pPr>
            <a:r>
              <a:rPr sz="4000" b="1" i="0">
                <a:solidFill>
                  <a:srgbClr val="FFFFFF"/>
                </a:solidFill>
                <a:latin typeface="Arial"/>
              </a:rPr>
              <a:t>Sixteen sponsors.</a:t>
            </a:r>
          </a:p>
          <a:p>
            <a:pPr algn="l">
              <a:lnSpc>
                <a:spcPct val="106000"/>
              </a:lnSpc>
            </a:pPr>
            <a:r>
              <a:rPr sz="4000" b="1" i="0">
                <a:solidFill>
                  <a:srgbClr val="FFFFFF"/>
                </a:solidFill>
                <a:latin typeface="Arial"/>
              </a:rPr>
              <a:t>Sixteen prices.</a:t>
            </a:r>
          </a:p>
          <a:p>
            <a:pPr algn="l">
              <a:lnSpc>
                <a:spcPct val="106000"/>
              </a:lnSpc>
            </a:pPr>
            <a:r>
              <a:rPr sz="4000" b="1" i="0">
                <a:solidFill>
                  <a:srgbClr val="FFFFFF"/>
                </a:solidFill>
                <a:latin typeface="Arial"/>
              </a:rPr>
              <a:t>Zero measurement.</a:t>
            </a:r>
          </a:p>
        </p:txBody>
      </p:sp>
      <p:sp>
        <p:nvSpPr>
          <p:cNvPr id="11" name="Rectangle 10"/>
          <p:cNvSpPr/>
          <p:nvPr/>
        </p:nvSpPr>
        <p:spPr>
          <a:xfrm>
            <a:off x="640080" y="3529584"/>
            <a:ext cx="1371600"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3785615"/>
            <a:ext cx="5669280" cy="1280160"/>
          </a:xfrm>
          <a:prstGeom prst="rect">
            <a:avLst/>
          </a:prstGeom>
          <a:noFill/>
        </p:spPr>
        <p:txBody>
          <a:bodyPr wrap="square" lIns="0" rIns="0" tIns="0" bIns="0" anchor="t">
            <a:spAutoFit/>
          </a:bodyPr>
          <a:lstStyle/>
          <a:p>
            <a:pPr algn="l">
              <a:lnSpc>
                <a:spcPct val="146000"/>
              </a:lnSpc>
            </a:pPr>
            <a:r>
              <a:rPr sz="1400" b="0" i="0">
                <a:solidFill>
                  <a:srgbClr val="DCE4EF"/>
                </a:solidFill>
                <a:latin typeface="Arial"/>
              </a:rPr>
              <a:t>The shirt is sold as sixteen separate positions, each with its own share of the price. That split is set by commercial judgement and precedent — not by anything anyone has counted. So when a sponsor asks what they got for their money, the honest answer today is an estimate.</a:t>
            </a:r>
          </a:p>
        </p:txBody>
      </p:sp>
      <p:sp>
        <p:nvSpPr>
          <p:cNvPr id="13" name="Rectangle 12"/>
          <p:cNvSpPr/>
          <p:nvPr/>
        </p:nvSpPr>
        <p:spPr>
          <a:xfrm>
            <a:off x="640080" y="5230368"/>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5394960"/>
            <a:ext cx="1965960" cy="219456"/>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Priced</a:t>
            </a:r>
          </a:p>
        </p:txBody>
      </p:sp>
      <p:sp>
        <p:nvSpPr>
          <p:cNvPr id="15" name="TextBox 14"/>
          <p:cNvSpPr txBox="1"/>
          <p:nvPr/>
        </p:nvSpPr>
        <p:spPr>
          <a:xfrm>
            <a:off x="640080" y="5650992"/>
            <a:ext cx="1965960" cy="457200"/>
          </a:xfrm>
          <a:prstGeom prst="rect">
            <a:avLst/>
          </a:prstGeom>
          <a:noFill/>
        </p:spPr>
        <p:txBody>
          <a:bodyPr wrap="square" lIns="0" rIns="0" tIns="0" bIns="0" anchor="t">
            <a:spAutoFit/>
          </a:bodyPr>
          <a:lstStyle/>
          <a:p>
            <a:pPr algn="l">
              <a:lnSpc>
                <a:spcPct val="128000"/>
              </a:lnSpc>
            </a:pPr>
            <a:r>
              <a:rPr sz="1000" b="0" i="0">
                <a:solidFill>
                  <a:srgbClr val="8695AC"/>
                </a:solidFill>
                <a:latin typeface="Arial"/>
              </a:rPr>
              <a:t>by judgement, not evidence</a:t>
            </a:r>
          </a:p>
        </p:txBody>
      </p:sp>
      <p:sp>
        <p:nvSpPr>
          <p:cNvPr id="16" name="Rectangle 15"/>
          <p:cNvSpPr/>
          <p:nvPr/>
        </p:nvSpPr>
        <p:spPr>
          <a:xfrm>
            <a:off x="2761487" y="5230368"/>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761487" y="5394960"/>
            <a:ext cx="1965960" cy="219456"/>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Checked</a:t>
            </a:r>
          </a:p>
        </p:txBody>
      </p:sp>
      <p:sp>
        <p:nvSpPr>
          <p:cNvPr id="18" name="TextBox 17"/>
          <p:cNvSpPr txBox="1"/>
          <p:nvPr/>
        </p:nvSpPr>
        <p:spPr>
          <a:xfrm>
            <a:off x="2761487" y="5650992"/>
            <a:ext cx="1965960" cy="457200"/>
          </a:xfrm>
          <a:prstGeom prst="rect">
            <a:avLst/>
          </a:prstGeom>
          <a:noFill/>
        </p:spPr>
        <p:txBody>
          <a:bodyPr wrap="square" lIns="0" rIns="0" tIns="0" bIns="0" anchor="t">
            <a:spAutoFit/>
          </a:bodyPr>
          <a:lstStyle/>
          <a:p>
            <a:pPr algn="l">
              <a:lnSpc>
                <a:spcPct val="128000"/>
              </a:lnSpc>
            </a:pPr>
            <a:r>
              <a:rPr sz="1000" b="0" i="0">
                <a:solidFill>
                  <a:srgbClr val="8695AC"/>
                </a:solidFill>
                <a:latin typeface="Arial"/>
              </a:rPr>
              <a:t>by hand, on clips, occasionally</a:t>
            </a:r>
          </a:p>
        </p:txBody>
      </p:sp>
      <p:sp>
        <p:nvSpPr>
          <p:cNvPr id="19" name="Rectangle 18"/>
          <p:cNvSpPr/>
          <p:nvPr/>
        </p:nvSpPr>
        <p:spPr>
          <a:xfrm>
            <a:off x="4882896" y="5230368"/>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882896" y="5394960"/>
            <a:ext cx="1965960" cy="219456"/>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Reported</a:t>
            </a:r>
          </a:p>
        </p:txBody>
      </p:sp>
      <p:sp>
        <p:nvSpPr>
          <p:cNvPr id="21" name="TextBox 20"/>
          <p:cNvSpPr txBox="1"/>
          <p:nvPr/>
        </p:nvSpPr>
        <p:spPr>
          <a:xfrm>
            <a:off x="4882896" y="5650992"/>
            <a:ext cx="1965960" cy="457200"/>
          </a:xfrm>
          <a:prstGeom prst="rect">
            <a:avLst/>
          </a:prstGeom>
          <a:noFill/>
        </p:spPr>
        <p:txBody>
          <a:bodyPr wrap="square" lIns="0" rIns="0" tIns="0" bIns="0" anchor="t">
            <a:spAutoFit/>
          </a:bodyPr>
          <a:lstStyle/>
          <a:p>
            <a:pPr algn="l">
              <a:lnSpc>
                <a:spcPct val="128000"/>
              </a:lnSpc>
            </a:pPr>
            <a:r>
              <a:rPr sz="1000" b="0" i="0">
                <a:solidFill>
                  <a:srgbClr val="8695AC"/>
                </a:solidFill>
                <a:latin typeface="Arial"/>
              </a:rPr>
              <a:t>as presence, not as exposure</a:t>
            </a:r>
          </a:p>
        </p:txBody>
      </p:sp>
      <p:sp>
        <p:nvSpPr>
          <p:cNvPr id="22" name="TextBox 21"/>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THE SOLUTION</a:t>
            </a:r>
          </a:p>
        </p:txBody>
      </p:sp>
      <p:sp>
        <p:nvSpPr>
          <p:cNvPr id="7" name="TextBox 6"/>
          <p:cNvSpPr txBox="1"/>
          <p:nvPr/>
        </p:nvSpPr>
        <p:spPr>
          <a:xfrm>
            <a:off x="640080" y="786384"/>
            <a:ext cx="10058400" cy="914400"/>
          </a:xfrm>
          <a:prstGeom prst="rect">
            <a:avLst/>
          </a:prstGeom>
          <a:noFill/>
        </p:spPr>
        <p:txBody>
          <a:bodyPr wrap="square" lIns="0" rIns="0" tIns="0" bIns="0" anchor="t">
            <a:spAutoFit/>
          </a:bodyPr>
          <a:lstStyle/>
          <a:p>
            <a:pPr algn="l">
              <a:lnSpc>
                <a:spcPct val="102000"/>
              </a:lnSpc>
            </a:pPr>
            <a:r>
              <a:rPr sz="3200" b="1" i="0">
                <a:solidFill>
                  <a:srgbClr val="FFFFFF"/>
                </a:solidFill>
                <a:latin typeface="Arial"/>
              </a:rPr>
              <a:t>From broadcast footage to a per-sponsor number</a:t>
            </a:r>
          </a:p>
        </p:txBody>
      </p:sp>
      <p:sp>
        <p:nvSpPr>
          <p:cNvPr id="8" name="TextBox 7"/>
          <p:cNvSpPr txBox="1"/>
          <p:nvPr/>
        </p:nvSpPr>
        <p:spPr>
          <a:xfrm>
            <a:off x="640080" y="1664208"/>
            <a:ext cx="914400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It watches the whole match, finds every sponsor mark on a Bradford player, and scores how well each one could actually be seen.</a:t>
            </a:r>
          </a:p>
        </p:txBody>
      </p:sp>
      <p:pic>
        <p:nvPicPr>
          <p:cNvPr id="9" name="Picture 8" descr="fr_teamsplit.jpg"/>
          <p:cNvPicPr>
            <a:picLocks noChangeAspect="1"/>
          </p:cNvPicPr>
          <p:nvPr/>
        </p:nvPicPr>
        <p:blipFill>
          <a:blip r:embed="rId2"/>
          <a:srcRect t="26" b="26"/>
          <a:stretch>
            <a:fillRect/>
          </a:stretch>
        </p:blipFill>
        <p:spPr>
          <a:xfrm>
            <a:off x="640080" y="2231136"/>
            <a:ext cx="5806440" cy="3264408"/>
          </a:xfrm>
          <a:prstGeom prst="rect">
            <a:avLst/>
          </a:prstGeom>
        </p:spPr>
      </p:pic>
      <p:sp>
        <p:nvSpPr>
          <p:cNvPr id="10" name="Rectangle 9"/>
          <p:cNvSpPr/>
          <p:nvPr/>
        </p:nvSpPr>
        <p:spPr>
          <a:xfrm>
            <a:off x="640080" y="2231136"/>
            <a:ext cx="5806440" cy="326440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5596128"/>
            <a:ext cx="5806440" cy="365760"/>
          </a:xfrm>
          <a:prstGeom prst="rect">
            <a:avLst/>
          </a:prstGeom>
          <a:noFill/>
        </p:spPr>
        <p:txBody>
          <a:bodyPr wrap="square" lIns="0" rIns="0" tIns="0" bIns="0" anchor="t">
            <a:spAutoFit/>
          </a:bodyPr>
          <a:lstStyle/>
          <a:p>
            <a:pPr algn="l">
              <a:lnSpc>
                <a:spcPct val="130000"/>
              </a:lnSpc>
            </a:pPr>
            <a:r>
              <a:rPr sz="960" b="0" i="0">
                <a:solidFill>
                  <a:srgbClr val="8695AC"/>
                </a:solidFill>
                <a:latin typeface="Arial"/>
              </a:rPr>
              <a:t>Real system output. Bradford players kept (amber), opponents and officials discarded (grey), each mark boxed and named with its confidence.</a:t>
            </a:r>
          </a:p>
        </p:txBody>
      </p:sp>
      <p:sp>
        <p:nvSpPr>
          <p:cNvPr id="12" name="TextBox 11"/>
          <p:cNvSpPr txBox="1"/>
          <p:nvPr/>
        </p:nvSpPr>
        <p:spPr>
          <a:xfrm>
            <a:off x="6766560" y="2231136"/>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01</a:t>
            </a:r>
          </a:p>
        </p:txBody>
      </p:sp>
      <p:sp>
        <p:nvSpPr>
          <p:cNvPr id="13" name="TextBox 12"/>
          <p:cNvSpPr txBox="1"/>
          <p:nvPr/>
        </p:nvSpPr>
        <p:spPr>
          <a:xfrm>
            <a:off x="7333488" y="2217420"/>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Find</a:t>
            </a:r>
          </a:p>
        </p:txBody>
      </p:sp>
      <p:sp>
        <p:nvSpPr>
          <p:cNvPr id="14" name="TextBox 13"/>
          <p:cNvSpPr txBox="1"/>
          <p:nvPr/>
        </p:nvSpPr>
        <p:spPr>
          <a:xfrm>
            <a:off x="8503920" y="2235708"/>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Every sponsor mark in every sampled frame.</a:t>
            </a:r>
          </a:p>
        </p:txBody>
      </p:sp>
      <p:sp>
        <p:nvSpPr>
          <p:cNvPr id="15" name="Rectangle 14"/>
          <p:cNvSpPr/>
          <p:nvPr/>
        </p:nvSpPr>
        <p:spPr>
          <a:xfrm>
            <a:off x="6766560" y="2679191"/>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766560" y="2811780"/>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02</a:t>
            </a:r>
          </a:p>
        </p:txBody>
      </p:sp>
      <p:sp>
        <p:nvSpPr>
          <p:cNvPr id="17" name="TextBox 16"/>
          <p:cNvSpPr txBox="1"/>
          <p:nvPr/>
        </p:nvSpPr>
        <p:spPr>
          <a:xfrm>
            <a:off x="7333488" y="2798064"/>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Follow</a:t>
            </a:r>
          </a:p>
        </p:txBody>
      </p:sp>
      <p:sp>
        <p:nvSpPr>
          <p:cNvPr id="18" name="TextBox 17"/>
          <p:cNvSpPr txBox="1"/>
          <p:nvPr/>
        </p:nvSpPr>
        <p:spPr>
          <a:xfrm>
            <a:off x="8503920" y="2816352"/>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Link the same mark across frames into an appearance.</a:t>
            </a:r>
          </a:p>
        </p:txBody>
      </p:sp>
      <p:sp>
        <p:nvSpPr>
          <p:cNvPr id="19" name="Rectangle 18"/>
          <p:cNvSpPr/>
          <p:nvPr/>
        </p:nvSpPr>
        <p:spPr>
          <a:xfrm>
            <a:off x="6766560" y="3259836"/>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66560" y="3392424"/>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03</a:t>
            </a:r>
          </a:p>
        </p:txBody>
      </p:sp>
      <p:sp>
        <p:nvSpPr>
          <p:cNvPr id="21" name="TextBox 20"/>
          <p:cNvSpPr txBox="1"/>
          <p:nvPr/>
        </p:nvSpPr>
        <p:spPr>
          <a:xfrm>
            <a:off x="7333488" y="3378708"/>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Filter</a:t>
            </a:r>
          </a:p>
        </p:txBody>
      </p:sp>
      <p:sp>
        <p:nvSpPr>
          <p:cNvPr id="22" name="TextBox 21"/>
          <p:cNvSpPr txBox="1"/>
          <p:nvPr/>
        </p:nvSpPr>
        <p:spPr>
          <a:xfrm>
            <a:off x="8503920" y="3396996"/>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Keep Bradford players only — discard opponents, officials and boards.</a:t>
            </a:r>
          </a:p>
        </p:txBody>
      </p:sp>
      <p:sp>
        <p:nvSpPr>
          <p:cNvPr id="23" name="Rectangle 22"/>
          <p:cNvSpPr/>
          <p:nvPr/>
        </p:nvSpPr>
        <p:spPr>
          <a:xfrm>
            <a:off x="6766560" y="3840480"/>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766560" y="3973068"/>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04</a:t>
            </a:r>
          </a:p>
        </p:txBody>
      </p:sp>
      <p:sp>
        <p:nvSpPr>
          <p:cNvPr id="25" name="TextBox 24"/>
          <p:cNvSpPr txBox="1"/>
          <p:nvPr/>
        </p:nvSpPr>
        <p:spPr>
          <a:xfrm>
            <a:off x="7333488" y="3959352"/>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Place</a:t>
            </a:r>
          </a:p>
        </p:txBody>
      </p:sp>
      <p:sp>
        <p:nvSpPr>
          <p:cNvPr id="26" name="TextBox 25"/>
          <p:cNvSpPr txBox="1"/>
          <p:nvPr/>
        </p:nvSpPr>
        <p:spPr>
          <a:xfrm>
            <a:off x="8503920" y="3977639"/>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Tie each mark to a body zone: chest, back, sleeve, shorts, socks.</a:t>
            </a:r>
          </a:p>
        </p:txBody>
      </p:sp>
      <p:sp>
        <p:nvSpPr>
          <p:cNvPr id="27" name="Rectangle 26"/>
          <p:cNvSpPr/>
          <p:nvPr/>
        </p:nvSpPr>
        <p:spPr>
          <a:xfrm>
            <a:off x="6766560" y="4421124"/>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766560" y="4553712"/>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05</a:t>
            </a:r>
          </a:p>
        </p:txBody>
      </p:sp>
      <p:sp>
        <p:nvSpPr>
          <p:cNvPr id="29" name="TextBox 28"/>
          <p:cNvSpPr txBox="1"/>
          <p:nvPr/>
        </p:nvSpPr>
        <p:spPr>
          <a:xfrm>
            <a:off x="7333488" y="4539996"/>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Score</a:t>
            </a:r>
          </a:p>
        </p:txBody>
      </p:sp>
      <p:sp>
        <p:nvSpPr>
          <p:cNvPr id="30" name="TextBox 29"/>
          <p:cNvSpPr txBox="1"/>
          <p:nvPr/>
        </p:nvSpPr>
        <p:spPr>
          <a:xfrm>
            <a:off x="8503920" y="4558284"/>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Weight it by size, position, clarity, angle and duration.</a:t>
            </a:r>
          </a:p>
        </p:txBody>
      </p:sp>
      <p:sp>
        <p:nvSpPr>
          <p:cNvPr id="31" name="Rectangle 30"/>
          <p:cNvSpPr/>
          <p:nvPr/>
        </p:nvSpPr>
        <p:spPr>
          <a:xfrm>
            <a:off x="6766560" y="5001768"/>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766560" y="5134356"/>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06</a:t>
            </a:r>
          </a:p>
        </p:txBody>
      </p:sp>
      <p:sp>
        <p:nvSpPr>
          <p:cNvPr id="33" name="TextBox 32"/>
          <p:cNvSpPr txBox="1"/>
          <p:nvPr/>
        </p:nvSpPr>
        <p:spPr>
          <a:xfrm>
            <a:off x="7333488" y="5120640"/>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Total</a:t>
            </a:r>
          </a:p>
        </p:txBody>
      </p:sp>
      <p:sp>
        <p:nvSpPr>
          <p:cNvPr id="34" name="TextBox 33"/>
          <p:cNvSpPr txBox="1"/>
          <p:nvPr/>
        </p:nvSpPr>
        <p:spPr>
          <a:xfrm>
            <a:off x="8503920" y="5138928"/>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Convert to a share of the whole shirt's exposure.</a:t>
            </a:r>
          </a:p>
        </p:txBody>
      </p:sp>
      <p:sp>
        <p:nvSpPr>
          <p:cNvPr id="35" name="TextBox 34"/>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SEE IT WORK</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Ninety seconds of real Bradford footage</a:t>
            </a:r>
          </a:p>
        </p:txBody>
      </p:sp>
      <p:sp>
        <p:nvSpPr>
          <p:cNvPr id="8" name="TextBox 7"/>
          <p:cNvSpPr txBox="1"/>
          <p:nvPr/>
        </p:nvSpPr>
        <p:spPr>
          <a:xfrm>
            <a:off x="640080" y="1645920"/>
            <a:ext cx="10607040" cy="274320"/>
          </a:xfrm>
          <a:prstGeom prst="rect">
            <a:avLst/>
          </a:prstGeom>
          <a:noFill/>
        </p:spPr>
        <p:txBody>
          <a:bodyPr wrap="square" lIns="0" rIns="0" tIns="0" bIns="0" anchor="t">
            <a:spAutoFit/>
          </a:bodyPr>
          <a:lstStyle/>
          <a:p>
            <a:pPr algn="l">
              <a:lnSpc>
                <a:spcPct val="120000"/>
              </a:lnSpc>
            </a:pPr>
            <a:r>
              <a:rPr sz="1160" b="0" i="0">
                <a:solidFill>
                  <a:srgbClr val="8695AC"/>
                </a:solidFill>
                <a:latin typeface="Arial"/>
              </a:rPr>
              <a:t>Unedited system output.   Box colour = sponsor brand.   BRA = confirmed Bradford player.   ? = not enough evidence, held back rather than guessed.</a:t>
            </a:r>
          </a:p>
        </p:txBody>
      </p:sp>
      <p:pic>
        <p:nvPicPr>
          <p:cNvPr id="9" name="demo_90s.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40080" y="2103120"/>
            <a:ext cx="6903720" cy="3886200"/>
          </a:xfrm>
          <a:prstGeom prst="rect">
            <a:avLst/>
          </a:prstGeom>
        </p:spPr>
      </p:pic>
      <p:sp>
        <p:nvSpPr>
          <p:cNvPr id="10" name="Rectangle 9"/>
          <p:cNvSpPr/>
          <p:nvPr/>
        </p:nvSpPr>
        <p:spPr>
          <a:xfrm>
            <a:off x="640080" y="2103120"/>
            <a:ext cx="6903720" cy="388620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6053328"/>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60704" y="5998464"/>
            <a:ext cx="6583680" cy="237744"/>
          </a:xfrm>
          <a:prstGeom prst="rect">
            <a:avLst/>
          </a:prstGeom>
          <a:noFill/>
        </p:spPr>
        <p:txBody>
          <a:bodyPr wrap="square" lIns="0" rIns="0" tIns="0" bIns="0" anchor="t">
            <a:spAutoFit/>
          </a:bodyPr>
          <a:lstStyle/>
          <a:p>
            <a:pPr algn="l">
              <a:lnSpc>
                <a:spcPct val="120000"/>
              </a:lnSpc>
            </a:pPr>
            <a:r>
              <a:rPr sz="1040" b="0" i="0">
                <a:solidFill>
                  <a:srgbClr val="8695AC"/>
                </a:solidFill>
                <a:latin typeface="Arial"/>
              </a:rPr>
              <a:t>Seven passages from one match · source timecode burned in · click to play</a:t>
            </a:r>
          </a:p>
        </p:txBody>
      </p:sp>
      <p:pic>
        <p:nvPicPr>
          <p:cNvPr id="13" name="tackle_body.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7827264" y="2103120"/>
            <a:ext cx="3767328" cy="2121408"/>
          </a:xfrm>
          <a:prstGeom prst="rect">
            <a:avLst/>
          </a:prstGeom>
        </p:spPr>
      </p:pic>
      <p:sp>
        <p:nvSpPr>
          <p:cNvPr id="14" name="Rectangle 13"/>
          <p:cNvSpPr/>
          <p:nvPr/>
        </p:nvSpPr>
        <p:spPr>
          <a:xfrm>
            <a:off x="7827264" y="2103120"/>
            <a:ext cx="3767328" cy="212140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27264" y="4334256"/>
            <a:ext cx="3767328" cy="237744"/>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How it knows it is the shorts</a:t>
            </a:r>
          </a:p>
        </p:txBody>
      </p:sp>
      <p:sp>
        <p:nvSpPr>
          <p:cNvPr id="16" name="TextBox 15"/>
          <p:cNvSpPr txBox="1"/>
          <p:nvPr/>
        </p:nvSpPr>
        <p:spPr>
          <a:xfrm>
            <a:off x="7827264" y="4608576"/>
            <a:ext cx="3749039" cy="54864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Each player is broken into body regions from pose keypoints, so a mark can be tied to chest, back, sleeve, shorts or socks. Grey means the system had too little evidence and declined to assign.</a:t>
            </a:r>
          </a:p>
        </p:txBody>
      </p:sp>
      <p:sp>
        <p:nvSpPr>
          <p:cNvPr id="17" name="Rectangle 16"/>
          <p:cNvSpPr/>
          <p:nvPr/>
        </p:nvSpPr>
        <p:spPr>
          <a:xfrm>
            <a:off x="7827264" y="5504688"/>
            <a:ext cx="310896" cy="32004"/>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47888" y="5449824"/>
            <a:ext cx="3383280" cy="457200"/>
          </a:xfrm>
          <a:prstGeom prst="rect">
            <a:avLst/>
          </a:prstGeom>
          <a:noFill/>
        </p:spPr>
        <p:txBody>
          <a:bodyPr wrap="square" lIns="0" rIns="0" tIns="0" bIns="0" anchor="t">
            <a:spAutoFit/>
          </a:bodyPr>
          <a:lstStyle/>
          <a:p>
            <a:pPr algn="l">
              <a:lnSpc>
                <a:spcPct val="130000"/>
              </a:lnSpc>
            </a:pPr>
            <a:r>
              <a:rPr sz="1060" b="0" i="0">
                <a:solidFill>
                  <a:srgbClr val="FFC20E"/>
                </a:solidFill>
                <a:latin typeface="Arial"/>
              </a:rPr>
              <a:t>Around 00:52 a ruck brings ten marks into a single frame.</a:t>
            </a:r>
          </a:p>
        </p:txBody>
      </p:sp>
      <p:sp>
        <p:nvSpPr>
          <p:cNvPr id="19" name="TextBox 18"/>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Clips: artifacts/deck_media/demo_team_split_90s.mp4 and artifacts/bradford_review/tackle_body.mp4 — Bradford v Hull FC, home kit.</a:t>
            </a:r>
          </a:p>
        </p:txBody>
      </p:sp>
      <p:sp>
        <p:nvSpPr>
          <p:cNvPr id="20" name="TextBox 19"/>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04</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video>
              <p:cMediaNode vol="80000">
                <p:cTn id="3" fill="hold" display="0">
                  <p:stCondLst>
                    <p:cond delay="indefinite"/>
                  </p:stCondLst>
                </p:cTn>
                <p:tgtEl>
                  <p:spTgt spid="13"/>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HOW IT IS SCORED</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200" b="1" i="0">
                <a:solidFill>
                  <a:srgbClr val="FFFFFF"/>
                </a:solidFill>
                <a:latin typeface="Arial"/>
              </a:rPr>
              <a:t>A logo is not just present or absent</a:t>
            </a:r>
          </a:p>
        </p:txBody>
      </p:sp>
      <p:sp>
        <p:nvSpPr>
          <p:cNvPr id="8" name="TextBox 7"/>
          <p:cNvSpPr txBox="1"/>
          <p:nvPr/>
        </p:nvSpPr>
        <p:spPr>
          <a:xfrm>
            <a:off x="640080" y="1719072"/>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Every appearance is weighted by how well it could actually be seen. These are the six things measured on each one.</a:t>
            </a:r>
          </a:p>
        </p:txBody>
      </p:sp>
      <p:sp>
        <p:nvSpPr>
          <p:cNvPr id="9" name="Rectangle 8"/>
          <p:cNvSpPr/>
          <p:nvPr/>
        </p:nvSpPr>
        <p:spPr>
          <a:xfrm>
            <a:off x="640080" y="2395728"/>
            <a:ext cx="365760"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633472"/>
            <a:ext cx="1544314" cy="256032"/>
          </a:xfrm>
          <a:prstGeom prst="rect">
            <a:avLst/>
          </a:prstGeom>
          <a:noFill/>
        </p:spPr>
        <p:txBody>
          <a:bodyPr wrap="square" lIns="0" rIns="0" tIns="0" bIns="0" anchor="t">
            <a:spAutoFit/>
          </a:bodyPr>
          <a:lstStyle/>
          <a:p>
            <a:pPr algn="l">
              <a:lnSpc>
                <a:spcPct val="120000"/>
              </a:lnSpc>
            </a:pPr>
            <a:r>
              <a:rPr sz="1200" b="1" i="0">
                <a:solidFill>
                  <a:srgbClr val="E4002B"/>
                </a:solidFill>
                <a:latin typeface="Arial"/>
              </a:rPr>
              <a:t>01</a:t>
            </a:r>
          </a:p>
        </p:txBody>
      </p:sp>
      <p:sp>
        <p:nvSpPr>
          <p:cNvPr id="11" name="TextBox 10"/>
          <p:cNvSpPr txBox="1"/>
          <p:nvPr/>
        </p:nvSpPr>
        <p:spPr>
          <a:xfrm>
            <a:off x="640080" y="2999232"/>
            <a:ext cx="1544314" cy="310896"/>
          </a:xfrm>
          <a:prstGeom prst="rect">
            <a:avLst/>
          </a:prstGeom>
          <a:noFill/>
        </p:spPr>
        <p:txBody>
          <a:bodyPr wrap="square" lIns="0" rIns="0" tIns="0" bIns="0" anchor="t">
            <a:spAutoFit/>
          </a:bodyPr>
          <a:lstStyle/>
          <a:p>
            <a:pPr algn="l">
              <a:lnSpc>
                <a:spcPct val="120000"/>
              </a:lnSpc>
            </a:pPr>
            <a:r>
              <a:rPr sz="1900" b="1" i="0">
                <a:solidFill>
                  <a:srgbClr val="FFFFFF"/>
                </a:solidFill>
                <a:latin typeface="Arial"/>
              </a:rPr>
              <a:t>Size</a:t>
            </a:r>
          </a:p>
        </p:txBody>
      </p:sp>
      <p:sp>
        <p:nvSpPr>
          <p:cNvPr id="12" name="TextBox 11"/>
          <p:cNvSpPr txBox="1"/>
          <p:nvPr/>
        </p:nvSpPr>
        <p:spPr>
          <a:xfrm>
            <a:off x="640080" y="3511296"/>
            <a:ext cx="1507738" cy="731520"/>
          </a:xfrm>
          <a:prstGeom prst="rect">
            <a:avLst/>
          </a:prstGeom>
          <a:noFill/>
        </p:spPr>
        <p:txBody>
          <a:bodyPr wrap="square" lIns="0" rIns="0" tIns="0" bIns="0" anchor="t">
            <a:spAutoFit/>
          </a:bodyPr>
          <a:lstStyle/>
          <a:p>
            <a:pPr algn="l">
              <a:lnSpc>
                <a:spcPct val="132000"/>
              </a:lnSpc>
            </a:pPr>
            <a:r>
              <a:rPr sz="1140" b="0" i="0">
                <a:solidFill>
                  <a:srgbClr val="8695AC"/>
                </a:solidFill>
                <a:latin typeface="Arial"/>
              </a:rPr>
              <a:t>How much of the screen it fills</a:t>
            </a:r>
          </a:p>
        </p:txBody>
      </p:sp>
      <p:sp>
        <p:nvSpPr>
          <p:cNvPr id="13" name="Rectangle 12"/>
          <p:cNvSpPr/>
          <p:nvPr/>
        </p:nvSpPr>
        <p:spPr>
          <a:xfrm>
            <a:off x="2440426" y="2395728"/>
            <a:ext cx="7315" cy="1920240"/>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458714" y="2395728"/>
            <a:ext cx="365760"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458714" y="2633472"/>
            <a:ext cx="1544314" cy="256032"/>
          </a:xfrm>
          <a:prstGeom prst="rect">
            <a:avLst/>
          </a:prstGeom>
          <a:noFill/>
        </p:spPr>
        <p:txBody>
          <a:bodyPr wrap="square" lIns="0" rIns="0" tIns="0" bIns="0" anchor="t">
            <a:spAutoFit/>
          </a:bodyPr>
          <a:lstStyle/>
          <a:p>
            <a:pPr algn="l">
              <a:lnSpc>
                <a:spcPct val="120000"/>
              </a:lnSpc>
            </a:pPr>
            <a:r>
              <a:rPr sz="1200" b="1" i="0">
                <a:solidFill>
                  <a:srgbClr val="FFC20E"/>
                </a:solidFill>
                <a:latin typeface="Arial"/>
              </a:rPr>
              <a:t>02</a:t>
            </a:r>
          </a:p>
        </p:txBody>
      </p:sp>
      <p:sp>
        <p:nvSpPr>
          <p:cNvPr id="16" name="TextBox 15"/>
          <p:cNvSpPr txBox="1"/>
          <p:nvPr/>
        </p:nvSpPr>
        <p:spPr>
          <a:xfrm>
            <a:off x="2458714" y="2999232"/>
            <a:ext cx="1544314" cy="310896"/>
          </a:xfrm>
          <a:prstGeom prst="rect">
            <a:avLst/>
          </a:prstGeom>
          <a:noFill/>
        </p:spPr>
        <p:txBody>
          <a:bodyPr wrap="square" lIns="0" rIns="0" tIns="0" bIns="0" anchor="t">
            <a:spAutoFit/>
          </a:bodyPr>
          <a:lstStyle/>
          <a:p>
            <a:pPr algn="l">
              <a:lnSpc>
                <a:spcPct val="120000"/>
              </a:lnSpc>
            </a:pPr>
            <a:r>
              <a:rPr sz="1900" b="1" i="0">
                <a:solidFill>
                  <a:srgbClr val="FFFFFF"/>
                </a:solidFill>
                <a:latin typeface="Arial"/>
              </a:rPr>
              <a:t>Position</a:t>
            </a:r>
          </a:p>
        </p:txBody>
      </p:sp>
      <p:sp>
        <p:nvSpPr>
          <p:cNvPr id="17" name="TextBox 16"/>
          <p:cNvSpPr txBox="1"/>
          <p:nvPr/>
        </p:nvSpPr>
        <p:spPr>
          <a:xfrm>
            <a:off x="2458714" y="3511296"/>
            <a:ext cx="1507738" cy="731520"/>
          </a:xfrm>
          <a:prstGeom prst="rect">
            <a:avLst/>
          </a:prstGeom>
          <a:noFill/>
        </p:spPr>
        <p:txBody>
          <a:bodyPr wrap="square" lIns="0" rIns="0" tIns="0" bIns="0" anchor="t">
            <a:spAutoFit/>
          </a:bodyPr>
          <a:lstStyle/>
          <a:p>
            <a:pPr algn="l">
              <a:lnSpc>
                <a:spcPct val="132000"/>
              </a:lnSpc>
            </a:pPr>
            <a:r>
              <a:rPr sz="1140" b="0" i="0">
                <a:solidFill>
                  <a:srgbClr val="8695AC"/>
                </a:solidFill>
                <a:latin typeface="Arial"/>
              </a:rPr>
              <a:t>How near the centre of frame</a:t>
            </a:r>
          </a:p>
        </p:txBody>
      </p:sp>
      <p:sp>
        <p:nvSpPr>
          <p:cNvPr id="18" name="Rectangle 17"/>
          <p:cNvSpPr/>
          <p:nvPr/>
        </p:nvSpPr>
        <p:spPr>
          <a:xfrm>
            <a:off x="4259061" y="2395728"/>
            <a:ext cx="7315" cy="1920240"/>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277349" y="2395728"/>
            <a:ext cx="365760" cy="41148"/>
          </a:xfrm>
          <a:prstGeom prst="rect">
            <a:avLst/>
          </a:prstGeom>
          <a:solidFill>
            <a:srgbClr val="4A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277349" y="2633472"/>
            <a:ext cx="1544314" cy="256032"/>
          </a:xfrm>
          <a:prstGeom prst="rect">
            <a:avLst/>
          </a:prstGeom>
          <a:noFill/>
        </p:spPr>
        <p:txBody>
          <a:bodyPr wrap="square" lIns="0" rIns="0" tIns="0" bIns="0" anchor="t">
            <a:spAutoFit/>
          </a:bodyPr>
          <a:lstStyle/>
          <a:p>
            <a:pPr algn="l">
              <a:lnSpc>
                <a:spcPct val="120000"/>
              </a:lnSpc>
            </a:pPr>
            <a:r>
              <a:rPr sz="1200" b="1" i="0">
                <a:solidFill>
                  <a:srgbClr val="4AC8E8"/>
                </a:solidFill>
                <a:latin typeface="Arial"/>
              </a:rPr>
              <a:t>03</a:t>
            </a:r>
          </a:p>
        </p:txBody>
      </p:sp>
      <p:sp>
        <p:nvSpPr>
          <p:cNvPr id="21" name="TextBox 20"/>
          <p:cNvSpPr txBox="1"/>
          <p:nvPr/>
        </p:nvSpPr>
        <p:spPr>
          <a:xfrm>
            <a:off x="4277349" y="2999232"/>
            <a:ext cx="1544314" cy="310896"/>
          </a:xfrm>
          <a:prstGeom prst="rect">
            <a:avLst/>
          </a:prstGeom>
          <a:noFill/>
        </p:spPr>
        <p:txBody>
          <a:bodyPr wrap="square" lIns="0" rIns="0" tIns="0" bIns="0" anchor="t">
            <a:spAutoFit/>
          </a:bodyPr>
          <a:lstStyle/>
          <a:p>
            <a:pPr algn="l">
              <a:lnSpc>
                <a:spcPct val="120000"/>
              </a:lnSpc>
            </a:pPr>
            <a:r>
              <a:rPr sz="1900" b="1" i="0">
                <a:solidFill>
                  <a:srgbClr val="FFFFFF"/>
                </a:solidFill>
                <a:latin typeface="Arial"/>
              </a:rPr>
              <a:t>Clarity</a:t>
            </a:r>
          </a:p>
        </p:txBody>
      </p:sp>
      <p:sp>
        <p:nvSpPr>
          <p:cNvPr id="22" name="TextBox 21"/>
          <p:cNvSpPr txBox="1"/>
          <p:nvPr/>
        </p:nvSpPr>
        <p:spPr>
          <a:xfrm>
            <a:off x="4277349" y="3511296"/>
            <a:ext cx="1507738" cy="731520"/>
          </a:xfrm>
          <a:prstGeom prst="rect">
            <a:avLst/>
          </a:prstGeom>
          <a:noFill/>
        </p:spPr>
        <p:txBody>
          <a:bodyPr wrap="square" lIns="0" rIns="0" tIns="0" bIns="0" anchor="t">
            <a:spAutoFit/>
          </a:bodyPr>
          <a:lstStyle/>
          <a:p>
            <a:pPr algn="l">
              <a:lnSpc>
                <a:spcPct val="132000"/>
              </a:lnSpc>
            </a:pPr>
            <a:r>
              <a:rPr sz="1140" b="0" i="0">
                <a:solidFill>
                  <a:srgbClr val="8695AC"/>
                </a:solidFill>
                <a:latin typeface="Arial"/>
              </a:rPr>
              <a:t>How readable it is</a:t>
            </a:r>
          </a:p>
        </p:txBody>
      </p:sp>
      <p:sp>
        <p:nvSpPr>
          <p:cNvPr id="23" name="Rectangle 22"/>
          <p:cNvSpPr/>
          <p:nvPr/>
        </p:nvSpPr>
        <p:spPr>
          <a:xfrm>
            <a:off x="6077696" y="2395728"/>
            <a:ext cx="7315" cy="1920240"/>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095984" y="2395728"/>
            <a:ext cx="365760"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095984" y="2633472"/>
            <a:ext cx="1544314" cy="256032"/>
          </a:xfrm>
          <a:prstGeom prst="rect">
            <a:avLst/>
          </a:prstGeom>
          <a:noFill/>
        </p:spPr>
        <p:txBody>
          <a:bodyPr wrap="square" lIns="0" rIns="0" tIns="0" bIns="0" anchor="t">
            <a:spAutoFit/>
          </a:bodyPr>
          <a:lstStyle/>
          <a:p>
            <a:pPr algn="l">
              <a:lnSpc>
                <a:spcPct val="120000"/>
              </a:lnSpc>
            </a:pPr>
            <a:r>
              <a:rPr sz="1200" b="1" i="0">
                <a:solidFill>
                  <a:srgbClr val="3E9BE0"/>
                </a:solidFill>
                <a:latin typeface="Arial"/>
              </a:rPr>
              <a:t>04</a:t>
            </a:r>
          </a:p>
        </p:txBody>
      </p:sp>
      <p:sp>
        <p:nvSpPr>
          <p:cNvPr id="26" name="TextBox 25"/>
          <p:cNvSpPr txBox="1"/>
          <p:nvPr/>
        </p:nvSpPr>
        <p:spPr>
          <a:xfrm>
            <a:off x="6095984" y="2999232"/>
            <a:ext cx="1544314" cy="310896"/>
          </a:xfrm>
          <a:prstGeom prst="rect">
            <a:avLst/>
          </a:prstGeom>
          <a:noFill/>
        </p:spPr>
        <p:txBody>
          <a:bodyPr wrap="square" lIns="0" rIns="0" tIns="0" bIns="0" anchor="t">
            <a:spAutoFit/>
          </a:bodyPr>
          <a:lstStyle/>
          <a:p>
            <a:pPr algn="l">
              <a:lnSpc>
                <a:spcPct val="120000"/>
              </a:lnSpc>
            </a:pPr>
            <a:r>
              <a:rPr sz="1900" b="1" i="0">
                <a:solidFill>
                  <a:srgbClr val="FFFFFF"/>
                </a:solidFill>
                <a:latin typeface="Arial"/>
              </a:rPr>
              <a:t>Angle</a:t>
            </a:r>
          </a:p>
        </p:txBody>
      </p:sp>
      <p:sp>
        <p:nvSpPr>
          <p:cNvPr id="27" name="TextBox 26"/>
          <p:cNvSpPr txBox="1"/>
          <p:nvPr/>
        </p:nvSpPr>
        <p:spPr>
          <a:xfrm>
            <a:off x="6095984" y="3511296"/>
            <a:ext cx="1507738" cy="731520"/>
          </a:xfrm>
          <a:prstGeom prst="rect">
            <a:avLst/>
          </a:prstGeom>
          <a:noFill/>
        </p:spPr>
        <p:txBody>
          <a:bodyPr wrap="square" lIns="0" rIns="0" tIns="0" bIns="0" anchor="t">
            <a:spAutoFit/>
          </a:bodyPr>
          <a:lstStyle/>
          <a:p>
            <a:pPr algn="l">
              <a:lnSpc>
                <a:spcPct val="132000"/>
              </a:lnSpc>
            </a:pPr>
            <a:r>
              <a:rPr sz="1140" b="0" i="0">
                <a:solidFill>
                  <a:srgbClr val="8695AC"/>
                </a:solidFill>
                <a:latin typeface="Arial"/>
              </a:rPr>
              <a:t>How square-on to camera</a:t>
            </a:r>
          </a:p>
        </p:txBody>
      </p:sp>
      <p:sp>
        <p:nvSpPr>
          <p:cNvPr id="28" name="Rectangle 27"/>
          <p:cNvSpPr/>
          <p:nvPr/>
        </p:nvSpPr>
        <p:spPr>
          <a:xfrm>
            <a:off x="7896331" y="2395728"/>
            <a:ext cx="7315" cy="1920240"/>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914619" y="2395728"/>
            <a:ext cx="365760" cy="41148"/>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914619" y="2633472"/>
            <a:ext cx="1544314" cy="256032"/>
          </a:xfrm>
          <a:prstGeom prst="rect">
            <a:avLst/>
          </a:prstGeom>
          <a:noFill/>
        </p:spPr>
        <p:txBody>
          <a:bodyPr wrap="square" lIns="0" rIns="0" tIns="0" bIns="0" anchor="t">
            <a:spAutoFit/>
          </a:bodyPr>
          <a:lstStyle/>
          <a:p>
            <a:pPr algn="l">
              <a:lnSpc>
                <a:spcPct val="120000"/>
              </a:lnSpc>
            </a:pPr>
            <a:r>
              <a:rPr sz="1200" b="1" i="0">
                <a:solidFill>
                  <a:srgbClr val="25C787"/>
                </a:solidFill>
                <a:latin typeface="Arial"/>
              </a:rPr>
              <a:t>05</a:t>
            </a:r>
          </a:p>
        </p:txBody>
      </p:sp>
      <p:sp>
        <p:nvSpPr>
          <p:cNvPr id="31" name="TextBox 30"/>
          <p:cNvSpPr txBox="1"/>
          <p:nvPr/>
        </p:nvSpPr>
        <p:spPr>
          <a:xfrm>
            <a:off x="7914619" y="2999232"/>
            <a:ext cx="1544314" cy="310896"/>
          </a:xfrm>
          <a:prstGeom prst="rect">
            <a:avLst/>
          </a:prstGeom>
          <a:noFill/>
        </p:spPr>
        <p:txBody>
          <a:bodyPr wrap="square" lIns="0" rIns="0" tIns="0" bIns="0" anchor="t">
            <a:spAutoFit/>
          </a:bodyPr>
          <a:lstStyle/>
          <a:p>
            <a:pPr algn="l">
              <a:lnSpc>
                <a:spcPct val="120000"/>
              </a:lnSpc>
            </a:pPr>
            <a:r>
              <a:rPr sz="1900" b="1" i="0">
                <a:solidFill>
                  <a:srgbClr val="FFFFFF"/>
                </a:solidFill>
                <a:latin typeface="Arial"/>
              </a:rPr>
              <a:t>Duration</a:t>
            </a:r>
          </a:p>
        </p:txBody>
      </p:sp>
      <p:sp>
        <p:nvSpPr>
          <p:cNvPr id="32" name="TextBox 31"/>
          <p:cNvSpPr txBox="1"/>
          <p:nvPr/>
        </p:nvSpPr>
        <p:spPr>
          <a:xfrm>
            <a:off x="7914619" y="3511296"/>
            <a:ext cx="1507738" cy="731520"/>
          </a:xfrm>
          <a:prstGeom prst="rect">
            <a:avLst/>
          </a:prstGeom>
          <a:noFill/>
        </p:spPr>
        <p:txBody>
          <a:bodyPr wrap="square" lIns="0" rIns="0" tIns="0" bIns="0" anchor="t">
            <a:spAutoFit/>
          </a:bodyPr>
          <a:lstStyle/>
          <a:p>
            <a:pPr algn="l">
              <a:lnSpc>
                <a:spcPct val="132000"/>
              </a:lnSpc>
            </a:pPr>
            <a:r>
              <a:rPr sz="1140" b="0" i="0">
                <a:solidFill>
                  <a:srgbClr val="8695AC"/>
                </a:solidFill>
                <a:latin typeface="Arial"/>
              </a:rPr>
              <a:t>How long it holds</a:t>
            </a:r>
          </a:p>
        </p:txBody>
      </p:sp>
      <p:sp>
        <p:nvSpPr>
          <p:cNvPr id="33" name="Rectangle 32"/>
          <p:cNvSpPr/>
          <p:nvPr/>
        </p:nvSpPr>
        <p:spPr>
          <a:xfrm>
            <a:off x="9714966" y="2395728"/>
            <a:ext cx="7315" cy="1920240"/>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9733254" y="2395728"/>
            <a:ext cx="365760"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733254" y="2633472"/>
            <a:ext cx="1544314" cy="256032"/>
          </a:xfrm>
          <a:prstGeom prst="rect">
            <a:avLst/>
          </a:prstGeom>
          <a:noFill/>
        </p:spPr>
        <p:txBody>
          <a:bodyPr wrap="square" lIns="0" rIns="0" tIns="0" bIns="0" anchor="t">
            <a:spAutoFit/>
          </a:bodyPr>
          <a:lstStyle/>
          <a:p>
            <a:pPr algn="l">
              <a:lnSpc>
                <a:spcPct val="120000"/>
              </a:lnSpc>
            </a:pPr>
            <a:r>
              <a:rPr sz="1200" b="1" i="0">
                <a:solidFill>
                  <a:srgbClr val="E4002B"/>
                </a:solidFill>
                <a:latin typeface="Arial"/>
              </a:rPr>
              <a:t>06</a:t>
            </a:r>
          </a:p>
        </p:txBody>
      </p:sp>
      <p:sp>
        <p:nvSpPr>
          <p:cNvPr id="36" name="TextBox 35"/>
          <p:cNvSpPr txBox="1"/>
          <p:nvPr/>
        </p:nvSpPr>
        <p:spPr>
          <a:xfrm>
            <a:off x="9733254" y="2999232"/>
            <a:ext cx="1544314" cy="310896"/>
          </a:xfrm>
          <a:prstGeom prst="rect">
            <a:avLst/>
          </a:prstGeom>
          <a:noFill/>
        </p:spPr>
        <p:txBody>
          <a:bodyPr wrap="square" lIns="0" rIns="0" tIns="0" bIns="0" anchor="t">
            <a:spAutoFit/>
          </a:bodyPr>
          <a:lstStyle/>
          <a:p>
            <a:pPr algn="l">
              <a:lnSpc>
                <a:spcPct val="120000"/>
              </a:lnSpc>
            </a:pPr>
            <a:r>
              <a:rPr sz="1900" b="1" i="0">
                <a:solidFill>
                  <a:srgbClr val="FFFFFF"/>
                </a:solidFill>
                <a:latin typeface="Arial"/>
              </a:rPr>
              <a:t>Frequency</a:t>
            </a:r>
          </a:p>
        </p:txBody>
      </p:sp>
      <p:sp>
        <p:nvSpPr>
          <p:cNvPr id="37" name="TextBox 36"/>
          <p:cNvSpPr txBox="1"/>
          <p:nvPr/>
        </p:nvSpPr>
        <p:spPr>
          <a:xfrm>
            <a:off x="9733254" y="3511296"/>
            <a:ext cx="1507738" cy="731520"/>
          </a:xfrm>
          <a:prstGeom prst="rect">
            <a:avLst/>
          </a:prstGeom>
          <a:noFill/>
        </p:spPr>
        <p:txBody>
          <a:bodyPr wrap="square" lIns="0" rIns="0" tIns="0" bIns="0" anchor="t">
            <a:spAutoFit/>
          </a:bodyPr>
          <a:lstStyle/>
          <a:p>
            <a:pPr algn="l">
              <a:lnSpc>
                <a:spcPct val="132000"/>
              </a:lnSpc>
            </a:pPr>
            <a:r>
              <a:rPr sz="1140" b="0" i="0">
                <a:solidFill>
                  <a:srgbClr val="8695AC"/>
                </a:solidFill>
                <a:latin typeface="Arial"/>
              </a:rPr>
              <a:t>How often it returns</a:t>
            </a:r>
          </a:p>
        </p:txBody>
      </p:sp>
      <p:sp>
        <p:nvSpPr>
          <p:cNvPr id="38" name="Rectangle 37"/>
          <p:cNvSpPr/>
          <p:nvPr/>
        </p:nvSpPr>
        <p:spPr>
          <a:xfrm>
            <a:off x="640080" y="4718304"/>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5047488"/>
            <a:ext cx="10911809" cy="347472"/>
          </a:xfrm>
          <a:prstGeom prst="rect">
            <a:avLst/>
          </a:prstGeom>
          <a:noFill/>
        </p:spPr>
        <p:txBody>
          <a:bodyPr wrap="square" lIns="0" rIns="0" tIns="0" bIns="0" anchor="t">
            <a:spAutoFit/>
          </a:bodyPr>
          <a:lstStyle/>
          <a:p>
            <a:pPr algn="l">
              <a:lnSpc>
                <a:spcPct val="120000"/>
              </a:lnSpc>
            </a:pPr>
            <a:r>
              <a:rPr sz="1900" b="1" i="0">
                <a:solidFill>
                  <a:srgbClr val="FFFFFF"/>
                </a:solidFill>
                <a:latin typeface="Arial"/>
              </a:rPr>
              <a:t>size  ×  position  ×  clarity  ×  angle  ×  duration weight  ×  seconds on screen</a:t>
            </a:r>
          </a:p>
        </p:txBody>
      </p:sp>
      <p:sp>
        <p:nvSpPr>
          <p:cNvPr id="40" name="TextBox 39"/>
          <p:cNvSpPr txBox="1"/>
          <p:nvPr/>
        </p:nvSpPr>
        <p:spPr>
          <a:xfrm>
            <a:off x="640080" y="5577840"/>
            <a:ext cx="7498079" cy="731520"/>
          </a:xfrm>
          <a:prstGeom prst="rect">
            <a:avLst/>
          </a:prstGeom>
          <a:noFill/>
        </p:spPr>
        <p:txBody>
          <a:bodyPr wrap="square" lIns="0" rIns="0" tIns="0" bIns="0" anchor="t">
            <a:spAutoFit/>
          </a:bodyPr>
          <a:lstStyle/>
          <a:p>
            <a:pPr algn="l">
              <a:lnSpc>
                <a:spcPct val="140000"/>
              </a:lnSpc>
            </a:pPr>
            <a:r>
              <a:rPr sz="1200" b="0" i="0">
                <a:solidFill>
                  <a:srgbClr val="8695AC"/>
                </a:solidFill>
                <a:latin typeface="Arial"/>
              </a:rPr>
              <a:t>Each factor is stored per detection rather than baked into one number, so the club can ask “what if position did not matter?” and see the answer immediately instead of waiting for a re-run.</a:t>
            </a:r>
          </a:p>
        </p:txBody>
      </p:sp>
      <p:sp>
        <p:nvSpPr>
          <p:cNvPr id="41" name="TextBox 40"/>
          <p:cNvSpPr txBox="1"/>
          <p:nvPr/>
        </p:nvSpPr>
        <p:spPr>
          <a:xfrm>
            <a:off x="8613648" y="5541264"/>
            <a:ext cx="3108960" cy="1280160"/>
          </a:xfrm>
          <a:prstGeom prst="rect">
            <a:avLst/>
          </a:prstGeom>
          <a:noFill/>
        </p:spPr>
        <p:txBody>
          <a:bodyPr wrap="square" lIns="0" rIns="0" tIns="0" bIns="0" anchor="t">
            <a:spAutoFit/>
          </a:bodyPr>
          <a:lstStyle/>
          <a:p>
            <a:pPr algn="l">
              <a:lnSpc>
                <a:spcPct val="146000"/>
              </a:lnSpc>
            </a:pPr>
            <a:r>
              <a:rPr sz="1250" b="1" i="0">
                <a:solidFill>
                  <a:srgbClr val="FFC20E"/>
                </a:solidFill>
                <a:latin typeface="Arial"/>
              </a:rPr>
              <a:t>An asset's percentage is its</a:t>
            </a:r>
          </a:p>
          <a:p>
            <a:pPr algn="l">
              <a:lnSpc>
                <a:spcPct val="146000"/>
              </a:lnSpc>
            </a:pPr>
            <a:r>
              <a:rPr sz="1250" b="1" i="0">
                <a:solidFill>
                  <a:srgbClr val="FFC20E"/>
                </a:solidFill>
                <a:latin typeface="Arial"/>
              </a:rPr>
              <a:t>share of all that quality-weighted</a:t>
            </a:r>
          </a:p>
          <a:p>
            <a:pPr algn="l">
              <a:lnSpc>
                <a:spcPct val="146000"/>
              </a:lnSpc>
            </a:pPr>
            <a:r>
              <a:rPr sz="1250" b="1" i="0">
                <a:solidFill>
                  <a:srgbClr val="FFC20E"/>
                </a:solidFill>
                <a:latin typeface="Arial"/>
              </a:rPr>
              <a:t>exposure across the whole match.</a:t>
            </a:r>
          </a:p>
        </p:txBody>
      </p:sp>
      <p:sp>
        <p:nvSpPr>
          <p:cNvPr id="42" name="TextBox 41"/>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01</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ONE</a:t>
            </a:r>
          </a:p>
        </p:txBody>
      </p:sp>
      <p:sp>
        <p:nvSpPr>
          <p:cNvPr id="8" name="TextBox 7"/>
          <p:cNvSpPr txBox="1"/>
          <p:nvPr/>
        </p:nvSpPr>
        <p:spPr>
          <a:xfrm>
            <a:off x="640080" y="786384"/>
            <a:ext cx="9692640"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The camera and the price list disagree</a:t>
            </a:r>
          </a:p>
        </p:txBody>
      </p:sp>
      <p:pic>
        <p:nvPicPr>
          <p:cNvPr id="9" name="Picture 8" descr="h_headline.png"/>
          <p:cNvPicPr>
            <a:picLocks noChangeAspect="1"/>
          </p:cNvPicPr>
          <p:nvPr/>
        </p:nvPicPr>
        <p:blipFill>
          <a:blip r:embed="rId2"/>
          <a:stretch>
            <a:fillRect/>
          </a:stretch>
        </p:blipFill>
        <p:spPr>
          <a:xfrm>
            <a:off x="512063" y="1627632"/>
            <a:ext cx="7882127" cy="3859391"/>
          </a:xfrm>
          <a:prstGeom prst="rect">
            <a:avLst/>
          </a:prstGeom>
        </p:spPr>
      </p:pic>
      <p:sp>
        <p:nvSpPr>
          <p:cNvPr id="10" name="Rectangle 9"/>
          <p:cNvSpPr/>
          <p:nvPr/>
        </p:nvSpPr>
        <p:spPr>
          <a:xfrm>
            <a:off x="8613648" y="1700784"/>
            <a:ext cx="365760" cy="36576"/>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13648" y="1883664"/>
            <a:ext cx="3017520" cy="27432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Nine assets deliver more</a:t>
            </a:r>
          </a:p>
        </p:txBody>
      </p:sp>
      <p:sp>
        <p:nvSpPr>
          <p:cNvPr id="12" name="TextBox 11"/>
          <p:cNvSpPr txBox="1"/>
          <p:nvPr/>
        </p:nvSpPr>
        <p:spPr>
          <a:xfrm>
            <a:off x="8613648" y="2212848"/>
            <a:ext cx="2971800" cy="822960"/>
          </a:xfrm>
          <a:prstGeom prst="rect">
            <a:avLst/>
          </a:prstGeom>
          <a:noFill/>
        </p:spPr>
        <p:txBody>
          <a:bodyPr wrap="square" lIns="0" rIns="0" tIns="0" bIns="0" anchor="t">
            <a:spAutoFit/>
          </a:bodyPr>
          <a:lstStyle/>
          <a:p>
            <a:pPr algn="l">
              <a:lnSpc>
                <a:spcPct val="134000"/>
              </a:lnSpc>
            </a:pPr>
            <a:r>
              <a:rPr sz="1100" b="0" i="0">
                <a:solidFill>
                  <a:srgbClr val="8695AC"/>
                </a:solidFill>
                <a:latin typeface="Arial"/>
              </a:rPr>
              <a:t>KLG gets 23.3% of all measured exposure on a 5% share of the price — the most-seen mark on the kit.</a:t>
            </a:r>
          </a:p>
        </p:txBody>
      </p:sp>
      <p:sp>
        <p:nvSpPr>
          <p:cNvPr id="13" name="Rectangle 12"/>
          <p:cNvSpPr/>
          <p:nvPr/>
        </p:nvSpPr>
        <p:spPr>
          <a:xfrm>
            <a:off x="8613648" y="3200400"/>
            <a:ext cx="365760" cy="3657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613648" y="3383280"/>
            <a:ext cx="3017520" cy="27432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Seven deliver less</a:t>
            </a:r>
          </a:p>
        </p:txBody>
      </p:sp>
      <p:sp>
        <p:nvSpPr>
          <p:cNvPr id="15" name="TextBox 14"/>
          <p:cNvSpPr txBox="1"/>
          <p:nvPr/>
        </p:nvSpPr>
        <p:spPr>
          <a:xfrm>
            <a:off x="8613648" y="3712463"/>
            <a:ext cx="2971800" cy="822960"/>
          </a:xfrm>
          <a:prstGeom prst="rect">
            <a:avLst/>
          </a:prstGeom>
          <a:noFill/>
        </p:spPr>
        <p:txBody>
          <a:bodyPr wrap="square" lIns="0" rIns="0" tIns="0" bIns="0" anchor="t">
            <a:spAutoFit/>
          </a:bodyPr>
          <a:lstStyle/>
          <a:p>
            <a:pPr algn="l">
              <a:lnSpc>
                <a:spcPct val="134000"/>
              </a:lnSpc>
            </a:pPr>
            <a:r>
              <a:rPr sz="1100" b="0" i="0">
                <a:solidFill>
                  <a:srgbClr val="8695AC"/>
                </a:solidFill>
                <a:latin typeface="Arial"/>
              </a:rPr>
              <a:t>Top Notch holds 26% of the price and 11.3% of the exposure. ATM Hospitality: 11% against 2.2%.</a:t>
            </a:r>
          </a:p>
        </p:txBody>
      </p:sp>
      <p:sp>
        <p:nvSpPr>
          <p:cNvPr id="16" name="Rectangle 15"/>
          <p:cNvSpPr/>
          <p:nvPr/>
        </p:nvSpPr>
        <p:spPr>
          <a:xfrm>
            <a:off x="8613648" y="4700016"/>
            <a:ext cx="365760"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13648" y="4882896"/>
            <a:ext cx="3017520" cy="27432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None of them match</a:t>
            </a:r>
          </a:p>
        </p:txBody>
      </p:sp>
      <p:sp>
        <p:nvSpPr>
          <p:cNvPr id="18" name="TextBox 17"/>
          <p:cNvSpPr txBox="1"/>
          <p:nvPr/>
        </p:nvSpPr>
        <p:spPr>
          <a:xfrm>
            <a:off x="8613648" y="5212080"/>
            <a:ext cx="2971800" cy="822960"/>
          </a:xfrm>
          <a:prstGeom prst="rect">
            <a:avLst/>
          </a:prstGeom>
          <a:noFill/>
        </p:spPr>
        <p:txBody>
          <a:bodyPr wrap="square" lIns="0" rIns="0" tIns="0" bIns="0" anchor="t">
            <a:spAutoFit/>
          </a:bodyPr>
          <a:lstStyle/>
          <a:p>
            <a:pPr algn="l">
              <a:lnSpc>
                <a:spcPct val="134000"/>
              </a:lnSpc>
            </a:pPr>
            <a:r>
              <a:rPr sz="1100" b="0" i="0">
                <a:solidFill>
                  <a:srgbClr val="8695AC"/>
                </a:solidFill>
                <a:latin typeface="Arial"/>
              </a:rPr>
              <a:t>Not one of the sixteen is priced in line with what it was measured to deliver.</a:t>
            </a:r>
          </a:p>
        </p:txBody>
      </p:sp>
      <p:sp>
        <p:nvSpPr>
          <p:cNvPr id="19" name="TextBox 18"/>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20" name="TextBox 19"/>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02</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TWO</a:t>
            </a:r>
          </a:p>
        </p:txBody>
      </p:sp>
      <p:sp>
        <p:nvSpPr>
          <p:cNvPr id="8" name="TextBox 7"/>
          <p:cNvSpPr txBox="1"/>
          <p:nvPr/>
        </p:nvSpPr>
        <p:spPr>
          <a:xfrm>
            <a:off x="640080" y="786384"/>
            <a:ext cx="3977639" cy="914400"/>
          </a:xfrm>
          <a:prstGeom prst="rect">
            <a:avLst/>
          </a:prstGeom>
          <a:noFill/>
        </p:spPr>
        <p:txBody>
          <a:bodyPr wrap="square" lIns="0" rIns="0" tIns="0" bIns="0" anchor="t">
            <a:spAutoFit/>
          </a:bodyPr>
          <a:lstStyle/>
          <a:p>
            <a:pPr algn="l">
              <a:lnSpc>
                <a:spcPct val="102000"/>
              </a:lnSpc>
            </a:pPr>
            <a:r>
              <a:rPr sz="2500" b="1" i="0">
                <a:solidFill>
                  <a:srgbClr val="FFFFFF"/>
                </a:solidFill>
                <a:latin typeface="Arial"/>
              </a:rPr>
              <a:t>The pattern is positional,</a:t>
            </a:r>
          </a:p>
          <a:p>
            <a:pPr algn="l">
              <a:lnSpc>
                <a:spcPct val="102000"/>
              </a:lnSpc>
            </a:pPr>
            <a:r>
              <a:rPr sz="2500" b="1" i="0">
                <a:solidFill>
                  <a:srgbClr val="FFFFFF"/>
                </a:solidFill>
                <a:latin typeface="Arial"/>
              </a:rPr>
              <a:t>not brand by brand</a:t>
            </a:r>
          </a:p>
        </p:txBody>
      </p:sp>
      <p:pic>
        <p:nvPicPr>
          <p:cNvPr id="9" name="Picture 8" descr="kit_map.jpg"/>
          <p:cNvPicPr>
            <a:picLocks noChangeAspect="1"/>
          </p:cNvPicPr>
          <p:nvPr/>
        </p:nvPicPr>
        <p:blipFill>
          <a:blip r:embed="rId2"/>
          <a:stretch>
            <a:fillRect/>
          </a:stretch>
        </p:blipFill>
        <p:spPr>
          <a:xfrm>
            <a:off x="4590288" y="1389888"/>
            <a:ext cx="7598664" cy="4712525"/>
          </a:xfrm>
          <a:prstGeom prst="rect">
            <a:avLst/>
          </a:prstGeom>
        </p:spPr>
      </p:pic>
      <p:sp>
        <p:nvSpPr>
          <p:cNvPr id="10" name="Rectangle 9"/>
          <p:cNvSpPr/>
          <p:nvPr/>
        </p:nvSpPr>
        <p:spPr>
          <a:xfrm>
            <a:off x="4443984" y="731520"/>
            <a:ext cx="12801" cy="5413248"/>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2212848"/>
            <a:ext cx="3200400" cy="237744"/>
          </a:xfrm>
          <a:prstGeom prst="rect">
            <a:avLst/>
          </a:prstGeom>
          <a:noFill/>
        </p:spPr>
        <p:txBody>
          <a:bodyPr wrap="square" lIns="0" rIns="0" tIns="0" bIns="0" anchor="t">
            <a:spAutoFit/>
          </a:bodyPr>
          <a:lstStyle/>
          <a:p>
            <a:pPr algn="l">
              <a:lnSpc>
                <a:spcPct val="120000"/>
              </a:lnSpc>
            </a:pPr>
            <a:r>
              <a:rPr sz="1000" b="1" i="0" spc="160">
                <a:solidFill>
                  <a:srgbClr val="8695AC"/>
                </a:solidFill>
                <a:latin typeface="Arial"/>
              </a:rPr>
              <a:t>CAMERA ÷ PRICE, BY POSITION</a:t>
            </a:r>
          </a:p>
        </p:txBody>
      </p:sp>
      <p:sp>
        <p:nvSpPr>
          <p:cNvPr id="12" name="Rectangle 11"/>
          <p:cNvSpPr/>
          <p:nvPr/>
        </p:nvSpPr>
        <p:spPr>
          <a:xfrm>
            <a:off x="640080" y="2610612"/>
            <a:ext cx="173736" cy="17373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50976" y="2560320"/>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 3.0×</a:t>
            </a:r>
          </a:p>
        </p:txBody>
      </p:sp>
      <p:sp>
        <p:nvSpPr>
          <p:cNvPr id="14" name="TextBox 13"/>
          <p:cNvSpPr txBox="1"/>
          <p:nvPr/>
        </p:nvSpPr>
        <p:spPr>
          <a:xfrm>
            <a:off x="2121408" y="2574036"/>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far more seen than priced</a:t>
            </a:r>
          </a:p>
        </p:txBody>
      </p:sp>
      <p:sp>
        <p:nvSpPr>
          <p:cNvPr id="15" name="Rectangle 14"/>
          <p:cNvSpPr/>
          <p:nvPr/>
        </p:nvSpPr>
        <p:spPr>
          <a:xfrm>
            <a:off x="640080" y="3012948"/>
            <a:ext cx="173736" cy="173736"/>
          </a:xfrm>
          <a:prstGeom prst="rect">
            <a:avLst/>
          </a:prstGeom>
          <a:solidFill>
            <a:srgbClr val="F57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0976" y="2962656"/>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1.8 – 3.0×</a:t>
            </a:r>
          </a:p>
        </p:txBody>
      </p:sp>
      <p:sp>
        <p:nvSpPr>
          <p:cNvPr id="17" name="TextBox 16"/>
          <p:cNvSpPr txBox="1"/>
          <p:nvPr/>
        </p:nvSpPr>
        <p:spPr>
          <a:xfrm>
            <a:off x="2121408" y="2976372"/>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materially under-priced</a:t>
            </a:r>
          </a:p>
        </p:txBody>
      </p:sp>
      <p:sp>
        <p:nvSpPr>
          <p:cNvPr id="18" name="Rectangle 17"/>
          <p:cNvSpPr/>
          <p:nvPr/>
        </p:nvSpPr>
        <p:spPr>
          <a:xfrm>
            <a:off x="640080" y="3415284"/>
            <a:ext cx="173736" cy="17373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50976" y="3364991"/>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1.15 – 1.8×</a:t>
            </a:r>
          </a:p>
        </p:txBody>
      </p:sp>
      <p:sp>
        <p:nvSpPr>
          <p:cNvPr id="20" name="TextBox 19"/>
          <p:cNvSpPr txBox="1"/>
          <p:nvPr/>
        </p:nvSpPr>
        <p:spPr>
          <a:xfrm>
            <a:off x="2121408" y="3378708"/>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modestly under-priced</a:t>
            </a:r>
          </a:p>
        </p:txBody>
      </p:sp>
      <p:sp>
        <p:nvSpPr>
          <p:cNvPr id="21" name="Rectangle 20"/>
          <p:cNvSpPr/>
          <p:nvPr/>
        </p:nvSpPr>
        <p:spPr>
          <a:xfrm>
            <a:off x="640080" y="3817620"/>
            <a:ext cx="173736" cy="173736"/>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0976" y="3767328"/>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0.85 – 1.15×</a:t>
            </a:r>
          </a:p>
        </p:txBody>
      </p:sp>
      <p:sp>
        <p:nvSpPr>
          <p:cNvPr id="23" name="TextBox 22"/>
          <p:cNvSpPr txBox="1"/>
          <p:nvPr/>
        </p:nvSpPr>
        <p:spPr>
          <a:xfrm>
            <a:off x="2121408" y="3781044"/>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about right</a:t>
            </a:r>
          </a:p>
        </p:txBody>
      </p:sp>
      <p:sp>
        <p:nvSpPr>
          <p:cNvPr id="24" name="Rectangle 23"/>
          <p:cNvSpPr/>
          <p:nvPr/>
        </p:nvSpPr>
        <p:spPr>
          <a:xfrm>
            <a:off x="640080" y="4219955"/>
            <a:ext cx="173736" cy="17373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50976" y="4169663"/>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&lt; 0.85×</a:t>
            </a:r>
          </a:p>
        </p:txBody>
      </p:sp>
      <p:sp>
        <p:nvSpPr>
          <p:cNvPr id="26" name="TextBox 25"/>
          <p:cNvSpPr txBox="1"/>
          <p:nvPr/>
        </p:nvSpPr>
        <p:spPr>
          <a:xfrm>
            <a:off x="2121408" y="4183379"/>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priced above what it delivers</a:t>
            </a:r>
          </a:p>
        </p:txBody>
      </p:sp>
      <p:sp>
        <p:nvSpPr>
          <p:cNvPr id="27" name="Rectangle 26"/>
          <p:cNvSpPr/>
          <p:nvPr/>
        </p:nvSpPr>
        <p:spPr>
          <a:xfrm>
            <a:off x="640080" y="4773168"/>
            <a:ext cx="365760"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4974336"/>
            <a:ext cx="3200400" cy="822960"/>
          </a:xfrm>
          <a:prstGeom prst="rect">
            <a:avLst/>
          </a:prstGeom>
          <a:noFill/>
        </p:spPr>
        <p:txBody>
          <a:bodyPr wrap="square" lIns="0" rIns="0" tIns="0" bIns="0" anchor="t">
            <a:spAutoFit/>
          </a:bodyPr>
          <a:lstStyle/>
          <a:p>
            <a:pPr algn="l">
              <a:lnSpc>
                <a:spcPct val="130000"/>
              </a:lnSpc>
            </a:pPr>
            <a:r>
              <a:rPr sz="1400" b="1" i="0">
                <a:solidFill>
                  <a:srgbClr val="FFFFFF"/>
                </a:solidFill>
                <a:latin typeface="Arial"/>
              </a:rPr>
              <a:t>Everything below the waist runs hot.</a:t>
            </a:r>
          </a:p>
          <a:p>
            <a:pPr algn="l">
              <a:lnSpc>
                <a:spcPct val="130000"/>
              </a:lnSpc>
            </a:pPr>
            <a:r>
              <a:rPr sz="1400" b="1" i="0">
                <a:solidFill>
                  <a:srgbClr val="FFFFFF"/>
                </a:solidFill>
                <a:latin typeface="Arial"/>
              </a:rPr>
              <a:t>Everything at the collar runs cold.</a:t>
            </a:r>
          </a:p>
        </p:txBody>
      </p:sp>
      <p:sp>
        <p:nvSpPr>
          <p:cNvPr id="29" name="TextBox 28"/>
          <p:cNvSpPr txBox="1"/>
          <p:nvPr/>
        </p:nvSpPr>
        <p:spPr>
          <a:xfrm>
            <a:off x="640080" y="5577840"/>
            <a:ext cx="3200400" cy="73152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Broadcast cameras live around the contact area — and the contact area is shorts and lower back, not shoulders.</a:t>
            </a:r>
          </a:p>
        </p:txBody>
      </p:sp>
      <p:sp>
        <p:nvSpPr>
          <p:cNvPr id="30" name="TextBox 29"/>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Ratio = mean measured visibility share ÷ club allocation share. Kit artwork: Bradford Bulls 2025/26 home playing kit.</a:t>
            </a:r>
          </a:p>
        </p:txBody>
      </p:sp>
      <p:sp>
        <p:nvSpPr>
          <p:cNvPr id="31" name="TextBox 30"/>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03</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THREE</a:t>
            </a:r>
          </a:p>
        </p:txBody>
      </p:sp>
      <p:sp>
        <p:nvSpPr>
          <p:cNvPr id="8" name="TextBox 7"/>
          <p:cNvSpPr txBox="1"/>
          <p:nvPr/>
        </p:nvSpPr>
        <p:spPr>
          <a:xfrm>
            <a:off x="640080" y="786384"/>
            <a:ext cx="9326880" cy="914400"/>
          </a:xfrm>
          <a:prstGeom prst="rect">
            <a:avLst/>
          </a:prstGeom>
          <a:noFill/>
        </p:spPr>
        <p:txBody>
          <a:bodyPr wrap="square" lIns="0" rIns="0" tIns="0" bIns="0" anchor="t">
            <a:spAutoFit/>
          </a:bodyPr>
          <a:lstStyle/>
          <a:p>
            <a:pPr algn="l">
              <a:lnSpc>
                <a:spcPct val="102000"/>
              </a:lnSpc>
            </a:pPr>
            <a:r>
              <a:rPr sz="3000" b="1" i="0">
                <a:solidFill>
                  <a:srgbClr val="FFFFFF"/>
                </a:solidFill>
                <a:latin typeface="Arial"/>
              </a:rPr>
              <a:t>Grouped by placement, the split is stark</a:t>
            </a:r>
          </a:p>
        </p:txBody>
      </p:sp>
      <p:pic>
        <p:nvPicPr>
          <p:cNvPr id="9" name="Picture 8" descr="h_placement.png"/>
          <p:cNvPicPr>
            <a:picLocks noChangeAspect="1"/>
          </p:cNvPicPr>
          <p:nvPr/>
        </p:nvPicPr>
        <p:blipFill>
          <a:blip r:embed="rId2"/>
          <a:stretch>
            <a:fillRect/>
          </a:stretch>
        </p:blipFill>
        <p:spPr>
          <a:xfrm>
            <a:off x="530352" y="1700784"/>
            <a:ext cx="7059168" cy="2807208"/>
          </a:xfrm>
          <a:prstGeom prst="rect">
            <a:avLst/>
          </a:prstGeom>
        </p:spPr>
      </p:pic>
      <p:pic>
        <p:nvPicPr>
          <p:cNvPr id="10" name="Picture 9" descr="ev_shorts.jpg"/>
          <p:cNvPicPr>
            <a:picLocks noChangeAspect="1"/>
          </p:cNvPicPr>
          <p:nvPr/>
        </p:nvPicPr>
        <p:blipFill>
          <a:blip r:embed="rId3"/>
          <a:srcRect l="7778" r="7778"/>
          <a:stretch>
            <a:fillRect/>
          </a:stretch>
        </p:blipFill>
        <p:spPr>
          <a:xfrm>
            <a:off x="7882127" y="1792224"/>
            <a:ext cx="877824" cy="1097280"/>
          </a:xfrm>
          <a:prstGeom prst="rect">
            <a:avLst/>
          </a:prstGeom>
        </p:spPr>
      </p:pic>
      <p:sp>
        <p:nvSpPr>
          <p:cNvPr id="11" name="Rectangle 10"/>
          <p:cNvSpPr/>
          <p:nvPr/>
        </p:nvSpPr>
        <p:spPr>
          <a:xfrm>
            <a:off x="7882127" y="2889504"/>
            <a:ext cx="877824"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82127"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Shorts</a:t>
            </a:r>
          </a:p>
        </p:txBody>
      </p:sp>
      <p:pic>
        <p:nvPicPr>
          <p:cNvPr id="13" name="Picture 12" descr="ev_sleeves.jpg"/>
          <p:cNvPicPr>
            <a:picLocks noChangeAspect="1"/>
          </p:cNvPicPr>
          <p:nvPr/>
        </p:nvPicPr>
        <p:blipFill>
          <a:blip r:embed="rId4"/>
          <a:srcRect l="7778" r="7778"/>
          <a:stretch>
            <a:fillRect/>
          </a:stretch>
        </p:blipFill>
        <p:spPr>
          <a:xfrm>
            <a:off x="8878824" y="1792224"/>
            <a:ext cx="877824" cy="1097280"/>
          </a:xfrm>
          <a:prstGeom prst="rect">
            <a:avLst/>
          </a:prstGeom>
        </p:spPr>
      </p:pic>
      <p:sp>
        <p:nvSpPr>
          <p:cNvPr id="14" name="Rectangle 13"/>
          <p:cNvSpPr/>
          <p:nvPr/>
        </p:nvSpPr>
        <p:spPr>
          <a:xfrm>
            <a:off x="8878824" y="2889504"/>
            <a:ext cx="877824"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878824"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Sleeves</a:t>
            </a:r>
          </a:p>
        </p:txBody>
      </p:sp>
      <p:pic>
        <p:nvPicPr>
          <p:cNvPr id="16" name="Picture 15" descr="ev_back.jpg"/>
          <p:cNvPicPr>
            <a:picLocks noChangeAspect="1"/>
          </p:cNvPicPr>
          <p:nvPr/>
        </p:nvPicPr>
        <p:blipFill>
          <a:blip r:embed="rId5"/>
          <a:srcRect t="822" b="822"/>
          <a:stretch>
            <a:fillRect/>
          </a:stretch>
        </p:blipFill>
        <p:spPr>
          <a:xfrm>
            <a:off x="9875519" y="1792224"/>
            <a:ext cx="877824" cy="1097280"/>
          </a:xfrm>
          <a:prstGeom prst="rect">
            <a:avLst/>
          </a:prstGeom>
        </p:spPr>
      </p:pic>
      <p:sp>
        <p:nvSpPr>
          <p:cNvPr id="17" name="Rectangle 16"/>
          <p:cNvSpPr/>
          <p:nvPr/>
        </p:nvSpPr>
        <p:spPr>
          <a:xfrm>
            <a:off x="9875519" y="2889504"/>
            <a:ext cx="877824"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875519"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Back</a:t>
            </a:r>
          </a:p>
        </p:txBody>
      </p:sp>
      <p:pic>
        <p:nvPicPr>
          <p:cNvPr id="19" name="Picture 18" descr="ev_chest.jpg"/>
          <p:cNvPicPr>
            <a:picLocks noChangeAspect="1"/>
          </p:cNvPicPr>
          <p:nvPr/>
        </p:nvPicPr>
        <p:blipFill>
          <a:blip r:embed="rId6"/>
          <a:srcRect l="327" r="327"/>
          <a:stretch>
            <a:fillRect/>
          </a:stretch>
        </p:blipFill>
        <p:spPr>
          <a:xfrm>
            <a:off x="10872215" y="1792224"/>
            <a:ext cx="877824" cy="1097280"/>
          </a:xfrm>
          <a:prstGeom prst="rect">
            <a:avLst/>
          </a:prstGeom>
        </p:spPr>
      </p:pic>
      <p:sp>
        <p:nvSpPr>
          <p:cNvPr id="20" name="Rectangle 19"/>
          <p:cNvSpPr/>
          <p:nvPr/>
        </p:nvSpPr>
        <p:spPr>
          <a:xfrm>
            <a:off x="10872215" y="2889504"/>
            <a:ext cx="877824"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872215"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Chest</a:t>
            </a:r>
          </a:p>
        </p:txBody>
      </p:sp>
      <p:sp>
        <p:nvSpPr>
          <p:cNvPr id="22" name="TextBox 21"/>
          <p:cNvSpPr txBox="1"/>
          <p:nvPr/>
        </p:nvSpPr>
        <p:spPr>
          <a:xfrm>
            <a:off x="7882127" y="3346704"/>
            <a:ext cx="3749039" cy="548640"/>
          </a:xfrm>
          <a:prstGeom prst="rect">
            <a:avLst/>
          </a:prstGeom>
          <a:noFill/>
        </p:spPr>
        <p:txBody>
          <a:bodyPr wrap="square" lIns="0" rIns="0" tIns="0" bIns="0" anchor="t">
            <a:spAutoFit/>
          </a:bodyPr>
          <a:lstStyle/>
          <a:p>
            <a:pPr algn="l">
              <a:lnSpc>
                <a:spcPct val="132000"/>
              </a:lnSpc>
            </a:pPr>
            <a:r>
              <a:rPr sz="980" b="0" i="0">
                <a:solidFill>
                  <a:srgbClr val="56657C"/>
                </a:solidFill>
                <a:latin typeface="Arial"/>
              </a:rPr>
              <a:t>Real detections from the analysed footage — one per placement group. The system reads the mark itself, not just the position it expects.</a:t>
            </a:r>
          </a:p>
        </p:txBody>
      </p:sp>
      <p:sp>
        <p:nvSpPr>
          <p:cNvPr id="23" name="Rectangle 22"/>
          <p:cNvSpPr/>
          <p:nvPr/>
        </p:nvSpPr>
        <p:spPr>
          <a:xfrm>
            <a:off x="640080" y="4572000"/>
            <a:ext cx="365760" cy="3657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4773168"/>
            <a:ext cx="3383280" cy="45720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Shorts carry the match.</a:t>
            </a:r>
          </a:p>
        </p:txBody>
      </p:sp>
      <p:sp>
        <p:nvSpPr>
          <p:cNvPr id="25" name="TextBox 24"/>
          <p:cNvSpPr txBox="1"/>
          <p:nvPr/>
        </p:nvSpPr>
        <p:spPr>
          <a:xfrm>
            <a:off x="640080" y="5120640"/>
            <a:ext cx="3401568" cy="1371600"/>
          </a:xfrm>
          <a:prstGeom prst="rect">
            <a:avLst/>
          </a:prstGeom>
          <a:noFill/>
        </p:spPr>
        <p:txBody>
          <a:bodyPr wrap="square" lIns="0" rIns="0" tIns="0" bIns="0" anchor="t">
            <a:spAutoFit/>
          </a:bodyPr>
          <a:lstStyle/>
          <a:p>
            <a:pPr algn="l">
              <a:lnSpc>
                <a:spcPct val="136000"/>
              </a:lnSpc>
            </a:pPr>
            <a:r>
              <a:rPr sz="1060" b="0" i="0">
                <a:solidFill>
                  <a:srgbClr val="8695AC"/>
                </a:solidFill>
                <a:latin typeface="Arial"/>
              </a:rPr>
              <a:t>Rugby league is played low. Rucks, tackles and play-the-ball put the shorts in the centre of close and medium camera work — where the broadcast spends most of its time. All four shorts positions measure above their price.</a:t>
            </a:r>
          </a:p>
        </p:txBody>
      </p:sp>
      <p:sp>
        <p:nvSpPr>
          <p:cNvPr id="26" name="Rectangle 25"/>
          <p:cNvSpPr/>
          <p:nvPr/>
        </p:nvSpPr>
        <p:spPr>
          <a:xfrm>
            <a:off x="4352544" y="4572000"/>
            <a:ext cx="365760" cy="3657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352544" y="4773168"/>
            <a:ext cx="3383280" cy="45720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The chest carries the price.</a:t>
            </a:r>
          </a:p>
        </p:txBody>
      </p:sp>
      <p:sp>
        <p:nvSpPr>
          <p:cNvPr id="28" name="TextBox 27"/>
          <p:cNvSpPr txBox="1"/>
          <p:nvPr/>
        </p:nvSpPr>
        <p:spPr>
          <a:xfrm>
            <a:off x="4352544" y="5120640"/>
            <a:ext cx="3401568" cy="1371600"/>
          </a:xfrm>
          <a:prstGeom prst="rect">
            <a:avLst/>
          </a:prstGeom>
          <a:noFill/>
        </p:spPr>
        <p:txBody>
          <a:bodyPr wrap="square" lIns="0" rIns="0" tIns="0" bIns="0" anchor="t">
            <a:spAutoFit/>
          </a:bodyPr>
          <a:lstStyle/>
          <a:p>
            <a:pPr algn="l">
              <a:lnSpc>
                <a:spcPct val="136000"/>
              </a:lnSpc>
            </a:pPr>
            <a:r>
              <a:rPr sz="1060" b="0" i="0">
                <a:solidFill>
                  <a:srgbClr val="8695AC"/>
                </a:solidFill>
                <a:latin typeface="Arial"/>
              </a:rPr>
              <a:t>Top Notch, MNA Cladding and Romantica hold 41% of the shirt price and 16.7% of the exposure. That premium is real, but it is bought with brand association, stills and press — not with broadcast seconds.</a:t>
            </a:r>
          </a:p>
        </p:txBody>
      </p:sp>
      <p:sp>
        <p:nvSpPr>
          <p:cNvPr id="29" name="Rectangle 28"/>
          <p:cNvSpPr/>
          <p:nvPr/>
        </p:nvSpPr>
        <p:spPr>
          <a:xfrm>
            <a:off x="8065007" y="4572000"/>
            <a:ext cx="365760"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065007" y="4773168"/>
            <a:ext cx="3383280" cy="45720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The group total can hide the story.</a:t>
            </a:r>
          </a:p>
        </p:txBody>
      </p:sp>
      <p:sp>
        <p:nvSpPr>
          <p:cNvPr id="31" name="TextBox 30"/>
          <p:cNvSpPr txBox="1"/>
          <p:nvPr/>
        </p:nvSpPr>
        <p:spPr>
          <a:xfrm>
            <a:off x="8065007" y="5120640"/>
            <a:ext cx="3401568" cy="1371600"/>
          </a:xfrm>
          <a:prstGeom prst="rect">
            <a:avLst/>
          </a:prstGeom>
          <a:noFill/>
        </p:spPr>
        <p:txBody>
          <a:bodyPr wrap="square" lIns="0" rIns="0" tIns="0" bIns="0" anchor="t">
            <a:spAutoFit/>
          </a:bodyPr>
          <a:lstStyle/>
          <a:p>
            <a:pPr algn="l">
              <a:lnSpc>
                <a:spcPct val="136000"/>
              </a:lnSpc>
            </a:pPr>
            <a:r>
              <a:rPr sz="1060" b="0" i="0">
                <a:solidFill>
                  <a:srgbClr val="8695AC"/>
                </a:solidFill>
                <a:latin typeface="Arial"/>
              </a:rPr>
              <a:t>Sleeves match almost exactly at block level, 19% against 21.6%. Inside that block, Bartercard measures 13.6% on a 4% price while ATM Hospitality measures 2.2% on an 11% price.</a:t>
            </a:r>
          </a:p>
        </p:txBody>
      </p:sp>
      <p:sp>
        <p:nvSpPr>
          <p:cNvPr id="32" name="TextBox 31"/>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33" name="TextBox 32"/>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04</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FOUR</a:t>
            </a:r>
          </a:p>
        </p:txBody>
      </p:sp>
      <p:sp>
        <p:nvSpPr>
          <p:cNvPr id="8" name="TextBox 7"/>
          <p:cNvSpPr txBox="1"/>
          <p:nvPr/>
        </p:nvSpPr>
        <p:spPr>
          <a:xfrm>
            <a:off x="640080" y="786384"/>
            <a:ext cx="8229600" cy="914400"/>
          </a:xfrm>
          <a:prstGeom prst="rect">
            <a:avLst/>
          </a:prstGeom>
          <a:noFill/>
        </p:spPr>
        <p:txBody>
          <a:bodyPr wrap="square" lIns="0" rIns="0" tIns="0" bIns="0" anchor="t">
            <a:spAutoFit/>
          </a:bodyPr>
          <a:lstStyle/>
          <a:p>
            <a:pPr algn="l">
              <a:lnSpc>
                <a:spcPct val="102000"/>
              </a:lnSpc>
            </a:pPr>
            <a:r>
              <a:rPr sz="3000" b="1" i="0">
                <a:solidFill>
                  <a:srgbClr val="FFFFFF"/>
                </a:solidFill>
                <a:latin typeface="Arial"/>
              </a:rPr>
              <a:t>Exposure lands where the contact is</a:t>
            </a:r>
          </a:p>
        </p:txBody>
      </p:sp>
      <p:sp>
        <p:nvSpPr>
          <p:cNvPr id="9" name="TextBox 8"/>
          <p:cNvSpPr txBox="1"/>
          <p:nvPr/>
        </p:nvSpPr>
        <p:spPr>
          <a:xfrm>
            <a:off x="640080" y="1664208"/>
            <a:ext cx="859536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Heat shows where the retained sponsor marks actually sat on the television picture. It is screen position, not pitch position.</a:t>
            </a:r>
          </a:p>
        </p:txBody>
      </p:sp>
      <p:pic>
        <p:nvPicPr>
          <p:cNvPr id="10" name="Picture 9" descr="hm_tackle.jpg"/>
          <p:cNvPicPr>
            <a:picLocks noChangeAspect="1"/>
          </p:cNvPicPr>
          <p:nvPr/>
        </p:nvPicPr>
        <p:blipFill>
          <a:blip r:embed="rId2"/>
          <a:srcRect t="41" b="41"/>
          <a:stretch>
            <a:fillRect/>
          </a:stretch>
        </p:blipFill>
        <p:spPr>
          <a:xfrm>
            <a:off x="640080" y="2249424"/>
            <a:ext cx="5010912" cy="2816352"/>
          </a:xfrm>
          <a:prstGeom prst="rect">
            <a:avLst/>
          </a:prstGeom>
        </p:spPr>
      </p:pic>
      <p:sp>
        <p:nvSpPr>
          <p:cNvPr id="11" name="Rectangle 10"/>
          <p:cNvSpPr/>
          <p:nvPr/>
        </p:nvSpPr>
        <p:spPr>
          <a:xfrm>
            <a:off x="640080" y="2249424"/>
            <a:ext cx="5010912" cy="2816352"/>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5175504"/>
            <a:ext cx="5010912" cy="237744"/>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Close and contact play</a:t>
            </a:r>
          </a:p>
        </p:txBody>
      </p:sp>
      <p:sp>
        <p:nvSpPr>
          <p:cNvPr id="13" name="TextBox 12"/>
          <p:cNvSpPr txBox="1"/>
          <p:nvPr/>
        </p:nvSpPr>
        <p:spPr>
          <a:xfrm>
            <a:off x="640080" y="5449824"/>
            <a:ext cx="4937760" cy="64008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Marks concentrate centre-right at roughly waist height. Shorts and lower-back positions sit exactly there.</a:t>
            </a:r>
          </a:p>
        </p:txBody>
      </p:sp>
      <p:pic>
        <p:nvPicPr>
          <p:cNvPr id="14" name="Picture 13" descr="hm_wide.jpg"/>
          <p:cNvPicPr>
            <a:picLocks noChangeAspect="1"/>
          </p:cNvPicPr>
          <p:nvPr/>
        </p:nvPicPr>
        <p:blipFill>
          <a:blip r:embed="rId3"/>
          <a:srcRect t="41" b="41"/>
          <a:stretch>
            <a:fillRect/>
          </a:stretch>
        </p:blipFill>
        <p:spPr>
          <a:xfrm>
            <a:off x="5852160" y="2249424"/>
            <a:ext cx="5010912" cy="2816352"/>
          </a:xfrm>
          <a:prstGeom prst="rect">
            <a:avLst/>
          </a:prstGeom>
        </p:spPr>
      </p:pic>
      <p:sp>
        <p:nvSpPr>
          <p:cNvPr id="15" name="Rectangle 14"/>
          <p:cNvSpPr/>
          <p:nvPr/>
        </p:nvSpPr>
        <p:spPr>
          <a:xfrm>
            <a:off x="5852160" y="2249424"/>
            <a:ext cx="5010912" cy="2816352"/>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852160" y="5175504"/>
            <a:ext cx="5010912" cy="237744"/>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Wide tactical play</a:t>
            </a:r>
          </a:p>
        </p:txBody>
      </p:sp>
      <p:sp>
        <p:nvSpPr>
          <p:cNvPr id="17" name="TextBox 16"/>
          <p:cNvSpPr txBox="1"/>
          <p:nvPr/>
        </p:nvSpPr>
        <p:spPr>
          <a:xfrm>
            <a:off x="5852160" y="5449824"/>
            <a:ext cx="4937760" cy="64008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Exposure spreads, weakens and drifts to the edge of frame, where the position weighting cuts its value.</a:t>
            </a:r>
          </a:p>
        </p:txBody>
      </p:sp>
      <p:sp>
        <p:nvSpPr>
          <p:cNvPr id="18" name="TextBox 17"/>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Relative intensity of retained logo detections in screen space, from two representative passages of the analysed footage.</a:t>
            </a:r>
          </a:p>
        </p:txBody>
      </p:sp>
      <p:sp>
        <p:nvSpPr>
          <p:cNvPr id="19" name="TextBox 18"/>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HOW FAR TO TRUST IT</a:t>
            </a:r>
          </a:p>
        </p:txBody>
      </p:sp>
      <p:sp>
        <p:nvSpPr>
          <p:cNvPr id="7" name="TextBox 6"/>
          <p:cNvSpPr txBox="1"/>
          <p:nvPr/>
        </p:nvSpPr>
        <p:spPr>
          <a:xfrm>
            <a:off x="640080" y="786384"/>
            <a:ext cx="9326880" cy="914400"/>
          </a:xfrm>
          <a:prstGeom prst="rect">
            <a:avLst/>
          </a:prstGeom>
          <a:noFill/>
        </p:spPr>
        <p:txBody>
          <a:bodyPr wrap="square" lIns="0" rIns="0" tIns="0" bIns="0" anchor="t">
            <a:spAutoFit/>
          </a:bodyPr>
          <a:lstStyle/>
          <a:p>
            <a:pPr algn="l">
              <a:lnSpc>
                <a:spcPct val="102000"/>
              </a:lnSpc>
            </a:pPr>
            <a:r>
              <a:rPr sz="3000" b="1" i="0">
                <a:solidFill>
                  <a:srgbClr val="FFFFFF"/>
                </a:solidFill>
                <a:latin typeface="Arial"/>
              </a:rPr>
              <a:t>Strong where it matters, and honest about the rest</a:t>
            </a:r>
          </a:p>
        </p:txBody>
      </p:sp>
      <p:pic>
        <p:nvPicPr>
          <p:cNvPr id="8" name="Picture 7" descr="h_accuracy.png"/>
          <p:cNvPicPr>
            <a:picLocks noChangeAspect="1"/>
          </p:cNvPicPr>
          <p:nvPr/>
        </p:nvPicPr>
        <p:blipFill>
          <a:blip r:embed="rId2"/>
          <a:stretch>
            <a:fillRect/>
          </a:stretch>
        </p:blipFill>
        <p:spPr>
          <a:xfrm>
            <a:off x="548640" y="1883664"/>
            <a:ext cx="4434840" cy="2703874"/>
          </a:xfrm>
          <a:prstGeom prst="rect">
            <a:avLst/>
          </a:prstGeom>
        </p:spPr>
      </p:pic>
      <p:sp>
        <p:nvSpPr>
          <p:cNvPr id="9" name="TextBox 8"/>
          <p:cNvSpPr txBox="1"/>
          <p:nvPr/>
        </p:nvSpPr>
        <p:spPr>
          <a:xfrm>
            <a:off x="640080" y="4718304"/>
            <a:ext cx="4480560" cy="457200"/>
          </a:xfrm>
          <a:prstGeom prst="rect">
            <a:avLst/>
          </a:prstGeom>
          <a:noFill/>
        </p:spPr>
        <p:txBody>
          <a:bodyPr wrap="square" lIns="0" rIns="0" tIns="0" bIns="0" anchor="t">
            <a:spAutoFit/>
          </a:bodyPr>
          <a:lstStyle/>
          <a:p>
            <a:pPr algn="l">
              <a:lnSpc>
                <a:spcPct val="130000"/>
              </a:lnSpc>
            </a:pPr>
            <a:r>
              <a:rPr sz="1000" b="0" i="0">
                <a:solidFill>
                  <a:srgbClr val="8695AC"/>
                </a:solidFill>
                <a:latin typeface="Arial"/>
              </a:rPr>
              <a:t>Detection accuracy on three matches the model had never seen, against the strongest conventional baseline trained on identical data.</a:t>
            </a:r>
          </a:p>
        </p:txBody>
      </p:sp>
      <p:pic>
        <p:nvPicPr>
          <p:cNvPr id="10" name="Picture 9" descr="h_camera.png"/>
          <p:cNvPicPr>
            <a:picLocks noChangeAspect="1"/>
          </p:cNvPicPr>
          <p:nvPr/>
        </p:nvPicPr>
        <p:blipFill>
          <a:blip r:embed="rId3"/>
          <a:stretch>
            <a:fillRect/>
          </a:stretch>
        </p:blipFill>
        <p:spPr>
          <a:xfrm>
            <a:off x="5486400" y="1883664"/>
            <a:ext cx="3246120" cy="2399618"/>
          </a:xfrm>
          <a:prstGeom prst="rect">
            <a:avLst/>
          </a:prstGeom>
        </p:spPr>
      </p:pic>
      <p:sp>
        <p:nvSpPr>
          <p:cNvPr id="11" name="TextBox 10"/>
          <p:cNvSpPr txBox="1"/>
          <p:nvPr/>
        </p:nvSpPr>
        <p:spPr>
          <a:xfrm>
            <a:off x="5486400" y="4718304"/>
            <a:ext cx="3291840" cy="548640"/>
          </a:xfrm>
          <a:prstGeom prst="rect">
            <a:avLst/>
          </a:prstGeom>
          <a:noFill/>
        </p:spPr>
        <p:txBody>
          <a:bodyPr wrap="square" lIns="0" rIns="0" tIns="0" bIns="0" anchor="t">
            <a:spAutoFit/>
          </a:bodyPr>
          <a:lstStyle/>
          <a:p>
            <a:pPr algn="l">
              <a:lnSpc>
                <a:spcPct val="130000"/>
              </a:lnSpc>
            </a:pPr>
            <a:r>
              <a:rPr sz="1000" b="0" i="0">
                <a:solidFill>
                  <a:srgbClr val="8695AC"/>
                </a:solidFill>
                <a:latin typeface="Arial"/>
              </a:rPr>
              <a:t>The weakness worth declaring: on wide shots the model finds only half the marks. It rarely invents them — it misses them, so the exposure figures run conservative.</a:t>
            </a:r>
          </a:p>
        </p:txBody>
      </p:sp>
      <p:sp>
        <p:nvSpPr>
          <p:cNvPr id="12" name="Rectangle 11"/>
          <p:cNvSpPr/>
          <p:nvPr/>
        </p:nvSpPr>
        <p:spPr>
          <a:xfrm>
            <a:off x="9070848" y="1883664"/>
            <a:ext cx="365760" cy="3657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070848" y="2066544"/>
            <a:ext cx="2651760" cy="219456"/>
          </a:xfrm>
          <a:prstGeom prst="rect">
            <a:avLst/>
          </a:prstGeom>
          <a:noFill/>
        </p:spPr>
        <p:txBody>
          <a:bodyPr wrap="square" lIns="0" rIns="0" tIns="0" bIns="0" anchor="t">
            <a:spAutoFit/>
          </a:bodyPr>
          <a:lstStyle/>
          <a:p>
            <a:pPr algn="l">
              <a:lnSpc>
                <a:spcPct val="120000"/>
              </a:lnSpc>
            </a:pPr>
            <a:r>
              <a:rPr sz="950" b="1" i="0" spc="160">
                <a:solidFill>
                  <a:srgbClr val="8695AC"/>
                </a:solidFill>
                <a:latin typeface="Arial"/>
              </a:rPr>
              <a:t>ACCURACY</a:t>
            </a:r>
          </a:p>
        </p:txBody>
      </p:sp>
      <p:sp>
        <p:nvSpPr>
          <p:cNvPr id="14" name="TextBox 13"/>
          <p:cNvSpPr txBox="1"/>
          <p:nvPr/>
        </p:nvSpPr>
        <p:spPr>
          <a:xfrm>
            <a:off x="9070848" y="2322576"/>
            <a:ext cx="2651760" cy="384048"/>
          </a:xfrm>
          <a:prstGeom prst="rect">
            <a:avLst/>
          </a:prstGeom>
          <a:noFill/>
        </p:spPr>
        <p:txBody>
          <a:bodyPr wrap="square" lIns="0" rIns="0" tIns="0" bIns="0" anchor="t">
            <a:spAutoFit/>
          </a:bodyPr>
          <a:lstStyle/>
          <a:p>
            <a:pPr algn="l">
              <a:lnSpc>
                <a:spcPct val="120000"/>
              </a:lnSpc>
            </a:pPr>
            <a:r>
              <a:rPr sz="2500" b="1" i="0">
                <a:solidFill>
                  <a:srgbClr val="FFFFFF"/>
                </a:solidFill>
                <a:latin typeface="Arial"/>
              </a:rPr>
              <a:t>0.933</a:t>
            </a:r>
          </a:p>
        </p:txBody>
      </p:sp>
      <p:sp>
        <p:nvSpPr>
          <p:cNvPr id="15" name="TextBox 14"/>
          <p:cNvSpPr txBox="1"/>
          <p:nvPr/>
        </p:nvSpPr>
        <p:spPr>
          <a:xfrm>
            <a:off x="9070848" y="2724912"/>
            <a:ext cx="2651760" cy="274320"/>
          </a:xfrm>
          <a:prstGeom prst="rect">
            <a:avLst/>
          </a:prstGeom>
          <a:noFill/>
        </p:spPr>
        <p:txBody>
          <a:bodyPr wrap="square" lIns="0" rIns="0" tIns="0" bIns="0" anchor="t">
            <a:spAutoFit/>
          </a:bodyPr>
          <a:lstStyle/>
          <a:p>
            <a:pPr algn="l">
              <a:lnSpc>
                <a:spcPct val="120000"/>
              </a:lnSpc>
            </a:pPr>
            <a:r>
              <a:rPr sz="940" b="0" i="0">
                <a:solidFill>
                  <a:srgbClr val="56657C"/>
                </a:solidFill>
                <a:latin typeface="Arial"/>
              </a:rPr>
              <a:t>mAP@0.50, unseen matches</a:t>
            </a:r>
          </a:p>
        </p:txBody>
      </p:sp>
      <p:sp>
        <p:nvSpPr>
          <p:cNvPr id="16" name="Rectangle 15"/>
          <p:cNvSpPr/>
          <p:nvPr/>
        </p:nvSpPr>
        <p:spPr>
          <a:xfrm>
            <a:off x="9070848" y="3054096"/>
            <a:ext cx="365760" cy="36576"/>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070848" y="3236976"/>
            <a:ext cx="2651760" cy="219456"/>
          </a:xfrm>
          <a:prstGeom prst="rect">
            <a:avLst/>
          </a:prstGeom>
          <a:noFill/>
        </p:spPr>
        <p:txBody>
          <a:bodyPr wrap="square" lIns="0" rIns="0" tIns="0" bIns="0" anchor="t">
            <a:spAutoFit/>
          </a:bodyPr>
          <a:lstStyle/>
          <a:p>
            <a:pPr algn="l">
              <a:lnSpc>
                <a:spcPct val="120000"/>
              </a:lnSpc>
            </a:pPr>
            <a:r>
              <a:rPr sz="950" b="1" i="0" spc="160">
                <a:solidFill>
                  <a:srgbClr val="8695AC"/>
                </a:solidFill>
                <a:latin typeface="Arial"/>
              </a:rPr>
              <a:t>REPEATABLE</a:t>
            </a:r>
          </a:p>
        </p:txBody>
      </p:sp>
      <p:sp>
        <p:nvSpPr>
          <p:cNvPr id="18" name="TextBox 17"/>
          <p:cNvSpPr txBox="1"/>
          <p:nvPr/>
        </p:nvSpPr>
        <p:spPr>
          <a:xfrm>
            <a:off x="9070848" y="3493008"/>
            <a:ext cx="2651760" cy="384048"/>
          </a:xfrm>
          <a:prstGeom prst="rect">
            <a:avLst/>
          </a:prstGeom>
          <a:noFill/>
        </p:spPr>
        <p:txBody>
          <a:bodyPr wrap="square" lIns="0" rIns="0" tIns="0" bIns="0" anchor="t">
            <a:spAutoFit/>
          </a:bodyPr>
          <a:lstStyle/>
          <a:p>
            <a:pPr algn="l">
              <a:lnSpc>
                <a:spcPct val="120000"/>
              </a:lnSpc>
            </a:pPr>
            <a:r>
              <a:rPr sz="2500" b="1" i="0">
                <a:solidFill>
                  <a:srgbClr val="FFFFFF"/>
                </a:solidFill>
                <a:latin typeface="Arial"/>
              </a:rPr>
              <a:t>ρ 0.846</a:t>
            </a:r>
          </a:p>
        </p:txBody>
      </p:sp>
      <p:sp>
        <p:nvSpPr>
          <p:cNvPr id="19" name="TextBox 18"/>
          <p:cNvSpPr txBox="1"/>
          <p:nvPr/>
        </p:nvSpPr>
        <p:spPr>
          <a:xfrm>
            <a:off x="9070848" y="3895344"/>
            <a:ext cx="2651760" cy="274320"/>
          </a:xfrm>
          <a:prstGeom prst="rect">
            <a:avLst/>
          </a:prstGeom>
          <a:noFill/>
        </p:spPr>
        <p:txBody>
          <a:bodyPr wrap="square" lIns="0" rIns="0" tIns="0" bIns="0" anchor="t">
            <a:spAutoFit/>
          </a:bodyPr>
          <a:lstStyle/>
          <a:p>
            <a:pPr algn="l">
              <a:lnSpc>
                <a:spcPct val="120000"/>
              </a:lnSpc>
            </a:pPr>
            <a:r>
              <a:rPr sz="940" b="0" i="0">
                <a:solidFill>
                  <a:srgbClr val="56657C"/>
                </a:solidFill>
                <a:latin typeface="Arial"/>
              </a:rPr>
              <a:t>same ordering in both matches</a:t>
            </a:r>
          </a:p>
        </p:txBody>
      </p:sp>
      <p:sp>
        <p:nvSpPr>
          <p:cNvPr id="20" name="Rectangle 19"/>
          <p:cNvSpPr/>
          <p:nvPr/>
        </p:nvSpPr>
        <p:spPr>
          <a:xfrm>
            <a:off x="9070848" y="4224528"/>
            <a:ext cx="365760"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070848" y="4407408"/>
            <a:ext cx="2651760" cy="219456"/>
          </a:xfrm>
          <a:prstGeom prst="rect">
            <a:avLst/>
          </a:prstGeom>
          <a:noFill/>
        </p:spPr>
        <p:txBody>
          <a:bodyPr wrap="square" lIns="0" rIns="0" tIns="0" bIns="0" anchor="t">
            <a:spAutoFit/>
          </a:bodyPr>
          <a:lstStyle/>
          <a:p>
            <a:pPr algn="l">
              <a:lnSpc>
                <a:spcPct val="120000"/>
              </a:lnSpc>
            </a:pPr>
            <a:r>
              <a:rPr sz="950" b="1" i="0" spc="160">
                <a:solidFill>
                  <a:srgbClr val="8695AC"/>
                </a:solidFill>
                <a:latin typeface="Arial"/>
              </a:rPr>
              <a:t>HONEST CHECK</a:t>
            </a:r>
          </a:p>
        </p:txBody>
      </p:sp>
      <p:sp>
        <p:nvSpPr>
          <p:cNvPr id="22" name="TextBox 21"/>
          <p:cNvSpPr txBox="1"/>
          <p:nvPr/>
        </p:nvSpPr>
        <p:spPr>
          <a:xfrm>
            <a:off x="9070848" y="4663440"/>
            <a:ext cx="2651760" cy="384048"/>
          </a:xfrm>
          <a:prstGeom prst="rect">
            <a:avLst/>
          </a:prstGeom>
          <a:noFill/>
        </p:spPr>
        <p:txBody>
          <a:bodyPr wrap="square" lIns="0" rIns="0" tIns="0" bIns="0" anchor="t">
            <a:spAutoFit/>
          </a:bodyPr>
          <a:lstStyle/>
          <a:p>
            <a:pPr algn="l">
              <a:lnSpc>
                <a:spcPct val="120000"/>
              </a:lnSpc>
            </a:pPr>
            <a:r>
              <a:rPr sz="2500" b="1" i="0">
                <a:solidFill>
                  <a:srgbClr val="FFFFFF"/>
                </a:solidFill>
                <a:latin typeface="Arial"/>
              </a:rPr>
              <a:t>0.917</a:t>
            </a:r>
          </a:p>
        </p:txBody>
      </p:sp>
      <p:sp>
        <p:nvSpPr>
          <p:cNvPr id="23" name="TextBox 22"/>
          <p:cNvSpPr txBox="1"/>
          <p:nvPr/>
        </p:nvSpPr>
        <p:spPr>
          <a:xfrm>
            <a:off x="9070848" y="5065776"/>
            <a:ext cx="2651760" cy="274320"/>
          </a:xfrm>
          <a:prstGeom prst="rect">
            <a:avLst/>
          </a:prstGeom>
          <a:noFill/>
        </p:spPr>
        <p:txBody>
          <a:bodyPr wrap="square" lIns="0" rIns="0" tIns="0" bIns="0" anchor="t">
            <a:spAutoFit/>
          </a:bodyPr>
          <a:lstStyle/>
          <a:p>
            <a:pPr algn="l">
              <a:lnSpc>
                <a:spcPct val="120000"/>
              </a:lnSpc>
            </a:pPr>
            <a:r>
              <a:rPr sz="940" b="0" i="0">
                <a:solidFill>
                  <a:srgbClr val="56657C"/>
                </a:solidFill>
                <a:latin typeface="Arial"/>
              </a:rPr>
              <a:t>with sparse classes removed</a:t>
            </a:r>
          </a:p>
        </p:txBody>
      </p:sp>
      <p:sp>
        <p:nvSpPr>
          <p:cNvPr id="24" name="Rectangle 23"/>
          <p:cNvSpPr/>
          <p:nvPr/>
        </p:nvSpPr>
        <p:spPr>
          <a:xfrm>
            <a:off x="640080" y="5358384"/>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5577840"/>
            <a:ext cx="3520440" cy="256032"/>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Two matches, not a season.</a:t>
            </a:r>
          </a:p>
        </p:txBody>
      </p:sp>
      <p:sp>
        <p:nvSpPr>
          <p:cNvPr id="26" name="TextBox 25"/>
          <p:cNvSpPr txBox="1"/>
          <p:nvPr/>
        </p:nvSpPr>
        <p:spPr>
          <a:xfrm>
            <a:off x="640080" y="5852160"/>
            <a:ext cx="3520440" cy="457200"/>
          </a:xfrm>
          <a:prstGeom prst="rect">
            <a:avLst/>
          </a:prstGeom>
          <a:noFill/>
        </p:spPr>
        <p:txBody>
          <a:bodyPr wrap="square" lIns="0" rIns="0" tIns="0" bIns="0" anchor="t">
            <a:spAutoFit/>
          </a:bodyPr>
          <a:lstStyle/>
          <a:p>
            <a:pPr algn="l">
              <a:lnSpc>
                <a:spcPct val="130000"/>
              </a:lnSpc>
            </a:pPr>
            <a:r>
              <a:rPr sz="1000" b="0" i="0">
                <a:solidFill>
                  <a:srgbClr val="8695AC"/>
                </a:solidFill>
                <a:latin typeface="Arial"/>
              </a:rPr>
              <a:t>Strong pilot evidence. Not yet proof at season level.</a:t>
            </a:r>
          </a:p>
        </p:txBody>
      </p:sp>
      <p:sp>
        <p:nvSpPr>
          <p:cNvPr id="27" name="TextBox 26"/>
          <p:cNvSpPr txBox="1"/>
          <p:nvPr/>
        </p:nvSpPr>
        <p:spPr>
          <a:xfrm>
            <a:off x="4352544" y="5577840"/>
            <a:ext cx="3520440" cy="256032"/>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Occlusion, blur and angle cost detections.</a:t>
            </a:r>
          </a:p>
        </p:txBody>
      </p:sp>
      <p:sp>
        <p:nvSpPr>
          <p:cNvPr id="28" name="TextBox 27"/>
          <p:cNvSpPr txBox="1"/>
          <p:nvPr/>
        </p:nvSpPr>
        <p:spPr>
          <a:xfrm>
            <a:off x="4352544" y="5852160"/>
            <a:ext cx="3520440" cy="457200"/>
          </a:xfrm>
          <a:prstGeom prst="rect">
            <a:avLst/>
          </a:prstGeom>
          <a:noFill/>
        </p:spPr>
        <p:txBody>
          <a:bodyPr wrap="square" lIns="0" rIns="0" tIns="0" bIns="0" anchor="t">
            <a:spAutoFit/>
          </a:bodyPr>
          <a:lstStyle/>
          <a:p>
            <a:pPr algn="l">
              <a:lnSpc>
                <a:spcPct val="130000"/>
              </a:lnSpc>
            </a:pPr>
            <a:r>
              <a:rPr sz="1000" b="0" i="0">
                <a:solidFill>
                  <a:srgbClr val="8695AC"/>
                </a:solidFill>
                <a:latin typeface="Arial"/>
              </a:rPr>
              <a:t>Players cover each other; small marks on moving players go soft.</a:t>
            </a:r>
          </a:p>
        </p:txBody>
      </p:sp>
      <p:sp>
        <p:nvSpPr>
          <p:cNvPr id="29" name="TextBox 28"/>
          <p:cNvSpPr txBox="1"/>
          <p:nvPr/>
        </p:nvSpPr>
        <p:spPr>
          <a:xfrm>
            <a:off x="8065007" y="5577840"/>
            <a:ext cx="3520440" cy="256032"/>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Broadcast visibility only.</a:t>
            </a:r>
          </a:p>
        </p:txBody>
      </p:sp>
      <p:sp>
        <p:nvSpPr>
          <p:cNvPr id="30" name="TextBox 29"/>
          <p:cNvSpPr txBox="1"/>
          <p:nvPr/>
        </p:nvSpPr>
        <p:spPr>
          <a:xfrm>
            <a:off x="8065007" y="5852160"/>
            <a:ext cx="3520440" cy="457200"/>
          </a:xfrm>
          <a:prstGeom prst="rect">
            <a:avLst/>
          </a:prstGeom>
          <a:noFill/>
        </p:spPr>
        <p:txBody>
          <a:bodyPr wrap="square" lIns="0" rIns="0" tIns="0" bIns="0" anchor="t">
            <a:spAutoFit/>
          </a:bodyPr>
          <a:lstStyle/>
          <a:p>
            <a:pPr algn="l">
              <a:lnSpc>
                <a:spcPct val="130000"/>
              </a:lnSpc>
            </a:pPr>
            <a:r>
              <a:rPr sz="1000" b="0" i="0">
                <a:solidFill>
                  <a:srgbClr val="8695AC"/>
                </a:solidFill>
                <a:latin typeface="Arial"/>
              </a:rPr>
              <a:t>Not attention, recall, hospitality, exclusivity or activation.</a:t>
            </a:r>
          </a:p>
        </p:txBody>
      </p:sp>
      <p:sp>
        <p:nvSpPr>
          <p:cNvPr id="31" name="TextBox 30"/>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RF-DETR Small at 896 px, evaluated on 61 held-out images / 165 boxes across three unseen matches. Baseline: best of three YOLO26 variants on the identical split.</a:t>
            </a:r>
          </a:p>
        </p:txBody>
      </p:sp>
      <p:sp>
        <p:nvSpPr>
          <p:cNvPr id="32" name="TextBox 31"/>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WHAT IT IS WORTH</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Four things Bradford Bulls can do on Monday</a:t>
            </a:r>
          </a:p>
        </p:txBody>
      </p:sp>
      <p:sp>
        <p:nvSpPr>
          <p:cNvPr id="8" name="TextBox 7"/>
          <p:cNvSpPr txBox="1"/>
          <p:nvPr/>
        </p:nvSpPr>
        <p:spPr>
          <a:xfrm>
            <a:off x="640080" y="1719072"/>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The output is evidence for a commercial conversation — not an automatic price list.</a:t>
            </a:r>
          </a:p>
        </p:txBody>
      </p:sp>
      <p:sp>
        <p:nvSpPr>
          <p:cNvPr id="9" name="Rectangle 8"/>
          <p:cNvSpPr/>
          <p:nvPr/>
        </p:nvSpPr>
        <p:spPr>
          <a:xfrm>
            <a:off x="640080" y="2395728"/>
            <a:ext cx="384048"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615184"/>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Walk into renewals with a number</a:t>
            </a:r>
          </a:p>
        </p:txBody>
      </p:sp>
      <p:sp>
        <p:nvSpPr>
          <p:cNvPr id="11" name="TextBox 10"/>
          <p:cNvSpPr txBox="1"/>
          <p:nvPr/>
        </p:nvSpPr>
        <p:spPr>
          <a:xfrm>
            <a:off x="640080" y="3090672"/>
            <a:ext cx="5074920" cy="82296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Every partner conversation currently rests on assertion. This replaces it with a measured delivery figure that traces back to timestamps.</a:t>
            </a:r>
          </a:p>
        </p:txBody>
      </p:sp>
      <p:sp>
        <p:nvSpPr>
          <p:cNvPr id="12" name="Rectangle 11"/>
          <p:cNvSpPr/>
          <p:nvPr/>
        </p:nvSpPr>
        <p:spPr>
          <a:xfrm>
            <a:off x="5961888" y="2395728"/>
            <a:ext cx="7315" cy="1325880"/>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09360" y="2395728"/>
            <a:ext cx="384048"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09360" y="2615184"/>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Re-tier the inventory</a:t>
            </a:r>
          </a:p>
        </p:txBody>
      </p:sp>
      <p:sp>
        <p:nvSpPr>
          <p:cNvPr id="15" name="TextBox 14"/>
          <p:cNvSpPr txBox="1"/>
          <p:nvPr/>
        </p:nvSpPr>
        <p:spPr>
          <a:xfrm>
            <a:off x="6309360" y="3090672"/>
            <a:ext cx="5074920" cy="82296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Shorts and lower-back positions are sold cheaply relative to what they deliver. They can be bundled, upgraded or moved up the rate card.</a:t>
            </a:r>
          </a:p>
        </p:txBody>
      </p:sp>
      <p:sp>
        <p:nvSpPr>
          <p:cNvPr id="16" name="Rectangle 15"/>
          <p:cNvSpPr/>
          <p:nvPr/>
        </p:nvSpPr>
        <p:spPr>
          <a:xfrm>
            <a:off x="640080" y="4096512"/>
            <a:ext cx="384048"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4315968"/>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Defend the premium positions</a:t>
            </a:r>
          </a:p>
        </p:txBody>
      </p:sp>
      <p:sp>
        <p:nvSpPr>
          <p:cNvPr id="18" name="TextBox 17"/>
          <p:cNvSpPr txBox="1"/>
          <p:nvPr/>
        </p:nvSpPr>
        <p:spPr>
          <a:xfrm>
            <a:off x="640080" y="4791456"/>
            <a:ext cx="5074920" cy="82296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Where the price sits above measured exposure, write down the non-broadcast value explicitly — stills, hospitality, digital, association.</a:t>
            </a:r>
          </a:p>
        </p:txBody>
      </p:sp>
      <p:sp>
        <p:nvSpPr>
          <p:cNvPr id="19" name="Rectangle 18"/>
          <p:cNvSpPr/>
          <p:nvPr/>
        </p:nvSpPr>
        <p:spPr>
          <a:xfrm>
            <a:off x="5961888" y="4096512"/>
            <a:ext cx="7315" cy="1325880"/>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309360" y="4096512"/>
            <a:ext cx="384048" cy="41148"/>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09360" y="4315968"/>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Report back to sponsors</a:t>
            </a:r>
          </a:p>
        </p:txBody>
      </p:sp>
      <p:sp>
        <p:nvSpPr>
          <p:cNvPr id="22" name="TextBox 21"/>
          <p:cNvSpPr txBox="1"/>
          <p:nvPr/>
        </p:nvSpPr>
        <p:spPr>
          <a:xfrm>
            <a:off x="6309360" y="4791456"/>
            <a:ext cx="5074920" cy="82296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Give each partner their own per-match summary: seconds, appearances, quality and share. That is a retention tool, not just a report.</a:t>
            </a:r>
          </a:p>
        </p:txBody>
      </p:sp>
      <p:sp>
        <p:nvSpPr>
          <p:cNvPr id="23" name="Rectangle 22"/>
          <p:cNvSpPr/>
          <p:nvPr/>
        </p:nvSpPr>
        <p:spPr>
          <a:xfrm>
            <a:off x="640080" y="5870448"/>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6053328"/>
            <a:ext cx="10911809" cy="274320"/>
          </a:xfrm>
          <a:prstGeom prst="rect">
            <a:avLst/>
          </a:prstGeom>
          <a:noFill/>
        </p:spPr>
        <p:txBody>
          <a:bodyPr wrap="square" lIns="0" rIns="0" tIns="0" bIns="0" anchor="t">
            <a:spAutoFit/>
          </a:bodyPr>
          <a:lstStyle/>
          <a:p>
            <a:pPr algn="l">
              <a:lnSpc>
                <a:spcPct val="120000"/>
              </a:lnSpc>
            </a:pPr>
            <a:r>
              <a:rPr sz="1250" b="1" i="0">
                <a:solidFill>
                  <a:srgbClr val="FFC20E"/>
                </a:solidFill>
                <a:latin typeface="Arial"/>
              </a:rPr>
              <a:t>Use it as decision evidence, not as a pricing engine: club judgement, LogoLens measurement, and a written rationale wherever the two disagree.</a:t>
            </a:r>
          </a:p>
        </p:txBody>
      </p:sp>
      <p:sp>
        <p:nvSpPr>
          <p:cNvPr id="25" name="TextBox 24"/>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NEXT</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From a two-match pilot to a season-level system</a:t>
            </a:r>
          </a:p>
        </p:txBody>
      </p:sp>
      <p:sp>
        <p:nvSpPr>
          <p:cNvPr id="8" name="TextBox 7"/>
          <p:cNvSpPr txBox="1"/>
          <p:nvPr/>
        </p:nvSpPr>
        <p:spPr>
          <a:xfrm>
            <a:off x="640080" y="1719072"/>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Four steps, in the order they should happen.</a:t>
            </a:r>
          </a:p>
        </p:txBody>
      </p:sp>
      <p:sp>
        <p:nvSpPr>
          <p:cNvPr id="9" name="Freeform 8"/>
          <p:cNvSpPr/>
          <p:nvPr/>
        </p:nvSpPr>
        <p:spPr>
          <a:xfrm>
            <a:off x="640080" y="2432304"/>
            <a:ext cx="402335" cy="187452"/>
          </a:xfrm>
          <a:custGeom>
            <a:avLst/>
            <a:gdLst/>
            <a:ahLst/>
            <a:cxnLst/>
            <a:rect l="l" t="t" r="r" b="b"/>
            <a:pathLst>
              <a:path w="402335" h="187452">
                <a:moveTo>
                  <a:pt x="0" y="0"/>
                </a:moveTo>
                <a:lnTo>
                  <a:pt x="201167" y="118872"/>
                </a:lnTo>
                <a:lnTo>
                  <a:pt x="402335" y="0"/>
                </a:lnTo>
                <a:lnTo>
                  <a:pt x="402335" y="68580"/>
                </a:lnTo>
                <a:lnTo>
                  <a:pt x="201167" y="187452"/>
                </a:lnTo>
                <a:lnTo>
                  <a:pt x="0" y="68580"/>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798064"/>
            <a:ext cx="2522212" cy="384048"/>
          </a:xfrm>
          <a:prstGeom prst="rect">
            <a:avLst/>
          </a:prstGeom>
          <a:noFill/>
        </p:spPr>
        <p:txBody>
          <a:bodyPr wrap="square" lIns="0" rIns="0" tIns="0" bIns="0" anchor="t">
            <a:spAutoFit/>
          </a:bodyPr>
          <a:lstStyle/>
          <a:p>
            <a:pPr algn="l">
              <a:lnSpc>
                <a:spcPct val="120000"/>
              </a:lnSpc>
            </a:pPr>
            <a:r>
              <a:rPr sz="3200" b="1" i="0">
                <a:solidFill>
                  <a:srgbClr val="E4002B"/>
                </a:solidFill>
                <a:latin typeface="Arial"/>
              </a:rPr>
              <a:t>01</a:t>
            </a:r>
          </a:p>
        </p:txBody>
      </p:sp>
      <p:sp>
        <p:nvSpPr>
          <p:cNvPr id="11" name="TextBox 10"/>
          <p:cNvSpPr txBox="1"/>
          <p:nvPr/>
        </p:nvSpPr>
        <p:spPr>
          <a:xfrm>
            <a:off x="640080" y="3401568"/>
            <a:ext cx="2522212" cy="329184"/>
          </a:xfrm>
          <a:prstGeom prst="rect">
            <a:avLst/>
          </a:prstGeom>
          <a:noFill/>
        </p:spPr>
        <p:txBody>
          <a:bodyPr wrap="square" lIns="0" rIns="0" tIns="0" bIns="0" anchor="t">
            <a:spAutoFit/>
          </a:bodyPr>
          <a:lstStyle/>
          <a:p>
            <a:pPr algn="l">
              <a:lnSpc>
                <a:spcPct val="114000"/>
              </a:lnSpc>
            </a:pPr>
            <a:r>
              <a:rPr sz="1700" b="1" i="0">
                <a:solidFill>
                  <a:srgbClr val="FFFFFF"/>
                </a:solidFill>
                <a:latin typeface="Arial"/>
              </a:rPr>
              <a:t>Confirm the map</a:t>
            </a:r>
          </a:p>
        </p:txBody>
      </p:sp>
      <p:sp>
        <p:nvSpPr>
          <p:cNvPr id="12" name="TextBox 11"/>
          <p:cNvSpPr txBox="1"/>
          <p:nvPr/>
        </p:nvSpPr>
        <p:spPr>
          <a:xfrm>
            <a:off x="640080" y="3950208"/>
            <a:ext cx="2375908" cy="1097280"/>
          </a:xfrm>
          <a:prstGeom prst="rect">
            <a:avLst/>
          </a:prstGeom>
          <a:noFill/>
        </p:spPr>
        <p:txBody>
          <a:bodyPr wrap="square" lIns="0" rIns="0" tIns="0" bIns="0" anchor="t">
            <a:spAutoFit/>
          </a:bodyPr>
          <a:lstStyle/>
          <a:p>
            <a:pPr algn="l">
              <a:lnSpc>
                <a:spcPct val="138000"/>
              </a:lnSpc>
            </a:pPr>
            <a:r>
              <a:rPr sz="1140" b="0" i="0">
                <a:solidFill>
                  <a:srgbClr val="8695AC"/>
                </a:solidFill>
                <a:latin typeface="Arial"/>
              </a:rPr>
              <a:t>Club signs off which brand sits in which position and the current price share.</a:t>
            </a:r>
          </a:p>
        </p:txBody>
      </p:sp>
      <p:sp>
        <p:nvSpPr>
          <p:cNvPr id="13" name="TextBox 12"/>
          <p:cNvSpPr txBox="1"/>
          <p:nvPr/>
        </p:nvSpPr>
        <p:spPr>
          <a:xfrm>
            <a:off x="640080" y="5230368"/>
            <a:ext cx="2522212" cy="237744"/>
          </a:xfrm>
          <a:prstGeom prst="rect">
            <a:avLst/>
          </a:prstGeom>
          <a:noFill/>
        </p:spPr>
        <p:txBody>
          <a:bodyPr wrap="square" lIns="0" rIns="0" tIns="0" bIns="0" anchor="t">
            <a:spAutoFit/>
          </a:bodyPr>
          <a:lstStyle/>
          <a:p>
            <a:pPr algn="l">
              <a:lnSpc>
                <a:spcPct val="120000"/>
              </a:lnSpc>
            </a:pPr>
            <a:r>
              <a:rPr sz="960" b="1" i="0" spc="120">
                <a:solidFill>
                  <a:srgbClr val="E4002B"/>
                </a:solidFill>
                <a:latin typeface="Arial"/>
              </a:rPr>
              <a:t>CLUB · 1 WEEK</a:t>
            </a:r>
          </a:p>
        </p:txBody>
      </p:sp>
      <p:sp>
        <p:nvSpPr>
          <p:cNvPr id="14" name="Rectangle 13"/>
          <p:cNvSpPr/>
          <p:nvPr/>
        </p:nvSpPr>
        <p:spPr>
          <a:xfrm>
            <a:off x="3272020" y="2432304"/>
            <a:ext cx="7315" cy="3035808"/>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Freeform 14"/>
          <p:cNvSpPr/>
          <p:nvPr/>
        </p:nvSpPr>
        <p:spPr>
          <a:xfrm>
            <a:off x="3436612" y="2432304"/>
            <a:ext cx="402336" cy="187452"/>
          </a:xfrm>
          <a:custGeom>
            <a:avLst/>
            <a:gdLst/>
            <a:ahLst/>
            <a:cxnLst/>
            <a:rect l="l" t="t" r="r" b="b"/>
            <a:pathLst>
              <a:path w="402336" h="187452">
                <a:moveTo>
                  <a:pt x="0" y="0"/>
                </a:moveTo>
                <a:lnTo>
                  <a:pt x="201168" y="118872"/>
                </a:lnTo>
                <a:lnTo>
                  <a:pt x="402336" y="0"/>
                </a:lnTo>
                <a:lnTo>
                  <a:pt x="402336" y="68580"/>
                </a:lnTo>
                <a:lnTo>
                  <a:pt x="201168" y="187452"/>
                </a:lnTo>
                <a:lnTo>
                  <a:pt x="0" y="68580"/>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6612" y="2798064"/>
            <a:ext cx="2522212" cy="384048"/>
          </a:xfrm>
          <a:prstGeom prst="rect">
            <a:avLst/>
          </a:prstGeom>
          <a:noFill/>
        </p:spPr>
        <p:txBody>
          <a:bodyPr wrap="square" lIns="0" rIns="0" tIns="0" bIns="0" anchor="t">
            <a:spAutoFit/>
          </a:bodyPr>
          <a:lstStyle/>
          <a:p>
            <a:pPr algn="l">
              <a:lnSpc>
                <a:spcPct val="120000"/>
              </a:lnSpc>
            </a:pPr>
            <a:r>
              <a:rPr sz="3200" b="1" i="0">
                <a:solidFill>
                  <a:srgbClr val="E4002B"/>
                </a:solidFill>
                <a:latin typeface="Arial"/>
              </a:rPr>
              <a:t>02</a:t>
            </a:r>
          </a:p>
        </p:txBody>
      </p:sp>
      <p:sp>
        <p:nvSpPr>
          <p:cNvPr id="17" name="TextBox 16"/>
          <p:cNvSpPr txBox="1"/>
          <p:nvPr/>
        </p:nvSpPr>
        <p:spPr>
          <a:xfrm>
            <a:off x="3436612" y="3401568"/>
            <a:ext cx="2522212" cy="329184"/>
          </a:xfrm>
          <a:prstGeom prst="rect">
            <a:avLst/>
          </a:prstGeom>
          <a:noFill/>
        </p:spPr>
        <p:txBody>
          <a:bodyPr wrap="square" lIns="0" rIns="0" tIns="0" bIns="0" anchor="t">
            <a:spAutoFit/>
          </a:bodyPr>
          <a:lstStyle/>
          <a:p>
            <a:pPr algn="l">
              <a:lnSpc>
                <a:spcPct val="114000"/>
              </a:lnSpc>
            </a:pPr>
            <a:r>
              <a:rPr sz="1700" b="1" i="0">
                <a:solidFill>
                  <a:srgbClr val="FFFFFF"/>
                </a:solidFill>
                <a:latin typeface="Arial"/>
              </a:rPr>
              <a:t>Extend the evidence</a:t>
            </a:r>
          </a:p>
        </p:txBody>
      </p:sp>
      <p:sp>
        <p:nvSpPr>
          <p:cNvPr id="18" name="TextBox 17"/>
          <p:cNvSpPr txBox="1"/>
          <p:nvPr/>
        </p:nvSpPr>
        <p:spPr>
          <a:xfrm>
            <a:off x="3436612" y="3950208"/>
            <a:ext cx="2375908" cy="1097280"/>
          </a:xfrm>
          <a:prstGeom prst="rect">
            <a:avLst/>
          </a:prstGeom>
          <a:noFill/>
        </p:spPr>
        <p:txBody>
          <a:bodyPr wrap="square" lIns="0" rIns="0" tIns="0" bIns="0" anchor="t">
            <a:spAutoFit/>
          </a:bodyPr>
          <a:lstStyle/>
          <a:p>
            <a:pPr algn="l">
              <a:lnSpc>
                <a:spcPct val="138000"/>
              </a:lnSpc>
            </a:pPr>
            <a:r>
              <a:rPr sz="1140" b="0" i="0">
                <a:solidFill>
                  <a:srgbClr val="8695AC"/>
                </a:solidFill>
                <a:latin typeface="Arial"/>
              </a:rPr>
              <a:t>Run the same pipeline over a broader set of complete home-kit broadcasts.</a:t>
            </a:r>
          </a:p>
        </p:txBody>
      </p:sp>
      <p:sp>
        <p:nvSpPr>
          <p:cNvPr id="19" name="TextBox 18"/>
          <p:cNvSpPr txBox="1"/>
          <p:nvPr/>
        </p:nvSpPr>
        <p:spPr>
          <a:xfrm>
            <a:off x="3436612" y="5230368"/>
            <a:ext cx="2522212" cy="237744"/>
          </a:xfrm>
          <a:prstGeom prst="rect">
            <a:avLst/>
          </a:prstGeom>
          <a:noFill/>
        </p:spPr>
        <p:txBody>
          <a:bodyPr wrap="square" lIns="0" rIns="0" tIns="0" bIns="0" anchor="t">
            <a:spAutoFit/>
          </a:bodyPr>
          <a:lstStyle/>
          <a:p>
            <a:pPr algn="l">
              <a:lnSpc>
                <a:spcPct val="120000"/>
              </a:lnSpc>
            </a:pPr>
            <a:r>
              <a:rPr sz="960" b="1" i="0" spc="120">
                <a:solidFill>
                  <a:srgbClr val="E4002B"/>
                </a:solidFill>
                <a:latin typeface="Arial"/>
              </a:rPr>
              <a:t>AUTOMATED · PER MATCH</a:t>
            </a:r>
          </a:p>
        </p:txBody>
      </p:sp>
      <p:sp>
        <p:nvSpPr>
          <p:cNvPr id="20" name="Rectangle 19"/>
          <p:cNvSpPr/>
          <p:nvPr/>
        </p:nvSpPr>
        <p:spPr>
          <a:xfrm>
            <a:off x="6068552" y="2432304"/>
            <a:ext cx="7315" cy="3035808"/>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reeform 20"/>
          <p:cNvSpPr/>
          <p:nvPr/>
        </p:nvSpPr>
        <p:spPr>
          <a:xfrm>
            <a:off x="6233144" y="2432304"/>
            <a:ext cx="402336" cy="187452"/>
          </a:xfrm>
          <a:custGeom>
            <a:avLst/>
            <a:gdLst/>
            <a:ahLst/>
            <a:cxnLst/>
            <a:rect l="l" t="t" r="r" b="b"/>
            <a:pathLst>
              <a:path w="402336" h="187452">
                <a:moveTo>
                  <a:pt x="0" y="0"/>
                </a:moveTo>
                <a:lnTo>
                  <a:pt x="201168" y="118872"/>
                </a:lnTo>
                <a:lnTo>
                  <a:pt x="402336" y="0"/>
                </a:lnTo>
                <a:lnTo>
                  <a:pt x="402336" y="68580"/>
                </a:lnTo>
                <a:lnTo>
                  <a:pt x="201168" y="187452"/>
                </a:lnTo>
                <a:lnTo>
                  <a:pt x="0" y="68580"/>
                </a:lnTo>
                <a:close/>
              </a:path>
            </a:pathLst>
          </a:cu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33144" y="2798064"/>
            <a:ext cx="2522212" cy="384048"/>
          </a:xfrm>
          <a:prstGeom prst="rect">
            <a:avLst/>
          </a:prstGeom>
          <a:noFill/>
        </p:spPr>
        <p:txBody>
          <a:bodyPr wrap="square" lIns="0" rIns="0" tIns="0" bIns="0" anchor="t">
            <a:spAutoFit/>
          </a:bodyPr>
          <a:lstStyle/>
          <a:p>
            <a:pPr algn="l">
              <a:lnSpc>
                <a:spcPct val="120000"/>
              </a:lnSpc>
            </a:pPr>
            <a:r>
              <a:rPr sz="3200" b="1" i="0">
                <a:solidFill>
                  <a:srgbClr val="FFC20E"/>
                </a:solidFill>
                <a:latin typeface="Arial"/>
              </a:rPr>
              <a:t>03</a:t>
            </a:r>
          </a:p>
        </p:txBody>
      </p:sp>
      <p:sp>
        <p:nvSpPr>
          <p:cNvPr id="23" name="TextBox 22"/>
          <p:cNvSpPr txBox="1"/>
          <p:nvPr/>
        </p:nvSpPr>
        <p:spPr>
          <a:xfrm>
            <a:off x="6233144" y="3401568"/>
            <a:ext cx="2522212" cy="329184"/>
          </a:xfrm>
          <a:prstGeom prst="rect">
            <a:avLst/>
          </a:prstGeom>
          <a:noFill/>
        </p:spPr>
        <p:txBody>
          <a:bodyPr wrap="square" lIns="0" rIns="0" tIns="0" bIns="0" anchor="t">
            <a:spAutoFit/>
          </a:bodyPr>
          <a:lstStyle/>
          <a:p>
            <a:pPr algn="l">
              <a:lnSpc>
                <a:spcPct val="114000"/>
              </a:lnSpc>
            </a:pPr>
            <a:r>
              <a:rPr sz="1700" b="1" i="0">
                <a:solidFill>
                  <a:srgbClr val="FFFFFF"/>
                </a:solidFill>
                <a:latin typeface="Arial"/>
              </a:rPr>
              <a:t>Validate by hand</a:t>
            </a:r>
          </a:p>
        </p:txBody>
      </p:sp>
      <p:sp>
        <p:nvSpPr>
          <p:cNvPr id="24" name="TextBox 23"/>
          <p:cNvSpPr txBox="1"/>
          <p:nvPr/>
        </p:nvSpPr>
        <p:spPr>
          <a:xfrm>
            <a:off x="6233144" y="3950208"/>
            <a:ext cx="2375908" cy="1097280"/>
          </a:xfrm>
          <a:prstGeom prst="rect">
            <a:avLst/>
          </a:prstGeom>
          <a:noFill/>
        </p:spPr>
        <p:txBody>
          <a:bodyPr wrap="square" lIns="0" rIns="0" tIns="0" bIns="0" anchor="t">
            <a:spAutoFit/>
          </a:bodyPr>
          <a:lstStyle/>
          <a:p>
            <a:pPr algn="l">
              <a:lnSpc>
                <a:spcPct val="138000"/>
              </a:lnSpc>
            </a:pPr>
            <a:r>
              <a:rPr sz="1140" b="0" i="0">
                <a:solidFill>
                  <a:srgbClr val="8695AC"/>
                </a:solidFill>
                <a:latin typeface="Arial"/>
              </a:rPr>
              <a:t>Check timing and readability on a stratified sample; measure the wide-shot shortfall.</a:t>
            </a:r>
          </a:p>
        </p:txBody>
      </p:sp>
      <p:sp>
        <p:nvSpPr>
          <p:cNvPr id="25" name="TextBox 24"/>
          <p:cNvSpPr txBox="1"/>
          <p:nvPr/>
        </p:nvSpPr>
        <p:spPr>
          <a:xfrm>
            <a:off x="6233144" y="5230368"/>
            <a:ext cx="2522212" cy="237744"/>
          </a:xfrm>
          <a:prstGeom prst="rect">
            <a:avLst/>
          </a:prstGeom>
          <a:noFill/>
        </p:spPr>
        <p:txBody>
          <a:bodyPr wrap="square" lIns="0" rIns="0" tIns="0" bIns="0" anchor="t">
            <a:spAutoFit/>
          </a:bodyPr>
          <a:lstStyle/>
          <a:p>
            <a:pPr algn="l">
              <a:lnSpc>
                <a:spcPct val="120000"/>
              </a:lnSpc>
            </a:pPr>
            <a:r>
              <a:rPr sz="960" b="1" i="0" spc="120">
                <a:solidFill>
                  <a:srgbClr val="FFC20E"/>
                </a:solidFill>
                <a:latin typeface="Arial"/>
              </a:rPr>
              <a:t>JOINT · 2–3 WEEKS</a:t>
            </a:r>
          </a:p>
        </p:txBody>
      </p:sp>
      <p:sp>
        <p:nvSpPr>
          <p:cNvPr id="26" name="Rectangle 25"/>
          <p:cNvSpPr/>
          <p:nvPr/>
        </p:nvSpPr>
        <p:spPr>
          <a:xfrm>
            <a:off x="8865085" y="2432304"/>
            <a:ext cx="7315" cy="3035808"/>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Freeform 26"/>
          <p:cNvSpPr/>
          <p:nvPr/>
        </p:nvSpPr>
        <p:spPr>
          <a:xfrm>
            <a:off x="9029677" y="2432304"/>
            <a:ext cx="402336" cy="187452"/>
          </a:xfrm>
          <a:custGeom>
            <a:avLst/>
            <a:gdLst/>
            <a:ahLst/>
            <a:cxnLst/>
            <a:rect l="l" t="t" r="r" b="b"/>
            <a:pathLst>
              <a:path w="402336" h="187452">
                <a:moveTo>
                  <a:pt x="0" y="0"/>
                </a:moveTo>
                <a:lnTo>
                  <a:pt x="201168" y="118872"/>
                </a:lnTo>
                <a:lnTo>
                  <a:pt x="402336" y="0"/>
                </a:lnTo>
                <a:lnTo>
                  <a:pt x="402336" y="68580"/>
                </a:lnTo>
                <a:lnTo>
                  <a:pt x="201168" y="187452"/>
                </a:lnTo>
                <a:lnTo>
                  <a:pt x="0" y="68580"/>
                </a:lnTo>
                <a:close/>
              </a:path>
            </a:pathLst>
          </a:cu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29677" y="2798064"/>
            <a:ext cx="2522212" cy="384048"/>
          </a:xfrm>
          <a:prstGeom prst="rect">
            <a:avLst/>
          </a:prstGeom>
          <a:noFill/>
        </p:spPr>
        <p:txBody>
          <a:bodyPr wrap="square" lIns="0" rIns="0" tIns="0" bIns="0" anchor="t">
            <a:spAutoFit/>
          </a:bodyPr>
          <a:lstStyle/>
          <a:p>
            <a:pPr algn="l">
              <a:lnSpc>
                <a:spcPct val="120000"/>
              </a:lnSpc>
            </a:pPr>
            <a:r>
              <a:rPr sz="3200" b="1" i="0">
                <a:solidFill>
                  <a:srgbClr val="FFC20E"/>
                </a:solidFill>
                <a:latin typeface="Arial"/>
              </a:rPr>
              <a:t>04</a:t>
            </a:r>
          </a:p>
        </p:txBody>
      </p:sp>
      <p:sp>
        <p:nvSpPr>
          <p:cNvPr id="29" name="TextBox 28"/>
          <p:cNvSpPr txBox="1"/>
          <p:nvPr/>
        </p:nvSpPr>
        <p:spPr>
          <a:xfrm>
            <a:off x="9029677" y="3401568"/>
            <a:ext cx="2522212" cy="329184"/>
          </a:xfrm>
          <a:prstGeom prst="rect">
            <a:avLst/>
          </a:prstGeom>
          <a:noFill/>
        </p:spPr>
        <p:txBody>
          <a:bodyPr wrap="square" lIns="0" rIns="0" tIns="0" bIns="0" anchor="t">
            <a:spAutoFit/>
          </a:bodyPr>
          <a:lstStyle/>
          <a:p>
            <a:pPr algn="l">
              <a:lnSpc>
                <a:spcPct val="114000"/>
              </a:lnSpc>
            </a:pPr>
            <a:r>
              <a:rPr sz="1700" b="1" i="0">
                <a:solidFill>
                  <a:srgbClr val="FFFFFF"/>
                </a:solidFill>
                <a:latin typeface="Arial"/>
              </a:rPr>
              <a:t>Run the pricing review</a:t>
            </a:r>
          </a:p>
        </p:txBody>
      </p:sp>
      <p:sp>
        <p:nvSpPr>
          <p:cNvPr id="30" name="TextBox 29"/>
          <p:cNvSpPr txBox="1"/>
          <p:nvPr/>
        </p:nvSpPr>
        <p:spPr>
          <a:xfrm>
            <a:off x="9029677" y="3950208"/>
            <a:ext cx="2375908" cy="1097280"/>
          </a:xfrm>
          <a:prstGeom prst="rect">
            <a:avLst/>
          </a:prstGeom>
          <a:noFill/>
        </p:spPr>
        <p:txBody>
          <a:bodyPr wrap="square" lIns="0" rIns="0" tIns="0" bIns="0" anchor="t">
            <a:spAutoFit/>
          </a:bodyPr>
          <a:lstStyle/>
          <a:p>
            <a:pPr algn="l">
              <a:lnSpc>
                <a:spcPct val="138000"/>
              </a:lnSpc>
            </a:pPr>
            <a:r>
              <a:rPr sz="1140" b="0" i="0">
                <a:solidFill>
                  <a:srgbClr val="8695AC"/>
                </a:solidFill>
                <a:latin typeface="Arial"/>
              </a:rPr>
              <a:t>Measured delivery, current rate card and a documented rationale into the renewal cycle.</a:t>
            </a:r>
          </a:p>
        </p:txBody>
      </p:sp>
      <p:sp>
        <p:nvSpPr>
          <p:cNvPr id="31" name="TextBox 30"/>
          <p:cNvSpPr txBox="1"/>
          <p:nvPr/>
        </p:nvSpPr>
        <p:spPr>
          <a:xfrm>
            <a:off x="9029677" y="5230368"/>
            <a:ext cx="2522212" cy="237744"/>
          </a:xfrm>
          <a:prstGeom prst="rect">
            <a:avLst/>
          </a:prstGeom>
          <a:noFill/>
        </p:spPr>
        <p:txBody>
          <a:bodyPr wrap="square" lIns="0" rIns="0" tIns="0" bIns="0" anchor="t">
            <a:spAutoFit/>
          </a:bodyPr>
          <a:lstStyle/>
          <a:p>
            <a:pPr algn="l">
              <a:lnSpc>
                <a:spcPct val="120000"/>
              </a:lnSpc>
            </a:pPr>
            <a:r>
              <a:rPr sz="960" b="1" i="0" spc="120">
                <a:solidFill>
                  <a:srgbClr val="FFC20E"/>
                </a:solidFill>
                <a:latin typeface="Arial"/>
              </a:rPr>
              <a:t>COMMERCIAL · NEXT CYCLE</a:t>
            </a:r>
          </a:p>
        </p:txBody>
      </p:sp>
      <p:sp>
        <p:nvSpPr>
          <p:cNvPr id="32" name="Rectangle 31"/>
          <p:cNvSpPr/>
          <p:nvPr/>
        </p:nvSpPr>
        <p:spPr>
          <a:xfrm>
            <a:off x="640080" y="5797296"/>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6016752"/>
            <a:ext cx="10911809" cy="310896"/>
          </a:xfrm>
          <a:prstGeom prst="rect">
            <a:avLst/>
          </a:prstGeom>
          <a:noFill/>
        </p:spPr>
        <p:txBody>
          <a:bodyPr wrap="square" lIns="0" rIns="0" tIns="0" bIns="0" anchor="t">
            <a:spAutoFit/>
          </a:bodyPr>
          <a:lstStyle/>
          <a:p>
            <a:pPr algn="l">
              <a:lnSpc>
                <a:spcPct val="120000"/>
              </a:lnSpc>
            </a:pPr>
            <a:r>
              <a:rPr sz="1250" b="0" i="0">
                <a:solidFill>
                  <a:srgbClr val="DCE4EF"/>
                </a:solidFill>
                <a:latin typeface="Arial"/>
              </a:rPr>
              <a:t>Nothing here needs new annotation. The pipeline runs on any broadcast of the home kit as soon as the footage is available.</a:t>
            </a:r>
          </a:p>
        </p:txBody>
      </p:sp>
      <p:sp>
        <p:nvSpPr>
          <p:cNvPr id="34" name="TextBox 33"/>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bg_close.jpg"/>
          <p:cNvPicPr>
            <a:picLocks noChangeAspect="1"/>
          </p:cNvPicPr>
          <p:nvPr/>
        </p:nvPicPr>
        <p:blipFill>
          <a:blip r:embed="rId2"/>
          <a:srcRect l="0" r="0"/>
          <a:stretch>
            <a:fillRect/>
          </a:stretch>
        </p:blipFill>
        <p:spPr>
          <a:xfrm>
            <a:off x="0" y="0"/>
            <a:ext cx="12191969" cy="6858000"/>
          </a:xfrm>
          <a:prstGeom prst="rect">
            <a:avLst/>
          </a:prstGeom>
        </p:spPr>
      </p:pic>
      <p:sp>
        <p:nvSpPr>
          <p:cNvPr id="4" name="Freeform 3"/>
          <p:cNvSpPr/>
          <p:nvPr/>
        </p:nvSpPr>
        <p:spPr>
          <a:xfrm>
            <a:off x="0" y="0"/>
            <a:ext cx="7223760" cy="6858000"/>
          </a:xfrm>
          <a:custGeom>
            <a:avLst/>
            <a:gdLst/>
            <a:ahLst/>
            <a:cxnLst/>
            <a:rect l="l" t="t" r="r" b="b"/>
            <a:pathLst>
              <a:path w="7223760" h="6858000">
                <a:moveTo>
                  <a:pt x="0" y="0"/>
                </a:moveTo>
                <a:lnTo>
                  <a:pt x="7223760" y="0"/>
                </a:lnTo>
                <a:lnTo>
                  <a:pt x="6309360" y="6858000"/>
                </a:lnTo>
                <a:lnTo>
                  <a:pt x="0" y="6858000"/>
                </a:lnTo>
                <a:close/>
              </a:path>
            </a:pathLst>
          </a:custGeom>
          <a:solidFill>
            <a:srgbClr val="070A0F">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46304"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46304" y="0"/>
            <a:ext cx="68580"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Freeform 6"/>
          <p:cNvSpPr/>
          <p:nvPr/>
        </p:nvSpPr>
        <p:spPr>
          <a:xfrm>
            <a:off x="640080" y="1239012"/>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225296"/>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IN ONE LINE</a:t>
            </a:r>
          </a:p>
        </p:txBody>
      </p:sp>
      <p:sp>
        <p:nvSpPr>
          <p:cNvPr id="9" name="TextBox 8"/>
          <p:cNvSpPr txBox="1"/>
          <p:nvPr/>
        </p:nvSpPr>
        <p:spPr>
          <a:xfrm>
            <a:off x="640080" y="1645920"/>
            <a:ext cx="5577840" cy="2194560"/>
          </a:xfrm>
          <a:prstGeom prst="rect">
            <a:avLst/>
          </a:prstGeom>
          <a:noFill/>
        </p:spPr>
        <p:txBody>
          <a:bodyPr wrap="square" lIns="0" rIns="0" tIns="0" bIns="0" anchor="t">
            <a:spAutoFit/>
          </a:bodyPr>
          <a:lstStyle/>
          <a:p>
            <a:pPr algn="l">
              <a:lnSpc>
                <a:spcPct val="114000"/>
              </a:lnSpc>
            </a:pPr>
            <a:r>
              <a:rPr sz="3400" b="1" i="0">
                <a:solidFill>
                  <a:srgbClr val="FFFFFF"/>
                </a:solidFill>
                <a:latin typeface="Arial"/>
              </a:rPr>
              <a:t>Broadcast footage,</a:t>
            </a:r>
          </a:p>
          <a:p>
            <a:pPr algn="l">
              <a:lnSpc>
                <a:spcPct val="114000"/>
              </a:lnSpc>
            </a:pPr>
            <a:r>
              <a:rPr sz="3400" b="1" i="0">
                <a:solidFill>
                  <a:srgbClr val="FFFFFF"/>
                </a:solidFill>
                <a:latin typeface="Arial"/>
              </a:rPr>
              <a:t>turned into</a:t>
            </a:r>
          </a:p>
          <a:p>
            <a:pPr algn="l">
              <a:lnSpc>
                <a:spcPct val="114000"/>
              </a:lnSpc>
            </a:pPr>
            <a:r>
              <a:rPr sz="3400" b="1" i="0">
                <a:solidFill>
                  <a:srgbClr val="FFFFFF"/>
                </a:solidFill>
                <a:latin typeface="Arial"/>
              </a:rPr>
              <a:t>sponsorship evidence.</a:t>
            </a:r>
          </a:p>
        </p:txBody>
      </p:sp>
      <p:sp>
        <p:nvSpPr>
          <p:cNvPr id="10" name="Rectangle 9"/>
          <p:cNvSpPr/>
          <p:nvPr/>
        </p:nvSpPr>
        <p:spPr>
          <a:xfrm>
            <a:off x="640080" y="3877056"/>
            <a:ext cx="1371600"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4133087"/>
            <a:ext cx="4754880" cy="1097280"/>
          </a:xfrm>
          <a:prstGeom prst="rect">
            <a:avLst/>
          </a:prstGeom>
          <a:noFill/>
        </p:spPr>
        <p:txBody>
          <a:bodyPr wrap="square" lIns="0" rIns="0" tIns="0" bIns="0" anchor="t">
            <a:spAutoFit/>
          </a:bodyPr>
          <a:lstStyle/>
          <a:p>
            <a:pPr algn="l">
              <a:lnSpc>
                <a:spcPct val="146000"/>
              </a:lnSpc>
            </a:pPr>
            <a:r>
              <a:rPr sz="1300" b="0" i="0">
                <a:solidFill>
                  <a:srgbClr val="DCE4EF"/>
                </a:solidFill>
                <a:latin typeface="Arial"/>
              </a:rPr>
              <a:t>The measurement is stable. The pricing map is the part worth revisiting — with the club's judgement leading and the evidence alongside it.</a:t>
            </a:r>
          </a:p>
        </p:txBody>
      </p:sp>
      <p:sp>
        <p:nvSpPr>
          <p:cNvPr id="12" name="TextBox 11"/>
          <p:cNvSpPr txBox="1"/>
          <p:nvPr/>
        </p:nvSpPr>
        <p:spPr>
          <a:xfrm>
            <a:off x="640080" y="5870448"/>
            <a:ext cx="4937760" cy="457200"/>
          </a:xfrm>
          <a:prstGeom prst="rect">
            <a:avLst/>
          </a:prstGeom>
          <a:noFill/>
        </p:spPr>
        <p:txBody>
          <a:bodyPr wrap="square" lIns="0" rIns="0" tIns="0" bIns="0" anchor="t">
            <a:spAutoFit/>
          </a:bodyPr>
          <a:lstStyle/>
          <a:p>
            <a:pPr algn="l">
              <a:lnSpc>
                <a:spcPct val="120000"/>
              </a:lnSpc>
            </a:pPr>
            <a:r>
              <a:rPr sz="1000" b="0" i="0">
                <a:solidFill>
                  <a:srgbClr val="56657C"/>
                </a:solidFill>
                <a:latin typeface="Arial"/>
              </a:rPr>
              <a:t>LogoLens  ·  University of Bradford  ·  in partnership with Bradford Bulls</a:t>
            </a:r>
          </a:p>
        </p:txBody>
      </p:sp>
      <p:pic>
        <p:nvPicPr>
          <p:cNvPr id="13" name="full_film.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6967728" y="1883664"/>
            <a:ext cx="4608576" cy="2596896"/>
          </a:xfrm>
          <a:prstGeom prst="rect">
            <a:avLst/>
          </a:prstGeom>
        </p:spPr>
      </p:pic>
      <p:sp>
        <p:nvSpPr>
          <p:cNvPr id="14" name="Rectangle 13"/>
          <p:cNvSpPr/>
          <p:nvPr/>
        </p:nvSpPr>
        <p:spPr>
          <a:xfrm>
            <a:off x="6967728" y="1883664"/>
            <a:ext cx="4608576" cy="2596896"/>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67728" y="4626864"/>
            <a:ext cx="4608576" cy="237744"/>
          </a:xfrm>
          <a:prstGeom prst="rect">
            <a:avLst/>
          </a:prstGeom>
          <a:noFill/>
        </p:spPr>
        <p:txBody>
          <a:bodyPr wrap="square" lIns="0" rIns="0" tIns="0" bIns="0" anchor="t">
            <a:spAutoFit/>
          </a:bodyPr>
          <a:lstStyle/>
          <a:p>
            <a:pPr algn="l">
              <a:lnSpc>
                <a:spcPct val="120000"/>
              </a:lnSpc>
            </a:pPr>
            <a:r>
              <a:rPr sz="1200" b="1" i="0">
                <a:solidFill>
                  <a:srgbClr val="FFFFFF"/>
                </a:solidFill>
                <a:latin typeface="Arial"/>
              </a:rPr>
              <a:t>The full LogoLens film  ·  2:23</a:t>
            </a:r>
          </a:p>
        </p:txBody>
      </p:sp>
      <p:sp>
        <p:nvSpPr>
          <p:cNvPr id="16" name="TextBox 15"/>
          <p:cNvSpPr txBox="1"/>
          <p:nvPr/>
        </p:nvSpPr>
        <p:spPr>
          <a:xfrm>
            <a:off x="6967728" y="4901184"/>
            <a:ext cx="4608576" cy="457200"/>
          </a:xfrm>
          <a:prstGeom prst="rect">
            <a:avLst/>
          </a:prstGeom>
          <a:noFill/>
        </p:spPr>
        <p:txBody>
          <a:bodyPr wrap="square" lIns="0" rIns="0" tIns="0" bIns="0" anchor="t">
            <a:spAutoFit/>
          </a:bodyPr>
          <a:lstStyle/>
          <a:p>
            <a:pPr algn="l">
              <a:lnSpc>
                <a:spcPct val="130000"/>
              </a:lnSpc>
            </a:pPr>
            <a:r>
              <a:rPr sz="1040" b="0" i="0">
                <a:solidFill>
                  <a:srgbClr val="8695AC"/>
                </a:solidFill>
                <a:latin typeface="Arial"/>
              </a:rPr>
              <a:t>Narrated overview of the project, the pipeline and the partnership. Click to play if there is time.</a:t>
            </a:r>
          </a:p>
        </p:txBody>
      </p:sp>
      <p:sp>
        <p:nvSpPr>
          <p:cNvPr id="17" name="TextBox 16"/>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13</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3"/>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APPENDIX</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2800" b="1" i="0">
                <a:solidFill>
                  <a:srgbClr val="FFFFFF"/>
                </a:solidFill>
                <a:latin typeface="Arial"/>
              </a:rPr>
              <a:t>All sixteen assets</a:t>
            </a:r>
          </a:p>
        </p:txBody>
      </p:sp>
      <p:sp>
        <p:nvSpPr>
          <p:cNvPr id="8" name="TextBox 7"/>
          <p:cNvSpPr txBox="1"/>
          <p:nvPr/>
        </p:nvSpPr>
        <p:spPr>
          <a:xfrm>
            <a:off x="640080" y="1481328"/>
            <a:ext cx="10911809" cy="274320"/>
          </a:xfrm>
          <a:prstGeom prst="rect">
            <a:avLst/>
          </a:prstGeom>
          <a:noFill/>
        </p:spPr>
        <p:txBody>
          <a:bodyPr wrap="square" lIns="0" rIns="0" tIns="0" bIns="0" anchor="t">
            <a:spAutoFit/>
          </a:bodyPr>
          <a:lstStyle/>
          <a:p>
            <a:pPr algn="l">
              <a:lnSpc>
                <a:spcPct val="120000"/>
              </a:lnSpc>
            </a:pPr>
            <a:r>
              <a:rPr sz="1150" b="0" i="0">
                <a:solidFill>
                  <a:srgbClr val="8695AC"/>
                </a:solidFill>
                <a:latin typeface="Arial"/>
              </a:rPr>
              <a:t>Club allocation, measured visibility in each match, the mean and the gap.</a:t>
            </a:r>
          </a:p>
        </p:txBody>
      </p:sp>
      <p:sp>
        <p:nvSpPr>
          <p:cNvPr id="9" name="Rectangle 8"/>
          <p:cNvSpPr/>
          <p:nvPr/>
        </p:nvSpPr>
        <p:spPr>
          <a:xfrm>
            <a:off x="640080" y="2157984"/>
            <a:ext cx="10911809" cy="1828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19" y="1883664"/>
            <a:ext cx="2331720" cy="219456"/>
          </a:xfrm>
          <a:prstGeom prst="rect">
            <a:avLst/>
          </a:prstGeom>
          <a:noFill/>
        </p:spPr>
        <p:txBody>
          <a:bodyPr wrap="square" lIns="0" rIns="0" tIns="0" bIns="0" anchor="t">
            <a:spAutoFit/>
          </a:bodyPr>
          <a:lstStyle/>
          <a:p>
            <a:pPr algn="l">
              <a:lnSpc>
                <a:spcPct val="120000"/>
              </a:lnSpc>
            </a:pPr>
            <a:r>
              <a:rPr sz="940" b="1" i="0" spc="140">
                <a:solidFill>
                  <a:srgbClr val="FFC20E"/>
                </a:solidFill>
                <a:latin typeface="Arial"/>
              </a:rPr>
              <a:t>SPONSOR</a:t>
            </a:r>
          </a:p>
        </p:txBody>
      </p:sp>
      <p:sp>
        <p:nvSpPr>
          <p:cNvPr id="11" name="TextBox 10"/>
          <p:cNvSpPr txBox="1"/>
          <p:nvPr/>
        </p:nvSpPr>
        <p:spPr>
          <a:xfrm>
            <a:off x="3200400" y="1883664"/>
            <a:ext cx="2606040" cy="219456"/>
          </a:xfrm>
          <a:prstGeom prst="rect">
            <a:avLst/>
          </a:prstGeom>
          <a:noFill/>
        </p:spPr>
        <p:txBody>
          <a:bodyPr wrap="square" lIns="0" rIns="0" tIns="0" bIns="0" anchor="t">
            <a:spAutoFit/>
          </a:bodyPr>
          <a:lstStyle/>
          <a:p>
            <a:pPr algn="l">
              <a:lnSpc>
                <a:spcPct val="120000"/>
              </a:lnSpc>
            </a:pPr>
            <a:r>
              <a:rPr sz="940" b="1" i="0" spc="140">
                <a:solidFill>
                  <a:srgbClr val="FFC20E"/>
                </a:solidFill>
                <a:latin typeface="Arial"/>
              </a:rPr>
              <a:t>KIT POSITION</a:t>
            </a:r>
          </a:p>
        </p:txBody>
      </p:sp>
      <p:sp>
        <p:nvSpPr>
          <p:cNvPr id="12" name="TextBox 11"/>
          <p:cNvSpPr txBox="1"/>
          <p:nvPr/>
        </p:nvSpPr>
        <p:spPr>
          <a:xfrm>
            <a:off x="541324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PRICE %</a:t>
            </a:r>
          </a:p>
        </p:txBody>
      </p:sp>
      <p:sp>
        <p:nvSpPr>
          <p:cNvPr id="13" name="TextBox 12"/>
          <p:cNvSpPr txBox="1"/>
          <p:nvPr/>
        </p:nvSpPr>
        <p:spPr>
          <a:xfrm>
            <a:off x="683056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MATCH 1</a:t>
            </a:r>
          </a:p>
        </p:txBody>
      </p:sp>
      <p:sp>
        <p:nvSpPr>
          <p:cNvPr id="14" name="TextBox 13"/>
          <p:cNvSpPr txBox="1"/>
          <p:nvPr/>
        </p:nvSpPr>
        <p:spPr>
          <a:xfrm>
            <a:off x="824788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MATCH 2</a:t>
            </a:r>
          </a:p>
        </p:txBody>
      </p:sp>
      <p:sp>
        <p:nvSpPr>
          <p:cNvPr id="15" name="TextBox 14"/>
          <p:cNvSpPr txBox="1"/>
          <p:nvPr/>
        </p:nvSpPr>
        <p:spPr>
          <a:xfrm>
            <a:off x="957376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CAMERA %</a:t>
            </a:r>
          </a:p>
        </p:txBody>
      </p:sp>
      <p:sp>
        <p:nvSpPr>
          <p:cNvPr id="16" name="TextBox 15"/>
          <p:cNvSpPr txBox="1"/>
          <p:nvPr/>
        </p:nvSpPr>
        <p:spPr>
          <a:xfrm>
            <a:off x="1044244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GAP PP</a:t>
            </a:r>
          </a:p>
        </p:txBody>
      </p:sp>
      <p:sp>
        <p:nvSpPr>
          <p:cNvPr id="17" name="Rectangle 16"/>
          <p:cNvSpPr/>
          <p:nvPr/>
        </p:nvSpPr>
        <p:spPr>
          <a:xfrm>
            <a:off x="640080" y="2318004"/>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1519" y="2359152"/>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KLG</a:t>
            </a:r>
          </a:p>
        </p:txBody>
      </p:sp>
      <p:sp>
        <p:nvSpPr>
          <p:cNvPr id="19" name="TextBox 18"/>
          <p:cNvSpPr txBox="1"/>
          <p:nvPr/>
        </p:nvSpPr>
        <p:spPr>
          <a:xfrm>
            <a:off x="3200400" y="2359152"/>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Top Back Shorts</a:t>
            </a:r>
          </a:p>
        </p:txBody>
      </p:sp>
      <p:sp>
        <p:nvSpPr>
          <p:cNvPr id="20" name="TextBox 19"/>
          <p:cNvSpPr txBox="1"/>
          <p:nvPr/>
        </p:nvSpPr>
        <p:spPr>
          <a:xfrm>
            <a:off x="5413248" y="2359152"/>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5</a:t>
            </a:r>
          </a:p>
        </p:txBody>
      </p:sp>
      <p:sp>
        <p:nvSpPr>
          <p:cNvPr id="21" name="TextBox 20"/>
          <p:cNvSpPr txBox="1"/>
          <p:nvPr/>
        </p:nvSpPr>
        <p:spPr>
          <a:xfrm>
            <a:off x="6830568" y="235915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24.73</a:t>
            </a:r>
          </a:p>
        </p:txBody>
      </p:sp>
      <p:sp>
        <p:nvSpPr>
          <p:cNvPr id="22" name="TextBox 21"/>
          <p:cNvSpPr txBox="1"/>
          <p:nvPr/>
        </p:nvSpPr>
        <p:spPr>
          <a:xfrm>
            <a:off x="8247888" y="235915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21.82</a:t>
            </a:r>
          </a:p>
        </p:txBody>
      </p:sp>
      <p:sp>
        <p:nvSpPr>
          <p:cNvPr id="23" name="TextBox 22"/>
          <p:cNvSpPr txBox="1"/>
          <p:nvPr/>
        </p:nvSpPr>
        <p:spPr>
          <a:xfrm>
            <a:off x="9573768" y="2359152"/>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23.27</a:t>
            </a:r>
          </a:p>
        </p:txBody>
      </p:sp>
      <p:sp>
        <p:nvSpPr>
          <p:cNvPr id="24" name="TextBox 23"/>
          <p:cNvSpPr txBox="1"/>
          <p:nvPr/>
        </p:nvSpPr>
        <p:spPr>
          <a:xfrm>
            <a:off x="10442448" y="2359152"/>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+18.27</a:t>
            </a:r>
          </a:p>
        </p:txBody>
      </p:sp>
      <p:sp>
        <p:nvSpPr>
          <p:cNvPr id="25" name="TextBox 24"/>
          <p:cNvSpPr txBox="1"/>
          <p:nvPr/>
        </p:nvSpPr>
        <p:spPr>
          <a:xfrm>
            <a:off x="731519" y="2604211"/>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Bartercard</a:t>
            </a:r>
          </a:p>
        </p:txBody>
      </p:sp>
      <p:sp>
        <p:nvSpPr>
          <p:cNvPr id="26" name="TextBox 25"/>
          <p:cNvSpPr txBox="1"/>
          <p:nvPr/>
        </p:nvSpPr>
        <p:spPr>
          <a:xfrm>
            <a:off x="3200400" y="2604211"/>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Sleeve 3</a:t>
            </a:r>
          </a:p>
        </p:txBody>
      </p:sp>
      <p:sp>
        <p:nvSpPr>
          <p:cNvPr id="27" name="TextBox 26"/>
          <p:cNvSpPr txBox="1"/>
          <p:nvPr/>
        </p:nvSpPr>
        <p:spPr>
          <a:xfrm>
            <a:off x="5413248" y="2604211"/>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4</a:t>
            </a:r>
          </a:p>
        </p:txBody>
      </p:sp>
      <p:sp>
        <p:nvSpPr>
          <p:cNvPr id="28" name="TextBox 27"/>
          <p:cNvSpPr txBox="1"/>
          <p:nvPr/>
        </p:nvSpPr>
        <p:spPr>
          <a:xfrm>
            <a:off x="6830568" y="260421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12.72</a:t>
            </a:r>
          </a:p>
        </p:txBody>
      </p:sp>
      <p:sp>
        <p:nvSpPr>
          <p:cNvPr id="29" name="TextBox 28"/>
          <p:cNvSpPr txBox="1"/>
          <p:nvPr/>
        </p:nvSpPr>
        <p:spPr>
          <a:xfrm>
            <a:off x="8247888" y="260421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14.38</a:t>
            </a:r>
          </a:p>
        </p:txBody>
      </p:sp>
      <p:sp>
        <p:nvSpPr>
          <p:cNvPr id="30" name="TextBox 29"/>
          <p:cNvSpPr txBox="1"/>
          <p:nvPr/>
        </p:nvSpPr>
        <p:spPr>
          <a:xfrm>
            <a:off x="9573768" y="2604211"/>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13.55</a:t>
            </a:r>
          </a:p>
        </p:txBody>
      </p:sp>
      <p:sp>
        <p:nvSpPr>
          <p:cNvPr id="31" name="TextBox 30"/>
          <p:cNvSpPr txBox="1"/>
          <p:nvPr/>
        </p:nvSpPr>
        <p:spPr>
          <a:xfrm>
            <a:off x="10442448" y="2604211"/>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+9.55</a:t>
            </a:r>
          </a:p>
        </p:txBody>
      </p:sp>
      <p:sp>
        <p:nvSpPr>
          <p:cNvPr id="32" name="Rectangle 31"/>
          <p:cNvSpPr/>
          <p:nvPr/>
        </p:nvSpPr>
        <p:spPr>
          <a:xfrm>
            <a:off x="640080" y="2808122"/>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31519" y="2849270"/>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Top Notch</a:t>
            </a:r>
          </a:p>
        </p:txBody>
      </p:sp>
      <p:sp>
        <p:nvSpPr>
          <p:cNvPr id="34" name="TextBox 33"/>
          <p:cNvSpPr txBox="1"/>
          <p:nvPr/>
        </p:nvSpPr>
        <p:spPr>
          <a:xfrm>
            <a:off x="3200400" y="2849270"/>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Main Sponsor</a:t>
            </a:r>
          </a:p>
        </p:txBody>
      </p:sp>
      <p:sp>
        <p:nvSpPr>
          <p:cNvPr id="35" name="TextBox 34"/>
          <p:cNvSpPr txBox="1"/>
          <p:nvPr/>
        </p:nvSpPr>
        <p:spPr>
          <a:xfrm>
            <a:off x="5413248" y="2849270"/>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26</a:t>
            </a:r>
          </a:p>
        </p:txBody>
      </p:sp>
      <p:sp>
        <p:nvSpPr>
          <p:cNvPr id="36" name="TextBox 35"/>
          <p:cNvSpPr txBox="1"/>
          <p:nvPr/>
        </p:nvSpPr>
        <p:spPr>
          <a:xfrm>
            <a:off x="6830568" y="284927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9.95</a:t>
            </a:r>
          </a:p>
        </p:txBody>
      </p:sp>
      <p:sp>
        <p:nvSpPr>
          <p:cNvPr id="37" name="TextBox 36"/>
          <p:cNvSpPr txBox="1"/>
          <p:nvPr/>
        </p:nvSpPr>
        <p:spPr>
          <a:xfrm>
            <a:off x="8247888" y="284927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12.71</a:t>
            </a:r>
          </a:p>
        </p:txBody>
      </p:sp>
      <p:sp>
        <p:nvSpPr>
          <p:cNvPr id="38" name="TextBox 37"/>
          <p:cNvSpPr txBox="1"/>
          <p:nvPr/>
        </p:nvSpPr>
        <p:spPr>
          <a:xfrm>
            <a:off x="9573768" y="2849270"/>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11.33</a:t>
            </a:r>
          </a:p>
        </p:txBody>
      </p:sp>
      <p:sp>
        <p:nvSpPr>
          <p:cNvPr id="39" name="TextBox 38"/>
          <p:cNvSpPr txBox="1"/>
          <p:nvPr/>
        </p:nvSpPr>
        <p:spPr>
          <a:xfrm>
            <a:off x="10442448" y="2849270"/>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-14.67</a:t>
            </a:r>
          </a:p>
        </p:txBody>
      </p:sp>
      <p:sp>
        <p:nvSpPr>
          <p:cNvPr id="40" name="TextBox 39"/>
          <p:cNvSpPr txBox="1"/>
          <p:nvPr/>
        </p:nvSpPr>
        <p:spPr>
          <a:xfrm>
            <a:off x="731519" y="3094329"/>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Cedar Court Hotels</a:t>
            </a:r>
          </a:p>
        </p:txBody>
      </p:sp>
      <p:sp>
        <p:nvSpPr>
          <p:cNvPr id="41" name="TextBox 40"/>
          <p:cNvSpPr txBox="1"/>
          <p:nvPr/>
        </p:nvSpPr>
        <p:spPr>
          <a:xfrm>
            <a:off x="3200400" y="3094329"/>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Shorts Front</a:t>
            </a:r>
          </a:p>
        </p:txBody>
      </p:sp>
      <p:sp>
        <p:nvSpPr>
          <p:cNvPr id="42" name="TextBox 41"/>
          <p:cNvSpPr txBox="1"/>
          <p:nvPr/>
        </p:nvSpPr>
        <p:spPr>
          <a:xfrm>
            <a:off x="5413248" y="3094329"/>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43" name="TextBox 42"/>
          <p:cNvSpPr txBox="1"/>
          <p:nvPr/>
        </p:nvSpPr>
        <p:spPr>
          <a:xfrm>
            <a:off x="6830568" y="3094329"/>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6.87</a:t>
            </a:r>
          </a:p>
        </p:txBody>
      </p:sp>
      <p:sp>
        <p:nvSpPr>
          <p:cNvPr id="44" name="TextBox 43"/>
          <p:cNvSpPr txBox="1"/>
          <p:nvPr/>
        </p:nvSpPr>
        <p:spPr>
          <a:xfrm>
            <a:off x="8247888" y="3094329"/>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7.86</a:t>
            </a:r>
          </a:p>
        </p:txBody>
      </p:sp>
      <p:sp>
        <p:nvSpPr>
          <p:cNvPr id="45" name="TextBox 44"/>
          <p:cNvSpPr txBox="1"/>
          <p:nvPr/>
        </p:nvSpPr>
        <p:spPr>
          <a:xfrm>
            <a:off x="9573768" y="3094329"/>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7.37</a:t>
            </a:r>
          </a:p>
        </p:txBody>
      </p:sp>
      <p:sp>
        <p:nvSpPr>
          <p:cNvPr id="46" name="TextBox 45"/>
          <p:cNvSpPr txBox="1"/>
          <p:nvPr/>
        </p:nvSpPr>
        <p:spPr>
          <a:xfrm>
            <a:off x="10442448" y="3094329"/>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+4.37</a:t>
            </a:r>
          </a:p>
        </p:txBody>
      </p:sp>
      <p:sp>
        <p:nvSpPr>
          <p:cNvPr id="47" name="Rectangle 46"/>
          <p:cNvSpPr/>
          <p:nvPr/>
        </p:nvSpPr>
        <p:spPr>
          <a:xfrm>
            <a:off x="640080" y="3298240"/>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31519" y="3339388"/>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ASC Group</a:t>
            </a:r>
          </a:p>
        </p:txBody>
      </p:sp>
      <p:sp>
        <p:nvSpPr>
          <p:cNvPr id="49" name="TextBox 48"/>
          <p:cNvSpPr txBox="1"/>
          <p:nvPr/>
        </p:nvSpPr>
        <p:spPr>
          <a:xfrm>
            <a:off x="3200400" y="3339388"/>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Bottom Back</a:t>
            </a:r>
          </a:p>
        </p:txBody>
      </p:sp>
      <p:sp>
        <p:nvSpPr>
          <p:cNvPr id="50" name="TextBox 49"/>
          <p:cNvSpPr txBox="1"/>
          <p:nvPr/>
        </p:nvSpPr>
        <p:spPr>
          <a:xfrm>
            <a:off x="5413248" y="3339388"/>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51" name="TextBox 50"/>
          <p:cNvSpPr txBox="1"/>
          <p:nvPr/>
        </p:nvSpPr>
        <p:spPr>
          <a:xfrm>
            <a:off x="6830568" y="333938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8.07</a:t>
            </a:r>
          </a:p>
        </p:txBody>
      </p:sp>
      <p:sp>
        <p:nvSpPr>
          <p:cNvPr id="52" name="TextBox 51"/>
          <p:cNvSpPr txBox="1"/>
          <p:nvPr/>
        </p:nvSpPr>
        <p:spPr>
          <a:xfrm>
            <a:off x="8247888" y="333938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6.48</a:t>
            </a:r>
          </a:p>
        </p:txBody>
      </p:sp>
      <p:sp>
        <p:nvSpPr>
          <p:cNvPr id="53" name="TextBox 52"/>
          <p:cNvSpPr txBox="1"/>
          <p:nvPr/>
        </p:nvSpPr>
        <p:spPr>
          <a:xfrm>
            <a:off x="9573768" y="3339388"/>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7.28</a:t>
            </a:r>
          </a:p>
        </p:txBody>
      </p:sp>
      <p:sp>
        <p:nvSpPr>
          <p:cNvPr id="54" name="TextBox 53"/>
          <p:cNvSpPr txBox="1"/>
          <p:nvPr/>
        </p:nvSpPr>
        <p:spPr>
          <a:xfrm>
            <a:off x="10442448" y="3339388"/>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+4.28</a:t>
            </a:r>
          </a:p>
        </p:txBody>
      </p:sp>
      <p:sp>
        <p:nvSpPr>
          <p:cNvPr id="55" name="TextBox 54"/>
          <p:cNvSpPr txBox="1"/>
          <p:nvPr/>
        </p:nvSpPr>
        <p:spPr>
          <a:xfrm>
            <a:off x="731519" y="3584448"/>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Paints &amp; Lacquers</a:t>
            </a:r>
          </a:p>
        </p:txBody>
      </p:sp>
      <p:sp>
        <p:nvSpPr>
          <p:cNvPr id="56" name="TextBox 55"/>
          <p:cNvSpPr txBox="1"/>
          <p:nvPr/>
        </p:nvSpPr>
        <p:spPr>
          <a:xfrm>
            <a:off x="3200400" y="3584448"/>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Shorts Back 2</a:t>
            </a:r>
          </a:p>
        </p:txBody>
      </p:sp>
      <p:sp>
        <p:nvSpPr>
          <p:cNvPr id="57" name="TextBox 56"/>
          <p:cNvSpPr txBox="1"/>
          <p:nvPr/>
        </p:nvSpPr>
        <p:spPr>
          <a:xfrm>
            <a:off x="5413248" y="3584448"/>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58" name="TextBox 57"/>
          <p:cNvSpPr txBox="1"/>
          <p:nvPr/>
        </p:nvSpPr>
        <p:spPr>
          <a:xfrm>
            <a:off x="6830568" y="358444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6.83</a:t>
            </a:r>
          </a:p>
        </p:txBody>
      </p:sp>
      <p:sp>
        <p:nvSpPr>
          <p:cNvPr id="59" name="TextBox 58"/>
          <p:cNvSpPr txBox="1"/>
          <p:nvPr/>
        </p:nvSpPr>
        <p:spPr>
          <a:xfrm>
            <a:off x="8247888" y="358444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6.25</a:t>
            </a:r>
          </a:p>
        </p:txBody>
      </p:sp>
      <p:sp>
        <p:nvSpPr>
          <p:cNvPr id="60" name="TextBox 59"/>
          <p:cNvSpPr txBox="1"/>
          <p:nvPr/>
        </p:nvSpPr>
        <p:spPr>
          <a:xfrm>
            <a:off x="9573768" y="3584448"/>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6.54</a:t>
            </a:r>
          </a:p>
        </p:txBody>
      </p:sp>
      <p:sp>
        <p:nvSpPr>
          <p:cNvPr id="61" name="TextBox 60"/>
          <p:cNvSpPr txBox="1"/>
          <p:nvPr/>
        </p:nvSpPr>
        <p:spPr>
          <a:xfrm>
            <a:off x="10442448" y="3584448"/>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+3.54</a:t>
            </a:r>
          </a:p>
        </p:txBody>
      </p:sp>
      <p:sp>
        <p:nvSpPr>
          <p:cNvPr id="62" name="Rectangle 61"/>
          <p:cNvSpPr/>
          <p:nvPr/>
        </p:nvSpPr>
        <p:spPr>
          <a:xfrm>
            <a:off x="640080" y="3788359"/>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731519" y="3829507"/>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Chadwick &amp; Lawrence</a:t>
            </a:r>
          </a:p>
        </p:txBody>
      </p:sp>
      <p:sp>
        <p:nvSpPr>
          <p:cNvPr id="64" name="TextBox 63"/>
          <p:cNvSpPr txBox="1"/>
          <p:nvPr/>
        </p:nvSpPr>
        <p:spPr>
          <a:xfrm>
            <a:off x="3200400" y="3829507"/>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Sleeve 1</a:t>
            </a:r>
          </a:p>
        </p:txBody>
      </p:sp>
      <p:sp>
        <p:nvSpPr>
          <p:cNvPr id="65" name="TextBox 64"/>
          <p:cNvSpPr txBox="1"/>
          <p:nvPr/>
        </p:nvSpPr>
        <p:spPr>
          <a:xfrm>
            <a:off x="5413248" y="3829507"/>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4</a:t>
            </a:r>
          </a:p>
        </p:txBody>
      </p:sp>
      <p:sp>
        <p:nvSpPr>
          <p:cNvPr id="66" name="TextBox 65"/>
          <p:cNvSpPr txBox="1"/>
          <p:nvPr/>
        </p:nvSpPr>
        <p:spPr>
          <a:xfrm>
            <a:off x="6830568" y="3829507"/>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5.85</a:t>
            </a:r>
          </a:p>
        </p:txBody>
      </p:sp>
      <p:sp>
        <p:nvSpPr>
          <p:cNvPr id="67" name="TextBox 66"/>
          <p:cNvSpPr txBox="1"/>
          <p:nvPr/>
        </p:nvSpPr>
        <p:spPr>
          <a:xfrm>
            <a:off x="8247888" y="3829507"/>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5.90</a:t>
            </a:r>
          </a:p>
        </p:txBody>
      </p:sp>
      <p:sp>
        <p:nvSpPr>
          <p:cNvPr id="68" name="TextBox 67"/>
          <p:cNvSpPr txBox="1"/>
          <p:nvPr/>
        </p:nvSpPr>
        <p:spPr>
          <a:xfrm>
            <a:off x="9573768" y="3829507"/>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5.88</a:t>
            </a:r>
          </a:p>
        </p:txBody>
      </p:sp>
      <p:sp>
        <p:nvSpPr>
          <p:cNvPr id="69" name="TextBox 68"/>
          <p:cNvSpPr txBox="1"/>
          <p:nvPr/>
        </p:nvSpPr>
        <p:spPr>
          <a:xfrm>
            <a:off x="10442448" y="3829507"/>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+1.88</a:t>
            </a:r>
          </a:p>
        </p:txBody>
      </p:sp>
      <p:sp>
        <p:nvSpPr>
          <p:cNvPr id="70" name="TextBox 69"/>
          <p:cNvSpPr txBox="1"/>
          <p:nvPr/>
        </p:nvSpPr>
        <p:spPr>
          <a:xfrm>
            <a:off x="731519" y="4074566"/>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AON</a:t>
            </a:r>
          </a:p>
        </p:txBody>
      </p:sp>
      <p:sp>
        <p:nvSpPr>
          <p:cNvPr id="71" name="TextBox 70"/>
          <p:cNvSpPr txBox="1"/>
          <p:nvPr/>
        </p:nvSpPr>
        <p:spPr>
          <a:xfrm>
            <a:off x="3200400" y="4074566"/>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Shorts Back 1</a:t>
            </a:r>
          </a:p>
        </p:txBody>
      </p:sp>
      <p:sp>
        <p:nvSpPr>
          <p:cNvPr id="72" name="TextBox 71"/>
          <p:cNvSpPr txBox="1"/>
          <p:nvPr/>
        </p:nvSpPr>
        <p:spPr>
          <a:xfrm>
            <a:off x="5413248" y="4074566"/>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73" name="TextBox 72"/>
          <p:cNvSpPr txBox="1"/>
          <p:nvPr/>
        </p:nvSpPr>
        <p:spPr>
          <a:xfrm>
            <a:off x="6830568" y="4074566"/>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6.42</a:t>
            </a:r>
          </a:p>
        </p:txBody>
      </p:sp>
      <p:sp>
        <p:nvSpPr>
          <p:cNvPr id="74" name="TextBox 73"/>
          <p:cNvSpPr txBox="1"/>
          <p:nvPr/>
        </p:nvSpPr>
        <p:spPr>
          <a:xfrm>
            <a:off x="8247888" y="4074566"/>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5.32</a:t>
            </a:r>
          </a:p>
        </p:txBody>
      </p:sp>
      <p:sp>
        <p:nvSpPr>
          <p:cNvPr id="75" name="TextBox 74"/>
          <p:cNvSpPr txBox="1"/>
          <p:nvPr/>
        </p:nvSpPr>
        <p:spPr>
          <a:xfrm>
            <a:off x="9573768" y="4074566"/>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5.87</a:t>
            </a:r>
          </a:p>
        </p:txBody>
      </p:sp>
      <p:sp>
        <p:nvSpPr>
          <p:cNvPr id="76" name="TextBox 75"/>
          <p:cNvSpPr txBox="1"/>
          <p:nvPr/>
        </p:nvSpPr>
        <p:spPr>
          <a:xfrm>
            <a:off x="10442448" y="4074566"/>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+2.87</a:t>
            </a:r>
          </a:p>
        </p:txBody>
      </p:sp>
      <p:sp>
        <p:nvSpPr>
          <p:cNvPr id="77" name="Rectangle 76"/>
          <p:cNvSpPr/>
          <p:nvPr/>
        </p:nvSpPr>
        <p:spPr>
          <a:xfrm>
            <a:off x="640080" y="4278477"/>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731519" y="4319625"/>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MNA Cladding</a:t>
            </a:r>
          </a:p>
        </p:txBody>
      </p:sp>
      <p:sp>
        <p:nvSpPr>
          <p:cNvPr id="79" name="TextBox 78"/>
          <p:cNvSpPr txBox="1"/>
          <p:nvPr/>
        </p:nvSpPr>
        <p:spPr>
          <a:xfrm>
            <a:off x="3200400" y="4319625"/>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Collar Bone</a:t>
            </a:r>
          </a:p>
        </p:txBody>
      </p:sp>
      <p:sp>
        <p:nvSpPr>
          <p:cNvPr id="80" name="TextBox 79"/>
          <p:cNvSpPr txBox="1"/>
          <p:nvPr/>
        </p:nvSpPr>
        <p:spPr>
          <a:xfrm>
            <a:off x="5413248" y="4319625"/>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8</a:t>
            </a:r>
          </a:p>
        </p:txBody>
      </p:sp>
      <p:sp>
        <p:nvSpPr>
          <p:cNvPr id="81" name="TextBox 80"/>
          <p:cNvSpPr txBox="1"/>
          <p:nvPr/>
        </p:nvSpPr>
        <p:spPr>
          <a:xfrm>
            <a:off x="6830568" y="4319625"/>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3.25</a:t>
            </a:r>
          </a:p>
        </p:txBody>
      </p:sp>
      <p:sp>
        <p:nvSpPr>
          <p:cNvPr id="82" name="TextBox 81"/>
          <p:cNvSpPr txBox="1"/>
          <p:nvPr/>
        </p:nvSpPr>
        <p:spPr>
          <a:xfrm>
            <a:off x="8247888" y="4319625"/>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3.38</a:t>
            </a:r>
          </a:p>
        </p:txBody>
      </p:sp>
      <p:sp>
        <p:nvSpPr>
          <p:cNvPr id="83" name="TextBox 82"/>
          <p:cNvSpPr txBox="1"/>
          <p:nvPr/>
        </p:nvSpPr>
        <p:spPr>
          <a:xfrm>
            <a:off x="9573768" y="4319625"/>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3.31</a:t>
            </a:r>
          </a:p>
        </p:txBody>
      </p:sp>
      <p:sp>
        <p:nvSpPr>
          <p:cNvPr id="84" name="TextBox 83"/>
          <p:cNvSpPr txBox="1"/>
          <p:nvPr/>
        </p:nvSpPr>
        <p:spPr>
          <a:xfrm>
            <a:off x="10442448" y="4319625"/>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-4.69</a:t>
            </a:r>
          </a:p>
        </p:txBody>
      </p:sp>
      <p:sp>
        <p:nvSpPr>
          <p:cNvPr id="85" name="TextBox 84"/>
          <p:cNvSpPr txBox="1"/>
          <p:nvPr/>
        </p:nvSpPr>
        <p:spPr>
          <a:xfrm>
            <a:off x="731519" y="4564684"/>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Ellgren</a:t>
            </a:r>
          </a:p>
        </p:txBody>
      </p:sp>
      <p:sp>
        <p:nvSpPr>
          <p:cNvPr id="86" name="TextBox 85"/>
          <p:cNvSpPr txBox="1"/>
          <p:nvPr/>
        </p:nvSpPr>
        <p:spPr>
          <a:xfrm>
            <a:off x="3200400" y="4564684"/>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Socks front</a:t>
            </a:r>
          </a:p>
        </p:txBody>
      </p:sp>
      <p:sp>
        <p:nvSpPr>
          <p:cNvPr id="87" name="TextBox 86"/>
          <p:cNvSpPr txBox="1"/>
          <p:nvPr/>
        </p:nvSpPr>
        <p:spPr>
          <a:xfrm>
            <a:off x="5413248" y="4564684"/>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1</a:t>
            </a:r>
          </a:p>
        </p:txBody>
      </p:sp>
      <p:sp>
        <p:nvSpPr>
          <p:cNvPr id="88" name="TextBox 87"/>
          <p:cNvSpPr txBox="1"/>
          <p:nvPr/>
        </p:nvSpPr>
        <p:spPr>
          <a:xfrm>
            <a:off x="6830568" y="456468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2.82</a:t>
            </a:r>
          </a:p>
        </p:txBody>
      </p:sp>
      <p:sp>
        <p:nvSpPr>
          <p:cNvPr id="89" name="TextBox 88"/>
          <p:cNvSpPr txBox="1"/>
          <p:nvPr/>
        </p:nvSpPr>
        <p:spPr>
          <a:xfrm>
            <a:off x="8247888" y="456468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2.22</a:t>
            </a:r>
          </a:p>
        </p:txBody>
      </p:sp>
      <p:sp>
        <p:nvSpPr>
          <p:cNvPr id="90" name="TextBox 89"/>
          <p:cNvSpPr txBox="1"/>
          <p:nvPr/>
        </p:nvSpPr>
        <p:spPr>
          <a:xfrm>
            <a:off x="9573768" y="4564684"/>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2.52</a:t>
            </a:r>
          </a:p>
        </p:txBody>
      </p:sp>
      <p:sp>
        <p:nvSpPr>
          <p:cNvPr id="91" name="TextBox 90"/>
          <p:cNvSpPr txBox="1"/>
          <p:nvPr/>
        </p:nvSpPr>
        <p:spPr>
          <a:xfrm>
            <a:off x="10442448" y="4564684"/>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+1.52</a:t>
            </a:r>
          </a:p>
        </p:txBody>
      </p:sp>
      <p:sp>
        <p:nvSpPr>
          <p:cNvPr id="92" name="Rectangle 91"/>
          <p:cNvSpPr/>
          <p:nvPr/>
        </p:nvSpPr>
        <p:spPr>
          <a:xfrm>
            <a:off x="640080" y="4768596"/>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731519" y="4809744"/>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EM Workwear</a:t>
            </a:r>
          </a:p>
        </p:txBody>
      </p:sp>
      <p:sp>
        <p:nvSpPr>
          <p:cNvPr id="94" name="TextBox 93"/>
          <p:cNvSpPr txBox="1"/>
          <p:nvPr/>
        </p:nvSpPr>
        <p:spPr>
          <a:xfrm>
            <a:off x="3200400" y="4809744"/>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Socks back</a:t>
            </a:r>
          </a:p>
        </p:txBody>
      </p:sp>
      <p:sp>
        <p:nvSpPr>
          <p:cNvPr id="95" name="TextBox 94"/>
          <p:cNvSpPr txBox="1"/>
          <p:nvPr/>
        </p:nvSpPr>
        <p:spPr>
          <a:xfrm>
            <a:off x="5413248" y="4809744"/>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1</a:t>
            </a:r>
          </a:p>
        </p:txBody>
      </p:sp>
      <p:sp>
        <p:nvSpPr>
          <p:cNvPr id="96" name="TextBox 95"/>
          <p:cNvSpPr txBox="1"/>
          <p:nvPr/>
        </p:nvSpPr>
        <p:spPr>
          <a:xfrm>
            <a:off x="6830568" y="480974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2.68</a:t>
            </a:r>
          </a:p>
        </p:txBody>
      </p:sp>
      <p:sp>
        <p:nvSpPr>
          <p:cNvPr id="97" name="TextBox 96"/>
          <p:cNvSpPr txBox="1"/>
          <p:nvPr/>
        </p:nvSpPr>
        <p:spPr>
          <a:xfrm>
            <a:off x="8247888" y="480974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2.05</a:t>
            </a:r>
          </a:p>
        </p:txBody>
      </p:sp>
      <p:sp>
        <p:nvSpPr>
          <p:cNvPr id="98" name="TextBox 97"/>
          <p:cNvSpPr txBox="1"/>
          <p:nvPr/>
        </p:nvSpPr>
        <p:spPr>
          <a:xfrm>
            <a:off x="9573768" y="4809744"/>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2.37</a:t>
            </a:r>
          </a:p>
        </p:txBody>
      </p:sp>
      <p:sp>
        <p:nvSpPr>
          <p:cNvPr id="99" name="TextBox 98"/>
          <p:cNvSpPr txBox="1"/>
          <p:nvPr/>
        </p:nvSpPr>
        <p:spPr>
          <a:xfrm>
            <a:off x="10442448" y="4809744"/>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+1.37</a:t>
            </a:r>
          </a:p>
        </p:txBody>
      </p:sp>
      <p:sp>
        <p:nvSpPr>
          <p:cNvPr id="100" name="TextBox 99"/>
          <p:cNvSpPr txBox="1"/>
          <p:nvPr/>
        </p:nvSpPr>
        <p:spPr>
          <a:xfrm>
            <a:off x="731519" y="5054803"/>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ATM Hospitality</a:t>
            </a:r>
          </a:p>
        </p:txBody>
      </p:sp>
      <p:sp>
        <p:nvSpPr>
          <p:cNvPr id="101" name="TextBox 100"/>
          <p:cNvSpPr txBox="1"/>
          <p:nvPr/>
        </p:nvSpPr>
        <p:spPr>
          <a:xfrm>
            <a:off x="3200400" y="5054803"/>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Sleeve 2</a:t>
            </a:r>
          </a:p>
        </p:txBody>
      </p:sp>
      <p:sp>
        <p:nvSpPr>
          <p:cNvPr id="102" name="TextBox 101"/>
          <p:cNvSpPr txBox="1"/>
          <p:nvPr/>
        </p:nvSpPr>
        <p:spPr>
          <a:xfrm>
            <a:off x="5413248" y="5054803"/>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11</a:t>
            </a:r>
          </a:p>
        </p:txBody>
      </p:sp>
      <p:sp>
        <p:nvSpPr>
          <p:cNvPr id="103" name="TextBox 102"/>
          <p:cNvSpPr txBox="1"/>
          <p:nvPr/>
        </p:nvSpPr>
        <p:spPr>
          <a:xfrm>
            <a:off x="6830568" y="5054803"/>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1.80</a:t>
            </a:r>
          </a:p>
        </p:txBody>
      </p:sp>
      <p:sp>
        <p:nvSpPr>
          <p:cNvPr id="104" name="TextBox 103"/>
          <p:cNvSpPr txBox="1"/>
          <p:nvPr/>
        </p:nvSpPr>
        <p:spPr>
          <a:xfrm>
            <a:off x="8247888" y="5054803"/>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2.53</a:t>
            </a:r>
          </a:p>
        </p:txBody>
      </p:sp>
      <p:sp>
        <p:nvSpPr>
          <p:cNvPr id="105" name="TextBox 104"/>
          <p:cNvSpPr txBox="1"/>
          <p:nvPr/>
        </p:nvSpPr>
        <p:spPr>
          <a:xfrm>
            <a:off x="9573768" y="5054803"/>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2.17</a:t>
            </a:r>
          </a:p>
        </p:txBody>
      </p:sp>
      <p:sp>
        <p:nvSpPr>
          <p:cNvPr id="106" name="TextBox 105"/>
          <p:cNvSpPr txBox="1"/>
          <p:nvPr/>
        </p:nvSpPr>
        <p:spPr>
          <a:xfrm>
            <a:off x="10442448" y="5054803"/>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-8.84</a:t>
            </a:r>
          </a:p>
        </p:txBody>
      </p:sp>
      <p:sp>
        <p:nvSpPr>
          <p:cNvPr id="107" name="Rectangle 106"/>
          <p:cNvSpPr/>
          <p:nvPr/>
        </p:nvSpPr>
        <p:spPr>
          <a:xfrm>
            <a:off x="640080" y="5258714"/>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731519" y="5299862"/>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MNA Support Services</a:t>
            </a:r>
          </a:p>
        </p:txBody>
      </p:sp>
      <p:sp>
        <p:nvSpPr>
          <p:cNvPr id="109" name="TextBox 108"/>
          <p:cNvSpPr txBox="1"/>
          <p:nvPr/>
        </p:nvSpPr>
        <p:spPr>
          <a:xfrm>
            <a:off x="3200400" y="5299862"/>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Collar Back</a:t>
            </a:r>
          </a:p>
        </p:txBody>
      </p:sp>
      <p:sp>
        <p:nvSpPr>
          <p:cNvPr id="110" name="TextBox 109"/>
          <p:cNvSpPr txBox="1"/>
          <p:nvPr/>
        </p:nvSpPr>
        <p:spPr>
          <a:xfrm>
            <a:off x="5413248" y="5299862"/>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8</a:t>
            </a:r>
          </a:p>
        </p:txBody>
      </p:sp>
      <p:sp>
        <p:nvSpPr>
          <p:cNvPr id="111" name="TextBox 110"/>
          <p:cNvSpPr txBox="1"/>
          <p:nvPr/>
        </p:nvSpPr>
        <p:spPr>
          <a:xfrm>
            <a:off x="6830568" y="529986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2.08</a:t>
            </a:r>
          </a:p>
        </p:txBody>
      </p:sp>
      <p:sp>
        <p:nvSpPr>
          <p:cNvPr id="112" name="TextBox 111"/>
          <p:cNvSpPr txBox="1"/>
          <p:nvPr/>
        </p:nvSpPr>
        <p:spPr>
          <a:xfrm>
            <a:off x="8247888" y="529986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2.23</a:t>
            </a:r>
          </a:p>
        </p:txBody>
      </p:sp>
      <p:sp>
        <p:nvSpPr>
          <p:cNvPr id="113" name="TextBox 112"/>
          <p:cNvSpPr txBox="1"/>
          <p:nvPr/>
        </p:nvSpPr>
        <p:spPr>
          <a:xfrm>
            <a:off x="9573768" y="5299862"/>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2.16</a:t>
            </a:r>
          </a:p>
        </p:txBody>
      </p:sp>
      <p:sp>
        <p:nvSpPr>
          <p:cNvPr id="114" name="TextBox 113"/>
          <p:cNvSpPr txBox="1"/>
          <p:nvPr/>
        </p:nvSpPr>
        <p:spPr>
          <a:xfrm>
            <a:off x="10442448" y="5299862"/>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-5.84</a:t>
            </a:r>
          </a:p>
        </p:txBody>
      </p:sp>
      <p:sp>
        <p:nvSpPr>
          <p:cNvPr id="115" name="TextBox 114"/>
          <p:cNvSpPr txBox="1"/>
          <p:nvPr/>
        </p:nvSpPr>
        <p:spPr>
          <a:xfrm>
            <a:off x="731519" y="5544921"/>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MCP</a:t>
            </a:r>
          </a:p>
        </p:txBody>
      </p:sp>
      <p:sp>
        <p:nvSpPr>
          <p:cNvPr id="116" name="TextBox 115"/>
          <p:cNvSpPr txBox="1"/>
          <p:nvPr/>
        </p:nvSpPr>
        <p:spPr>
          <a:xfrm>
            <a:off x="3200400" y="5544921"/>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Top Back</a:t>
            </a:r>
          </a:p>
        </p:txBody>
      </p:sp>
      <p:sp>
        <p:nvSpPr>
          <p:cNvPr id="117" name="TextBox 116"/>
          <p:cNvSpPr txBox="1"/>
          <p:nvPr/>
        </p:nvSpPr>
        <p:spPr>
          <a:xfrm>
            <a:off x="5413248" y="5544921"/>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5</a:t>
            </a:r>
          </a:p>
        </p:txBody>
      </p:sp>
      <p:sp>
        <p:nvSpPr>
          <p:cNvPr id="118" name="TextBox 117"/>
          <p:cNvSpPr txBox="1"/>
          <p:nvPr/>
        </p:nvSpPr>
        <p:spPr>
          <a:xfrm>
            <a:off x="6830568" y="554492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2.08</a:t>
            </a:r>
          </a:p>
        </p:txBody>
      </p:sp>
      <p:sp>
        <p:nvSpPr>
          <p:cNvPr id="119" name="TextBox 118"/>
          <p:cNvSpPr txBox="1"/>
          <p:nvPr/>
        </p:nvSpPr>
        <p:spPr>
          <a:xfrm>
            <a:off x="8247888" y="554492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2.23</a:t>
            </a:r>
          </a:p>
        </p:txBody>
      </p:sp>
      <p:sp>
        <p:nvSpPr>
          <p:cNvPr id="120" name="TextBox 119"/>
          <p:cNvSpPr txBox="1"/>
          <p:nvPr/>
        </p:nvSpPr>
        <p:spPr>
          <a:xfrm>
            <a:off x="9573768" y="5544921"/>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2.16</a:t>
            </a:r>
          </a:p>
        </p:txBody>
      </p:sp>
      <p:sp>
        <p:nvSpPr>
          <p:cNvPr id="121" name="TextBox 120"/>
          <p:cNvSpPr txBox="1"/>
          <p:nvPr/>
        </p:nvSpPr>
        <p:spPr>
          <a:xfrm>
            <a:off x="10442448" y="5544921"/>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-2.84</a:t>
            </a:r>
          </a:p>
        </p:txBody>
      </p:sp>
      <p:sp>
        <p:nvSpPr>
          <p:cNvPr id="122" name="Rectangle 121"/>
          <p:cNvSpPr/>
          <p:nvPr/>
        </p:nvSpPr>
        <p:spPr>
          <a:xfrm>
            <a:off x="640080" y="5748832"/>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731519" y="5789980"/>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Fairway</a:t>
            </a:r>
          </a:p>
        </p:txBody>
      </p:sp>
      <p:sp>
        <p:nvSpPr>
          <p:cNvPr id="124" name="TextBox 123"/>
          <p:cNvSpPr txBox="1"/>
          <p:nvPr/>
        </p:nvSpPr>
        <p:spPr>
          <a:xfrm>
            <a:off x="3200400" y="5789980"/>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Nape Neck</a:t>
            </a:r>
          </a:p>
        </p:txBody>
      </p:sp>
      <p:sp>
        <p:nvSpPr>
          <p:cNvPr id="125" name="TextBox 124"/>
          <p:cNvSpPr txBox="1"/>
          <p:nvPr/>
        </p:nvSpPr>
        <p:spPr>
          <a:xfrm>
            <a:off x="5413248" y="5789980"/>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126" name="TextBox 125"/>
          <p:cNvSpPr txBox="1"/>
          <p:nvPr/>
        </p:nvSpPr>
        <p:spPr>
          <a:xfrm>
            <a:off x="6830568" y="578998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2.08</a:t>
            </a:r>
          </a:p>
        </p:txBody>
      </p:sp>
      <p:sp>
        <p:nvSpPr>
          <p:cNvPr id="127" name="TextBox 126"/>
          <p:cNvSpPr txBox="1"/>
          <p:nvPr/>
        </p:nvSpPr>
        <p:spPr>
          <a:xfrm>
            <a:off x="8247888" y="578998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2.23</a:t>
            </a:r>
          </a:p>
        </p:txBody>
      </p:sp>
      <p:sp>
        <p:nvSpPr>
          <p:cNvPr id="128" name="TextBox 127"/>
          <p:cNvSpPr txBox="1"/>
          <p:nvPr/>
        </p:nvSpPr>
        <p:spPr>
          <a:xfrm>
            <a:off x="9573768" y="5789980"/>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2.16</a:t>
            </a:r>
          </a:p>
        </p:txBody>
      </p:sp>
      <p:sp>
        <p:nvSpPr>
          <p:cNvPr id="129" name="TextBox 128"/>
          <p:cNvSpPr txBox="1"/>
          <p:nvPr/>
        </p:nvSpPr>
        <p:spPr>
          <a:xfrm>
            <a:off x="10442448" y="5789980"/>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-0.84</a:t>
            </a:r>
          </a:p>
        </p:txBody>
      </p:sp>
      <p:sp>
        <p:nvSpPr>
          <p:cNvPr id="130" name="TextBox 129"/>
          <p:cNvSpPr txBox="1"/>
          <p:nvPr/>
        </p:nvSpPr>
        <p:spPr>
          <a:xfrm>
            <a:off x="731519" y="6035040"/>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Romantica</a:t>
            </a:r>
          </a:p>
        </p:txBody>
      </p:sp>
      <p:sp>
        <p:nvSpPr>
          <p:cNvPr id="131" name="TextBox 130"/>
          <p:cNvSpPr txBox="1"/>
          <p:nvPr/>
        </p:nvSpPr>
        <p:spPr>
          <a:xfrm>
            <a:off x="3200400" y="6035040"/>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Chest (opp Badge)</a:t>
            </a:r>
          </a:p>
        </p:txBody>
      </p:sp>
      <p:sp>
        <p:nvSpPr>
          <p:cNvPr id="132" name="TextBox 131"/>
          <p:cNvSpPr txBox="1"/>
          <p:nvPr/>
        </p:nvSpPr>
        <p:spPr>
          <a:xfrm>
            <a:off x="5413248" y="6035040"/>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7</a:t>
            </a:r>
          </a:p>
        </p:txBody>
      </p:sp>
      <p:sp>
        <p:nvSpPr>
          <p:cNvPr id="133" name="TextBox 132"/>
          <p:cNvSpPr txBox="1"/>
          <p:nvPr/>
        </p:nvSpPr>
        <p:spPr>
          <a:xfrm>
            <a:off x="6830568" y="603504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1.77</a:t>
            </a:r>
          </a:p>
        </p:txBody>
      </p:sp>
      <p:sp>
        <p:nvSpPr>
          <p:cNvPr id="134" name="TextBox 133"/>
          <p:cNvSpPr txBox="1"/>
          <p:nvPr/>
        </p:nvSpPr>
        <p:spPr>
          <a:xfrm>
            <a:off x="8247888" y="603504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2.41</a:t>
            </a:r>
          </a:p>
        </p:txBody>
      </p:sp>
      <p:sp>
        <p:nvSpPr>
          <p:cNvPr id="135" name="TextBox 134"/>
          <p:cNvSpPr txBox="1"/>
          <p:nvPr/>
        </p:nvSpPr>
        <p:spPr>
          <a:xfrm>
            <a:off x="9573768" y="6035040"/>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2.09</a:t>
            </a:r>
          </a:p>
        </p:txBody>
      </p:sp>
      <p:sp>
        <p:nvSpPr>
          <p:cNvPr id="136" name="TextBox 135"/>
          <p:cNvSpPr txBox="1"/>
          <p:nvPr/>
        </p:nvSpPr>
        <p:spPr>
          <a:xfrm>
            <a:off x="10442448" y="6035040"/>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-4.91</a:t>
            </a:r>
          </a:p>
        </p:txBody>
      </p:sp>
      <p:sp>
        <p:nvSpPr>
          <p:cNvPr id="137" name="TextBox 136"/>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138" name="TextBox 137"/>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