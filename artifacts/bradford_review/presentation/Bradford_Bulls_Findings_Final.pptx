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bd937ad1f664392" /><Relationship Type="http://schemas.openxmlformats.org/officeDocument/2006/relationships/extended-properties" Target="/docProps/app.xml" Id="Re5da7773093447fa" /><Relationship Type="http://schemas.openxmlformats.org/officeDocument/2006/relationships/officeDocument" Target="/ppt/presentation.xml" Id="R9fcbabe8ee4547c4" /></Relationships>
</file>

<file path=ppt/presentation.xml><?xml version="1.0" encoding="utf-8"?>
<p:presentation xmlns:p="http://schemas.openxmlformats.org/presentationml/2006/main">
  <p:sldMasterIdLst>
    <p:sldMasterId xmlns:r="http://schemas.openxmlformats.org/officeDocument/2006/relationships" id="2147483648" r:id="Rfdd980a33a824399"/>
  </p:sldMasterIdLst>
  <p:notesMasterIdLst>
    <p:notesMasterId xmlns:r="http://schemas.openxmlformats.org/officeDocument/2006/relationships" r:id="R0b65395b230d4d9e"/>
  </p:notesMasterIdLst>
  <p:sldIdLst>
    <p:sldId xmlns:r="http://schemas.openxmlformats.org/officeDocument/2006/relationships" id="256" r:id="Refe759d676a14d1a"/>
    <p:sldId xmlns:r="http://schemas.openxmlformats.org/officeDocument/2006/relationships" id="257" r:id="R681f1ad6623b4452"/>
    <p:sldId xmlns:r="http://schemas.openxmlformats.org/officeDocument/2006/relationships" id="258" r:id="R753ef7d4b0214fcd"/>
    <p:sldId xmlns:r="http://schemas.openxmlformats.org/officeDocument/2006/relationships" id="259" r:id="Re398fdaa45d84771"/>
    <p:sldId xmlns:r="http://schemas.openxmlformats.org/officeDocument/2006/relationships" id="260" r:id="R637d5ab30ba243d8"/>
    <p:sldId xmlns:r="http://schemas.openxmlformats.org/officeDocument/2006/relationships" id="261" r:id="R26a7f0b6511547f6"/>
    <p:sldId xmlns:r="http://schemas.openxmlformats.org/officeDocument/2006/relationships" id="262" r:id="R9ac84048753e43d7"/>
    <p:sldId xmlns:r="http://schemas.openxmlformats.org/officeDocument/2006/relationships" id="263" r:id="R9dcbf2d693094baf"/>
    <p:sldId xmlns:r="http://schemas.openxmlformats.org/officeDocument/2006/relationships" id="264" r:id="Rc35a3bcf2cac48d7"/>
    <p:sldId xmlns:r="http://schemas.openxmlformats.org/officeDocument/2006/relationships" id="265" r:id="R4f7c2410c5864b64"/>
    <p:sldId xmlns:r="http://schemas.openxmlformats.org/officeDocument/2006/relationships" id="266" r:id="R9c4fa7b159f74826"/>
    <p:sldId xmlns:r="http://schemas.openxmlformats.org/officeDocument/2006/relationships" id="267" r:id="Rb3d95df0cab54d31"/>
    <p:sldId xmlns:r="http://schemas.openxmlformats.org/officeDocument/2006/relationships" id="268" r:id="R4712899769b54709"/>
    <p:sldId xmlns:r="http://schemas.openxmlformats.org/officeDocument/2006/relationships" id="269" r:id="Rc62a2d16a1934eb6"/>
    <p:sldId xmlns:r="http://schemas.openxmlformats.org/officeDocument/2006/relationships" id="270" r:id="R48d9727b29264227"/>
    <p:sldId xmlns:r="http://schemas.openxmlformats.org/officeDocument/2006/relationships" id="271" r:id="R2eeb8b6263d04d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a02fb8fcbb4b18" /><Relationship Type="http://schemas.openxmlformats.org/officeDocument/2006/relationships/slideMaster" Target="/ppt/slideMasters/slideMaster1.xml" Id="Rfdd980a33a824399" /><Relationship Type="http://schemas.openxmlformats.org/officeDocument/2006/relationships/notesMaster" Target="/ppt/notesMasters/notesMaster1.xml" Id="R0b65395b230d4d9e" /><Relationship Type="http://schemas.openxmlformats.org/officeDocument/2006/relationships/presProps" Target="/ppt/presProps.xml" Id="Rb2ccdc4101374fa9" /><Relationship Type="http://schemas.openxmlformats.org/officeDocument/2006/relationships/tableStyles" Target="/ppt/tableStyles.xml" Id="R8876ec2f7c674c0a" /><Relationship Type="http://schemas.openxmlformats.org/officeDocument/2006/relationships/slide" Target="/ppt/slides/slide1.xml" Id="Refe759d676a14d1a" /><Relationship Type="http://schemas.openxmlformats.org/officeDocument/2006/relationships/slide" Target="/ppt/slides/slide2.xml" Id="R681f1ad6623b4452" /><Relationship Type="http://schemas.openxmlformats.org/officeDocument/2006/relationships/slide" Target="/ppt/slides/slide3.xml" Id="R753ef7d4b0214fcd" /><Relationship Type="http://schemas.openxmlformats.org/officeDocument/2006/relationships/slide" Target="/ppt/slides/slide4.xml" Id="Re398fdaa45d84771" /><Relationship Type="http://schemas.openxmlformats.org/officeDocument/2006/relationships/slide" Target="/ppt/slides/slide5.xml" Id="R637d5ab30ba243d8" /><Relationship Type="http://schemas.openxmlformats.org/officeDocument/2006/relationships/slide" Target="/ppt/slides/slide6.xml" Id="R26a7f0b6511547f6" /><Relationship Type="http://schemas.openxmlformats.org/officeDocument/2006/relationships/slide" Target="/ppt/slides/slide7.xml" Id="R9ac84048753e43d7" /><Relationship Type="http://schemas.openxmlformats.org/officeDocument/2006/relationships/slide" Target="/ppt/slides/slide8.xml" Id="R9dcbf2d693094baf" /><Relationship Type="http://schemas.openxmlformats.org/officeDocument/2006/relationships/slide" Target="/ppt/slides/slide9.xml" Id="Rc35a3bcf2cac48d7" /><Relationship Type="http://schemas.openxmlformats.org/officeDocument/2006/relationships/slide" Target="/ppt/slides/slide10.xml" Id="R4f7c2410c5864b64" /><Relationship Type="http://schemas.openxmlformats.org/officeDocument/2006/relationships/slide" Target="/ppt/slides/slide11.xml" Id="R9c4fa7b159f74826" /><Relationship Type="http://schemas.openxmlformats.org/officeDocument/2006/relationships/slide" Target="/ppt/slides/slide12.xml" Id="Rb3d95df0cab54d31" /><Relationship Type="http://schemas.openxmlformats.org/officeDocument/2006/relationships/slide" Target="/ppt/slides/slide13.xml" Id="R4712899769b54709" /><Relationship Type="http://schemas.openxmlformats.org/officeDocument/2006/relationships/slide" Target="/ppt/slides/slide14.xml" Id="Rc62a2d16a1934eb6" /><Relationship Type="http://schemas.openxmlformats.org/officeDocument/2006/relationships/slide" Target="/ppt/slides/slide15.xml" Id="R48d9727b29264227" /><Relationship Type="http://schemas.openxmlformats.org/officeDocument/2006/relationships/slide" Target="/ppt/slides/slide16.xml" Id="R2eeb8b6263d04d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e19130744e46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ebf2927f4545f9" /><Relationship Type="http://schemas.openxmlformats.org/officeDocument/2006/relationships/notesMaster" Target="/ppt/notesMasters/notesMaster1.xml" Id="Rc84b2be1158648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56f5b06f0a43bf" /><Relationship Type="http://schemas.openxmlformats.org/officeDocument/2006/relationships/notesMaster" Target="/ppt/notesMasters/notesMaster1.xml" Id="Ra82724c38d4844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d3d26c0bb047f5" /><Relationship Type="http://schemas.openxmlformats.org/officeDocument/2006/relationships/notesMaster" Target="/ppt/notesMasters/notesMaster1.xml" Id="Ra3591b7a365f4e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acfa52de224ad6" /><Relationship Type="http://schemas.openxmlformats.org/officeDocument/2006/relationships/notesMaster" Target="/ppt/notesMasters/notesMaster1.xml" Id="Re059bc76aa7e4e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b9bebf870145a5" /><Relationship Type="http://schemas.openxmlformats.org/officeDocument/2006/relationships/notesMaster" Target="/ppt/notesMasters/notesMaster1.xml" Id="R493af8f437cd41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0166659f7945f7" /><Relationship Type="http://schemas.openxmlformats.org/officeDocument/2006/relationships/notesMaster" Target="/ppt/notesMasters/notesMaster1.xml" Id="Rd03982a5a7a84a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de8b93d23c485d" /><Relationship Type="http://schemas.openxmlformats.org/officeDocument/2006/relationships/notesMaster" Target="/ppt/notesMasters/notesMaster1.xml" Id="Ra665f195ff2741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2a9f251b0b4985" /><Relationship Type="http://schemas.openxmlformats.org/officeDocument/2006/relationships/notesMaster" Target="/ppt/notesMasters/notesMaster1.xml" Id="Ra4279130278740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5d7f99949f4f45" /><Relationship Type="http://schemas.openxmlformats.org/officeDocument/2006/relationships/notesMaster" Target="/ppt/notesMasters/notesMaster1.xml" Id="Rcc7f85556de14c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99e55c690f49ff" /><Relationship Type="http://schemas.openxmlformats.org/officeDocument/2006/relationships/notesMaster" Target="/ppt/notesMasters/notesMaster1.xml" Id="Rea6f916f0c0d4e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f38a6ba98b46f3" /><Relationship Type="http://schemas.openxmlformats.org/officeDocument/2006/relationships/notesMaster" Target="/ppt/notesMasters/notesMaster1.xml" Id="Re36f7ca5bb9242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95d4fed0244455" /><Relationship Type="http://schemas.openxmlformats.org/officeDocument/2006/relationships/notesMaster" Target="/ppt/notesMasters/notesMaster1.xml" Id="R4d9cd0bc6b9145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a97f8f5aa84533" /><Relationship Type="http://schemas.openxmlformats.org/officeDocument/2006/relationships/notesMaster" Target="/ppt/notesMasters/notesMaster1.xml" Id="Rf0266bc12f9244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d3aed35eed64fa1" /><Relationship Type="http://schemas.openxmlformats.org/officeDocument/2006/relationships/notesMaster" Target="/ppt/notesMasters/notesMaster1.xml" Id="R231775c5d22a4c2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c4e31caadcc4c28" /><Relationship Type="http://schemas.openxmlformats.org/officeDocument/2006/relationships/notesMaster" Target="/ppt/notesMasters/notesMaster1.xml" Id="R06725e0b1338443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53c659f00fd44f3" /><Relationship Type="http://schemas.openxmlformats.org/officeDocument/2006/relationships/notesMaster" Target="/ppt/notesMasters/notesMaster1.xml" Id="Rdec6266026df44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from local code execution and stored analyses. All match screenshots are extracted from real footage. Demo source: M08_white_1080p.mp4. No synthetic detection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stored_evidence.json; backend/data/app.db, analyses 7451009139ba and 26d98363c4bd. AI shares recomputed using current location mapping and criteria size, position, confidence, OBB, durationWeight. These are exposure shares, not price recommendations. Stored matches were not rerun after the CV fixes.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values are user-configured weights in location_configs, not verified club prices or manual logo ground truth. Raw weights sum to 95 and are normalised in charts. Never interpret the difference as an accuracy error or a direct price multiplier.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{"source":"stored_evidence.json and slide_data.json","imageDetection":{"t":0,"class_id":15,"raw_name":"top_notch_home","brand_key":"top_notch","brand_name":"Top Notch","conf":0.8215709328651428,"xyxy":[1074.7969970703125,424.54473876953125,1235.0103759765625,508.45733642578125],"track_id":2,"frame_w":1280,"frame_h":720,"visibility":0.015218406402116665,"f_size":0.12077908625751832,"f_pos":0.15336715888633665,"f_clarity":0.8215709328651428,"f_obb":1,"body_zone":null,"on_target_team":false,"frame":0,"source_time":18,"owner_state":"uncertain","clip":"wide"},"locationIds":["main-sponsor","collar-bone","chest-opp-badge"],"limitation":"Placement labels and brand mapping need club verification. Detection crop illustrates the named sponsor, not a manual validation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{"source":"stored_evidence.json and slide_data.json","imageDetection":{"t":0.08,"class_id":10,"raw_name":"mcp_home","brand_key":"mcp","brand_name":"MCP","conf":0.8727134466171265,"xyxy":[68.01496887207031,502.6488037109375,170.75552368164062,558.3194580078125],"track_id":5,"frame_w":1280,"frame_h":720,"visibility":0.00898260304874364,"f_size":0.07877943886664306,"f_pos":0.13065247992550794,"f_clarity":0.8727134466171265,"f_obb":1,"body_zone":null,"on_target_team":false,"frame":2,"source_time":18.08,"owner_state":"uncertain","clip":"wide"},"locationIds":["collar-back","top-back","nape-neck","bottom-back"],"limitation":"Collar back, top back and nape neck map to back-top and share its measurement equally; these are not independently resolved slots."}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{"source":"stored_evidence.json and slide_data.json","imageDetection":{"t":4.84,"class_id":2,"raw_name":"atm_home","brand_key":"atm","brand_name":"ATM Hospitality","conf":0.7140549421310425,"xyxy":[614.124267578125,282.0216064453125,647.7210083007812,308.8848876953125],"track_id":111,"frame_w":1280,"frame_h":720,"visibility":0.02171076258979345,"f_size":0.03129369679520606,"f_pos":0.971597924902829,"f_clarity":0.7140549421310425,"f_obb":1,"body_zone":null,"on_target_team":true,"frame":121,"source_time":88.84,"owner_state":"target","clip":"tackle"},"locationIds":["sleeve-1","sleeve-2","sleeve-3"],"limitation":"Placement labels and brand mapping need club verification. Detection crop illustrates the named sponsor, not a manual validation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{"source":"stored_evidence.json and slide_data.json","imageDetection":{"t":5.32,"class_id":9,"raw_name":"klg_home","brand_key":"klg","brand_name":"KLG","conf":0.8097805976867676,"xyxy":[302.6059265136719,482.37860107421875,344.1864929199219,533.6095581054688],"track_id":135,"frame_w":1280,"frame_h":720,"visibility":0.01700491136168101,"f_size":0.04807731461118772,"f_pos":0.4367840830433849,"f_clarity":0.8097805976867676,"f_obb":1,"body_zone":null,"on_target_team":false,"frame":133,"source_time":23.32,"owner_state":"other","clip":"wide"},"locationIds":["top-back-shorts","shorts-front","shorts-back-1","shorts-back-2"],"limitation":"Placement labels and brand mapping need club verification. Detection crop illustrates the named sponsor, not a manual validation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CUDA run: build_club_demo.py. Images at demo frame 175, source offset 18 + 175/25 = 25 seconds. Video files wide_no_split.mp4 and wide_team_split.mp4. Boxes represent predictions, not verified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manifest.json and per-frame *_detections.json. Home-kit colour evidence with temporal votes and broadcast-cut resets. Rejected detections include opponents, unassigned logos and tracks without sufficient evidence under the current policy. No claim that all rejections are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tackle_body.mp4, generated with YOLO11x-seg and YOLO11x-pose, imgsz896, confidence0.35. Baseline dashboard defaults may use smaller models. Anatomical colour regions are not pixel-labelled ground truth and do not distinguish chest from back. Sponsor slot attribution is a separate pipeline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tackle_detections.json. For every retained bounding box, add 1/fps to covered screen pixels; Gaussian smoothing sigma25px; normalise to maximum for display. All-team anatomical pixel coverage is different from sponsor visibility. No homography or pitch coordinates are estimated.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backend/app/pipeline/visibility.py, exposure.py and location_breakdown.py. HBB models use OBB factor1. Duration segments depend on sampling and tracking. Confidence cannot establish human readability; no calibrated standalone occlusion metric is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runs/yolo26/matchsplit_896_m/results.csv, epoch22: precision .82631, recall .73073, mAP50 .85239, mAP50-95 .63865. args.yaml points to datasets/yolo_matchsplit/data.yaml. These are historical training validation logs; selected weights were used in demos but benchmark was not rerun in this session. No manual body-part or team ground truth was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conceptual flow diagram. Evidence files: manifest.json, wide_detections.json, tackle_detections.json, stored_evidence.json; runner backend/scripts/build_club_demo.py. Diagram is explanatory, not a generated match scene.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claim of perfect segmentation or production accuracy uplift. This revision fixes identified logic errors and passes regression tests, but a labelled rugby evaluation set is needed to quantify improvement. Cut detection is heuristic; calibrated pose-based ownership remains further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next commercial step: verify the club rate card and placement map, agree a manually labelled evaluation sample, then rerun complete matches with the reviewed pipeline before changing sponsorship prices.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3dad9f0bc14a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3b23fc4f0646e6" /><Relationship Type="http://schemas.openxmlformats.org/officeDocument/2006/relationships/slideLayout" Target="/ppt/slideLayouts/slideLayout1.xml" Id="Rb5d272d38ab64d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d272d38ab64d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35cdfd7b4145a0" /><Relationship Type="http://schemas.openxmlformats.org/officeDocument/2006/relationships/image" Target="/ppt/media/image.jpeg" Id="R55abb756c2bd4731" /><Relationship Type="http://schemas.openxmlformats.org/officeDocument/2006/relationships/notesSlide" Target="/ppt/notesSlides/notesSlide1.xml" Id="R315558e2170a44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aaff5678e94f4c" /><Relationship Type="http://schemas.openxmlformats.org/officeDocument/2006/relationships/chart" Target="/ppt/slides/charts/chart1.xml" Id="R2fed6be0ba4e4bc6" /><Relationship Type="http://schemas.openxmlformats.org/officeDocument/2006/relationships/notesSlide" Target="/ppt/notesSlides/notesSlide2.xml" Id="Rf85e9ff8613247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f20827471346b0" /><Relationship Type="http://schemas.openxmlformats.org/officeDocument/2006/relationships/notesSlide" Target="/ppt/notesSlides/notesSlide3.xml" Id="Rc6835675ba8c49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b36f0e41744e3a" /><Relationship Type="http://schemas.openxmlformats.org/officeDocument/2006/relationships/image" Target="/ppt/media/image2.jpeg" Id="Rc9d26a39f8a343d9" /><Relationship Type="http://schemas.openxmlformats.org/officeDocument/2006/relationships/chart" Target="/ppt/slides/charts/chart2.xml" Id="R32ca10aabb3346c5" /><Relationship Type="http://schemas.openxmlformats.org/officeDocument/2006/relationships/notesSlide" Target="/ppt/notesSlides/notesSlide4.xml" Id="Rc07dfe13b0a244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a55eaf41c9476f" /><Relationship Type="http://schemas.openxmlformats.org/officeDocument/2006/relationships/image" Target="/ppt/media/image3.jpeg" Id="Rc6f015610c884e10" /><Relationship Type="http://schemas.openxmlformats.org/officeDocument/2006/relationships/chart" Target="/ppt/slides/charts/chart3.xml" Id="R2caaac3e9a794852" /><Relationship Type="http://schemas.openxmlformats.org/officeDocument/2006/relationships/notesSlide" Target="/ppt/notesSlides/notesSlide5.xml" Id="Re93c1656abef43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eb0fc6d39f49b7" /><Relationship Type="http://schemas.openxmlformats.org/officeDocument/2006/relationships/image" Target="/ppt/media/image4.jpeg" Id="Rd5d326129c924072" /><Relationship Type="http://schemas.openxmlformats.org/officeDocument/2006/relationships/chart" Target="/ppt/slides/charts/chart4.xml" Id="R0dc3b8fa9fb34627" /><Relationship Type="http://schemas.openxmlformats.org/officeDocument/2006/relationships/notesSlide" Target="/ppt/notesSlides/notesSlide6.xml" Id="Rc09191d867924e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8d6a7bc48b446e" /><Relationship Type="http://schemas.openxmlformats.org/officeDocument/2006/relationships/image" Target="/ppt/media/image5.jpeg" Id="Rce485a58c23148f4" /><Relationship Type="http://schemas.openxmlformats.org/officeDocument/2006/relationships/chart" Target="/ppt/slides/charts/chart5.xml" Id="R043dba7b5bb24e4a" /><Relationship Type="http://schemas.openxmlformats.org/officeDocument/2006/relationships/notesSlide" Target="/ppt/notesSlides/notesSlide7.xml" Id="Ree09c2a11ada41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1878d1f8434842" /><Relationship Type="http://schemas.openxmlformats.org/officeDocument/2006/relationships/image" Target="/ppt/media/image6.jpeg" Id="R08769be90c134f7e" /><Relationship Type="http://schemas.openxmlformats.org/officeDocument/2006/relationships/image" Target="/ppt/media/image7.jpeg" Id="Ra92ab77d7f1640f3" /><Relationship Type="http://schemas.openxmlformats.org/officeDocument/2006/relationships/notesSlide" Target="/ppt/notesSlides/notesSlide8.xml" Id="R5891591bb2a74c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476450408a44da" /><Relationship Type="http://schemas.openxmlformats.org/officeDocument/2006/relationships/chart" Target="/ppt/slides/charts/chart6.xml" Id="R5706e96a200748af" /><Relationship Type="http://schemas.openxmlformats.org/officeDocument/2006/relationships/notesSlide" Target="/ppt/notesSlides/notesSlide9.xml" Id="Rbd021f8f79c843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e19aabf7ec497b" /><Relationship Type="http://schemas.openxmlformats.org/officeDocument/2006/relationships/image" Target="/ppt/media/image8.jpeg" Id="R68d15987e2df4c7b" /><Relationship Type="http://schemas.openxmlformats.org/officeDocument/2006/relationships/notesSlide" Target="/ppt/notesSlides/notesSlide10.xml" Id="R5ab4a878299c49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617eb99e7b64bbb" /><Relationship Type="http://schemas.openxmlformats.org/officeDocument/2006/relationships/image" Target="/ppt/media/image9.jpeg" Id="Reefe82bf27ea4612" /><Relationship Type="http://schemas.openxmlformats.org/officeDocument/2006/relationships/notesSlide" Target="/ppt/notesSlides/notesSlide11.xml" Id="Rbbdb9f463a6c41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081fbea4f242c3" /><Relationship Type="http://schemas.openxmlformats.org/officeDocument/2006/relationships/notesSlide" Target="/ppt/notesSlides/notesSlide12.xml" Id="Re2857295b00748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e9d0d66f3a64e98" /><Relationship Type="http://schemas.openxmlformats.org/officeDocument/2006/relationships/notesSlide" Target="/ppt/notesSlides/notesSlide13.xml" Id="R75bcf90ca07b42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6fcf9c530524cad" /><Relationship Type="http://schemas.openxmlformats.org/officeDocument/2006/relationships/notesSlide" Target="/ppt/notesSlides/notesSlide14.xml" Id="R4425dd38500742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6988923806248d3" /><Relationship Type="http://schemas.openxmlformats.org/officeDocument/2006/relationships/image" Target="/ppt/media/image10.jpeg" Id="Rab20dcb74a934fe5" /><Relationship Type="http://schemas.openxmlformats.org/officeDocument/2006/relationships/notesSlide" Target="/ppt/notesSlides/notesSlide15.xml" Id="R39b3ff49b612438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5754a13877b42c3" /><Relationship Type="http://schemas.openxmlformats.org/officeDocument/2006/relationships/notesSlide" Target="/ppt/notesSlides/notesSlide16.xml" Id="Rcc53930adeb741c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Human weight (normalised %)</c:v>
          </c:tx>
          <c:spPr>
            <a:solidFill xmlns:a="http://schemas.openxmlformats.org/drawingml/2006/main">
              <a:srgbClr val="626974"/>
            </a:solidFill>
          </c:spPr>
          <c:cat>
            <c:strRef>
              <c:f>'Chart Data'!$A$2:$A$3</c:f>
              <c:strCache>
                <c:ptCount val="2"/>
                <c:pt idx="0">
                  <c:v>Main sponsor</c:v>
                </c:pt>
                <c:pt idx="1">
                  <c:v>Top back shorts</c:v>
                </c:pt>
              </c:strCache>
            </c:strRef>
          </c:cat>
          <c:val>
            <c:numRef>
              <c:f>'Chart Data'!$B$2:$B$3</c:f>
              <c:numCache>
                <c:formatCode>0.0</c:formatCode>
                <c:ptCount val="2"/>
                <c:pt idx="0">
                  <c:v>27.37</c:v>
                </c:pt>
                <c:pt idx="1">
                  <c:v>5.26</c:v>
                </c:pt>
              </c:numCache>
            </c:numRef>
          </c:val>
        </c:ser>
        <c:ser>
          <c:idx val="1"/>
          <c:order val="1"/>
          <c:tx>
            <c:v>Match 1 AI share (%)</c:v>
          </c:tx>
          <c:spPr>
            <a:solidFill xmlns:a="http://schemas.openxmlformats.org/drawingml/2006/main">
              <a:srgbClr val="C51D32"/>
            </a:solidFill>
          </c:spPr>
          <c:cat>
            <c:strRef>
              <c:f>'Chart Data'!$C$2:$C$3</c:f>
              <c:strCache>
                <c:ptCount val="2"/>
                <c:pt idx="0">
                  <c:v>Main sponsor</c:v>
                </c:pt>
                <c:pt idx="1">
                  <c:v>Top back shorts</c:v>
                </c:pt>
              </c:strCache>
            </c:strRef>
          </c:cat>
          <c:val>
            <c:numRef>
              <c:f>'Chart Data'!$D$2:$D$3</c:f>
              <c:numCache>
                <c:formatCode>0.0</c:formatCode>
                <c:ptCount val="2"/>
                <c:pt idx="0">
                  <c:v>9.95</c:v>
                </c:pt>
                <c:pt idx="1">
                  <c:v>24.73</c:v>
                </c:pt>
              </c:numCache>
            </c:numRef>
          </c:val>
        </c:ser>
        <c:ser>
          <c:idx val="2"/>
          <c:order val="2"/>
          <c:tx>
            <c:v>Match 2 AI share (%)</c:v>
          </c:tx>
          <c:spPr>
            <a:solidFill xmlns:a="http://schemas.openxmlformats.org/drawingml/2006/main">
              <a:srgbClr val="D6A83F"/>
            </a:solidFill>
          </c:spPr>
          <c:cat>
            <c:strRef>
              <c:f>'Chart Data'!$E$2:$E$3</c:f>
              <c:strCache>
                <c:ptCount val="2"/>
                <c:pt idx="0">
                  <c:v>Main sponsor</c:v>
                </c:pt>
                <c:pt idx="1">
                  <c:v>Top back shorts</c:v>
                </c:pt>
              </c:strCache>
            </c:strRef>
          </c:cat>
          <c:val>
            <c:numRef>
              <c:f>'Chart Data'!$F$2:$F$3</c:f>
              <c:numCache>
                <c:formatCode>0.0</c:formatCode>
                <c:ptCount val="2"/>
                <c:pt idx="0">
                  <c:v>12.71</c:v>
                </c:pt>
                <c:pt idx="1">
                  <c:v>21.82</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Human normalised %</c:v>
          </c:tx>
          <c:spPr>
            <a:solidFill xmlns:a="http://schemas.openxmlformats.org/drawingml/2006/main">
              <a:srgbClr val="626974"/>
            </a:solidFill>
          </c:spPr>
          <c:cat>
            <c:strRef>
              <c:f>'Chart Data'!$A$2:$A$4</c:f>
              <c:strCache>
                <c:ptCount val="3"/>
                <c:pt idx="0">
                  <c:v>Main sponsor</c:v>
                </c:pt>
                <c:pt idx="1">
                  <c:v>Collar bone</c:v>
                </c:pt>
                <c:pt idx="2">
                  <c:v>Chest badge</c:v>
                </c:pt>
              </c:strCache>
            </c:strRef>
          </c:cat>
          <c:val>
            <c:numRef>
              <c:f>'Chart Data'!$B$2:$B$4</c:f>
              <c:numCache>
                <c:formatCode>0.0</c:formatCode>
                <c:ptCount val="3"/>
                <c:pt idx="0">
                  <c:v>27.37</c:v>
                </c:pt>
                <c:pt idx="1">
                  <c:v>8.42</c:v>
                </c:pt>
                <c:pt idx="2">
                  <c:v>7.37</c:v>
                </c:pt>
              </c:numCache>
            </c:numRef>
          </c:val>
        </c:ser>
        <c:ser>
          <c:idx val="1"/>
          <c:order val="1"/>
          <c:tx>
            <c:v>AI share %</c:v>
          </c:tx>
          <c:spPr>
            <a:solidFill xmlns:a="http://schemas.openxmlformats.org/drawingml/2006/main">
              <a:srgbClr val="C51D32"/>
            </a:solidFill>
          </c:spPr>
          <c:cat>
            <c:strRef>
              <c:f>'Chart Data'!$C$2:$C$4</c:f>
              <c:strCache>
                <c:ptCount val="3"/>
                <c:pt idx="0">
                  <c:v>Main sponsor</c:v>
                </c:pt>
                <c:pt idx="1">
                  <c:v>Collar bone</c:v>
                </c:pt>
                <c:pt idx="2">
                  <c:v>Chest badge</c:v>
                </c:pt>
              </c:strCache>
            </c:strRef>
          </c:cat>
          <c:val>
            <c:numRef>
              <c:f>'Chart Data'!$D$2:$D$4</c:f>
              <c:numCache>
                <c:formatCode>0.0</c:formatCode>
                <c:ptCount val="3"/>
                <c:pt idx="0">
                  <c:v>12.71</c:v>
                </c:pt>
                <c:pt idx="1">
                  <c:v>3.38</c:v>
                </c:pt>
                <c:pt idx="2">
                  <c:v>2.41</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Human normalised %</c:v>
          </c:tx>
          <c:spPr>
            <a:solidFill xmlns:a="http://schemas.openxmlformats.org/drawingml/2006/main">
              <a:srgbClr val="626974"/>
            </a:solidFill>
          </c:spPr>
          <c:cat>
            <c:strRef>
              <c:f>'Chart Data'!$A$2:$A$5</c:f>
              <c:strCache>
                <c:ptCount val="4"/>
                <c:pt idx="0">
                  <c:v>Collar back</c:v>
                </c:pt>
                <c:pt idx="1">
                  <c:v>Top back</c:v>
                </c:pt>
                <c:pt idx="2">
                  <c:v>Nape neck</c:v>
                </c:pt>
                <c:pt idx="3">
                  <c:v>Bottom back</c:v>
                </c:pt>
              </c:strCache>
            </c:strRef>
          </c:cat>
          <c:val>
            <c:numRef>
              <c:f>'Chart Data'!$B$2:$B$5</c:f>
              <c:numCache>
                <c:formatCode>0.0</c:formatCode>
                <c:ptCount val="4"/>
                <c:pt idx="0">
                  <c:v>8.42</c:v>
                </c:pt>
                <c:pt idx="1">
                  <c:v>5.26</c:v>
                </c:pt>
                <c:pt idx="2">
                  <c:v>3.16</c:v>
                </c:pt>
                <c:pt idx="3">
                  <c:v>3.16</c:v>
                </c:pt>
              </c:numCache>
            </c:numRef>
          </c:val>
        </c:ser>
        <c:ser>
          <c:idx val="1"/>
          <c:order val="1"/>
          <c:tx>
            <c:v>AI share %</c:v>
          </c:tx>
          <c:spPr>
            <a:solidFill xmlns:a="http://schemas.openxmlformats.org/drawingml/2006/main">
              <a:srgbClr val="C51D32"/>
            </a:solidFill>
          </c:spPr>
          <c:cat>
            <c:strRef>
              <c:f>'Chart Data'!$C$2:$C$5</c:f>
              <c:strCache>
                <c:ptCount val="4"/>
                <c:pt idx="0">
                  <c:v>Collar back</c:v>
                </c:pt>
                <c:pt idx="1">
                  <c:v>Top back</c:v>
                </c:pt>
                <c:pt idx="2">
                  <c:v>Nape neck</c:v>
                </c:pt>
                <c:pt idx="3">
                  <c:v>Bottom back</c:v>
                </c:pt>
              </c:strCache>
            </c:strRef>
          </c:cat>
          <c:val>
            <c:numRef>
              <c:f>'Chart Data'!$D$2:$D$5</c:f>
              <c:numCache>
                <c:formatCode>0.0</c:formatCode>
                <c:ptCount val="4"/>
                <c:pt idx="0">
                  <c:v>2.23</c:v>
                </c:pt>
                <c:pt idx="1">
                  <c:v>2.23</c:v>
                </c:pt>
                <c:pt idx="2">
                  <c:v>2.23</c:v>
                </c:pt>
                <c:pt idx="3">
                  <c:v>6.48</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Human normalised %</c:v>
          </c:tx>
          <c:spPr>
            <a:solidFill xmlns:a="http://schemas.openxmlformats.org/drawingml/2006/main">
              <a:srgbClr val="626974"/>
            </a:solidFill>
          </c:spPr>
          <c:cat>
            <c:strRef>
              <c:f>'Chart Data'!$A$2:$A$4</c:f>
              <c:strCache>
                <c:ptCount val="3"/>
                <c:pt idx="0">
                  <c:v>Sleeve 1</c:v>
                </c:pt>
                <c:pt idx="1">
                  <c:v>Sleeve 2</c:v>
                </c:pt>
                <c:pt idx="2">
                  <c:v>Sleeve 3</c:v>
                </c:pt>
              </c:strCache>
            </c:strRef>
          </c:cat>
          <c:val>
            <c:numRef>
              <c:f>'Chart Data'!$B$2:$B$4</c:f>
              <c:numCache>
                <c:formatCode>0.0</c:formatCode>
                <c:ptCount val="3"/>
                <c:pt idx="0">
                  <c:v>4.21</c:v>
                </c:pt>
                <c:pt idx="1">
                  <c:v>11.58</c:v>
                </c:pt>
                <c:pt idx="2">
                  <c:v>4.21</c:v>
                </c:pt>
              </c:numCache>
            </c:numRef>
          </c:val>
        </c:ser>
        <c:ser>
          <c:idx val="1"/>
          <c:order val="1"/>
          <c:tx>
            <c:v>AI share %</c:v>
          </c:tx>
          <c:spPr>
            <a:solidFill xmlns:a="http://schemas.openxmlformats.org/drawingml/2006/main">
              <a:srgbClr val="C51D32"/>
            </a:solidFill>
          </c:spPr>
          <c:cat>
            <c:strRef>
              <c:f>'Chart Data'!$C$2:$C$4</c:f>
              <c:strCache>
                <c:ptCount val="3"/>
                <c:pt idx="0">
                  <c:v>Sleeve 1</c:v>
                </c:pt>
                <c:pt idx="1">
                  <c:v>Sleeve 2</c:v>
                </c:pt>
                <c:pt idx="2">
                  <c:v>Sleeve 3</c:v>
                </c:pt>
              </c:strCache>
            </c:strRef>
          </c:cat>
          <c:val>
            <c:numRef>
              <c:f>'Chart Data'!$D$2:$D$4</c:f>
              <c:numCache>
                <c:formatCode>0.0</c:formatCode>
                <c:ptCount val="3"/>
                <c:pt idx="0">
                  <c:v>5.9</c:v>
                </c:pt>
                <c:pt idx="1">
                  <c:v>2.53</c:v>
                </c:pt>
                <c:pt idx="2">
                  <c:v>14.38</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Human normalised %</c:v>
          </c:tx>
          <c:spPr>
            <a:solidFill xmlns:a="http://schemas.openxmlformats.org/drawingml/2006/main">
              <a:srgbClr val="626974"/>
            </a:solidFill>
          </c:spPr>
          <c:cat>
            <c:strRef>
              <c:f>'Chart Data'!$A$2:$A$5</c:f>
              <c:strCache>
                <c:ptCount val="4"/>
                <c:pt idx="0">
                  <c:v>Top back</c:v>
                </c:pt>
                <c:pt idx="1">
                  <c:v>Front</c:v>
                </c:pt>
                <c:pt idx="2">
                  <c:v>Side 1</c:v>
                </c:pt>
                <c:pt idx="3">
                  <c:v>Side 2</c:v>
                </c:pt>
              </c:strCache>
            </c:strRef>
          </c:cat>
          <c:val>
            <c:numRef>
              <c:f>'Chart Data'!$B$2:$B$5</c:f>
              <c:numCache>
                <c:formatCode>0.0</c:formatCode>
                <c:ptCount val="4"/>
                <c:pt idx="0">
                  <c:v>5.26</c:v>
                </c:pt>
                <c:pt idx="1">
                  <c:v>3.16</c:v>
                </c:pt>
                <c:pt idx="2">
                  <c:v>3.16</c:v>
                </c:pt>
                <c:pt idx="3">
                  <c:v>3.16</c:v>
                </c:pt>
              </c:numCache>
            </c:numRef>
          </c:val>
        </c:ser>
        <c:ser>
          <c:idx val="1"/>
          <c:order val="1"/>
          <c:tx>
            <c:v>AI share %</c:v>
          </c:tx>
          <c:spPr>
            <a:solidFill xmlns:a="http://schemas.openxmlformats.org/drawingml/2006/main">
              <a:srgbClr val="C51D32"/>
            </a:solidFill>
          </c:spPr>
          <c:cat>
            <c:strRef>
              <c:f>'Chart Data'!$C$2:$C$5</c:f>
              <c:strCache>
                <c:ptCount val="4"/>
                <c:pt idx="0">
                  <c:v>Top back</c:v>
                </c:pt>
                <c:pt idx="1">
                  <c:v>Front</c:v>
                </c:pt>
                <c:pt idx="2">
                  <c:v>Side 1</c:v>
                </c:pt>
                <c:pt idx="3">
                  <c:v>Side 2</c:v>
                </c:pt>
              </c:strCache>
            </c:strRef>
          </c:cat>
          <c:val>
            <c:numRef>
              <c:f>'Chart Data'!$D$2:$D$5</c:f>
              <c:numCache>
                <c:formatCode>0.0</c:formatCode>
                <c:ptCount val="4"/>
                <c:pt idx="0">
                  <c:v>21.82</c:v>
                </c:pt>
                <c:pt idx="1">
                  <c:v>7.86</c:v>
                </c:pt>
                <c:pt idx="2">
                  <c:v>5.32</c:v>
                </c:pt>
                <c:pt idx="3">
                  <c:v>6.25</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All detected logos</c:v>
          </c:tx>
          <c:spPr>
            <a:solidFill xmlns:a="http://schemas.openxmlformats.org/drawingml/2006/main">
              <a:srgbClr val="626974"/>
            </a:solidFill>
          </c:spPr>
          <c:cat>
            <c:strRef>
              <c:f>'Chart Data'!$A$2:$A$3</c:f>
              <c:strCache>
                <c:ptCount val="2"/>
                <c:pt idx="0">
                  <c:v>Opening sequence (10 s)</c:v>
                </c:pt>
                <c:pt idx="1">
                  <c:v>Tackle sequence (12 s)</c:v>
                </c:pt>
              </c:strCache>
            </c:strRef>
          </c:cat>
          <c:val>
            <c:numRef>
              <c:f>'Chart Data'!$B$2:$B$3</c:f>
              <c:numCache>
                <c:formatCode>0.0</c:formatCode>
                <c:ptCount val="2"/>
                <c:pt idx="0">
                  <c:v>348</c:v>
                </c:pt>
                <c:pt idx="1">
                  <c:v>235</c:v>
                </c:pt>
              </c:numCache>
            </c:numRef>
          </c:val>
        </c:ser>
        <c:ser>
          <c:idx val="1"/>
          <c:order val="1"/>
          <c:tx>
            <c:v>Retained by team filter</c:v>
          </c:tx>
          <c:spPr>
            <a:solidFill xmlns:a="http://schemas.openxmlformats.org/drawingml/2006/main">
              <a:srgbClr val="C51D32"/>
            </a:solidFill>
          </c:spPr>
          <c:cat>
            <c:strRef>
              <c:f>'Chart Data'!$C$2:$C$3</c:f>
              <c:strCache>
                <c:ptCount val="2"/>
                <c:pt idx="0">
                  <c:v>Opening sequence (10 s)</c:v>
                </c:pt>
                <c:pt idx="1">
                  <c:v>Tackle sequence (12 s)</c:v>
                </c:pt>
              </c:strCache>
            </c:strRef>
          </c:cat>
          <c:val>
            <c:numRef>
              <c:f>'Chart Data'!$D$2:$D$3</c:f>
              <c:numCache>
                <c:formatCode>0.0</c:formatCode>
                <c:ptCount val="2"/>
                <c:pt idx="0">
                  <c:v>226</c:v>
                </c:pt>
                <c:pt idx="1">
                  <c:v>181</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1A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49DC67-0C8D-40A9-B6CE-4987BE82247F}"/>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Bradford Bulls</a:t>
            </a:r>
          </a:p>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Sponsor visibility in match footage</a:t>
            </a:r>
          </a:p>
        </p:txBody>
      </p:sp>
      <p:sp>
        <p:nvSpPr>
          <p:cNvPr id="2" name="">
            <a:extLst xmlns:a="http://schemas.openxmlformats.org/drawingml/2006/main">
              <a:ext uri="{FF2B5EF4-FFF2-40B4-BE49-F238E27FC236}">
                <a16:creationId xmlns:a16="http://schemas.microsoft.com/office/drawing/2014/main" id="{3548DAEC-D27F-465B-95FF-5921AB809685}"/>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7DC"/>
                </a:solidFill>
                <a:latin typeface="Arial"/>
                <a:ea typeface="Arial"/>
                <a:cs typeface="Arial"/>
              </a:defRPr>
            </a:pPr>
            <a:r>
              <a:rPr sz="1275" b="0">
                <a:solidFill>
                  <a:srgbClr val="D4D7DC"/>
                </a:solidFill>
                <a:latin typeface="Arial"/>
                <a:ea typeface="Arial"/>
                <a:cs typeface="Arial"/>
              </a:rPr>
              <a:t>Findings, practical demos and sponsorship decisions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5abb756c2bd4731"/>
          <a:stretch xmlns:a="http://schemas.openxmlformats.org/drawingml/2006/main"/>
        </p:blipFill>
        <p:spPr>
          <a:xfrm xmlns:a="http://schemas.openxmlformats.org/drawingml/2006/main">
            <a:off x="4492625" y="1524000"/>
            <a:ext cx="7112000" cy="4000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96FC8C-9804-4C1E-9D28-A49F57548EC8}"/>
              </a:ext>
            </a:extLst>
          </p:cNvPr>
          <p:cNvSpPr>
            <a:spLocks xmlns:a="http://schemas.openxmlformats.org/drawingml/2006/main" noGrp="1"/>
          </p:cNvSpPr>
          <p:nvPr/>
        </p:nvSpPr>
        <p:spPr>
          <a:xfrm xmlns:a="http://schemas.openxmlformats.org/drawingml/2006/main">
            <a:off x="571500" y="2428875"/>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LogoLens</a:t>
            </a:r>
          </a:p>
        </p:txBody>
      </p:sp>
      <p:sp>
        <p:nvSpPr>
          <p:cNvPr id="5" name="">
            <a:extLst xmlns:a="http://schemas.openxmlformats.org/drawingml/2006/main">
              <a:ext uri="{FF2B5EF4-FFF2-40B4-BE49-F238E27FC236}">
                <a16:creationId xmlns:a16="http://schemas.microsoft.com/office/drawing/2014/main" id="{4F662DA4-B320-484A-B503-B4BD39B10159}"/>
              </a:ext>
            </a:extLst>
          </p:cNvPr>
          <p:cNvSpPr>
            <a:spLocks xmlns:a="http://schemas.openxmlformats.org/drawingml/2006/main" noGrp="1"/>
          </p:cNvSpPr>
          <p:nvPr/>
        </p:nvSpPr>
        <p:spPr>
          <a:xfrm xmlns:a="http://schemas.openxmlformats.org/drawingml/2006/main">
            <a:off x="571500" y="3400425"/>
            <a:ext cx="3762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Evidence from the kit</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to the sponsor conversation</a:t>
            </a:r>
          </a:p>
        </p:txBody>
      </p:sp>
    </p:spTree>
    <p:extLst>
      <p:ext uri="{BB962C8B-B14F-4D97-AF65-F5344CB8AC3E}">
        <p14:creationId xmlns:p14="http://schemas.microsoft.com/office/powerpoint/2010/main" val="15109178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154DE33-260A-42A3-BBC9-3BBA2DE1EE18}"/>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Shorts exposure exceeds its configured weight</a:t>
            </a:r>
          </a:p>
        </p:txBody>
      </p:sp>
      <p:sp>
        <p:nvSpPr>
          <p:cNvPr id="2" name="">
            <a:extLst xmlns:a="http://schemas.openxmlformats.org/drawingml/2006/main">
              <a:ext uri="{FF2B5EF4-FFF2-40B4-BE49-F238E27FC236}">
                <a16:creationId xmlns:a16="http://schemas.microsoft.com/office/drawing/2014/main" id="{513277A9-17FC-4AC8-B053-263DC069C196}"/>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Historical saved analyses, before this revision. Human weights normalised from a total of 95.</a:t>
            </a:r>
          </a:p>
        </p:txBody>
      </p:sp>
      <p:graphicFrame>
        <p:nvGraphicFramePr>
          <p:cNvPr id="6" name="Chart"/>
          <p:cNvGraphicFramePr/>
          <p:nvPr/>
        </p:nvGraphicFramePr>
        <p:xfrm>
          <a:off xmlns:a="http://schemas.openxmlformats.org/drawingml/2006/main" x="666750" y="1571625"/>
          <a:ext xmlns:a="http://schemas.openxmlformats.org/drawingml/2006/main" cx="10668000" cy="4000500"/>
        </p:xfrm>
        <a:graphic xmlns:a="http://schemas.openxmlformats.org/drawingml/2006/main">
          <a:graphicData uri="http://schemas.openxmlformats.org/drawingml/2006/chart">
            <c:chart xmlns:r="http://schemas.openxmlformats.org/officeDocument/2006/relationships" xmlns:c="http://schemas.openxmlformats.org/drawingml/2006/chart" r:id="R2fed6be0ba4e4bc6"/>
          </a:graphicData>
        </a:graphic>
      </p:graphicFrame>
    </p:spTree>
    <p:extLst>
      <p:ext uri="{BB962C8B-B14F-4D97-AF65-F5344CB8AC3E}">
        <p14:creationId xmlns:p14="http://schemas.microsoft.com/office/powerpoint/2010/main" val="5274507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40E67A-1053-4EF9-A37A-A18644F15DF5}"/>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The comparison measures exposure, not contract value</a:t>
            </a:r>
          </a:p>
        </p:txBody>
      </p:sp>
      <p:sp>
        <p:nvSpPr>
          <p:cNvPr id="2" name="">
            <a:extLst xmlns:a="http://schemas.openxmlformats.org/drawingml/2006/main">
              <a:ext uri="{FF2B5EF4-FFF2-40B4-BE49-F238E27FC236}">
                <a16:creationId xmlns:a16="http://schemas.microsoft.com/office/drawing/2014/main" id="{DB5BFA00-AA6F-433C-A9FD-1B2D871101F0}"/>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No verified rate card or frame-level manual audit is available in the repository.</a:t>
            </a:r>
          </a:p>
        </p:txBody>
      </p:sp>
      <p:sp>
        <p:nvSpPr>
          <p:cNvPr id="3" name="">
            <a:extLst xmlns:a="http://schemas.openxmlformats.org/drawingml/2006/main">
              <a:ext uri="{FF2B5EF4-FFF2-40B4-BE49-F238E27FC236}">
                <a16:creationId xmlns:a16="http://schemas.microsoft.com/office/drawing/2014/main" id="{014BA31A-567E-42C0-A224-1E47B98BB5F9}"/>
              </a:ext>
            </a:extLst>
          </p:cNvPr>
          <p:cNvSpPr>
            <a:spLocks xmlns:a="http://schemas.openxmlformats.org/drawingml/2006/main" noGrp="1"/>
          </p:cNvSpPr>
          <p:nvPr/>
        </p:nvSpPr>
        <p:spPr>
          <a:xfrm xmlns:a="http://schemas.openxmlformats.org/drawingml/2006/main">
            <a:off x="666750" y="1714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1A20"/>
                </a:solidFill>
                <a:latin typeface="Arial"/>
                <a:ea typeface="Arial"/>
                <a:cs typeface="Arial"/>
              </a:defRPr>
            </a:pPr>
            <a:r>
              <a:rPr sz="2400" b="1">
                <a:solidFill>
                  <a:srgbClr val="161A20"/>
                </a:solidFill>
                <a:latin typeface="Arial"/>
                <a:ea typeface="Arial"/>
                <a:cs typeface="Arial"/>
              </a:rPr>
              <a:t>Human reference</a:t>
            </a:r>
          </a:p>
        </p:txBody>
      </p:sp>
      <p:sp>
        <p:nvSpPr>
          <p:cNvPr id="4" name="">
            <a:extLst xmlns:a="http://schemas.openxmlformats.org/drawingml/2006/main">
              <a:ext uri="{FF2B5EF4-FFF2-40B4-BE49-F238E27FC236}">
                <a16:creationId xmlns:a16="http://schemas.microsoft.com/office/drawing/2014/main" id="{1919D39C-BB0E-4B4D-8DFC-79EBA402D8C4}"/>
              </a:ext>
            </a:extLst>
          </p:cNvPr>
          <p:cNvSpPr>
            <a:spLocks xmlns:a="http://schemas.openxmlformats.org/drawingml/2006/main" noGrp="1"/>
          </p:cNvSpPr>
          <p:nvPr/>
        </p:nvSpPr>
        <p:spPr>
          <a:xfrm xmlns:a="http://schemas.openxmlformats.org/drawingml/2006/main">
            <a:off x="666750" y="23812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1A20"/>
                </a:solidFill>
                <a:latin typeface="Arial"/>
                <a:ea typeface="Arial"/>
                <a:cs typeface="Arial"/>
              </a:defRPr>
            </a:pPr>
            <a:r>
              <a:rPr sz="2175" b="0">
                <a:solidFill>
                  <a:srgbClr val="161A20"/>
                </a:solidFill>
                <a:latin typeface="Arial"/>
                <a:ea typeface="Arial"/>
                <a:cs typeface="Arial"/>
              </a:rPr>
              <a:t>Configured location weights</a:t>
            </a:r>
          </a:p>
          <a:p xmlns:a="http://schemas.openxmlformats.org/drawingml/2006/main">
            <a:pPr>
              <a:defRPr sz="2175" b="0">
                <a:solidFill>
                  <a:srgbClr val="161A20"/>
                </a:solidFill>
                <a:latin typeface="Arial"/>
                <a:ea typeface="Arial"/>
                <a:cs typeface="Arial"/>
              </a:defRPr>
            </a:pPr>
            <a:r>
              <a:rPr sz="2175" b="0">
                <a:solidFill>
                  <a:srgbClr val="161A20"/>
                </a:solidFill>
                <a:latin typeface="Arial"/>
                <a:ea typeface="Arial"/>
                <a:cs typeface="Arial"/>
              </a:rPr>
              <a:t>Main sponsor: 26</a:t>
            </a:r>
          </a:p>
          <a:p xmlns:a="http://schemas.openxmlformats.org/drawingml/2006/main">
            <a:pPr>
              <a:defRPr sz="2175" b="0">
                <a:solidFill>
                  <a:srgbClr val="161A20"/>
                </a:solidFill>
                <a:latin typeface="Arial"/>
                <a:ea typeface="Arial"/>
                <a:cs typeface="Arial"/>
              </a:defRPr>
            </a:pPr>
            <a:r>
              <a:rPr sz="2175" b="0">
                <a:solidFill>
                  <a:srgbClr val="161A20"/>
                </a:solidFill>
                <a:latin typeface="Arial"/>
                <a:ea typeface="Arial"/>
                <a:cs typeface="Arial"/>
              </a:rPr>
              <a:t>Top back shorts: 5</a:t>
            </a:r>
          </a:p>
        </p:txBody>
      </p:sp>
      <p:sp>
        <p:nvSpPr>
          <p:cNvPr id="5" name="">
            <a:extLst xmlns:a="http://schemas.openxmlformats.org/drawingml/2006/main">
              <a:ext uri="{FF2B5EF4-FFF2-40B4-BE49-F238E27FC236}">
                <a16:creationId xmlns:a16="http://schemas.microsoft.com/office/drawing/2014/main" id="{B8B906AB-CF33-4244-9149-C522B2E4F28F}"/>
              </a:ext>
            </a:extLst>
          </p:cNvPr>
          <p:cNvSpPr>
            <a:spLocks xmlns:a="http://schemas.openxmlformats.org/drawingml/2006/main" noGrp="1"/>
          </p:cNvSpPr>
          <p:nvPr/>
        </p:nvSpPr>
        <p:spPr>
          <a:xfrm xmlns:a="http://schemas.openxmlformats.org/drawingml/2006/main">
            <a:off x="6572250" y="1714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51D32"/>
                </a:solidFill>
                <a:latin typeface="Arial"/>
                <a:ea typeface="Arial"/>
                <a:cs typeface="Arial"/>
              </a:defRPr>
            </a:pPr>
            <a:r>
              <a:rPr sz="2400" b="1">
                <a:solidFill>
                  <a:srgbClr val="C51D32"/>
                </a:solidFill>
                <a:latin typeface="Arial"/>
                <a:ea typeface="Arial"/>
                <a:cs typeface="Arial"/>
              </a:rPr>
              <a:t>AI measurement</a:t>
            </a:r>
          </a:p>
        </p:txBody>
      </p:sp>
      <p:sp>
        <p:nvSpPr>
          <p:cNvPr id="6" name="">
            <a:extLst xmlns:a="http://schemas.openxmlformats.org/drawingml/2006/main">
              <a:ext uri="{FF2B5EF4-FFF2-40B4-BE49-F238E27FC236}">
                <a16:creationId xmlns:a16="http://schemas.microsoft.com/office/drawing/2014/main" id="{0829EB22-94F2-446E-ACB3-7AACF2E727A5}"/>
              </a:ext>
            </a:extLst>
          </p:cNvPr>
          <p:cNvSpPr>
            <a:spLocks xmlns:a="http://schemas.openxmlformats.org/drawingml/2006/main" noGrp="1"/>
          </p:cNvSpPr>
          <p:nvPr/>
        </p:nvSpPr>
        <p:spPr>
          <a:xfrm xmlns:a="http://schemas.openxmlformats.org/drawingml/2006/main">
            <a:off x="6572250" y="2381250"/>
            <a:ext cx="4905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1A20"/>
                </a:solidFill>
                <a:latin typeface="Arial"/>
                <a:ea typeface="Arial"/>
                <a:cs typeface="Arial"/>
              </a:defRPr>
            </a:pPr>
            <a:r>
              <a:rPr sz="2175" b="0">
                <a:solidFill>
                  <a:srgbClr val="161A20"/>
                </a:solidFill>
                <a:latin typeface="Arial"/>
                <a:ea typeface="Arial"/>
                <a:cs typeface="Arial"/>
              </a:rPr>
              <a:t>Share of weighted visible exposure</a:t>
            </a:r>
          </a:p>
          <a:p xmlns:a="http://schemas.openxmlformats.org/drawingml/2006/main">
            <a:pPr>
              <a:defRPr sz="2175" b="0">
                <a:solidFill>
                  <a:srgbClr val="161A20"/>
                </a:solidFill>
                <a:latin typeface="Arial"/>
                <a:ea typeface="Arial"/>
                <a:cs typeface="Arial"/>
              </a:defRPr>
            </a:pPr>
            <a:r>
              <a:rPr sz="2175" b="0">
                <a:solidFill>
                  <a:srgbClr val="161A20"/>
                </a:solidFill>
                <a:latin typeface="Arial"/>
                <a:ea typeface="Arial"/>
                <a:cs typeface="Arial"/>
              </a:rPr>
              <a:t>Match 2 main sponsor: 12.71%</a:t>
            </a:r>
          </a:p>
          <a:p xmlns:a="http://schemas.openxmlformats.org/drawingml/2006/main">
            <a:pPr>
              <a:defRPr sz="2175" b="0">
                <a:solidFill>
                  <a:srgbClr val="161A20"/>
                </a:solidFill>
                <a:latin typeface="Arial"/>
                <a:ea typeface="Arial"/>
                <a:cs typeface="Arial"/>
              </a:defRPr>
            </a:pPr>
            <a:r>
              <a:rPr sz="2175" b="0">
                <a:solidFill>
                  <a:srgbClr val="161A20"/>
                </a:solidFill>
                <a:latin typeface="Arial"/>
                <a:ea typeface="Arial"/>
                <a:cs typeface="Arial"/>
              </a:rPr>
              <a:t>Match 2 top back shorts: 21.82%</a:t>
            </a:r>
          </a:p>
        </p:txBody>
      </p:sp>
      <p:sp>
        <p:nvSpPr>
          <p:cNvPr id="7" name="">
            <a:extLst xmlns:a="http://schemas.openxmlformats.org/drawingml/2006/main">
              <a:ext uri="{FF2B5EF4-FFF2-40B4-BE49-F238E27FC236}">
                <a16:creationId xmlns:a16="http://schemas.microsoft.com/office/drawing/2014/main" id="{D670B709-3EC1-4545-9245-218CF07AFFB6}"/>
              </a:ext>
            </a:extLst>
          </p:cNvPr>
          <p:cNvSpPr>
            <a:spLocks xmlns:a="http://schemas.openxmlformats.org/drawingml/2006/main" noGrp="1"/>
          </p:cNvSpPr>
          <p:nvPr/>
        </p:nvSpPr>
        <p:spPr>
          <a:xfrm xmlns:a="http://schemas.openxmlformats.org/drawingml/2006/main">
            <a:off x="666750" y="481012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61A20"/>
                </a:solidFill>
                <a:latin typeface="Arial"/>
                <a:ea typeface="Arial"/>
                <a:cs typeface="Arial"/>
              </a:defRPr>
            </a:pPr>
            <a:r>
              <a:rPr sz="2550" b="1">
                <a:solidFill>
                  <a:srgbClr val="161A20"/>
                </a:solidFill>
                <a:latin typeface="Arial"/>
                <a:ea typeface="Arial"/>
                <a:cs typeface="Arial"/>
              </a:rPr>
              <a:t>Use the difference to review placement value and supporting footage.</a:t>
            </a:r>
          </a:p>
        </p:txBody>
      </p:sp>
    </p:spTree>
    <p:extLst>
      <p:ext uri="{BB962C8B-B14F-4D97-AF65-F5344CB8AC3E}">
        <p14:creationId xmlns:p14="http://schemas.microsoft.com/office/powerpoint/2010/main" val="126060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0A841C-34A9-4511-A6EA-A572F506009C}"/>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Chest: the main sponsor leads the human weighting</a:t>
            </a:r>
          </a:p>
        </p:txBody>
      </p:sp>
      <p:sp>
        <p:nvSpPr>
          <p:cNvPr id="2" name="">
            <a:extLst xmlns:a="http://schemas.openxmlformats.org/drawingml/2006/main">
              <a:ext uri="{FF2B5EF4-FFF2-40B4-BE49-F238E27FC236}">
                <a16:creationId xmlns:a16="http://schemas.microsoft.com/office/drawing/2014/main" id="{5F245753-03D2-4135-ADCD-EB2A6AD7B948}"/>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Historical Match 2 shares; image is a fresh detection example from the separate demo footage.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9d26a39f8a343d9"/>
          <a:stretch xmlns:a="http://schemas.openxmlformats.org/drawingml/2006/main"/>
        </p:blipFill>
        <p:spPr>
          <a:xfrm xmlns:a="http://schemas.openxmlformats.org/drawingml/2006/main">
            <a:off x="913397" y="1666875"/>
            <a:ext cx="3221455" cy="4000500"/>
          </a:xfrm>
          <a:prstGeom xmlns:a="http://schemas.openxmlformats.org/drawingml/2006/main" prst="rect">
            <a:avLst/>
          </a:prstGeom>
        </p:spPr>
      </p:pic>
      <p:graphicFrame>
        <p:nvGraphicFramePr>
          <p:cNvPr id="8" name="Chart"/>
          <p:cNvGraphicFramePr/>
          <p:nvPr/>
        </p:nvGraphicFramePr>
        <p:xfrm>
          <a:off xmlns:a="http://schemas.openxmlformats.org/drawingml/2006/main" x="4762500" y="161925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32ca10aabb3346c5"/>
          </a:graphicData>
        </a:graphic>
      </p:graphicFrame>
    </p:spTree>
    <p:extLst>
      <p:ext uri="{BB962C8B-B14F-4D97-AF65-F5344CB8AC3E}">
        <p14:creationId xmlns:p14="http://schemas.microsoft.com/office/powerpoint/2010/main" val="10392284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8A9165-A545-486C-837E-667A295926D2}"/>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Back: nearby slots share one pose anchor</a:t>
            </a:r>
          </a:p>
        </p:txBody>
      </p:sp>
      <p:sp>
        <p:nvSpPr>
          <p:cNvPr id="2" name="">
            <a:extLst xmlns:a="http://schemas.openxmlformats.org/drawingml/2006/main">
              <a:ext uri="{FF2B5EF4-FFF2-40B4-BE49-F238E27FC236}">
                <a16:creationId xmlns:a16="http://schemas.microsoft.com/office/drawing/2014/main" id="{F5AEB2D1-A440-4CCE-8104-89E2CB380BDE}"/>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Historical Match 2 shares; image is a fresh detection example from the separate demo footage.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6f015610c884e10"/>
          <a:stretch xmlns:a="http://schemas.openxmlformats.org/drawingml/2006/main"/>
        </p:blipFill>
        <p:spPr>
          <a:xfrm xmlns:a="http://schemas.openxmlformats.org/drawingml/2006/main">
            <a:off x="950244" y="1666875"/>
            <a:ext cx="3147762" cy="4000500"/>
          </a:xfrm>
          <a:prstGeom xmlns:a="http://schemas.openxmlformats.org/drawingml/2006/main" prst="rect">
            <a:avLst/>
          </a:prstGeom>
        </p:spPr>
      </p:pic>
      <p:graphicFrame>
        <p:nvGraphicFramePr>
          <p:cNvPr id="8" name="Chart"/>
          <p:cNvGraphicFramePr/>
          <p:nvPr/>
        </p:nvGraphicFramePr>
        <p:xfrm>
          <a:off xmlns:a="http://schemas.openxmlformats.org/drawingml/2006/main" x="4762500" y="161925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2caaac3e9a794852"/>
          </a:graphicData>
        </a:graphic>
      </p:graphicFrame>
    </p:spTree>
    <p:extLst>
      <p:ext uri="{BB962C8B-B14F-4D97-AF65-F5344CB8AC3E}">
        <p14:creationId xmlns:p14="http://schemas.microsoft.com/office/powerpoint/2010/main" val="4418647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FFB490-7549-41F8-A75F-42D35DFCC60F}"/>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Sleeves: exposure differs between placements</a:t>
            </a:r>
          </a:p>
        </p:txBody>
      </p:sp>
      <p:sp>
        <p:nvSpPr>
          <p:cNvPr id="2" name="">
            <a:extLst xmlns:a="http://schemas.openxmlformats.org/drawingml/2006/main">
              <a:ext uri="{FF2B5EF4-FFF2-40B4-BE49-F238E27FC236}">
                <a16:creationId xmlns:a16="http://schemas.microsoft.com/office/drawing/2014/main" id="{539D4478-999C-4D04-BF8C-BCEBE3E5A672}"/>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Historical Match 2 shares; image is a fresh detection example from the separate demo footage.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5d326129c924072"/>
          <a:stretch xmlns:a="http://schemas.openxmlformats.org/drawingml/2006/main"/>
        </p:blipFill>
        <p:spPr>
          <a:xfrm xmlns:a="http://schemas.openxmlformats.org/drawingml/2006/main">
            <a:off x="629151" y="1666875"/>
            <a:ext cx="3789947" cy="4000500"/>
          </a:xfrm>
          <a:prstGeom xmlns:a="http://schemas.openxmlformats.org/drawingml/2006/main" prst="rect">
            <a:avLst/>
          </a:prstGeom>
        </p:spPr>
      </p:pic>
      <p:graphicFrame>
        <p:nvGraphicFramePr>
          <p:cNvPr id="8" name="Chart"/>
          <p:cNvGraphicFramePr/>
          <p:nvPr/>
        </p:nvGraphicFramePr>
        <p:xfrm>
          <a:off xmlns:a="http://schemas.openxmlformats.org/drawingml/2006/main" x="4762500" y="161925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0dc3b8fa9fb34627"/>
          </a:graphicData>
        </a:graphic>
      </p:graphicFrame>
    </p:spTree>
    <p:extLst>
      <p:ext uri="{BB962C8B-B14F-4D97-AF65-F5344CB8AC3E}">
        <p14:creationId xmlns:p14="http://schemas.microsoft.com/office/powerpoint/2010/main" val="11253360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F41940-1ECF-4F6E-9981-7B35E01A21A6}"/>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Shorts: both matches show substantial exposure</a:t>
            </a:r>
          </a:p>
        </p:txBody>
      </p:sp>
      <p:sp>
        <p:nvSpPr>
          <p:cNvPr id="2" name="">
            <a:extLst xmlns:a="http://schemas.openxmlformats.org/drawingml/2006/main">
              <a:ext uri="{FF2B5EF4-FFF2-40B4-BE49-F238E27FC236}">
                <a16:creationId xmlns:a16="http://schemas.microsoft.com/office/drawing/2014/main" id="{5954B35D-F061-4486-AD4D-A674BE1DE26F}"/>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Historical Match 2 shares; image is a fresh detection example from the separate demo footage.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e485a58c23148f4"/>
          <a:stretch xmlns:a="http://schemas.openxmlformats.org/drawingml/2006/main"/>
        </p:blipFill>
        <p:spPr>
          <a:xfrm xmlns:a="http://schemas.openxmlformats.org/drawingml/2006/main">
            <a:off x="629151" y="1666875"/>
            <a:ext cx="3789947" cy="4000500"/>
          </a:xfrm>
          <a:prstGeom xmlns:a="http://schemas.openxmlformats.org/drawingml/2006/main" prst="rect">
            <a:avLst/>
          </a:prstGeom>
        </p:spPr>
      </p:pic>
      <p:graphicFrame>
        <p:nvGraphicFramePr>
          <p:cNvPr id="8" name="Chart"/>
          <p:cNvGraphicFramePr/>
          <p:nvPr/>
        </p:nvGraphicFramePr>
        <p:xfrm>
          <a:off xmlns:a="http://schemas.openxmlformats.org/drawingml/2006/main" x="4762500" y="161925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043dba7b5bb24e4a"/>
          </a:graphicData>
        </a:graphic>
      </p:graphicFrame>
    </p:spTree>
    <p:extLst>
      <p:ext uri="{BB962C8B-B14F-4D97-AF65-F5344CB8AC3E}">
        <p14:creationId xmlns:p14="http://schemas.microsoft.com/office/powerpoint/2010/main" val="10883512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6F13FA-B605-42B8-A959-D78084A561BC}"/>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Team attribution changes what enters the analysis</a:t>
            </a:r>
          </a:p>
        </p:txBody>
      </p:sp>
      <p:sp>
        <p:nvSpPr>
          <p:cNvPr id="2" name="">
            <a:extLst xmlns:a="http://schemas.openxmlformats.org/drawingml/2006/main">
              <a:ext uri="{FF2B5EF4-FFF2-40B4-BE49-F238E27FC236}">
                <a16:creationId xmlns:a16="http://schemas.microsoft.com/office/drawing/2014/main" id="{421A6ACE-E077-4001-8CD8-B60B0A7F95E9}"/>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Identical frames and logo detections; only the ownership and team-filter decision changes.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8769be90c134f7e"/>
          <a:stretch xmlns:a="http://schemas.openxmlformats.org/drawingml/2006/main"/>
        </p:blipFill>
        <p:spPr>
          <a:xfrm xmlns:a="http://schemas.openxmlformats.org/drawingml/2006/main">
            <a:off x="571500" y="1620143"/>
            <a:ext cx="5381625" cy="3027164"/>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92ab77d7f1640f3"/>
          <a:stretch xmlns:a="http://schemas.openxmlformats.org/drawingml/2006/main"/>
        </p:blipFill>
        <p:spPr>
          <a:xfrm xmlns:a="http://schemas.openxmlformats.org/drawingml/2006/main">
            <a:off x="6238875" y="1620143"/>
            <a:ext cx="5381625" cy="302716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414FE46-5A80-48D3-ACD0-27D267D041CC}"/>
              </a:ext>
            </a:extLst>
          </p:cNvPr>
          <p:cNvSpPr>
            <a:spLocks xmlns:a="http://schemas.openxmlformats.org/drawingml/2006/main" noGrp="1"/>
          </p:cNvSpPr>
          <p:nvPr/>
        </p:nvSpPr>
        <p:spPr>
          <a:xfrm xmlns:a="http://schemas.openxmlformats.org/drawingml/2006/main">
            <a:off x="571500" y="48577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1A20"/>
                </a:solidFill>
                <a:latin typeface="Arial"/>
                <a:ea typeface="Arial"/>
                <a:cs typeface="Arial"/>
              </a:defRPr>
            </a:pPr>
            <a:r>
              <a:rPr sz="2250" b="1">
                <a:solidFill>
                  <a:srgbClr val="161A20"/>
                </a:solidFill>
                <a:latin typeface="Arial"/>
                <a:ea typeface="Arial"/>
                <a:cs typeface="Arial"/>
              </a:rPr>
              <a:t>Without team split</a:t>
            </a:r>
          </a:p>
        </p:txBody>
      </p:sp>
      <p:sp>
        <p:nvSpPr>
          <p:cNvPr id="6" name="">
            <a:extLst xmlns:a="http://schemas.openxmlformats.org/drawingml/2006/main">
              <a:ext uri="{FF2B5EF4-FFF2-40B4-BE49-F238E27FC236}">
                <a16:creationId xmlns:a16="http://schemas.microsoft.com/office/drawing/2014/main" id="{0FA11CEE-A9DC-43B9-BF24-C7A22FB9AFD5}"/>
              </a:ext>
            </a:extLst>
          </p:cNvPr>
          <p:cNvSpPr>
            <a:spLocks xmlns:a="http://schemas.openxmlformats.org/drawingml/2006/main" noGrp="1"/>
          </p:cNvSpPr>
          <p:nvPr/>
        </p:nvSpPr>
        <p:spPr>
          <a:xfrm xmlns:a="http://schemas.openxmlformats.org/drawingml/2006/main">
            <a:off x="6238875" y="48577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51D32"/>
                </a:solidFill>
                <a:latin typeface="Arial"/>
                <a:ea typeface="Arial"/>
                <a:cs typeface="Arial"/>
              </a:defRPr>
            </a:pPr>
            <a:r>
              <a:rPr sz="2250" b="1">
                <a:solidFill>
                  <a:srgbClr val="C51D32"/>
                </a:solidFill>
                <a:latin typeface="Arial"/>
                <a:ea typeface="Arial"/>
                <a:cs typeface="Arial"/>
              </a:rPr>
              <a:t>With team split</a:t>
            </a:r>
          </a:p>
        </p:txBody>
      </p:sp>
    </p:spTree>
    <p:extLst>
      <p:ext uri="{BB962C8B-B14F-4D97-AF65-F5344CB8AC3E}">
        <p14:creationId xmlns:p14="http://schemas.microsoft.com/office/powerpoint/2010/main" val="14962845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53BD17C-6BA3-4B60-A325-38D585B71929}"/>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407 of 583 detection instances pass the team filter</a:t>
            </a:r>
          </a:p>
        </p:txBody>
      </p:sp>
      <p:sp>
        <p:nvSpPr>
          <p:cNvPr id="2" name="">
            <a:extLst xmlns:a="http://schemas.openxmlformats.org/drawingml/2006/main">
              <a:ext uri="{FF2B5EF4-FFF2-40B4-BE49-F238E27FC236}">
                <a16:creationId xmlns:a16="http://schemas.microsoft.com/office/drawing/2014/main" id="{DBE88990-0686-45B5-8413-6DFC7FFDF304}"/>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22 seconds at 25 fps. Counts are repeated frame detections, not unique logos or accuracy.</a:t>
            </a:r>
          </a:p>
        </p:txBody>
      </p:sp>
      <p:graphicFrame>
        <p:nvGraphicFramePr>
          <p:cNvPr id="6" name="Chart"/>
          <p:cNvGraphicFramePr/>
          <p:nvPr/>
        </p:nvGraphicFramePr>
        <p:xfrm>
          <a:off xmlns:a="http://schemas.openxmlformats.org/drawingml/2006/main" x="666750" y="1571625"/>
          <a:ext xmlns:a="http://schemas.openxmlformats.org/drawingml/2006/main" cx="10668000" cy="4000500"/>
        </p:xfrm>
        <a:graphic xmlns:a="http://schemas.openxmlformats.org/drawingml/2006/main">
          <a:graphicData uri="http://schemas.openxmlformats.org/drawingml/2006/chart">
            <c:chart xmlns:r="http://schemas.openxmlformats.org/officeDocument/2006/relationships" xmlns:c="http://schemas.openxmlformats.org/drawingml/2006/chart" r:id="R5706e96a200748af"/>
          </a:graphicData>
        </a:graphic>
      </p:graphicFrame>
    </p:spTree>
    <p:extLst>
      <p:ext uri="{BB962C8B-B14F-4D97-AF65-F5344CB8AC3E}">
        <p14:creationId xmlns:p14="http://schemas.microsoft.com/office/powerpoint/2010/main" val="6650128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1DBAD2-36F1-4508-8C1A-60319377BEE4}"/>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Body regions follow each player’s visible silhouette</a:t>
            </a:r>
          </a:p>
        </p:txBody>
      </p:sp>
      <p:sp>
        <p:nvSpPr>
          <p:cNvPr id="2" name="">
            <a:extLst xmlns:a="http://schemas.openxmlformats.org/drawingml/2006/main">
              <a:ext uri="{FF2B5EF4-FFF2-40B4-BE49-F238E27FC236}">
                <a16:creationId xmlns:a16="http://schemas.microsoft.com/office/drawing/2014/main" id="{5B9B9B52-4DCD-4747-93DE-181A4F36C396}"/>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Grey pixels remain unassigned when pose evidence is missing. Colours are anatomical estimates.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8d15987e2df4c7b"/>
          <a:stretch xmlns:a="http://schemas.openxmlformats.org/drawingml/2006/main"/>
        </p:blipFill>
        <p:spPr>
          <a:xfrm xmlns:a="http://schemas.openxmlformats.org/drawingml/2006/main">
            <a:off x="894292" y="1666875"/>
            <a:ext cx="7450667"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D11C5A-C169-437F-BA09-77AE205056EB}"/>
              </a:ext>
            </a:extLst>
          </p:cNvPr>
          <p:cNvSpPr>
            <a:spLocks xmlns:a="http://schemas.openxmlformats.org/drawingml/2006/main" noGrp="1"/>
          </p:cNvSpPr>
          <p:nvPr/>
        </p:nvSpPr>
        <p:spPr>
          <a:xfrm xmlns:a="http://schemas.openxmlformats.org/drawingml/2006/main">
            <a:off x="9334500" y="176212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1A20"/>
                </a:solidFill>
                <a:latin typeface="Arial"/>
                <a:ea typeface="Arial"/>
                <a:cs typeface="Arial"/>
              </a:defRPr>
            </a:pPr>
            <a:r>
              <a:rPr sz="2250" b="1">
                <a:solidFill>
                  <a:srgbClr val="161A20"/>
                </a:solidFill>
                <a:latin typeface="Arial"/>
                <a:ea typeface="Arial"/>
                <a:cs typeface="Arial"/>
              </a:rPr>
              <a:t>Changes</a:t>
            </a:r>
          </a:p>
        </p:txBody>
      </p:sp>
      <p:sp>
        <p:nvSpPr>
          <p:cNvPr id="5" name="">
            <a:extLst xmlns:a="http://schemas.openxmlformats.org/drawingml/2006/main">
              <a:ext uri="{FF2B5EF4-FFF2-40B4-BE49-F238E27FC236}">
                <a16:creationId xmlns:a16="http://schemas.microsoft.com/office/drawing/2014/main" id="{8046D614-1CC4-403E-9836-10774F307CE5}"/>
              </a:ext>
            </a:extLst>
          </p:cNvPr>
          <p:cNvSpPr>
            <a:spLocks xmlns:a="http://schemas.openxmlformats.org/drawingml/2006/main" noGrp="1"/>
          </p:cNvSpPr>
          <p:nvPr/>
        </p:nvSpPr>
        <p:spPr>
          <a:xfrm xmlns:a="http://schemas.openxmlformats.org/drawingml/2006/main">
            <a:off x="9334500" y="2447925"/>
            <a:ext cx="2286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A20"/>
                </a:solidFill>
                <a:latin typeface="Arial"/>
                <a:ea typeface="Arial"/>
                <a:cs typeface="Arial"/>
              </a:defRPr>
            </a:pPr>
            <a:r>
              <a:rPr sz="1800" b="0">
                <a:solidFill>
                  <a:srgbClr val="161A20"/>
                </a:solidFill>
                <a:latin typeface="Arial"/>
                <a:ea typeface="Arial"/>
                <a:cs typeface="Arial"/>
              </a:rPr>
              <a:t>One pose per mask</a:t>
            </a:r>
          </a:p>
          <a:p xmlns:a="http://schemas.openxmlformats.org/drawingml/2006/main">
            <a:r>
              <a:t/>
            </a:r>
          </a:p>
          <a:p xmlns:a="http://schemas.openxmlformats.org/drawingml/2006/main">
            <a:pPr>
              <a:defRPr sz="1800" b="0">
                <a:solidFill>
                  <a:srgbClr val="161A20"/>
                </a:solidFill>
                <a:latin typeface="Arial"/>
                <a:ea typeface="Arial"/>
                <a:cs typeface="Arial"/>
              </a:defRPr>
            </a:pPr>
            <a:r>
              <a:rPr sz="1800" b="0">
                <a:solidFill>
                  <a:srgbClr val="161A20"/>
                </a:solidFill>
                <a:latin typeface="Arial"/>
                <a:ea typeface="Arial"/>
                <a:cs typeface="Arial"/>
              </a:rPr>
              <a:t>No invented torso</a:t>
            </a:r>
          </a:p>
          <a:p xmlns:a="http://schemas.openxmlformats.org/drawingml/2006/main">
            <a:r>
              <a:t/>
            </a:r>
          </a:p>
          <a:p xmlns:a="http://schemas.openxmlformats.org/drawingml/2006/main">
            <a:pPr>
              <a:defRPr sz="1800" b="0">
                <a:solidFill>
                  <a:srgbClr val="161A20"/>
                </a:solidFill>
                <a:latin typeface="Arial"/>
                <a:ea typeface="Arial"/>
                <a:cs typeface="Arial"/>
              </a:defRPr>
            </a:pPr>
            <a:r>
              <a:rPr sz="1800" b="0">
                <a:solidFill>
                  <a:srgbClr val="161A20"/>
                </a:solidFill>
                <a:latin typeface="Arial"/>
                <a:ea typeface="Arial"/>
                <a:cs typeface="Arial"/>
              </a:rPr>
              <a:t>No duplicate pixel counts</a:t>
            </a:r>
          </a:p>
        </p:txBody>
      </p:sp>
    </p:spTree>
    <p:extLst>
      <p:ext uri="{BB962C8B-B14F-4D97-AF65-F5344CB8AC3E}">
        <p14:creationId xmlns:p14="http://schemas.microsoft.com/office/powerpoint/2010/main" val="4912181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0DB492-77DB-4EFA-9868-7119D190FE27}"/>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The heatmap shows where retained logos appear</a:t>
            </a:r>
          </a:p>
        </p:txBody>
      </p:sp>
      <p:sp>
        <p:nvSpPr>
          <p:cNvPr id="2" name="">
            <a:extLst xmlns:a="http://schemas.openxmlformats.org/drawingml/2006/main">
              <a:ext uri="{FF2B5EF4-FFF2-40B4-BE49-F238E27FC236}">
                <a16:creationId xmlns:a16="http://schemas.microsoft.com/office/drawing/2014/main" id="{64C96013-044C-406D-AFF1-8001103930F7}"/>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Screen-space occupancy from the 12-second tackle demo; bright areas receive more repeated coverage.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efe82bf27ea4612"/>
          <a:stretch xmlns:a="http://schemas.openxmlformats.org/drawingml/2006/main"/>
        </p:blipFill>
        <p:spPr>
          <a:xfrm xmlns:a="http://schemas.openxmlformats.org/drawingml/2006/main">
            <a:off x="894292" y="1666875"/>
            <a:ext cx="7450667"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7A2F827-8EBC-45E5-ABD7-95D75A898DB9}"/>
              </a:ext>
            </a:extLst>
          </p:cNvPr>
          <p:cNvSpPr>
            <a:spLocks xmlns:a="http://schemas.openxmlformats.org/drawingml/2006/main" noGrp="1"/>
          </p:cNvSpPr>
          <p:nvPr/>
        </p:nvSpPr>
        <p:spPr>
          <a:xfrm xmlns:a="http://schemas.openxmlformats.org/drawingml/2006/main">
            <a:off x="9715500" y="2190750"/>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1A20"/>
                </a:solidFill>
                <a:latin typeface="Arial"/>
                <a:ea typeface="Arial"/>
                <a:cs typeface="Arial"/>
              </a:defRPr>
            </a:pPr>
            <a:r>
              <a:rPr sz="2175" b="1">
                <a:solidFill>
                  <a:srgbClr val="161A20"/>
                </a:solidFill>
                <a:latin typeface="Arial"/>
                <a:ea typeface="Arial"/>
                <a:cs typeface="Arial"/>
              </a:rPr>
              <a:t>Relative</a:t>
            </a:r>
          </a:p>
          <a:p xmlns:a="http://schemas.openxmlformats.org/drawingml/2006/main">
            <a:pPr>
              <a:defRPr sz="2175" b="1">
                <a:solidFill>
                  <a:srgbClr val="161A20"/>
                </a:solidFill>
                <a:latin typeface="Arial"/>
                <a:ea typeface="Arial"/>
                <a:cs typeface="Arial"/>
              </a:defRPr>
            </a:pPr>
            <a:r>
              <a:rPr sz="2175" b="1">
                <a:solidFill>
                  <a:srgbClr val="161A20"/>
                </a:solidFill>
                <a:latin typeface="Arial"/>
                <a:ea typeface="Arial"/>
                <a:cs typeface="Arial"/>
              </a:rPr>
              <a:t>intensity</a:t>
            </a:r>
          </a:p>
        </p:txBody>
      </p:sp>
      <p:sp>
        <p:nvSpPr>
          <p:cNvPr id="5" name="">
            <a:extLst xmlns:a="http://schemas.openxmlformats.org/drawingml/2006/main">
              <a:ext uri="{FF2B5EF4-FFF2-40B4-BE49-F238E27FC236}">
                <a16:creationId xmlns:a16="http://schemas.microsoft.com/office/drawing/2014/main" id="{6D9178AE-5D08-4167-949D-2AAF096DA9D3}"/>
              </a:ext>
            </a:extLst>
          </p:cNvPr>
          <p:cNvSpPr>
            <a:spLocks xmlns:a="http://schemas.openxmlformats.org/drawingml/2006/main" noGrp="1"/>
          </p:cNvSpPr>
          <p:nvPr/>
        </p:nvSpPr>
        <p:spPr>
          <a:xfrm xmlns:a="http://schemas.openxmlformats.org/drawingml/2006/main">
            <a:off x="9715500" y="3286125"/>
            <a:ext cx="1905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1A20"/>
                </a:solidFill>
                <a:latin typeface="Arial"/>
                <a:ea typeface="Arial"/>
                <a:cs typeface="Arial"/>
              </a:defRPr>
            </a:pPr>
            <a:r>
              <a:rPr sz="1875" b="0">
                <a:solidFill>
                  <a:srgbClr val="161A20"/>
                </a:solidFill>
                <a:latin typeface="Arial"/>
                <a:ea typeface="Arial"/>
                <a:cs typeface="Arial"/>
              </a:rPr>
              <a:t>Camera framing</a:t>
            </a:r>
          </a:p>
          <a:p xmlns:a="http://schemas.openxmlformats.org/drawingml/2006/main">
            <a:pPr>
              <a:defRPr sz="1875" b="0">
                <a:solidFill>
                  <a:srgbClr val="161A20"/>
                </a:solidFill>
                <a:latin typeface="Arial"/>
                <a:ea typeface="Arial"/>
                <a:cs typeface="Arial"/>
              </a:defRPr>
            </a:pPr>
            <a:r>
              <a:rPr sz="1875" b="0">
                <a:solidFill>
                  <a:srgbClr val="161A20"/>
                </a:solidFill>
                <a:latin typeface="Arial"/>
                <a:ea typeface="Arial"/>
                <a:cs typeface="Arial"/>
              </a:rPr>
              <a:t>affects this view.</a:t>
            </a:r>
          </a:p>
          <a:p xmlns:a="http://schemas.openxmlformats.org/drawingml/2006/main">
            <a:r>
              <a:t/>
            </a:r>
          </a:p>
          <a:p xmlns:a="http://schemas.openxmlformats.org/drawingml/2006/main">
            <a:pPr>
              <a:defRPr sz="1875" b="0">
                <a:solidFill>
                  <a:srgbClr val="161A20"/>
                </a:solidFill>
                <a:latin typeface="Arial"/>
                <a:ea typeface="Arial"/>
                <a:cs typeface="Arial"/>
              </a:defRPr>
            </a:pPr>
            <a:r>
              <a:rPr sz="1875" b="0">
                <a:solidFill>
                  <a:srgbClr val="161A20"/>
                </a:solidFill>
                <a:latin typeface="Arial"/>
                <a:ea typeface="Arial"/>
                <a:cs typeface="Arial"/>
              </a:rPr>
              <a:t>This is not a</a:t>
            </a:r>
          </a:p>
          <a:p xmlns:a="http://schemas.openxmlformats.org/drawingml/2006/main">
            <a:pPr>
              <a:defRPr sz="1875" b="0">
                <a:solidFill>
                  <a:srgbClr val="161A20"/>
                </a:solidFill>
                <a:latin typeface="Arial"/>
                <a:ea typeface="Arial"/>
                <a:cs typeface="Arial"/>
              </a:defRPr>
            </a:pPr>
            <a:r>
              <a:rPr sz="1875" b="0">
                <a:solidFill>
                  <a:srgbClr val="161A20"/>
                </a:solidFill>
                <a:latin typeface="Arial"/>
                <a:ea typeface="Arial"/>
                <a:cs typeface="Arial"/>
              </a:rPr>
              <a:t>pitch-position map.</a:t>
            </a:r>
          </a:p>
        </p:txBody>
      </p:sp>
    </p:spTree>
    <p:extLst>
      <p:ext uri="{BB962C8B-B14F-4D97-AF65-F5344CB8AC3E}">
        <p14:creationId xmlns:p14="http://schemas.microsoft.com/office/powerpoint/2010/main" val="19491531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D75A4B5-03C7-4396-8EC5-D940CB644B5E}"/>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Each exposure combines time, size and confidence</a:t>
            </a:r>
          </a:p>
        </p:txBody>
      </p:sp>
      <p:sp>
        <p:nvSpPr>
          <p:cNvPr id="2" name="">
            <a:extLst xmlns:a="http://schemas.openxmlformats.org/drawingml/2006/main">
              <a:ext uri="{FF2B5EF4-FFF2-40B4-BE49-F238E27FC236}">
                <a16:creationId xmlns:a16="http://schemas.microsoft.com/office/drawing/2014/main" id="{1FEE7DD2-3539-4A44-8012-5E88D130B0CF}"/>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Confidence is a clarity proxy. Occlusion is not independently measured in the current score.</a:t>
            </a:r>
          </a:p>
        </p:txBody>
      </p:sp>
      <p:sp>
        <p:nvSpPr>
          <p:cNvPr id="3" name="">
            <a:extLst xmlns:a="http://schemas.openxmlformats.org/drawingml/2006/main">
              <a:ext uri="{FF2B5EF4-FFF2-40B4-BE49-F238E27FC236}">
                <a16:creationId xmlns:a16="http://schemas.microsoft.com/office/drawing/2014/main" id="{5CA8E04E-423A-4F4A-A35B-54D879BA2012}"/>
              </a:ext>
            </a:extLst>
          </p:cNvPr>
          <p:cNvSpPr>
            <a:spLocks xmlns:a="http://schemas.openxmlformats.org/drawingml/2006/main" noGrp="1"/>
          </p:cNvSpPr>
          <p:nvPr/>
        </p:nvSpPr>
        <p:spPr>
          <a:xfrm xmlns:a="http://schemas.openxmlformats.org/drawingml/2006/main">
            <a:off x="666750" y="16192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C51D32"/>
                </a:solidFill>
                <a:latin typeface="Arial"/>
                <a:ea typeface="Arial"/>
                <a:cs typeface="Arial"/>
              </a:defRPr>
            </a:pPr>
            <a:r>
              <a:rPr sz="2325" b="1">
                <a:solidFill>
                  <a:srgbClr val="C51D32"/>
                </a:solidFill>
                <a:latin typeface="Arial"/>
                <a:ea typeface="Arial"/>
                <a:cs typeface="Arial"/>
              </a:rPr>
              <a:t>Duration</a:t>
            </a:r>
          </a:p>
        </p:txBody>
      </p:sp>
      <p:sp>
        <p:nvSpPr>
          <p:cNvPr id="4" name="">
            <a:extLst xmlns:a="http://schemas.openxmlformats.org/drawingml/2006/main">
              <a:ext uri="{FF2B5EF4-FFF2-40B4-BE49-F238E27FC236}">
                <a16:creationId xmlns:a16="http://schemas.microsoft.com/office/drawing/2014/main" id="{AA2F9399-7C2C-4115-9718-8B73D27A1DB3}"/>
              </a:ext>
            </a:extLst>
          </p:cNvPr>
          <p:cNvSpPr>
            <a:spLocks xmlns:a="http://schemas.openxmlformats.org/drawingml/2006/main" noGrp="1"/>
          </p:cNvSpPr>
          <p:nvPr/>
        </p:nvSpPr>
        <p:spPr>
          <a:xfrm xmlns:a="http://schemas.openxmlformats.org/drawingml/2006/main">
            <a:off x="666750" y="21336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A20"/>
                </a:solidFill>
                <a:latin typeface="Arial"/>
                <a:ea typeface="Arial"/>
                <a:cs typeface="Arial"/>
              </a:defRPr>
            </a:pPr>
            <a:r>
              <a:rPr sz="1800" b="0">
                <a:solidFill>
                  <a:srgbClr val="161A20"/>
                </a:solidFill>
                <a:latin typeface="Arial"/>
                <a:ea typeface="Arial"/>
                <a:cs typeface="Arial"/>
              </a:rPr>
              <a:t>Time visible in sampled footage</a:t>
            </a:r>
          </a:p>
        </p:txBody>
      </p:sp>
      <p:sp>
        <p:nvSpPr>
          <p:cNvPr id="5" name="">
            <a:extLst xmlns:a="http://schemas.openxmlformats.org/drawingml/2006/main">
              <a:ext uri="{FF2B5EF4-FFF2-40B4-BE49-F238E27FC236}">
                <a16:creationId xmlns:a16="http://schemas.microsoft.com/office/drawing/2014/main" id="{FA1557E3-FBD7-4C72-9981-F1528ABFE982}"/>
              </a:ext>
            </a:extLst>
          </p:cNvPr>
          <p:cNvSpPr>
            <a:spLocks xmlns:a="http://schemas.openxmlformats.org/drawingml/2006/main" noGrp="1"/>
          </p:cNvSpPr>
          <p:nvPr/>
        </p:nvSpPr>
        <p:spPr>
          <a:xfrm xmlns:a="http://schemas.openxmlformats.org/drawingml/2006/main">
            <a:off x="6477000" y="16192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C51D32"/>
                </a:solidFill>
                <a:latin typeface="Arial"/>
                <a:ea typeface="Arial"/>
                <a:cs typeface="Arial"/>
              </a:defRPr>
            </a:pPr>
            <a:r>
              <a:rPr sz="2325" b="1">
                <a:solidFill>
                  <a:srgbClr val="C51D32"/>
                </a:solidFill>
                <a:latin typeface="Arial"/>
                <a:ea typeface="Arial"/>
                <a:cs typeface="Arial"/>
              </a:rPr>
              <a:t>Logo size</a:t>
            </a:r>
          </a:p>
        </p:txBody>
      </p:sp>
      <p:sp>
        <p:nvSpPr>
          <p:cNvPr id="6" name="">
            <a:extLst xmlns:a="http://schemas.openxmlformats.org/drawingml/2006/main">
              <a:ext uri="{FF2B5EF4-FFF2-40B4-BE49-F238E27FC236}">
                <a16:creationId xmlns:a16="http://schemas.microsoft.com/office/drawing/2014/main" id="{727B79CE-ECCD-4306-9B66-96915AC5A78D}"/>
              </a:ext>
            </a:extLst>
          </p:cNvPr>
          <p:cNvSpPr>
            <a:spLocks xmlns:a="http://schemas.openxmlformats.org/drawingml/2006/main" noGrp="1"/>
          </p:cNvSpPr>
          <p:nvPr/>
        </p:nvSpPr>
        <p:spPr>
          <a:xfrm xmlns:a="http://schemas.openxmlformats.org/drawingml/2006/main">
            <a:off x="6477000" y="21336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A20"/>
                </a:solidFill>
                <a:latin typeface="Arial"/>
                <a:ea typeface="Arial"/>
                <a:cs typeface="Arial"/>
              </a:defRPr>
            </a:pPr>
            <a:r>
              <a:rPr sz="1800" b="0">
                <a:solidFill>
                  <a:srgbClr val="161A20"/>
                </a:solidFill>
                <a:latin typeface="Arial"/>
                <a:ea typeface="Arial"/>
                <a:cs typeface="Arial"/>
              </a:rPr>
              <a:t>Bounding-box area relative to frame</a:t>
            </a:r>
          </a:p>
        </p:txBody>
      </p:sp>
      <p:sp>
        <p:nvSpPr>
          <p:cNvPr id="7" name="">
            <a:extLst xmlns:a="http://schemas.openxmlformats.org/drawingml/2006/main">
              <a:ext uri="{FF2B5EF4-FFF2-40B4-BE49-F238E27FC236}">
                <a16:creationId xmlns:a16="http://schemas.microsoft.com/office/drawing/2014/main" id="{26CDFBCD-9FAD-40E1-BCC9-DC34D9EC6DA1}"/>
              </a:ext>
            </a:extLst>
          </p:cNvPr>
          <p:cNvSpPr>
            <a:spLocks xmlns:a="http://schemas.openxmlformats.org/drawingml/2006/main" noGrp="1"/>
          </p:cNvSpPr>
          <p:nvPr/>
        </p:nvSpPr>
        <p:spPr>
          <a:xfrm xmlns:a="http://schemas.openxmlformats.org/drawingml/2006/main">
            <a:off x="666750" y="300037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C51D32"/>
                </a:solidFill>
                <a:latin typeface="Arial"/>
                <a:ea typeface="Arial"/>
                <a:cs typeface="Arial"/>
              </a:defRPr>
            </a:pPr>
            <a:r>
              <a:rPr sz="2325" b="1">
                <a:solidFill>
                  <a:srgbClr val="C51D32"/>
                </a:solidFill>
                <a:latin typeface="Arial"/>
                <a:ea typeface="Arial"/>
                <a:cs typeface="Arial"/>
              </a:rPr>
              <a:t>Position</a:t>
            </a:r>
          </a:p>
        </p:txBody>
      </p:sp>
      <p:sp>
        <p:nvSpPr>
          <p:cNvPr id="8" name="">
            <a:extLst xmlns:a="http://schemas.openxmlformats.org/drawingml/2006/main">
              <a:ext uri="{FF2B5EF4-FFF2-40B4-BE49-F238E27FC236}">
                <a16:creationId xmlns:a16="http://schemas.microsoft.com/office/drawing/2014/main" id="{9C5823BE-A52A-4AA8-A259-E2F78BA168E4}"/>
              </a:ext>
            </a:extLst>
          </p:cNvPr>
          <p:cNvSpPr>
            <a:spLocks xmlns:a="http://schemas.openxmlformats.org/drawingml/2006/main" noGrp="1"/>
          </p:cNvSpPr>
          <p:nvPr/>
        </p:nvSpPr>
        <p:spPr>
          <a:xfrm xmlns:a="http://schemas.openxmlformats.org/drawingml/2006/main">
            <a:off x="666750" y="35147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A20"/>
                </a:solidFill>
                <a:latin typeface="Arial"/>
                <a:ea typeface="Arial"/>
                <a:cs typeface="Arial"/>
              </a:defRPr>
            </a:pPr>
            <a:r>
              <a:rPr sz="1800" b="0">
                <a:solidFill>
                  <a:srgbClr val="161A20"/>
                </a:solidFill>
                <a:latin typeface="Arial"/>
                <a:ea typeface="Arial"/>
                <a:cs typeface="Arial"/>
              </a:rPr>
              <a:t>Weight relative to the frame centre</a:t>
            </a:r>
          </a:p>
        </p:txBody>
      </p:sp>
      <p:sp>
        <p:nvSpPr>
          <p:cNvPr id="9" name="">
            <a:extLst xmlns:a="http://schemas.openxmlformats.org/drawingml/2006/main">
              <a:ext uri="{FF2B5EF4-FFF2-40B4-BE49-F238E27FC236}">
                <a16:creationId xmlns:a16="http://schemas.microsoft.com/office/drawing/2014/main" id="{753CA9BC-937F-41A5-A533-AD28D3F4EBBB}"/>
              </a:ext>
            </a:extLst>
          </p:cNvPr>
          <p:cNvSpPr>
            <a:spLocks xmlns:a="http://schemas.openxmlformats.org/drawingml/2006/main" noGrp="1"/>
          </p:cNvSpPr>
          <p:nvPr/>
        </p:nvSpPr>
        <p:spPr>
          <a:xfrm xmlns:a="http://schemas.openxmlformats.org/drawingml/2006/main">
            <a:off x="6477000" y="300037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C51D32"/>
                </a:solidFill>
                <a:latin typeface="Arial"/>
                <a:ea typeface="Arial"/>
                <a:cs typeface="Arial"/>
              </a:defRPr>
            </a:pPr>
            <a:r>
              <a:rPr sz="2325" b="1">
                <a:solidFill>
                  <a:srgbClr val="C51D32"/>
                </a:solidFill>
                <a:latin typeface="Arial"/>
                <a:ea typeface="Arial"/>
                <a:cs typeface="Arial"/>
              </a:rPr>
              <a:t>Clarity</a:t>
            </a:r>
          </a:p>
        </p:txBody>
      </p:sp>
      <p:sp>
        <p:nvSpPr>
          <p:cNvPr id="10" name="">
            <a:extLst xmlns:a="http://schemas.openxmlformats.org/drawingml/2006/main">
              <a:ext uri="{FF2B5EF4-FFF2-40B4-BE49-F238E27FC236}">
                <a16:creationId xmlns:a16="http://schemas.microsoft.com/office/drawing/2014/main" id="{EC67F33E-1D7C-4902-9EA9-A9B1C1A5409A}"/>
              </a:ext>
            </a:extLst>
          </p:cNvPr>
          <p:cNvSpPr>
            <a:spLocks xmlns:a="http://schemas.openxmlformats.org/drawingml/2006/main" noGrp="1"/>
          </p:cNvSpPr>
          <p:nvPr/>
        </p:nvSpPr>
        <p:spPr>
          <a:xfrm xmlns:a="http://schemas.openxmlformats.org/drawingml/2006/main">
            <a:off x="6477000" y="35147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A20"/>
                </a:solidFill>
                <a:latin typeface="Arial"/>
                <a:ea typeface="Arial"/>
                <a:cs typeface="Arial"/>
              </a:defRPr>
            </a:pPr>
            <a:r>
              <a:rPr sz="1800" b="0">
                <a:solidFill>
                  <a:srgbClr val="161A20"/>
                </a:solidFill>
                <a:latin typeface="Arial"/>
                <a:ea typeface="Arial"/>
                <a:cs typeface="Arial"/>
              </a:rPr>
              <a:t>Detector confidence, not legibility truth</a:t>
            </a:r>
          </a:p>
        </p:txBody>
      </p:sp>
      <p:sp>
        <p:nvSpPr>
          <p:cNvPr id="11" name="">
            <a:extLst xmlns:a="http://schemas.openxmlformats.org/drawingml/2006/main">
              <a:ext uri="{FF2B5EF4-FFF2-40B4-BE49-F238E27FC236}">
                <a16:creationId xmlns:a16="http://schemas.microsoft.com/office/drawing/2014/main" id="{D4B4DC51-2049-4D44-8434-E4599DBD39FB}"/>
              </a:ext>
            </a:extLst>
          </p:cNvPr>
          <p:cNvSpPr>
            <a:spLocks xmlns:a="http://schemas.openxmlformats.org/drawingml/2006/main" noGrp="1"/>
          </p:cNvSpPr>
          <p:nvPr/>
        </p:nvSpPr>
        <p:spPr>
          <a:xfrm xmlns:a="http://schemas.openxmlformats.org/drawingml/2006/main">
            <a:off x="666750" y="43815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C51D32"/>
                </a:solidFill>
                <a:latin typeface="Arial"/>
                <a:ea typeface="Arial"/>
                <a:cs typeface="Arial"/>
              </a:defRPr>
            </a:pPr>
            <a:r>
              <a:rPr sz="2325" b="1">
                <a:solidFill>
                  <a:srgbClr val="C51D32"/>
                </a:solidFill>
                <a:latin typeface="Arial"/>
                <a:ea typeface="Arial"/>
                <a:cs typeface="Arial"/>
              </a:rPr>
              <a:t>Frequency</a:t>
            </a:r>
          </a:p>
        </p:txBody>
      </p:sp>
      <p:sp>
        <p:nvSpPr>
          <p:cNvPr id="12" name="">
            <a:extLst xmlns:a="http://schemas.openxmlformats.org/drawingml/2006/main">
              <a:ext uri="{FF2B5EF4-FFF2-40B4-BE49-F238E27FC236}">
                <a16:creationId xmlns:a16="http://schemas.microsoft.com/office/drawing/2014/main" id="{548DC39E-5136-4D16-9AAF-8E711C856FA2}"/>
              </a:ext>
            </a:extLst>
          </p:cNvPr>
          <p:cNvSpPr>
            <a:spLocks xmlns:a="http://schemas.openxmlformats.org/drawingml/2006/main" noGrp="1"/>
          </p:cNvSpPr>
          <p:nvPr/>
        </p:nvSpPr>
        <p:spPr>
          <a:xfrm xmlns:a="http://schemas.openxmlformats.org/drawingml/2006/main">
            <a:off x="666750" y="48958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A20"/>
                </a:solidFill>
                <a:latin typeface="Arial"/>
                <a:ea typeface="Arial"/>
                <a:cs typeface="Arial"/>
              </a:defRPr>
            </a:pPr>
            <a:r>
              <a:rPr sz="1800" b="0">
                <a:solidFill>
                  <a:srgbClr val="161A20"/>
                </a:solidFill>
                <a:latin typeface="Arial"/>
                <a:ea typeface="Arial"/>
                <a:cs typeface="Arial"/>
              </a:rPr>
              <a:t>Repeated exposure events and tracks</a:t>
            </a:r>
          </a:p>
        </p:txBody>
      </p:sp>
      <p:sp>
        <p:nvSpPr>
          <p:cNvPr id="13" name="">
            <a:extLst xmlns:a="http://schemas.openxmlformats.org/drawingml/2006/main">
              <a:ext uri="{FF2B5EF4-FFF2-40B4-BE49-F238E27FC236}">
                <a16:creationId xmlns:a16="http://schemas.microsoft.com/office/drawing/2014/main" id="{125B87A5-299D-4366-A694-0B8A7CAAAE48}"/>
              </a:ext>
            </a:extLst>
          </p:cNvPr>
          <p:cNvSpPr>
            <a:spLocks xmlns:a="http://schemas.openxmlformats.org/drawingml/2006/main" noGrp="1"/>
          </p:cNvSpPr>
          <p:nvPr/>
        </p:nvSpPr>
        <p:spPr>
          <a:xfrm xmlns:a="http://schemas.openxmlformats.org/drawingml/2006/main">
            <a:off x="6477000" y="43815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C51D32"/>
                </a:solidFill>
                <a:latin typeface="Arial"/>
                <a:ea typeface="Arial"/>
                <a:cs typeface="Arial"/>
              </a:defRPr>
            </a:pPr>
            <a:r>
              <a:rPr sz="2325" b="1">
                <a:solidFill>
                  <a:srgbClr val="C51D32"/>
                </a:solidFill>
                <a:latin typeface="Arial"/>
                <a:ea typeface="Arial"/>
                <a:cs typeface="Arial"/>
              </a:rPr>
              <a:t>Occlusion</a:t>
            </a:r>
          </a:p>
        </p:txBody>
      </p:sp>
      <p:sp>
        <p:nvSpPr>
          <p:cNvPr id="14" name="">
            <a:extLst xmlns:a="http://schemas.openxmlformats.org/drawingml/2006/main">
              <a:ext uri="{FF2B5EF4-FFF2-40B4-BE49-F238E27FC236}">
                <a16:creationId xmlns:a16="http://schemas.microsoft.com/office/drawing/2014/main" id="{2A5E299A-F69C-4455-93DA-D403FF5D0BB4}"/>
              </a:ext>
            </a:extLst>
          </p:cNvPr>
          <p:cNvSpPr>
            <a:spLocks xmlns:a="http://schemas.openxmlformats.org/drawingml/2006/main" noGrp="1"/>
          </p:cNvSpPr>
          <p:nvPr/>
        </p:nvSpPr>
        <p:spPr>
          <a:xfrm xmlns:a="http://schemas.openxmlformats.org/drawingml/2006/main">
            <a:off x="6477000" y="48958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A20"/>
                </a:solidFill>
                <a:latin typeface="Arial"/>
                <a:ea typeface="Arial"/>
                <a:cs typeface="Arial"/>
              </a:defRPr>
            </a:pPr>
            <a:r>
              <a:rPr sz="1800" b="0">
                <a:solidFill>
                  <a:srgbClr val="161A20"/>
                </a:solidFill>
                <a:latin typeface="Arial"/>
                <a:ea typeface="Arial"/>
                <a:cs typeface="Arial"/>
              </a:rPr>
              <a:t>Reflected indirectly in detection loss</a:t>
            </a:r>
          </a:p>
        </p:txBody>
      </p:sp>
    </p:spTree>
    <p:extLst>
      <p:ext uri="{BB962C8B-B14F-4D97-AF65-F5344CB8AC3E}">
        <p14:creationId xmlns:p14="http://schemas.microsoft.com/office/powerpoint/2010/main" val="79461722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CED8BD-6F83-4D6C-AE4C-B6E0E825FE66}"/>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Logged detector validation: 85.2% mAP@50</a:t>
            </a:r>
          </a:p>
        </p:txBody>
      </p:sp>
      <p:sp>
        <p:nvSpPr>
          <p:cNvPr id="2" name="">
            <a:extLst xmlns:a="http://schemas.openxmlformats.org/drawingml/2006/main">
              <a:ext uri="{FF2B5EF4-FFF2-40B4-BE49-F238E27FC236}">
                <a16:creationId xmlns:a16="http://schemas.microsoft.com/office/drawing/2014/main" id="{57196873-75CE-45B8-93C8-CBE95F6C6856}"/>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Best logged mAP@50–95 epoch (22). These scores do not validate team identity or body parts.</a:t>
            </a:r>
          </a:p>
        </p:txBody>
      </p:sp>
      <p:sp>
        <p:nvSpPr>
          <p:cNvPr id="3" name="">
            <a:extLst xmlns:a="http://schemas.openxmlformats.org/drawingml/2006/main">
              <a:ext uri="{FF2B5EF4-FFF2-40B4-BE49-F238E27FC236}">
                <a16:creationId xmlns:a16="http://schemas.microsoft.com/office/drawing/2014/main" id="{BC260FE3-8F76-4149-972B-9ABD28D83CF9}"/>
              </a:ext>
            </a:extLst>
          </p:cNvPr>
          <p:cNvSpPr>
            <a:spLocks xmlns:a="http://schemas.openxmlformats.org/drawingml/2006/main" noGrp="1"/>
          </p:cNvSpPr>
          <p:nvPr/>
        </p:nvSpPr>
        <p:spPr>
          <a:xfrm xmlns:a="http://schemas.openxmlformats.org/drawingml/2006/main">
            <a:off x="619125" y="2190750"/>
            <a:ext cx="2714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61A20"/>
                </a:solidFill>
                <a:latin typeface="Arial"/>
                <a:ea typeface="Arial"/>
                <a:cs typeface="Arial"/>
              </a:defRPr>
            </a:pPr>
            <a:r>
              <a:rPr sz="4800" b="1">
                <a:solidFill>
                  <a:srgbClr val="161A20"/>
                </a:solidFill>
                <a:latin typeface="Arial"/>
                <a:ea typeface="Arial"/>
                <a:cs typeface="Arial"/>
              </a:rPr>
              <a:t>82.6%</a:t>
            </a:r>
          </a:p>
        </p:txBody>
      </p:sp>
      <p:sp>
        <p:nvSpPr>
          <p:cNvPr id="4" name="">
            <a:extLst xmlns:a="http://schemas.openxmlformats.org/drawingml/2006/main">
              <a:ext uri="{FF2B5EF4-FFF2-40B4-BE49-F238E27FC236}">
                <a16:creationId xmlns:a16="http://schemas.microsoft.com/office/drawing/2014/main" id="{DBB33E71-53C0-45BD-B195-C8F912F5E8C4}"/>
              </a:ext>
            </a:extLst>
          </p:cNvPr>
          <p:cNvSpPr>
            <a:spLocks xmlns:a="http://schemas.openxmlformats.org/drawingml/2006/main" noGrp="1"/>
          </p:cNvSpPr>
          <p:nvPr/>
        </p:nvSpPr>
        <p:spPr>
          <a:xfrm xmlns:a="http://schemas.openxmlformats.org/drawingml/2006/main">
            <a:off x="619125" y="338137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A20"/>
                </a:solidFill>
                <a:latin typeface="Arial"/>
                <a:ea typeface="Arial"/>
                <a:cs typeface="Arial"/>
              </a:defRPr>
            </a:pPr>
            <a:r>
              <a:rPr sz="2025" b="0">
                <a:solidFill>
                  <a:srgbClr val="161A20"/>
                </a:solidFill>
                <a:latin typeface="Arial"/>
                <a:ea typeface="Arial"/>
                <a:cs typeface="Arial"/>
              </a:rPr>
              <a:t>Precision</a:t>
            </a:r>
          </a:p>
        </p:txBody>
      </p:sp>
      <p:sp>
        <p:nvSpPr>
          <p:cNvPr id="5" name="">
            <a:extLst xmlns:a="http://schemas.openxmlformats.org/drawingml/2006/main">
              <a:ext uri="{FF2B5EF4-FFF2-40B4-BE49-F238E27FC236}">
                <a16:creationId xmlns:a16="http://schemas.microsoft.com/office/drawing/2014/main" id="{FEF8FC11-3FF2-4244-8599-916BEC83EFD1}"/>
              </a:ext>
            </a:extLst>
          </p:cNvPr>
          <p:cNvSpPr>
            <a:spLocks xmlns:a="http://schemas.openxmlformats.org/drawingml/2006/main" noGrp="1"/>
          </p:cNvSpPr>
          <p:nvPr/>
        </p:nvSpPr>
        <p:spPr>
          <a:xfrm xmlns:a="http://schemas.openxmlformats.org/drawingml/2006/main">
            <a:off x="3524250" y="2190750"/>
            <a:ext cx="2714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61A20"/>
                </a:solidFill>
                <a:latin typeface="Arial"/>
                <a:ea typeface="Arial"/>
                <a:cs typeface="Arial"/>
              </a:defRPr>
            </a:pPr>
            <a:r>
              <a:rPr sz="4800" b="1">
                <a:solidFill>
                  <a:srgbClr val="161A20"/>
                </a:solidFill>
                <a:latin typeface="Arial"/>
                <a:ea typeface="Arial"/>
                <a:cs typeface="Arial"/>
              </a:rPr>
              <a:t>73.1%</a:t>
            </a:r>
          </a:p>
        </p:txBody>
      </p:sp>
      <p:sp>
        <p:nvSpPr>
          <p:cNvPr id="6" name="">
            <a:extLst xmlns:a="http://schemas.openxmlformats.org/drawingml/2006/main">
              <a:ext uri="{FF2B5EF4-FFF2-40B4-BE49-F238E27FC236}">
                <a16:creationId xmlns:a16="http://schemas.microsoft.com/office/drawing/2014/main" id="{EFFB2BC7-3DC0-4884-BA33-FDD94923DF09}"/>
              </a:ext>
            </a:extLst>
          </p:cNvPr>
          <p:cNvSpPr>
            <a:spLocks xmlns:a="http://schemas.openxmlformats.org/drawingml/2006/main" noGrp="1"/>
          </p:cNvSpPr>
          <p:nvPr/>
        </p:nvSpPr>
        <p:spPr>
          <a:xfrm xmlns:a="http://schemas.openxmlformats.org/drawingml/2006/main">
            <a:off x="3524250" y="338137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A20"/>
                </a:solidFill>
                <a:latin typeface="Arial"/>
                <a:ea typeface="Arial"/>
                <a:cs typeface="Arial"/>
              </a:defRPr>
            </a:pPr>
            <a:r>
              <a:rPr sz="2025" b="0">
                <a:solidFill>
                  <a:srgbClr val="161A20"/>
                </a:solidFill>
                <a:latin typeface="Arial"/>
                <a:ea typeface="Arial"/>
                <a:cs typeface="Arial"/>
              </a:rPr>
              <a:t>Recall</a:t>
            </a:r>
          </a:p>
        </p:txBody>
      </p:sp>
      <p:sp>
        <p:nvSpPr>
          <p:cNvPr id="7" name="">
            <a:extLst xmlns:a="http://schemas.openxmlformats.org/drawingml/2006/main">
              <a:ext uri="{FF2B5EF4-FFF2-40B4-BE49-F238E27FC236}">
                <a16:creationId xmlns:a16="http://schemas.microsoft.com/office/drawing/2014/main" id="{F35928B3-B676-41F1-9422-27C9DFE129BB}"/>
              </a:ext>
            </a:extLst>
          </p:cNvPr>
          <p:cNvSpPr>
            <a:spLocks xmlns:a="http://schemas.openxmlformats.org/drawingml/2006/main" noGrp="1"/>
          </p:cNvSpPr>
          <p:nvPr/>
        </p:nvSpPr>
        <p:spPr>
          <a:xfrm xmlns:a="http://schemas.openxmlformats.org/drawingml/2006/main">
            <a:off x="6429375" y="2190750"/>
            <a:ext cx="2714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C51D32"/>
                </a:solidFill>
                <a:latin typeface="Arial"/>
                <a:ea typeface="Arial"/>
                <a:cs typeface="Arial"/>
              </a:defRPr>
            </a:pPr>
            <a:r>
              <a:rPr sz="4800" b="1">
                <a:solidFill>
                  <a:srgbClr val="C51D32"/>
                </a:solidFill>
                <a:latin typeface="Arial"/>
                <a:ea typeface="Arial"/>
                <a:cs typeface="Arial"/>
              </a:rPr>
              <a:t>85.2%</a:t>
            </a:r>
          </a:p>
        </p:txBody>
      </p:sp>
      <p:sp>
        <p:nvSpPr>
          <p:cNvPr id="8" name="">
            <a:extLst xmlns:a="http://schemas.openxmlformats.org/drawingml/2006/main">
              <a:ext uri="{FF2B5EF4-FFF2-40B4-BE49-F238E27FC236}">
                <a16:creationId xmlns:a16="http://schemas.microsoft.com/office/drawing/2014/main" id="{72315F0A-5DD8-45E1-9A06-6D012D83AF8B}"/>
              </a:ext>
            </a:extLst>
          </p:cNvPr>
          <p:cNvSpPr>
            <a:spLocks xmlns:a="http://schemas.openxmlformats.org/drawingml/2006/main" noGrp="1"/>
          </p:cNvSpPr>
          <p:nvPr/>
        </p:nvSpPr>
        <p:spPr>
          <a:xfrm xmlns:a="http://schemas.openxmlformats.org/drawingml/2006/main">
            <a:off x="6429375" y="338137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A20"/>
                </a:solidFill>
                <a:latin typeface="Arial"/>
                <a:ea typeface="Arial"/>
                <a:cs typeface="Arial"/>
              </a:defRPr>
            </a:pPr>
            <a:r>
              <a:rPr sz="2025" b="0">
                <a:solidFill>
                  <a:srgbClr val="161A20"/>
                </a:solidFill>
                <a:latin typeface="Arial"/>
                <a:ea typeface="Arial"/>
                <a:cs typeface="Arial"/>
              </a:rPr>
              <a:t>mAP@50</a:t>
            </a:r>
          </a:p>
        </p:txBody>
      </p:sp>
      <p:sp>
        <p:nvSpPr>
          <p:cNvPr id="9" name="">
            <a:extLst xmlns:a="http://schemas.openxmlformats.org/drawingml/2006/main">
              <a:ext uri="{FF2B5EF4-FFF2-40B4-BE49-F238E27FC236}">
                <a16:creationId xmlns:a16="http://schemas.microsoft.com/office/drawing/2014/main" id="{1F1D186F-CAF7-4888-8026-2C4A6DB934D9}"/>
              </a:ext>
            </a:extLst>
          </p:cNvPr>
          <p:cNvSpPr>
            <a:spLocks xmlns:a="http://schemas.openxmlformats.org/drawingml/2006/main" noGrp="1"/>
          </p:cNvSpPr>
          <p:nvPr/>
        </p:nvSpPr>
        <p:spPr>
          <a:xfrm xmlns:a="http://schemas.openxmlformats.org/drawingml/2006/main">
            <a:off x="9334500" y="2190750"/>
            <a:ext cx="2714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61A20"/>
                </a:solidFill>
                <a:latin typeface="Arial"/>
                <a:ea typeface="Arial"/>
                <a:cs typeface="Arial"/>
              </a:defRPr>
            </a:pPr>
            <a:r>
              <a:rPr sz="4800" b="1">
                <a:solidFill>
                  <a:srgbClr val="161A20"/>
                </a:solidFill>
                <a:latin typeface="Arial"/>
                <a:ea typeface="Arial"/>
                <a:cs typeface="Arial"/>
              </a:rPr>
              <a:t>63.9%</a:t>
            </a:r>
          </a:p>
        </p:txBody>
      </p:sp>
      <p:sp>
        <p:nvSpPr>
          <p:cNvPr id="10" name="">
            <a:extLst xmlns:a="http://schemas.openxmlformats.org/drawingml/2006/main">
              <a:ext uri="{FF2B5EF4-FFF2-40B4-BE49-F238E27FC236}">
                <a16:creationId xmlns:a16="http://schemas.microsoft.com/office/drawing/2014/main" id="{4503AB16-ECAC-4D62-95D5-6D00991C06E0}"/>
              </a:ext>
            </a:extLst>
          </p:cNvPr>
          <p:cNvSpPr>
            <a:spLocks xmlns:a="http://schemas.openxmlformats.org/drawingml/2006/main" noGrp="1"/>
          </p:cNvSpPr>
          <p:nvPr/>
        </p:nvSpPr>
        <p:spPr>
          <a:xfrm xmlns:a="http://schemas.openxmlformats.org/drawingml/2006/main">
            <a:off x="9334500" y="338137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A20"/>
                </a:solidFill>
                <a:latin typeface="Arial"/>
                <a:ea typeface="Arial"/>
                <a:cs typeface="Arial"/>
              </a:defRPr>
            </a:pPr>
            <a:r>
              <a:rPr sz="2025" b="0">
                <a:solidFill>
                  <a:srgbClr val="161A20"/>
                </a:solidFill>
                <a:latin typeface="Arial"/>
                <a:ea typeface="Arial"/>
                <a:cs typeface="Arial"/>
              </a:rPr>
              <a:t>mAP@50–95</a:t>
            </a:r>
          </a:p>
        </p:txBody>
      </p:sp>
      <p:sp>
        <p:nvSpPr>
          <p:cNvPr id="11" name="">
            <a:extLst xmlns:a="http://schemas.openxmlformats.org/drawingml/2006/main">
              <a:ext uri="{FF2B5EF4-FFF2-40B4-BE49-F238E27FC236}">
                <a16:creationId xmlns:a16="http://schemas.microsoft.com/office/drawing/2014/main" id="{C10CB417-EA00-4262-B68B-F562AEBF791E}"/>
              </a:ext>
            </a:extLst>
          </p:cNvPr>
          <p:cNvSpPr>
            <a:spLocks xmlns:a="http://schemas.openxmlformats.org/drawingml/2006/main" noGrp="1"/>
          </p:cNvSpPr>
          <p:nvPr/>
        </p:nvSpPr>
        <p:spPr>
          <a:xfrm xmlns:a="http://schemas.openxmlformats.org/drawingml/2006/main">
            <a:off x="666750" y="48577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1A20"/>
                </a:solidFill>
                <a:latin typeface="Arial"/>
                <a:ea typeface="Arial"/>
                <a:cs typeface="Arial"/>
              </a:defRPr>
            </a:pPr>
            <a:r>
              <a:rPr sz="2250" b="1">
                <a:solidFill>
                  <a:srgbClr val="161A20"/>
                </a:solidFill>
                <a:latin typeface="Arial"/>
                <a:ea typeface="Arial"/>
                <a:cs typeface="Arial"/>
              </a:rPr>
              <a:t>Next validation: label teams and body parts across tackles, cuts and distant shots.</a:t>
            </a:r>
          </a:p>
        </p:txBody>
      </p:sp>
    </p:spTree>
    <p:extLst>
      <p:ext uri="{BB962C8B-B14F-4D97-AF65-F5344CB8AC3E}">
        <p14:creationId xmlns:p14="http://schemas.microsoft.com/office/powerpoint/2010/main" val="3856336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1F7F57F-175D-4CA9-B51C-8BC0CDB2212A}"/>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The system keeps a traceable path back to footage</a:t>
            </a:r>
          </a:p>
        </p:txBody>
      </p:sp>
      <p:sp>
        <p:nvSpPr>
          <p:cNvPr id="2" name="">
            <a:extLst xmlns:a="http://schemas.openxmlformats.org/drawingml/2006/main">
              <a:ext uri="{FF2B5EF4-FFF2-40B4-BE49-F238E27FC236}">
                <a16:creationId xmlns:a16="http://schemas.microsoft.com/office/drawing/2014/main" id="{3A3B9A81-97EF-4899-ACF8-E6584B16B08F}"/>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Every exported screenshot and video comes from code execution on the source match.</a:t>
            </a:r>
          </a:p>
        </p:txBody>
      </p:sp>
      <p:sp>
        <p:nvSpPr>
          <p:cNvPr id="3" name="">
            <a:extLst xmlns:a="http://schemas.openxmlformats.org/drawingml/2006/main">
              <a:ext uri="{FF2B5EF4-FFF2-40B4-BE49-F238E27FC236}">
                <a16:creationId xmlns:a16="http://schemas.microsoft.com/office/drawing/2014/main" id="{E188B144-DCBF-4B4B-BB22-61D14AB02D9B}"/>
              </a:ext>
            </a:extLst>
          </p:cNvPr>
          <p:cNvSpPr>
            <a:spLocks xmlns:a="http://schemas.openxmlformats.org/drawingml/2006/main" noGrp="1"/>
          </p:cNvSpPr>
          <p:nvPr/>
        </p:nvSpPr>
        <p:spPr>
          <a:xfrm xmlns:a="http://schemas.openxmlformats.org/drawingml/2006/main">
            <a:off x="571500" y="2286000"/>
            <a:ext cx="2524125" cy="1714500"/>
          </a:xfrm>
          <a:prstGeom xmlns:a="http://schemas.openxmlformats.org/drawingml/2006/main" prst="rect">
            <a:avLst/>
          </a:prstGeom>
          <a:solidFill xmlns:a="http://schemas.openxmlformats.org/drawingml/2006/main">
            <a:srgbClr val="EEF0F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CF82ECB-0DB7-455A-8C6C-F970369888FA}"/>
              </a:ext>
            </a:extLst>
          </p:cNvPr>
          <p:cNvSpPr>
            <a:spLocks xmlns:a="http://schemas.openxmlformats.org/drawingml/2006/main" noGrp="1"/>
          </p:cNvSpPr>
          <p:nvPr/>
        </p:nvSpPr>
        <p:spPr>
          <a:xfrm xmlns:a="http://schemas.openxmlformats.org/drawingml/2006/main">
            <a:off x="742950" y="24288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51D32"/>
                </a:solidFill>
                <a:latin typeface="Arial"/>
                <a:ea typeface="Arial"/>
                <a:cs typeface="Arial"/>
              </a:defRPr>
            </a:pPr>
            <a:r>
              <a:rPr sz="2100" b="1">
                <a:solidFill>
                  <a:srgbClr val="C51D32"/>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90D57496-F642-4545-BF02-AC983B8B116B}"/>
              </a:ext>
            </a:extLst>
          </p:cNvPr>
          <p:cNvSpPr>
            <a:spLocks xmlns:a="http://schemas.openxmlformats.org/drawingml/2006/main" noGrp="1"/>
          </p:cNvSpPr>
          <p:nvPr/>
        </p:nvSpPr>
        <p:spPr>
          <a:xfrm xmlns:a="http://schemas.openxmlformats.org/drawingml/2006/main">
            <a:off x="742950" y="29527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1A20"/>
                </a:solidFill>
                <a:latin typeface="Arial"/>
                <a:ea typeface="Arial"/>
                <a:cs typeface="Arial"/>
              </a:defRPr>
            </a:pPr>
            <a:r>
              <a:rPr sz="2025" b="1">
                <a:solidFill>
                  <a:srgbClr val="161A20"/>
                </a:solidFill>
                <a:latin typeface="Arial"/>
                <a:ea typeface="Arial"/>
                <a:cs typeface="Arial"/>
              </a:rPr>
              <a:t>Match footage</a:t>
            </a:r>
          </a:p>
        </p:txBody>
      </p:sp>
      <p:sp>
        <p:nvSpPr>
          <p:cNvPr id="6" name="">
            <a:extLst xmlns:a="http://schemas.openxmlformats.org/drawingml/2006/main">
              <a:ext uri="{FF2B5EF4-FFF2-40B4-BE49-F238E27FC236}">
                <a16:creationId xmlns:a16="http://schemas.microsoft.com/office/drawing/2014/main" id="{7C1C44DE-D0F0-45C6-9547-424B1B442898}"/>
              </a:ext>
            </a:extLst>
          </p:cNvPr>
          <p:cNvSpPr>
            <a:spLocks xmlns:a="http://schemas.openxmlformats.org/drawingml/2006/main" noGrp="1"/>
          </p:cNvSpPr>
          <p:nvPr/>
        </p:nvSpPr>
        <p:spPr>
          <a:xfrm xmlns:a="http://schemas.openxmlformats.org/drawingml/2006/main">
            <a:off x="742950" y="3476625"/>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1A20"/>
                </a:solidFill>
                <a:latin typeface="Arial"/>
                <a:ea typeface="Arial"/>
                <a:cs typeface="Arial"/>
              </a:defRPr>
            </a:pPr>
            <a:r>
              <a:rPr sz="1575" b="0">
                <a:solidFill>
                  <a:srgbClr val="161A20"/>
                </a:solidFill>
                <a:latin typeface="Arial"/>
                <a:ea typeface="Arial"/>
                <a:cs typeface="Arial"/>
              </a:rPr>
              <a:t>Source + timestamp</a:t>
            </a:r>
          </a:p>
        </p:txBody>
      </p:sp>
      <p:sp>
        <p:nvSpPr>
          <p:cNvPr id="7" name="">
            <a:extLst xmlns:a="http://schemas.openxmlformats.org/drawingml/2006/main">
              <a:ext uri="{FF2B5EF4-FFF2-40B4-BE49-F238E27FC236}">
                <a16:creationId xmlns:a16="http://schemas.microsoft.com/office/drawing/2014/main" id="{BA668A19-A3FF-4C2B-9833-24BF94E3F051}"/>
              </a:ext>
            </a:extLst>
          </p:cNvPr>
          <p:cNvSpPr>
            <a:spLocks xmlns:a="http://schemas.openxmlformats.org/drawingml/2006/main" noGrp="1"/>
          </p:cNvSpPr>
          <p:nvPr/>
        </p:nvSpPr>
        <p:spPr>
          <a:xfrm xmlns:a="http://schemas.openxmlformats.org/drawingml/2006/main">
            <a:off x="3476625" y="2286000"/>
            <a:ext cx="2524125" cy="1714500"/>
          </a:xfrm>
          <a:prstGeom xmlns:a="http://schemas.openxmlformats.org/drawingml/2006/main" prst="rect">
            <a:avLst/>
          </a:prstGeom>
          <a:solidFill xmlns:a="http://schemas.openxmlformats.org/drawingml/2006/main">
            <a:srgbClr val="EEF0F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C9F2B4-1823-4E11-9713-3AFC1917DD7B}"/>
              </a:ext>
            </a:extLst>
          </p:cNvPr>
          <p:cNvSpPr>
            <a:spLocks xmlns:a="http://schemas.openxmlformats.org/drawingml/2006/main" noGrp="1"/>
          </p:cNvSpPr>
          <p:nvPr/>
        </p:nvSpPr>
        <p:spPr>
          <a:xfrm xmlns:a="http://schemas.openxmlformats.org/drawingml/2006/main">
            <a:off x="3648075" y="24288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51D32"/>
                </a:solidFill>
                <a:latin typeface="Arial"/>
                <a:ea typeface="Arial"/>
                <a:cs typeface="Arial"/>
              </a:defRPr>
            </a:pPr>
            <a:r>
              <a:rPr sz="2100" b="1">
                <a:solidFill>
                  <a:srgbClr val="C51D32"/>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69086AEB-5E2D-4A3A-94DB-1B2552FAB3BE}"/>
              </a:ext>
            </a:extLst>
          </p:cNvPr>
          <p:cNvSpPr>
            <a:spLocks xmlns:a="http://schemas.openxmlformats.org/drawingml/2006/main" noGrp="1"/>
          </p:cNvSpPr>
          <p:nvPr/>
        </p:nvSpPr>
        <p:spPr>
          <a:xfrm xmlns:a="http://schemas.openxmlformats.org/drawingml/2006/main">
            <a:off x="3648075" y="29527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1A20"/>
                </a:solidFill>
                <a:latin typeface="Arial"/>
                <a:ea typeface="Arial"/>
                <a:cs typeface="Arial"/>
              </a:defRPr>
            </a:pPr>
            <a:r>
              <a:rPr sz="2025" b="1">
                <a:solidFill>
                  <a:srgbClr val="161A20"/>
                </a:solidFill>
                <a:latin typeface="Arial"/>
                <a:ea typeface="Arial"/>
                <a:cs typeface="Arial"/>
              </a:rPr>
              <a:t>Logo detection</a:t>
            </a:r>
          </a:p>
        </p:txBody>
      </p:sp>
      <p:sp>
        <p:nvSpPr>
          <p:cNvPr id="10" name="">
            <a:extLst xmlns:a="http://schemas.openxmlformats.org/drawingml/2006/main">
              <a:ext uri="{FF2B5EF4-FFF2-40B4-BE49-F238E27FC236}">
                <a16:creationId xmlns:a16="http://schemas.microsoft.com/office/drawing/2014/main" id="{B221BA03-956A-448C-8D49-05E8F0174980}"/>
              </a:ext>
            </a:extLst>
          </p:cNvPr>
          <p:cNvSpPr>
            <a:spLocks xmlns:a="http://schemas.openxmlformats.org/drawingml/2006/main" noGrp="1"/>
          </p:cNvSpPr>
          <p:nvPr/>
        </p:nvSpPr>
        <p:spPr>
          <a:xfrm xmlns:a="http://schemas.openxmlformats.org/drawingml/2006/main">
            <a:off x="3648075" y="3476625"/>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1A20"/>
                </a:solidFill>
                <a:latin typeface="Arial"/>
                <a:ea typeface="Arial"/>
                <a:cs typeface="Arial"/>
              </a:defRPr>
            </a:pPr>
            <a:r>
              <a:rPr sz="1575" b="0">
                <a:solidFill>
                  <a:srgbClr val="161A20"/>
                </a:solidFill>
                <a:latin typeface="Arial"/>
                <a:ea typeface="Arial"/>
                <a:cs typeface="Arial"/>
              </a:rPr>
              <a:t>Box + confidence</a:t>
            </a:r>
          </a:p>
        </p:txBody>
      </p:sp>
      <p:sp>
        <p:nvSpPr>
          <p:cNvPr id="11" name="">
            <a:extLst xmlns:a="http://schemas.openxmlformats.org/drawingml/2006/main">
              <a:ext uri="{FF2B5EF4-FFF2-40B4-BE49-F238E27FC236}">
                <a16:creationId xmlns:a16="http://schemas.microsoft.com/office/drawing/2014/main" id="{40F89232-CEB2-446C-ADDA-7D6D888CE0EC}"/>
              </a:ext>
            </a:extLst>
          </p:cNvPr>
          <p:cNvSpPr>
            <a:spLocks xmlns:a="http://schemas.openxmlformats.org/drawingml/2006/main" noGrp="1"/>
          </p:cNvSpPr>
          <p:nvPr/>
        </p:nvSpPr>
        <p:spPr>
          <a:xfrm xmlns:a="http://schemas.openxmlformats.org/drawingml/2006/main">
            <a:off x="6381750" y="2286000"/>
            <a:ext cx="2524125" cy="1714500"/>
          </a:xfrm>
          <a:prstGeom xmlns:a="http://schemas.openxmlformats.org/drawingml/2006/main" prst="rect">
            <a:avLst/>
          </a:prstGeom>
          <a:solidFill xmlns:a="http://schemas.openxmlformats.org/drawingml/2006/main">
            <a:srgbClr val="F8E8E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0A3270D-53F8-44E0-AE67-C97C9AC0292D}"/>
              </a:ext>
            </a:extLst>
          </p:cNvPr>
          <p:cNvSpPr>
            <a:spLocks xmlns:a="http://schemas.openxmlformats.org/drawingml/2006/main" noGrp="1"/>
          </p:cNvSpPr>
          <p:nvPr/>
        </p:nvSpPr>
        <p:spPr>
          <a:xfrm xmlns:a="http://schemas.openxmlformats.org/drawingml/2006/main">
            <a:off x="6553200" y="24288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51D32"/>
                </a:solidFill>
                <a:latin typeface="Arial"/>
                <a:ea typeface="Arial"/>
                <a:cs typeface="Arial"/>
              </a:defRPr>
            </a:pPr>
            <a:r>
              <a:rPr sz="2100" b="1">
                <a:solidFill>
                  <a:srgbClr val="C51D32"/>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62564E47-7787-4E2D-A544-198064D61862}"/>
              </a:ext>
            </a:extLst>
          </p:cNvPr>
          <p:cNvSpPr>
            <a:spLocks xmlns:a="http://schemas.openxmlformats.org/drawingml/2006/main" noGrp="1"/>
          </p:cNvSpPr>
          <p:nvPr/>
        </p:nvSpPr>
        <p:spPr>
          <a:xfrm xmlns:a="http://schemas.openxmlformats.org/drawingml/2006/main">
            <a:off x="6553200" y="29527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1A20"/>
                </a:solidFill>
                <a:latin typeface="Arial"/>
                <a:ea typeface="Arial"/>
                <a:cs typeface="Arial"/>
              </a:defRPr>
            </a:pPr>
            <a:r>
              <a:rPr sz="2025" b="1">
                <a:solidFill>
                  <a:srgbClr val="161A20"/>
                </a:solidFill>
                <a:latin typeface="Arial"/>
                <a:ea typeface="Arial"/>
                <a:cs typeface="Arial"/>
              </a:rPr>
              <a:t>Team / body</a:t>
            </a:r>
          </a:p>
        </p:txBody>
      </p:sp>
      <p:sp>
        <p:nvSpPr>
          <p:cNvPr id="14" name="">
            <a:extLst xmlns:a="http://schemas.openxmlformats.org/drawingml/2006/main">
              <a:ext uri="{FF2B5EF4-FFF2-40B4-BE49-F238E27FC236}">
                <a16:creationId xmlns:a16="http://schemas.microsoft.com/office/drawing/2014/main" id="{0A3F305F-09D6-4F89-BF8B-86BCE19DDD0E}"/>
              </a:ext>
            </a:extLst>
          </p:cNvPr>
          <p:cNvSpPr>
            <a:spLocks xmlns:a="http://schemas.openxmlformats.org/drawingml/2006/main" noGrp="1"/>
          </p:cNvSpPr>
          <p:nvPr/>
        </p:nvSpPr>
        <p:spPr>
          <a:xfrm xmlns:a="http://schemas.openxmlformats.org/drawingml/2006/main">
            <a:off x="6553200" y="3476625"/>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1A20"/>
                </a:solidFill>
                <a:latin typeface="Arial"/>
                <a:ea typeface="Arial"/>
                <a:cs typeface="Arial"/>
              </a:defRPr>
            </a:pPr>
            <a:r>
              <a:rPr sz="1575" b="0">
                <a:solidFill>
                  <a:srgbClr val="161A20"/>
                </a:solidFill>
                <a:latin typeface="Arial"/>
                <a:ea typeface="Arial"/>
                <a:cs typeface="Arial"/>
              </a:rPr>
              <a:t>Ownership + pose</a:t>
            </a:r>
          </a:p>
        </p:txBody>
      </p:sp>
      <p:sp>
        <p:nvSpPr>
          <p:cNvPr id="15" name="">
            <a:extLst xmlns:a="http://schemas.openxmlformats.org/drawingml/2006/main">
              <a:ext uri="{FF2B5EF4-FFF2-40B4-BE49-F238E27FC236}">
                <a16:creationId xmlns:a16="http://schemas.microsoft.com/office/drawing/2014/main" id="{3C8D8150-2EE4-49E4-A3A9-9E3E6D2C0EC0}"/>
              </a:ext>
            </a:extLst>
          </p:cNvPr>
          <p:cNvSpPr>
            <a:spLocks xmlns:a="http://schemas.openxmlformats.org/drawingml/2006/main" noGrp="1"/>
          </p:cNvSpPr>
          <p:nvPr/>
        </p:nvSpPr>
        <p:spPr>
          <a:xfrm xmlns:a="http://schemas.openxmlformats.org/drawingml/2006/main">
            <a:off x="9286875" y="2286000"/>
            <a:ext cx="2524125" cy="1714500"/>
          </a:xfrm>
          <a:prstGeom xmlns:a="http://schemas.openxmlformats.org/drawingml/2006/main" prst="rect">
            <a:avLst/>
          </a:prstGeom>
          <a:solidFill xmlns:a="http://schemas.openxmlformats.org/drawingml/2006/main">
            <a:srgbClr val="EEF0F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684D63B-8BC2-4A14-96C9-981918691ABB}"/>
              </a:ext>
            </a:extLst>
          </p:cNvPr>
          <p:cNvSpPr>
            <a:spLocks xmlns:a="http://schemas.openxmlformats.org/drawingml/2006/main" noGrp="1"/>
          </p:cNvSpPr>
          <p:nvPr/>
        </p:nvSpPr>
        <p:spPr>
          <a:xfrm xmlns:a="http://schemas.openxmlformats.org/drawingml/2006/main">
            <a:off x="9458325" y="24288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51D32"/>
                </a:solidFill>
                <a:latin typeface="Arial"/>
                <a:ea typeface="Arial"/>
                <a:cs typeface="Arial"/>
              </a:defRPr>
            </a:pPr>
            <a:r>
              <a:rPr sz="2100" b="1">
                <a:solidFill>
                  <a:srgbClr val="C51D32"/>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A59A551A-D6E3-4813-9868-048C807197D7}"/>
              </a:ext>
            </a:extLst>
          </p:cNvPr>
          <p:cNvSpPr>
            <a:spLocks xmlns:a="http://schemas.openxmlformats.org/drawingml/2006/main" noGrp="1"/>
          </p:cNvSpPr>
          <p:nvPr/>
        </p:nvSpPr>
        <p:spPr>
          <a:xfrm xmlns:a="http://schemas.openxmlformats.org/drawingml/2006/main">
            <a:off x="9458325" y="29527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1A20"/>
                </a:solidFill>
                <a:latin typeface="Arial"/>
                <a:ea typeface="Arial"/>
                <a:cs typeface="Arial"/>
              </a:defRPr>
            </a:pPr>
            <a:r>
              <a:rPr sz="2025" b="1">
                <a:solidFill>
                  <a:srgbClr val="161A20"/>
                </a:solidFill>
                <a:latin typeface="Arial"/>
                <a:ea typeface="Arial"/>
                <a:cs typeface="Arial"/>
              </a:rPr>
              <a:t>Exposure</a:t>
            </a:r>
          </a:p>
        </p:txBody>
      </p:sp>
      <p:sp>
        <p:nvSpPr>
          <p:cNvPr id="18" name="">
            <a:extLst xmlns:a="http://schemas.openxmlformats.org/drawingml/2006/main">
              <a:ext uri="{FF2B5EF4-FFF2-40B4-BE49-F238E27FC236}">
                <a16:creationId xmlns:a16="http://schemas.microsoft.com/office/drawing/2014/main" id="{99644D34-6DB6-4FF8-BAA0-0961C3E79390}"/>
              </a:ext>
            </a:extLst>
          </p:cNvPr>
          <p:cNvSpPr>
            <a:spLocks xmlns:a="http://schemas.openxmlformats.org/drawingml/2006/main" noGrp="1"/>
          </p:cNvSpPr>
          <p:nvPr/>
        </p:nvSpPr>
        <p:spPr>
          <a:xfrm xmlns:a="http://schemas.openxmlformats.org/drawingml/2006/main">
            <a:off x="9458325" y="3476625"/>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1A20"/>
                </a:solidFill>
                <a:latin typeface="Arial"/>
                <a:ea typeface="Arial"/>
                <a:cs typeface="Arial"/>
              </a:defRPr>
            </a:pPr>
            <a:r>
              <a:rPr sz="1575" b="0">
                <a:solidFill>
                  <a:srgbClr val="161A20"/>
                </a:solidFill>
                <a:latin typeface="Arial"/>
                <a:ea typeface="Arial"/>
                <a:cs typeface="Arial"/>
              </a:rPr>
              <a:t>Duration + weight</a:t>
            </a:r>
          </a:p>
        </p:txBody>
      </p:sp>
      <p:sp>
        <p:nvSpPr>
          <p:cNvPr id="19" name="">
            <a:extLst xmlns:a="http://schemas.openxmlformats.org/drawingml/2006/main">
              <a:ext uri="{FF2B5EF4-FFF2-40B4-BE49-F238E27FC236}">
                <a16:creationId xmlns:a16="http://schemas.microsoft.com/office/drawing/2014/main" id="{AE02DC0D-777B-401B-9BBF-FB85E4A2D117}"/>
              </a:ext>
            </a:extLst>
          </p:cNvPr>
          <p:cNvSpPr>
            <a:spLocks xmlns:a="http://schemas.openxmlformats.org/drawingml/2006/main" noGrp="1"/>
          </p:cNvSpPr>
          <p:nvPr/>
        </p:nvSpPr>
        <p:spPr>
          <a:xfrm xmlns:a="http://schemas.openxmlformats.org/drawingml/2006/main">
            <a:off x="571500" y="490537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1A20"/>
                </a:solidFill>
                <a:latin typeface="Arial"/>
                <a:ea typeface="Arial"/>
                <a:cs typeface="Arial"/>
              </a:defRPr>
            </a:pPr>
            <a:r>
              <a:rPr sz="2400" b="1">
                <a:solidFill>
                  <a:srgbClr val="161A20"/>
                </a:solidFill>
                <a:latin typeface="Arial"/>
                <a:ea typeface="Arial"/>
                <a:cs typeface="Arial"/>
              </a:rPr>
              <a:t>Per-frame JSON and a run manifest make each demo reproducible.</a:t>
            </a:r>
          </a:p>
        </p:txBody>
      </p:sp>
    </p:spTree>
    <p:extLst>
      <p:ext uri="{BB962C8B-B14F-4D97-AF65-F5344CB8AC3E}">
        <p14:creationId xmlns:p14="http://schemas.microsoft.com/office/powerpoint/2010/main" val="18950875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1B21A3-34B3-4522-A405-3C161D0F1BD0}"/>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1A20"/>
                </a:solidFill>
                <a:latin typeface="Arial"/>
                <a:ea typeface="Arial"/>
                <a:cs typeface="Arial"/>
              </a:defRPr>
            </a:pPr>
            <a:r>
              <a:rPr sz="3000" b="1">
                <a:solidFill>
                  <a:srgbClr val="161A20"/>
                </a:solidFill>
                <a:latin typeface="Arial"/>
                <a:ea typeface="Arial"/>
                <a:cs typeface="Arial"/>
              </a:rPr>
              <a:t>Tackles, camera cuts and small logos remain difficult</a:t>
            </a:r>
          </a:p>
        </p:txBody>
      </p:sp>
      <p:sp>
        <p:nvSpPr>
          <p:cNvPr id="2" name="">
            <a:extLst xmlns:a="http://schemas.openxmlformats.org/drawingml/2006/main">
              <a:ext uri="{FF2B5EF4-FFF2-40B4-BE49-F238E27FC236}">
                <a16:creationId xmlns:a16="http://schemas.microsoft.com/office/drawing/2014/main" id="{D4969E62-954B-4C89-858C-FF45091AF075}"/>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974"/>
                </a:solidFill>
                <a:latin typeface="Arial"/>
                <a:ea typeface="Arial"/>
                <a:cs typeface="Arial"/>
              </a:defRPr>
            </a:pPr>
            <a:r>
              <a:rPr sz="1275" b="0">
                <a:solidFill>
                  <a:srgbClr val="626974"/>
                </a:solidFill>
                <a:latin typeface="Arial"/>
                <a:ea typeface="Arial"/>
                <a:cs typeface="Arial"/>
              </a:rPr>
              <a:t>Unknown labels and reviewable evidence are necessary parts of the output.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b20dcb74a934fe5"/>
          <a:stretch xmlns:a="http://schemas.openxmlformats.org/drawingml/2006/main"/>
        </p:blipFill>
        <p:spPr>
          <a:xfrm xmlns:a="http://schemas.openxmlformats.org/drawingml/2006/main">
            <a:off x="573088" y="1571625"/>
            <a:ext cx="6807200" cy="3829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F3B163B-FCB1-4597-B7F8-70429719BF13}"/>
              </a:ext>
            </a:extLst>
          </p:cNvPr>
          <p:cNvSpPr>
            <a:spLocks xmlns:a="http://schemas.openxmlformats.org/drawingml/2006/main" noGrp="1"/>
          </p:cNvSpPr>
          <p:nvPr/>
        </p:nvSpPr>
        <p:spPr>
          <a:xfrm xmlns:a="http://schemas.openxmlformats.org/drawingml/2006/main">
            <a:off x="7762875" y="1571625"/>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C51D32"/>
                </a:solidFill>
                <a:latin typeface="Arial"/>
                <a:ea typeface="Arial"/>
                <a:cs typeface="Arial"/>
              </a:defRPr>
            </a:pPr>
            <a:r>
              <a:rPr sz="2325" b="1">
                <a:solidFill>
                  <a:srgbClr val="C51D32"/>
                </a:solidFill>
                <a:latin typeface="Arial"/>
                <a:ea typeface="Arial"/>
                <a:cs typeface="Arial"/>
              </a:rPr>
              <a:t>Visible limitations</a:t>
            </a:r>
          </a:p>
        </p:txBody>
      </p:sp>
      <p:sp>
        <p:nvSpPr>
          <p:cNvPr id="5" name="">
            <a:extLst xmlns:a="http://schemas.openxmlformats.org/drawingml/2006/main">
              <a:ext uri="{FF2B5EF4-FFF2-40B4-BE49-F238E27FC236}">
                <a16:creationId xmlns:a16="http://schemas.microsoft.com/office/drawing/2014/main" id="{243D743C-7FCD-464D-80B0-5CF957BB6384}"/>
              </a:ext>
            </a:extLst>
          </p:cNvPr>
          <p:cNvSpPr>
            <a:spLocks xmlns:a="http://schemas.openxmlformats.org/drawingml/2006/main" noGrp="1"/>
          </p:cNvSpPr>
          <p:nvPr/>
        </p:nvSpPr>
        <p:spPr>
          <a:xfrm xmlns:a="http://schemas.openxmlformats.org/drawingml/2006/main">
            <a:off x="7762875" y="2286000"/>
            <a:ext cx="3714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1A20"/>
                </a:solidFill>
                <a:latin typeface="Arial"/>
                <a:ea typeface="Arial"/>
                <a:cs typeface="Arial"/>
              </a:defRPr>
            </a:pPr>
            <a:r>
              <a:rPr sz="1875" b="0">
                <a:solidFill>
                  <a:srgbClr val="161A20"/>
                </a:solidFill>
                <a:latin typeface="Arial"/>
                <a:ea typeface="Arial"/>
                <a:cs typeface="Arial"/>
              </a:rPr>
              <a:t>Overlapping players mix kit colours</a:t>
            </a:r>
          </a:p>
          <a:p xmlns:a="http://schemas.openxmlformats.org/drawingml/2006/main">
            <a:r>
              <a:t/>
            </a:r>
          </a:p>
          <a:p xmlns:a="http://schemas.openxmlformats.org/drawingml/2006/main">
            <a:pPr>
              <a:defRPr sz="1875" b="0">
                <a:solidFill>
                  <a:srgbClr val="161A20"/>
                </a:solidFill>
                <a:latin typeface="Arial"/>
                <a:ea typeface="Arial"/>
                <a:cs typeface="Arial"/>
              </a:defRPr>
            </a:pPr>
            <a:r>
              <a:rPr sz="1875" b="0">
                <a:solidFill>
                  <a:srgbClr val="161A20"/>
                </a:solidFill>
                <a:latin typeface="Arial"/>
                <a:ea typeface="Arial"/>
                <a:cs typeface="Arial"/>
              </a:rPr>
              <a:t>Missing joints leave uncertain regions</a:t>
            </a:r>
          </a:p>
          <a:p xmlns:a="http://schemas.openxmlformats.org/drawingml/2006/main">
            <a:r>
              <a:t/>
            </a:r>
          </a:p>
          <a:p xmlns:a="http://schemas.openxmlformats.org/drawingml/2006/main">
            <a:pPr>
              <a:defRPr sz="1875" b="0">
                <a:solidFill>
                  <a:srgbClr val="161A20"/>
                </a:solidFill>
                <a:latin typeface="Arial"/>
                <a:ea typeface="Arial"/>
                <a:cs typeface="Arial"/>
              </a:defRPr>
            </a:pPr>
            <a:r>
              <a:rPr sz="1875" b="0">
                <a:solidFill>
                  <a:srgbClr val="161A20"/>
                </a:solidFill>
                <a:latin typeface="Arial"/>
                <a:ea typeface="Arial"/>
                <a:cs typeface="Arial"/>
              </a:rPr>
              <a:t>Distant logos lose readable detail</a:t>
            </a:r>
          </a:p>
          <a:p xmlns:a="http://schemas.openxmlformats.org/drawingml/2006/main">
            <a:r>
              <a:t/>
            </a:r>
          </a:p>
          <a:p xmlns:a="http://schemas.openxmlformats.org/drawingml/2006/main">
            <a:pPr>
              <a:defRPr sz="1875" b="0">
                <a:solidFill>
                  <a:srgbClr val="161A20"/>
                </a:solidFill>
                <a:latin typeface="Arial"/>
                <a:ea typeface="Arial"/>
                <a:cs typeface="Arial"/>
              </a:defRPr>
            </a:pPr>
            <a:r>
              <a:rPr sz="1875" b="0">
                <a:solidFill>
                  <a:srgbClr val="161A20"/>
                </a:solidFill>
                <a:latin typeface="Arial"/>
                <a:ea typeface="Arial"/>
                <a:cs typeface="Arial"/>
              </a:rPr>
              <a:t>Close kit slots share pose anchors</a:t>
            </a:r>
          </a:p>
        </p:txBody>
      </p:sp>
    </p:spTree>
    <p:extLst>
      <p:ext uri="{BB962C8B-B14F-4D97-AF65-F5344CB8AC3E}">
        <p14:creationId xmlns:p14="http://schemas.microsoft.com/office/powerpoint/2010/main" val="1054100401"/>
      </p:ext>
    </p:extLst>
  </p:cSld>
</p:sld>
</file>

<file path=ppt/slides/slide16.xml><?xml version="1.0" encoding="utf-8"?>
<p:sld xmlns:p="http://schemas.openxmlformats.org/presentationml/2006/main">
  <p:cSld>
    <p:bg>
      <p:bgPr>
        <a:solidFill xmlns:a="http://schemas.openxmlformats.org/drawingml/2006/main">
          <a:srgbClr val="161A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E63F52-B5F2-4894-914D-B7268924B3E8}"/>
              </a:ext>
            </a:extLst>
          </p:cNvPr>
          <p:cNvSpPr>
            <a:spLocks xmlns:a="http://schemas.openxmlformats.org/drawingml/2006/main" noGrp="1"/>
          </p:cNvSpPr>
          <p:nvPr/>
        </p:nvSpPr>
        <p:spPr>
          <a:xfrm xmlns:a="http://schemas.openxmlformats.org/drawingml/2006/main">
            <a:off x="571500" y="400050"/>
            <a:ext cx="1104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Bradford Bulls can use the evidence in sponsor reviews</a:t>
            </a:r>
          </a:p>
        </p:txBody>
      </p:sp>
      <p:sp>
        <p:nvSpPr>
          <p:cNvPr id="2" name="">
            <a:extLst xmlns:a="http://schemas.openxmlformats.org/drawingml/2006/main">
              <a:ext uri="{FF2B5EF4-FFF2-40B4-BE49-F238E27FC236}">
                <a16:creationId xmlns:a16="http://schemas.microsoft.com/office/drawing/2014/main" id="{AE465F21-5F64-4268-92F7-F983C6772A18}"/>
              </a:ext>
            </a:extLst>
          </p:cNvPr>
          <p:cNvSpPr>
            <a:spLocks xmlns:a="http://schemas.openxmlformats.org/drawingml/2006/main" noGrp="1"/>
          </p:cNvSpPr>
          <p:nvPr/>
        </p:nvSpPr>
        <p:spPr>
          <a:xfrm xmlns:a="http://schemas.openxmlformats.org/drawingml/2006/main">
            <a:off x="571500" y="61722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7DC"/>
                </a:solidFill>
                <a:latin typeface="Arial"/>
                <a:ea typeface="Arial"/>
                <a:cs typeface="Arial"/>
              </a:defRPr>
            </a:pPr>
            <a:r>
              <a:rPr sz="1275" b="0">
                <a:solidFill>
                  <a:srgbClr val="D4D7DC"/>
                </a:solidFill>
                <a:latin typeface="Arial"/>
                <a:ea typeface="Arial"/>
                <a:cs typeface="Arial"/>
              </a:rPr>
              <a:t>Exposure supports commercial judgement; audience, rights and contracts also determine price.</a:t>
            </a:r>
          </a:p>
        </p:txBody>
      </p:sp>
      <p:sp>
        <p:nvSpPr>
          <p:cNvPr id="3" name="">
            <a:extLst xmlns:a="http://schemas.openxmlformats.org/drawingml/2006/main">
              <a:ext uri="{FF2B5EF4-FFF2-40B4-BE49-F238E27FC236}">
                <a16:creationId xmlns:a16="http://schemas.microsoft.com/office/drawing/2014/main" id="{34A8277D-BBE2-448B-8151-55F4BAB0FC36}"/>
              </a:ext>
            </a:extLst>
          </p:cNvPr>
          <p:cNvSpPr>
            <a:spLocks xmlns:a="http://schemas.openxmlformats.org/drawingml/2006/main" noGrp="1"/>
          </p:cNvSpPr>
          <p:nvPr/>
        </p:nvSpPr>
        <p:spPr>
          <a:xfrm xmlns:a="http://schemas.openxmlformats.org/drawingml/2006/main">
            <a:off x="619125" y="1857375"/>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Review high-exposure</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placements</a:t>
            </a:r>
          </a:p>
        </p:txBody>
      </p:sp>
      <p:sp>
        <p:nvSpPr>
          <p:cNvPr id="4" name="">
            <a:extLst xmlns:a="http://schemas.openxmlformats.org/drawingml/2006/main">
              <a:ext uri="{FF2B5EF4-FFF2-40B4-BE49-F238E27FC236}">
                <a16:creationId xmlns:a16="http://schemas.microsoft.com/office/drawing/2014/main" id="{A425B6A7-2201-4A22-BA2E-15B87437FDD2}"/>
              </a:ext>
            </a:extLst>
          </p:cNvPr>
          <p:cNvSpPr>
            <a:spLocks xmlns:a="http://schemas.openxmlformats.org/drawingml/2006/main" noGrp="1"/>
          </p:cNvSpPr>
          <p:nvPr/>
        </p:nvSpPr>
        <p:spPr>
          <a:xfrm xmlns:a="http://schemas.openxmlformats.org/drawingml/2006/main">
            <a:off x="619125" y="323850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D7DC"/>
                </a:solidFill>
                <a:latin typeface="Arial"/>
                <a:ea typeface="Arial"/>
                <a:cs typeface="Arial"/>
              </a:defRPr>
            </a:pPr>
            <a:r>
              <a:rPr sz="2100" b="0">
                <a:solidFill>
                  <a:srgbClr val="D4D7DC"/>
                </a:solidFill>
                <a:latin typeface="Arial"/>
                <a:ea typeface="Arial"/>
                <a:cs typeface="Arial"/>
              </a:rPr>
              <a:t>Use shorts and chest comparisons to question assumptions in the current weighting.</a:t>
            </a:r>
          </a:p>
        </p:txBody>
      </p:sp>
      <p:sp>
        <p:nvSpPr>
          <p:cNvPr id="5" name="">
            <a:extLst xmlns:a="http://schemas.openxmlformats.org/drawingml/2006/main">
              <a:ext uri="{FF2B5EF4-FFF2-40B4-BE49-F238E27FC236}">
                <a16:creationId xmlns:a16="http://schemas.microsoft.com/office/drawing/2014/main" id="{446472F6-66CD-42B3-891A-D71817C8FDD6}"/>
              </a:ext>
            </a:extLst>
          </p:cNvPr>
          <p:cNvSpPr>
            <a:spLocks xmlns:a="http://schemas.openxmlformats.org/drawingml/2006/main" noGrp="1"/>
          </p:cNvSpPr>
          <p:nvPr/>
        </p:nvSpPr>
        <p:spPr>
          <a:xfrm xmlns:a="http://schemas.openxmlformats.org/drawingml/2006/main">
            <a:off x="6572250" y="1857375"/>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Show the sponsor</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the footage</a:t>
            </a:r>
          </a:p>
        </p:txBody>
      </p:sp>
      <p:sp>
        <p:nvSpPr>
          <p:cNvPr id="6" name="">
            <a:extLst xmlns:a="http://schemas.openxmlformats.org/drawingml/2006/main">
              <a:ext uri="{FF2B5EF4-FFF2-40B4-BE49-F238E27FC236}">
                <a16:creationId xmlns:a16="http://schemas.microsoft.com/office/drawing/2014/main" id="{9931BB03-13BE-4E12-9D7D-B2BF5710A061}"/>
              </a:ext>
            </a:extLst>
          </p:cNvPr>
          <p:cNvSpPr>
            <a:spLocks xmlns:a="http://schemas.openxmlformats.org/drawingml/2006/main" noGrp="1"/>
          </p:cNvSpPr>
          <p:nvPr/>
        </p:nvSpPr>
        <p:spPr>
          <a:xfrm xmlns:a="http://schemas.openxmlformats.org/drawingml/2006/main">
            <a:off x="6572250" y="323850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D7DC"/>
                </a:solidFill>
                <a:latin typeface="Arial"/>
                <a:ea typeface="Arial"/>
                <a:cs typeface="Arial"/>
              </a:defRPr>
            </a:pPr>
            <a:r>
              <a:rPr sz="2100" b="0">
                <a:solidFill>
                  <a:srgbClr val="D4D7DC"/>
                </a:solidFill>
                <a:latin typeface="Arial"/>
                <a:ea typeface="Arial"/>
                <a:cs typeface="Arial"/>
              </a:rPr>
              <a:t>Pair every placement claim with a dated clip, a visibility measure and its limitations.</a:t>
            </a:r>
          </a:p>
        </p:txBody>
      </p:sp>
    </p:spTree>
    <p:extLst>
      <p:ext uri="{BB962C8B-B14F-4D97-AF65-F5344CB8AC3E}">
        <p14:creationId xmlns:p14="http://schemas.microsoft.com/office/powerpoint/2010/main" val="267575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2026-09-16T06:54:18.0860000Z</dcterms:created>
  <dcterms:modified xsi:type="dcterms:W3CDTF">2026-09-16T06:54:18.0860000Z</dcterms:modified>
</coreProperties>
</file>