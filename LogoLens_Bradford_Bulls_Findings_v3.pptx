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picture on the right: that is the Bradford home shirt as the system sees it — every sponsor mark found and named automatically. Then the question: each of those positions has a price, but nobody has ever measured what each one actually delivers on screen. That is what this project did, across two complete matches.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gap before you show the solution. The club is not doing anything unusual — almost every club prices shirt positions this way. The point is simply that nobody has ever had the measurement, so there has been nothing to check the price list against.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room the answer first. Two structural findings about where value sits, one that says the measurement is repeatable, one that says the price list and the camera do not agree, and one that says this is not about a single rogue asset. Say plainly: none of this means the club is wrong. It means the broadcast component of the price now has a number attached.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steps, but only three matter to a club audience. One: it watches the whole match, not a clip. Two: it only counts Bradford players — opponent kit and pitch-side boards never enter the numbers. Three: a mark in the corner of a wide shot does not count the same as one filling a close-up.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the large clip and narrate lightly: boxes appear as marks become readable, the opponent in dark kit is never counted, and around fifty seconds a ruck brings ten marks into one frame. Then the small clip — that is how the system knows a logo is on the shorts rather than the shirt.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step between the video and the percentages. Point at KLG: almost continuously present. Point at MNA Cladding near the bottom: fifty-one detections in ninety seconds. The percentage each sponsor ends up with is this picture, weighted by how well each mark could be seen, summed across a whole match instead of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credibility slide. Anybody can count frames — the reason these numbers are worth arguing over is that a mark tucked in a corner at forty pixels does not score the same as one filling the centre of a close-up. Be straight about the occlusion panel on the right if it is asked about: it is handled, but not as its own published number.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it top to bottom. Hollow ring is the price share, red dot is the measured share, and the line between them is the disagreement. Two rows carry the whole conversation: KLG at the top, and Top Notch third.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people photograph, so give it room. One number on each position: what the camera gave it divided by what the club charges for it. Point at the back of the shorts at 4.7×, then at the collar at 0.3×.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overview first — the next slide takes the four areas one at a time. Three arguments here: shorts are under-sold, the chest premium needs a non-broadcast justification, and the sleeve block hides a six-fold difference between two positions sold at a 2.75× price difference.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area-by-area slide the brief asked for, kept to one page. For each area: what the club charges, what the system measured, the ratio, and a real detection from the footage. Work left to right — the ratio climbs from 0.41 at the chest to 3.07 at the shorts, and that progression is the whole commercial story.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about what this is: where on the television picture the logos appeared. Not pitch coordinates, not player running data. The commercial read is one sentence — the camera lives around the contact area, and the kit that sits in the contact area is the shorts and the lower back.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honest points make this trustworthy rather than salesy. The same model scores 0.998 on matches it has already seen and 0.933 on new ones, and we report the harder number. And because it misses marks in wide play rather than inventing them, the gaps shown earlier are if anything understated.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the obvious question — how do we know the AI is right and the club is wrong? The honest answer is that we do not claim that. What we can show is that the system agrees with itself across two matches and does not agree with the price list, and that the disagreement is systematic rather than random. Validating the visibility score against a human timer is listed as next work rather than dressed up as a result.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rush this slide — volunteering the weaknesses is what earns the right to the recommendations. The single most important sentence: because the system misses marks rather than inventing them, the exposure numbers are conservative. If anything, the gaps shown earlier are understated.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bridge from measurement to a commercial conversation. Be explicit that the thresholds are a starting point the club can move: above four points of gap is a review upward, below minus two is a position whose premium needs writing down. Nobody is proposing the model sets prices — it sets the agenda for the meeting where prices get set.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commercial argument here. The one line worth repeating: this does not replace commercial judgement, it gives that judgement something to point at. If a sponsor asks why their sleeve costs what it costs, there is now an answer with a number attached.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the sequence, not the technology. The club does one thing first — confirm the inventory map — and everything else follows. On future work, the cross-club idea is the one worth landing: because the league's kit regulations fix where marks can sit, a labelled Bradford kit can generate draft annotations for another club's kit, which turns weeks of manual labelling into correction. It has not been tested — say so — but it is the cheapest route to a second club.</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Finish on this line and go to questions. If asked what happens next, point back to step one: the club confirms the inventory map and we run the next fixture as soon as the footage exists.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Leave-behind slide. Every figure reproduces from the two match reports; offer to send the underlying Excel exports.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4.jpg"/><Relationship Id="rId5" Type="http://schemas.microsoft.com/office/2007/relationships/media" Target="../media/media2.mp4"/><Relationship Id="rId6" Type="http://schemas.openxmlformats.org/officeDocument/2006/relationships/video" Target="../media/media2.mp4"/><Relationship Id="rId7" Type="http://schemas.openxmlformats.org/officeDocument/2006/relationships/image" Target="../media/image5.jpg"/><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jpg"/><Relationship Id="rId4" Type="http://schemas.openxmlformats.org/officeDocument/2006/relationships/image" Target="../media/image11.jpg"/><Relationship Id="rId5" Type="http://schemas.openxmlformats.org/officeDocument/2006/relationships/image" Target="../media/image12.jpg"/><Relationship Id="rId6" Type="http://schemas.openxmlformats.org/officeDocument/2006/relationships/image" Target="../media/image13.jp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2.jpg"/><Relationship Id="rId4" Type="http://schemas.openxmlformats.org/officeDocument/2006/relationships/image" Target="../media/image11.jpg"/><Relationship Id="rId5" Type="http://schemas.openxmlformats.org/officeDocument/2006/relationships/image" Target="../media/image10.jp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image" Target="../media/image21.jpg"/><Relationship Id="rId4" Type="http://schemas.openxmlformats.org/officeDocument/2006/relationships/image" Target="../media/image22.jpg"/><Relationship Id="rId5" Type="http://schemas.openxmlformats.org/officeDocument/2006/relationships/image" Target="../media/image23.jp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hero_front.jpg"/>
          <p:cNvPicPr>
            <a:picLocks noChangeAspect="1"/>
          </p:cNvPicPr>
          <p:nvPr/>
        </p:nvPicPr>
        <p:blipFill>
          <a:blip r:embed="rId2"/>
          <a:srcRect l="3319" r="3319"/>
          <a:stretch>
            <a:fillRect/>
          </a:stretch>
        </p:blipFill>
        <p:spPr>
          <a:xfrm>
            <a:off x="7360920" y="-502920"/>
            <a:ext cx="4828032" cy="7863840"/>
          </a:xfrm>
          <a:prstGeom prst="rect">
            <a:avLst/>
          </a:prstGeom>
        </p:spPr>
      </p:pic>
      <p:sp>
        <p:nvSpPr>
          <p:cNvPr id="4" name="Rectangle 3"/>
          <p:cNvSpPr/>
          <p:nvPr/>
        </p:nvSpPr>
        <p:spPr>
          <a:xfrm>
            <a:off x="0" y="0"/>
            <a:ext cx="146304"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46304" y="0"/>
            <a:ext cx="68580"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Freeform 5"/>
          <p:cNvSpPr/>
          <p:nvPr/>
        </p:nvSpPr>
        <p:spPr>
          <a:xfrm>
            <a:off x="640080" y="914400"/>
            <a:ext cx="475488" cy="202996"/>
          </a:xfrm>
          <a:custGeom>
            <a:avLst/>
            <a:gdLst/>
            <a:ahLst/>
            <a:cxnLst/>
            <a:rect l="l" t="t" r="r" b="b"/>
            <a:pathLst>
              <a:path w="475488" h="202996">
                <a:moveTo>
                  <a:pt x="0" y="0"/>
                </a:moveTo>
                <a:lnTo>
                  <a:pt x="237744" y="137160"/>
                </a:lnTo>
                <a:lnTo>
                  <a:pt x="475488" y="0"/>
                </a:lnTo>
                <a:lnTo>
                  <a:pt x="475488" y="65836"/>
                </a:lnTo>
                <a:lnTo>
                  <a:pt x="237744" y="202996"/>
                </a:lnTo>
                <a:lnTo>
                  <a:pt x="0" y="658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640080" y="1133856"/>
            <a:ext cx="475488" cy="202996"/>
          </a:xfrm>
          <a:custGeom>
            <a:avLst/>
            <a:gdLst/>
            <a:ahLst/>
            <a:cxnLst/>
            <a:rect l="l" t="t" r="r" b="b"/>
            <a:pathLst>
              <a:path w="475488" h="202996">
                <a:moveTo>
                  <a:pt x="0" y="0"/>
                </a:moveTo>
                <a:lnTo>
                  <a:pt x="237744" y="137160"/>
                </a:lnTo>
                <a:lnTo>
                  <a:pt x="475488" y="0"/>
                </a:lnTo>
                <a:lnTo>
                  <a:pt x="475488" y="65836"/>
                </a:lnTo>
                <a:lnTo>
                  <a:pt x="237744" y="202996"/>
                </a:lnTo>
                <a:lnTo>
                  <a:pt x="0" y="65836"/>
                </a:lnTo>
                <a:close/>
              </a:path>
            </a:pathLst>
          </a:cu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00784"/>
            <a:ext cx="6400800" cy="274320"/>
          </a:xfrm>
          <a:prstGeom prst="rect">
            <a:avLst/>
          </a:prstGeom>
          <a:noFill/>
        </p:spPr>
        <p:txBody>
          <a:bodyPr wrap="square" lIns="0" rIns="0" tIns="0" bIns="0" anchor="t">
            <a:spAutoFit/>
          </a:bodyPr>
          <a:lstStyle/>
          <a:p>
            <a:pPr algn="l">
              <a:lnSpc>
                <a:spcPct val="120000"/>
              </a:lnSpc>
            </a:pPr>
            <a:r>
              <a:rPr sz="1200" b="1" i="0" spc="240">
                <a:solidFill>
                  <a:srgbClr val="FFC20E"/>
                </a:solidFill>
                <a:latin typeface="Arial"/>
              </a:rPr>
              <a:t>BRADFORD BULLS  ·  SPONSORSHIP VISIBILITY REVIEW</a:t>
            </a:r>
          </a:p>
        </p:txBody>
      </p:sp>
      <p:sp>
        <p:nvSpPr>
          <p:cNvPr id="9" name="TextBox 8"/>
          <p:cNvSpPr txBox="1"/>
          <p:nvPr/>
        </p:nvSpPr>
        <p:spPr>
          <a:xfrm>
            <a:off x="640080" y="2029968"/>
            <a:ext cx="6583680" cy="1920240"/>
          </a:xfrm>
          <a:prstGeom prst="rect">
            <a:avLst/>
          </a:prstGeom>
          <a:noFill/>
        </p:spPr>
        <p:txBody>
          <a:bodyPr wrap="square" lIns="0" rIns="0" tIns="0" bIns="0" anchor="t">
            <a:spAutoFit/>
          </a:bodyPr>
          <a:lstStyle/>
          <a:p>
            <a:pPr algn="l">
              <a:lnSpc>
                <a:spcPct val="103000"/>
              </a:lnSpc>
            </a:pPr>
            <a:r>
              <a:rPr sz="4800" b="1" i="0">
                <a:solidFill>
                  <a:srgbClr val="FFFFFF"/>
                </a:solidFill>
                <a:latin typeface="Arial"/>
              </a:rPr>
              <a:t>What the shirt</a:t>
            </a:r>
          </a:p>
          <a:p>
            <a:pPr algn="l">
              <a:lnSpc>
                <a:spcPct val="103000"/>
              </a:lnSpc>
            </a:pPr>
            <a:r>
              <a:rPr sz="4800" b="1" i="0">
                <a:solidFill>
                  <a:srgbClr val="FFFFFF"/>
                </a:solidFill>
                <a:latin typeface="Arial"/>
              </a:rPr>
              <a:t>is really worth</a:t>
            </a:r>
          </a:p>
          <a:p>
            <a:pPr algn="l">
              <a:lnSpc>
                <a:spcPct val="103000"/>
              </a:lnSpc>
            </a:pPr>
            <a:r>
              <a:rPr sz="4800" b="1" i="0">
                <a:solidFill>
                  <a:srgbClr val="FFFFFF"/>
                </a:solidFill>
                <a:latin typeface="Arial"/>
              </a:rPr>
              <a:t>on screen</a:t>
            </a:r>
          </a:p>
        </p:txBody>
      </p:sp>
      <p:sp>
        <p:nvSpPr>
          <p:cNvPr id="10" name="Rectangle 9"/>
          <p:cNvSpPr/>
          <p:nvPr/>
        </p:nvSpPr>
        <p:spPr>
          <a:xfrm>
            <a:off x="640080" y="4370832"/>
            <a:ext cx="1371600" cy="4114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 y="4626864"/>
            <a:ext cx="5943600" cy="914400"/>
          </a:xfrm>
          <a:prstGeom prst="rect">
            <a:avLst/>
          </a:prstGeom>
          <a:noFill/>
        </p:spPr>
        <p:txBody>
          <a:bodyPr wrap="square" lIns="0" rIns="0" tIns="0" bIns="0" anchor="t">
            <a:spAutoFit/>
          </a:bodyPr>
          <a:lstStyle/>
          <a:p>
            <a:pPr algn="l">
              <a:lnSpc>
                <a:spcPct val="144000"/>
              </a:lnSpc>
            </a:pPr>
            <a:r>
              <a:rPr sz="1500" b="0" i="0">
                <a:solidFill>
                  <a:srgbClr val="DCE4EF"/>
                </a:solidFill>
                <a:latin typeface="Arial"/>
              </a:rPr>
              <a:t>Every sponsor mark on the kit, measured frame by frame across two complete broadcasts — then placed next to what the club charges for it.</a:t>
            </a:r>
          </a:p>
        </p:txBody>
      </p:sp>
      <p:sp>
        <p:nvSpPr>
          <p:cNvPr id="12" name="TextBox 11"/>
          <p:cNvSpPr txBox="1"/>
          <p:nvPr/>
        </p:nvSpPr>
        <p:spPr>
          <a:xfrm>
            <a:off x="640080" y="6144768"/>
            <a:ext cx="6400800" cy="274320"/>
          </a:xfrm>
          <a:prstGeom prst="rect">
            <a:avLst/>
          </a:prstGeom>
          <a:noFill/>
        </p:spPr>
        <p:txBody>
          <a:bodyPr wrap="square" lIns="0" rIns="0" tIns="0" bIns="0" anchor="t">
            <a:spAutoFit/>
          </a:bodyPr>
          <a:lstStyle/>
          <a:p>
            <a:pPr algn="l">
              <a:lnSpc>
                <a:spcPct val="120000"/>
              </a:lnSpc>
            </a:pPr>
            <a:r>
              <a:rPr sz="960" b="0" i="0">
                <a:solidFill>
                  <a:srgbClr val="56657C"/>
                </a:solidFill>
                <a:latin typeface="Arial"/>
              </a:rPr>
              <a:t>LogoLens  ·  MSc Applied AI &amp; Data Analytics, University of Bradford  ·  in partnership with Bradford Bulls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bg_problem.jpg"/>
          <p:cNvPicPr>
            <a:picLocks noChangeAspect="1"/>
          </p:cNvPicPr>
          <p:nvPr/>
        </p:nvPicPr>
        <p:blipFill>
          <a:blip r:embed="rId2"/>
          <a:srcRect l="0" r="0"/>
          <a:stretch>
            <a:fillRect/>
          </a:stretch>
        </p:blipFill>
        <p:spPr>
          <a:xfrm>
            <a:off x="0" y="0"/>
            <a:ext cx="12191969" cy="6858000"/>
          </a:xfrm>
          <a:prstGeom prst="rect">
            <a:avLst/>
          </a:prstGeom>
        </p:spPr>
      </p:pic>
      <p:sp>
        <p:nvSpPr>
          <p:cNvPr id="4" name="Rectangle 3"/>
          <p:cNvSpPr/>
          <p:nvPr/>
        </p:nvSpPr>
        <p:spPr>
          <a:xfrm>
            <a:off x="0" y="0"/>
            <a:ext cx="6766560" cy="6858000"/>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766560" y="0"/>
            <a:ext cx="1371600" cy="6858000"/>
          </a:xfrm>
          <a:custGeom>
            <a:avLst/>
            <a:gdLst/>
            <a:ahLst/>
            <a:cxnLst/>
            <a:rect l="l" t="t" r="r" b="b"/>
            <a:pathLst>
              <a:path w="1371600" h="6858000">
                <a:moveTo>
                  <a:pt x="0" y="0"/>
                </a:moveTo>
                <a:lnTo>
                  <a:pt x="1371600" y="0"/>
                </a:lnTo>
                <a:lnTo>
                  <a:pt x="0" y="6858000"/>
                </a:lnTo>
                <a:close/>
              </a:path>
            </a:pathLst>
          </a:custGeom>
          <a:solidFill>
            <a:srgbClr val="070A0F">
              <a:alpha val="9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46304"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46304" y="0"/>
            <a:ext cx="68580"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Freeform 7"/>
          <p:cNvSpPr/>
          <p:nvPr/>
        </p:nvSpPr>
        <p:spPr>
          <a:xfrm>
            <a:off x="640080" y="1129284"/>
            <a:ext cx="152476" cy="173735"/>
          </a:xfrm>
          <a:custGeom>
            <a:avLst/>
            <a:gdLst/>
            <a:ahLst/>
            <a:cxnLst/>
            <a:rect l="l" t="t" r="r" b="b"/>
            <a:pathLst>
              <a:path w="152476" h="173735">
                <a:moveTo>
                  <a:pt x="47320" y="0"/>
                </a:moveTo>
                <a:lnTo>
                  <a:pt x="152476" y="0"/>
                </a:lnTo>
                <a:lnTo>
                  <a:pt x="105156" y="173735"/>
                </a:lnTo>
                <a:lnTo>
                  <a:pt x="0" y="173735"/>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11556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THE PROBLEM</a:t>
            </a:r>
          </a:p>
        </p:txBody>
      </p:sp>
      <p:sp>
        <p:nvSpPr>
          <p:cNvPr id="10" name="TextBox 9"/>
          <p:cNvSpPr txBox="1"/>
          <p:nvPr/>
        </p:nvSpPr>
        <p:spPr>
          <a:xfrm>
            <a:off x="640080" y="1536192"/>
            <a:ext cx="6309360" cy="1645920"/>
          </a:xfrm>
          <a:prstGeom prst="rect">
            <a:avLst/>
          </a:prstGeom>
          <a:noFill/>
        </p:spPr>
        <p:txBody>
          <a:bodyPr wrap="square" lIns="0" rIns="0" tIns="0" bIns="0" anchor="t">
            <a:spAutoFit/>
          </a:bodyPr>
          <a:lstStyle/>
          <a:p>
            <a:pPr algn="l">
              <a:lnSpc>
                <a:spcPct val="106000"/>
              </a:lnSpc>
            </a:pPr>
            <a:r>
              <a:rPr sz="4000" b="1" i="0">
                <a:solidFill>
                  <a:srgbClr val="FFFFFF"/>
                </a:solidFill>
                <a:latin typeface="Arial"/>
              </a:rPr>
              <a:t>Sixteen sponsors.</a:t>
            </a:r>
          </a:p>
          <a:p>
            <a:pPr algn="l">
              <a:lnSpc>
                <a:spcPct val="106000"/>
              </a:lnSpc>
            </a:pPr>
            <a:r>
              <a:rPr sz="4000" b="1" i="0">
                <a:solidFill>
                  <a:srgbClr val="FFFFFF"/>
                </a:solidFill>
                <a:latin typeface="Arial"/>
              </a:rPr>
              <a:t>Sixteen prices.</a:t>
            </a:r>
          </a:p>
          <a:p>
            <a:pPr algn="l">
              <a:lnSpc>
                <a:spcPct val="106000"/>
              </a:lnSpc>
            </a:pPr>
            <a:r>
              <a:rPr sz="4000" b="1" i="0">
                <a:solidFill>
                  <a:srgbClr val="FFFFFF"/>
                </a:solidFill>
                <a:latin typeface="Arial"/>
              </a:rPr>
              <a:t>Zero measurement.</a:t>
            </a:r>
          </a:p>
        </p:txBody>
      </p:sp>
      <p:sp>
        <p:nvSpPr>
          <p:cNvPr id="11" name="Rectangle 10"/>
          <p:cNvSpPr/>
          <p:nvPr/>
        </p:nvSpPr>
        <p:spPr>
          <a:xfrm>
            <a:off x="640080" y="3529584"/>
            <a:ext cx="1371600" cy="41148"/>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0080" y="3785615"/>
            <a:ext cx="5669280" cy="1280160"/>
          </a:xfrm>
          <a:prstGeom prst="rect">
            <a:avLst/>
          </a:prstGeom>
          <a:noFill/>
        </p:spPr>
        <p:txBody>
          <a:bodyPr wrap="square" lIns="0" rIns="0" tIns="0" bIns="0" anchor="t">
            <a:spAutoFit/>
          </a:bodyPr>
          <a:lstStyle/>
          <a:p>
            <a:pPr algn="l">
              <a:lnSpc>
                <a:spcPct val="146000"/>
              </a:lnSpc>
            </a:pPr>
            <a:r>
              <a:rPr sz="1400" b="0" i="0">
                <a:solidFill>
                  <a:srgbClr val="DCE4EF"/>
                </a:solidFill>
                <a:latin typeface="Arial"/>
              </a:rPr>
              <a:t>The shirt is sold as sixteen separate positions, each with its own share of the price. That split is set by commercial judgement and precedent — not by anything anyone has counted. So when a sponsor asks what they got for their money, the honest answer today is an estimate.</a:t>
            </a:r>
          </a:p>
        </p:txBody>
      </p:sp>
      <p:sp>
        <p:nvSpPr>
          <p:cNvPr id="13" name="Rectangle 12"/>
          <p:cNvSpPr/>
          <p:nvPr/>
        </p:nvSpPr>
        <p:spPr>
          <a:xfrm>
            <a:off x="640080" y="5230368"/>
            <a:ext cx="310896"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 y="5394960"/>
            <a:ext cx="1965960" cy="219456"/>
          </a:xfrm>
          <a:prstGeom prst="rect">
            <a:avLst/>
          </a:prstGeom>
          <a:noFill/>
        </p:spPr>
        <p:txBody>
          <a:bodyPr wrap="square" lIns="0" rIns="0" tIns="0" bIns="0" anchor="t">
            <a:spAutoFit/>
          </a:bodyPr>
          <a:lstStyle/>
          <a:p>
            <a:pPr algn="l">
              <a:lnSpc>
                <a:spcPct val="120000"/>
              </a:lnSpc>
            </a:pPr>
            <a:r>
              <a:rPr sz="1250" b="1" i="0">
                <a:solidFill>
                  <a:srgbClr val="FFFFFF"/>
                </a:solidFill>
                <a:latin typeface="Arial"/>
              </a:rPr>
              <a:t>Priced</a:t>
            </a:r>
          </a:p>
        </p:txBody>
      </p:sp>
      <p:sp>
        <p:nvSpPr>
          <p:cNvPr id="15" name="TextBox 14"/>
          <p:cNvSpPr txBox="1"/>
          <p:nvPr/>
        </p:nvSpPr>
        <p:spPr>
          <a:xfrm>
            <a:off x="640080" y="5650992"/>
            <a:ext cx="1965960" cy="457200"/>
          </a:xfrm>
          <a:prstGeom prst="rect">
            <a:avLst/>
          </a:prstGeom>
          <a:noFill/>
        </p:spPr>
        <p:txBody>
          <a:bodyPr wrap="square" lIns="0" rIns="0" tIns="0" bIns="0" anchor="t">
            <a:spAutoFit/>
          </a:bodyPr>
          <a:lstStyle/>
          <a:p>
            <a:pPr algn="l">
              <a:lnSpc>
                <a:spcPct val="128000"/>
              </a:lnSpc>
            </a:pPr>
            <a:r>
              <a:rPr sz="1000" b="0" i="0">
                <a:solidFill>
                  <a:srgbClr val="8695AC"/>
                </a:solidFill>
                <a:latin typeface="Arial"/>
              </a:rPr>
              <a:t>by judgement, not evidence</a:t>
            </a:r>
          </a:p>
        </p:txBody>
      </p:sp>
      <p:sp>
        <p:nvSpPr>
          <p:cNvPr id="16" name="Rectangle 15"/>
          <p:cNvSpPr/>
          <p:nvPr/>
        </p:nvSpPr>
        <p:spPr>
          <a:xfrm>
            <a:off x="2761487" y="5230368"/>
            <a:ext cx="310896"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761487" y="5394960"/>
            <a:ext cx="1965960" cy="219456"/>
          </a:xfrm>
          <a:prstGeom prst="rect">
            <a:avLst/>
          </a:prstGeom>
          <a:noFill/>
        </p:spPr>
        <p:txBody>
          <a:bodyPr wrap="square" lIns="0" rIns="0" tIns="0" bIns="0" anchor="t">
            <a:spAutoFit/>
          </a:bodyPr>
          <a:lstStyle/>
          <a:p>
            <a:pPr algn="l">
              <a:lnSpc>
                <a:spcPct val="120000"/>
              </a:lnSpc>
            </a:pPr>
            <a:r>
              <a:rPr sz="1250" b="1" i="0">
                <a:solidFill>
                  <a:srgbClr val="FFFFFF"/>
                </a:solidFill>
                <a:latin typeface="Arial"/>
              </a:rPr>
              <a:t>Checked</a:t>
            </a:r>
          </a:p>
        </p:txBody>
      </p:sp>
      <p:sp>
        <p:nvSpPr>
          <p:cNvPr id="18" name="TextBox 17"/>
          <p:cNvSpPr txBox="1"/>
          <p:nvPr/>
        </p:nvSpPr>
        <p:spPr>
          <a:xfrm>
            <a:off x="2761487" y="5650992"/>
            <a:ext cx="1965960" cy="457200"/>
          </a:xfrm>
          <a:prstGeom prst="rect">
            <a:avLst/>
          </a:prstGeom>
          <a:noFill/>
        </p:spPr>
        <p:txBody>
          <a:bodyPr wrap="square" lIns="0" rIns="0" tIns="0" bIns="0" anchor="t">
            <a:spAutoFit/>
          </a:bodyPr>
          <a:lstStyle/>
          <a:p>
            <a:pPr algn="l">
              <a:lnSpc>
                <a:spcPct val="128000"/>
              </a:lnSpc>
            </a:pPr>
            <a:r>
              <a:rPr sz="1000" b="0" i="0">
                <a:solidFill>
                  <a:srgbClr val="8695AC"/>
                </a:solidFill>
                <a:latin typeface="Arial"/>
              </a:rPr>
              <a:t>by hand, on clips, occasionally</a:t>
            </a:r>
          </a:p>
        </p:txBody>
      </p:sp>
      <p:sp>
        <p:nvSpPr>
          <p:cNvPr id="19" name="Rectangle 18"/>
          <p:cNvSpPr/>
          <p:nvPr/>
        </p:nvSpPr>
        <p:spPr>
          <a:xfrm>
            <a:off x="4882896" y="5230368"/>
            <a:ext cx="310896"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882896" y="5394960"/>
            <a:ext cx="1965960" cy="219456"/>
          </a:xfrm>
          <a:prstGeom prst="rect">
            <a:avLst/>
          </a:prstGeom>
          <a:noFill/>
        </p:spPr>
        <p:txBody>
          <a:bodyPr wrap="square" lIns="0" rIns="0" tIns="0" bIns="0" anchor="t">
            <a:spAutoFit/>
          </a:bodyPr>
          <a:lstStyle/>
          <a:p>
            <a:pPr algn="l">
              <a:lnSpc>
                <a:spcPct val="120000"/>
              </a:lnSpc>
            </a:pPr>
            <a:r>
              <a:rPr sz="1250" b="1" i="0">
                <a:solidFill>
                  <a:srgbClr val="FFFFFF"/>
                </a:solidFill>
                <a:latin typeface="Arial"/>
              </a:rPr>
              <a:t>Reported</a:t>
            </a:r>
          </a:p>
        </p:txBody>
      </p:sp>
      <p:sp>
        <p:nvSpPr>
          <p:cNvPr id="21" name="TextBox 20"/>
          <p:cNvSpPr txBox="1"/>
          <p:nvPr/>
        </p:nvSpPr>
        <p:spPr>
          <a:xfrm>
            <a:off x="4882896" y="5650992"/>
            <a:ext cx="1965960" cy="457200"/>
          </a:xfrm>
          <a:prstGeom prst="rect">
            <a:avLst/>
          </a:prstGeom>
          <a:noFill/>
        </p:spPr>
        <p:txBody>
          <a:bodyPr wrap="square" lIns="0" rIns="0" tIns="0" bIns="0" anchor="t">
            <a:spAutoFit/>
          </a:bodyPr>
          <a:lstStyle/>
          <a:p>
            <a:pPr algn="l">
              <a:lnSpc>
                <a:spcPct val="128000"/>
              </a:lnSpc>
            </a:pPr>
            <a:r>
              <a:rPr sz="1000" b="0" i="0">
                <a:solidFill>
                  <a:srgbClr val="8695AC"/>
                </a:solidFill>
                <a:latin typeface="Arial"/>
              </a:rPr>
              <a:t>as presence, not as exposure</a:t>
            </a:r>
          </a:p>
        </p:txBody>
      </p:sp>
      <p:sp>
        <p:nvSpPr>
          <p:cNvPr id="22" name="TextBox 21"/>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OVERALL FINDINGS</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Five results, before any of the detail</a:t>
            </a:r>
          </a:p>
        </p:txBody>
      </p:sp>
      <p:sp>
        <p:nvSpPr>
          <p:cNvPr id="8" name="TextBox 7"/>
          <p:cNvSpPr txBox="1"/>
          <p:nvPr/>
        </p:nvSpPr>
        <p:spPr>
          <a:xfrm>
            <a:off x="640080" y="1700784"/>
            <a:ext cx="8947683"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Everything that follows is an explanation of, or a test of, these five statements.</a:t>
            </a:r>
          </a:p>
        </p:txBody>
      </p:sp>
      <p:sp>
        <p:nvSpPr>
          <p:cNvPr id="9" name="Rectangle 8"/>
          <p:cNvSpPr/>
          <p:nvPr/>
        </p:nvSpPr>
        <p:spPr>
          <a:xfrm>
            <a:off x="640080" y="2359152"/>
            <a:ext cx="50292" cy="54864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2304288"/>
            <a:ext cx="2148840" cy="548640"/>
          </a:xfrm>
          <a:prstGeom prst="rect">
            <a:avLst/>
          </a:prstGeom>
          <a:noFill/>
        </p:spPr>
        <p:txBody>
          <a:bodyPr wrap="square" lIns="0" rIns="0" tIns="0" bIns="0" anchor="t">
            <a:spAutoFit/>
          </a:bodyPr>
          <a:lstStyle/>
          <a:p>
            <a:pPr algn="l">
              <a:lnSpc>
                <a:spcPct val="98000"/>
              </a:lnSpc>
            </a:pPr>
            <a:r>
              <a:rPr sz="3000" b="1" i="0">
                <a:solidFill>
                  <a:srgbClr val="E4002B"/>
                </a:solidFill>
                <a:latin typeface="Arial"/>
              </a:rPr>
              <a:t>43.1%</a:t>
            </a:r>
          </a:p>
        </p:txBody>
      </p:sp>
      <p:sp>
        <p:nvSpPr>
          <p:cNvPr id="11" name="TextBox 10"/>
          <p:cNvSpPr txBox="1"/>
          <p:nvPr/>
        </p:nvSpPr>
        <p:spPr>
          <a:xfrm>
            <a:off x="3383280" y="2322576"/>
            <a:ext cx="8077169" cy="566928"/>
          </a:xfrm>
          <a:prstGeom prst="rect">
            <a:avLst/>
          </a:prstGeom>
          <a:noFill/>
        </p:spPr>
        <p:txBody>
          <a:bodyPr wrap="square" lIns="0" rIns="0" tIns="0" bIns="0" anchor="t">
            <a:spAutoFit/>
          </a:bodyPr>
          <a:lstStyle/>
          <a:p>
            <a:pPr algn="l">
              <a:lnSpc>
                <a:spcPct val="134000"/>
              </a:lnSpc>
            </a:pPr>
            <a:r>
              <a:rPr sz="1260" b="0" i="0">
                <a:solidFill>
                  <a:srgbClr val="DCE4EF"/>
                </a:solidFill>
                <a:latin typeface="Arial"/>
              </a:rPr>
              <a:t>of all measured broadcast visibility sits on the shorts.</a:t>
            </a:r>
          </a:p>
          <a:p>
            <a:pPr algn="l">
              <a:lnSpc>
                <a:spcPct val="134000"/>
              </a:lnSpc>
            </a:pPr>
            <a:r>
              <a:rPr sz="1260" b="0" i="0">
                <a:solidFill>
                  <a:srgbClr val="DCE4EF"/>
                </a:solidFill>
                <a:latin typeface="Arial"/>
              </a:rPr>
              <a:t>The club prices the shorts at 14%.</a:t>
            </a:r>
          </a:p>
        </p:txBody>
      </p:sp>
      <p:sp>
        <p:nvSpPr>
          <p:cNvPr id="12" name="Rectangle 11"/>
          <p:cNvSpPr/>
          <p:nvPr/>
        </p:nvSpPr>
        <p:spPr>
          <a:xfrm>
            <a:off x="640080" y="2999232"/>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40080" y="3145536"/>
            <a:ext cx="50292" cy="548640"/>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3090672"/>
            <a:ext cx="2148840" cy="548640"/>
          </a:xfrm>
          <a:prstGeom prst="rect">
            <a:avLst/>
          </a:prstGeom>
          <a:noFill/>
        </p:spPr>
        <p:txBody>
          <a:bodyPr wrap="square" lIns="0" rIns="0" tIns="0" bIns="0" anchor="t">
            <a:spAutoFit/>
          </a:bodyPr>
          <a:lstStyle/>
          <a:p>
            <a:pPr algn="l">
              <a:lnSpc>
                <a:spcPct val="98000"/>
              </a:lnSpc>
            </a:pPr>
            <a:r>
              <a:rPr sz="3000" b="1" i="0">
                <a:solidFill>
                  <a:srgbClr val="3E9BE0"/>
                </a:solidFill>
                <a:latin typeface="Arial"/>
              </a:rPr>
              <a:t>16.7%</a:t>
            </a:r>
          </a:p>
        </p:txBody>
      </p:sp>
      <p:sp>
        <p:nvSpPr>
          <p:cNvPr id="15" name="TextBox 14"/>
          <p:cNvSpPr txBox="1"/>
          <p:nvPr/>
        </p:nvSpPr>
        <p:spPr>
          <a:xfrm>
            <a:off x="3383280" y="3108960"/>
            <a:ext cx="8077169" cy="566928"/>
          </a:xfrm>
          <a:prstGeom prst="rect">
            <a:avLst/>
          </a:prstGeom>
          <a:noFill/>
        </p:spPr>
        <p:txBody>
          <a:bodyPr wrap="square" lIns="0" rIns="0" tIns="0" bIns="0" anchor="t">
            <a:spAutoFit/>
          </a:bodyPr>
          <a:lstStyle/>
          <a:p>
            <a:pPr algn="l">
              <a:lnSpc>
                <a:spcPct val="134000"/>
              </a:lnSpc>
            </a:pPr>
            <a:r>
              <a:rPr sz="1260" b="0" i="0">
                <a:solidFill>
                  <a:srgbClr val="DCE4EF"/>
                </a:solidFill>
                <a:latin typeface="Arial"/>
              </a:rPr>
              <a:t>of measured visibility sits on the front torso.</a:t>
            </a:r>
          </a:p>
          <a:p>
            <a:pPr algn="l">
              <a:lnSpc>
                <a:spcPct val="134000"/>
              </a:lnSpc>
            </a:pPr>
            <a:r>
              <a:rPr sz="1260" b="0" i="0">
                <a:solidFill>
                  <a:srgbClr val="DCE4EF"/>
                </a:solidFill>
                <a:latin typeface="Arial"/>
              </a:rPr>
              <a:t>The club prices it at 41%.</a:t>
            </a:r>
          </a:p>
        </p:txBody>
      </p:sp>
      <p:sp>
        <p:nvSpPr>
          <p:cNvPr id="16" name="Rectangle 15"/>
          <p:cNvSpPr/>
          <p:nvPr/>
        </p:nvSpPr>
        <p:spPr>
          <a:xfrm>
            <a:off x="640080" y="3785615"/>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40080" y="3931920"/>
            <a:ext cx="50292" cy="548640"/>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3877056"/>
            <a:ext cx="2148840" cy="548640"/>
          </a:xfrm>
          <a:prstGeom prst="rect">
            <a:avLst/>
          </a:prstGeom>
          <a:noFill/>
        </p:spPr>
        <p:txBody>
          <a:bodyPr wrap="square" lIns="0" rIns="0" tIns="0" bIns="0" anchor="t">
            <a:spAutoFit/>
          </a:bodyPr>
          <a:lstStyle/>
          <a:p>
            <a:pPr algn="l">
              <a:lnSpc>
                <a:spcPct val="98000"/>
              </a:lnSpc>
            </a:pPr>
            <a:r>
              <a:rPr sz="3000" b="1" i="0">
                <a:solidFill>
                  <a:srgbClr val="25C787"/>
                </a:solidFill>
                <a:latin typeface="Arial"/>
              </a:rPr>
              <a:t>ρ 0.846</a:t>
            </a:r>
          </a:p>
        </p:txBody>
      </p:sp>
      <p:sp>
        <p:nvSpPr>
          <p:cNvPr id="19" name="TextBox 18"/>
          <p:cNvSpPr txBox="1"/>
          <p:nvPr/>
        </p:nvSpPr>
        <p:spPr>
          <a:xfrm>
            <a:off x="3383280" y="3895344"/>
            <a:ext cx="8077169" cy="566928"/>
          </a:xfrm>
          <a:prstGeom prst="rect">
            <a:avLst/>
          </a:prstGeom>
          <a:noFill/>
        </p:spPr>
        <p:txBody>
          <a:bodyPr wrap="square" lIns="0" rIns="0" tIns="0" bIns="0" anchor="t">
            <a:spAutoFit/>
          </a:bodyPr>
          <a:lstStyle/>
          <a:p>
            <a:pPr algn="l">
              <a:lnSpc>
                <a:spcPct val="134000"/>
              </a:lnSpc>
            </a:pPr>
            <a:r>
              <a:rPr sz="1260" b="0" i="0">
                <a:solidFill>
                  <a:srgbClr val="DCE4EF"/>
                </a:solidFill>
                <a:latin typeface="Arial"/>
              </a:rPr>
              <a:t>rank stability between the two matches. The measurement repeats;</a:t>
            </a:r>
          </a:p>
          <a:p>
            <a:pPr algn="l">
              <a:lnSpc>
                <a:spcPct val="134000"/>
              </a:lnSpc>
            </a:pPr>
            <a:r>
              <a:rPr sz="1260" b="0" i="0">
                <a:solidFill>
                  <a:srgbClr val="DCE4EF"/>
                </a:solidFill>
                <a:latin typeface="Arial"/>
              </a:rPr>
              <a:t>the average asset moved 0.93 points.</a:t>
            </a:r>
          </a:p>
        </p:txBody>
      </p:sp>
      <p:sp>
        <p:nvSpPr>
          <p:cNvPr id="20" name="Rectangle 19"/>
          <p:cNvSpPr/>
          <p:nvPr/>
        </p:nvSpPr>
        <p:spPr>
          <a:xfrm>
            <a:off x="640080" y="4572000"/>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40080" y="4718303"/>
            <a:ext cx="50292" cy="54864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4400" y="4663440"/>
            <a:ext cx="2148840" cy="548640"/>
          </a:xfrm>
          <a:prstGeom prst="rect">
            <a:avLst/>
          </a:prstGeom>
          <a:noFill/>
        </p:spPr>
        <p:txBody>
          <a:bodyPr wrap="square" lIns="0" rIns="0" tIns="0" bIns="0" anchor="t">
            <a:spAutoFit/>
          </a:bodyPr>
          <a:lstStyle/>
          <a:p>
            <a:pPr algn="l">
              <a:lnSpc>
                <a:spcPct val="98000"/>
              </a:lnSpc>
            </a:pPr>
            <a:r>
              <a:rPr sz="3000" b="1" i="0">
                <a:solidFill>
                  <a:srgbClr val="FFC20E"/>
                </a:solidFill>
                <a:latin typeface="Arial"/>
              </a:rPr>
              <a:t>ρ −0.075</a:t>
            </a:r>
          </a:p>
        </p:txBody>
      </p:sp>
      <p:sp>
        <p:nvSpPr>
          <p:cNvPr id="23" name="TextBox 22"/>
          <p:cNvSpPr txBox="1"/>
          <p:nvPr/>
        </p:nvSpPr>
        <p:spPr>
          <a:xfrm>
            <a:off x="3383280" y="4681727"/>
            <a:ext cx="8077169" cy="566928"/>
          </a:xfrm>
          <a:prstGeom prst="rect">
            <a:avLst/>
          </a:prstGeom>
          <a:noFill/>
        </p:spPr>
        <p:txBody>
          <a:bodyPr wrap="square" lIns="0" rIns="0" tIns="0" bIns="0" anchor="t">
            <a:spAutoFit/>
          </a:bodyPr>
          <a:lstStyle/>
          <a:p>
            <a:pPr algn="l">
              <a:lnSpc>
                <a:spcPct val="134000"/>
              </a:lnSpc>
            </a:pPr>
            <a:r>
              <a:rPr sz="1260" b="0" i="0">
                <a:solidFill>
                  <a:srgbClr val="DCE4EF"/>
                </a:solidFill>
                <a:latin typeface="Arial"/>
              </a:rPr>
              <a:t>rank agreement between the price list and measured visibility.</a:t>
            </a:r>
          </a:p>
          <a:p>
            <a:pPr algn="l">
              <a:lnSpc>
                <a:spcPct val="134000"/>
              </a:lnSpc>
            </a:pPr>
            <a:r>
              <a:rPr sz="1260" b="0" i="0">
                <a:solidFill>
                  <a:srgbClr val="DCE4EF"/>
                </a:solidFill>
                <a:latin typeface="Arial"/>
              </a:rPr>
              <a:t>Effectively none.</a:t>
            </a:r>
          </a:p>
        </p:txBody>
      </p:sp>
      <p:sp>
        <p:nvSpPr>
          <p:cNvPr id="24" name="Rectangle 23"/>
          <p:cNvSpPr/>
          <p:nvPr/>
        </p:nvSpPr>
        <p:spPr>
          <a:xfrm>
            <a:off x="640080" y="5358383"/>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40080" y="5504688"/>
            <a:ext cx="50292" cy="54864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14400" y="5449824"/>
            <a:ext cx="2148840" cy="548640"/>
          </a:xfrm>
          <a:prstGeom prst="rect">
            <a:avLst/>
          </a:prstGeom>
          <a:noFill/>
        </p:spPr>
        <p:txBody>
          <a:bodyPr wrap="square" lIns="0" rIns="0" tIns="0" bIns="0" anchor="t">
            <a:spAutoFit/>
          </a:bodyPr>
          <a:lstStyle/>
          <a:p>
            <a:pPr algn="l">
              <a:lnSpc>
                <a:spcPct val="98000"/>
              </a:lnSpc>
            </a:pPr>
            <a:r>
              <a:rPr sz="3000" b="1" i="0">
                <a:solidFill>
                  <a:srgbClr val="E4002B"/>
                </a:solidFill>
                <a:latin typeface="Arial"/>
              </a:rPr>
              <a:t>0 of 16</a:t>
            </a:r>
          </a:p>
        </p:txBody>
      </p:sp>
      <p:sp>
        <p:nvSpPr>
          <p:cNvPr id="27" name="TextBox 26"/>
          <p:cNvSpPr txBox="1"/>
          <p:nvPr/>
        </p:nvSpPr>
        <p:spPr>
          <a:xfrm>
            <a:off x="3383280" y="5468112"/>
            <a:ext cx="8077169" cy="566928"/>
          </a:xfrm>
          <a:prstGeom prst="rect">
            <a:avLst/>
          </a:prstGeom>
          <a:noFill/>
        </p:spPr>
        <p:txBody>
          <a:bodyPr wrap="square" lIns="0" rIns="0" tIns="0" bIns="0" anchor="t">
            <a:spAutoFit/>
          </a:bodyPr>
          <a:lstStyle/>
          <a:p>
            <a:pPr algn="l">
              <a:lnSpc>
                <a:spcPct val="134000"/>
              </a:lnSpc>
            </a:pPr>
            <a:r>
              <a:rPr sz="1260" b="0" i="0">
                <a:solidFill>
                  <a:srgbClr val="DCE4EF"/>
                </a:solidFill>
                <a:latin typeface="Arial"/>
              </a:rPr>
              <a:t>assets are priced in line with what they were measured to deliver.</a:t>
            </a:r>
          </a:p>
          <a:p>
            <a:pPr algn="l">
              <a:lnSpc>
                <a:spcPct val="134000"/>
              </a:lnSpc>
            </a:pPr>
            <a:r>
              <a:rPr sz="1260" b="0" i="0">
                <a:solidFill>
                  <a:srgbClr val="DCE4EF"/>
                </a:solidFill>
                <a:latin typeface="Arial"/>
              </a:rPr>
              <a:t>Nine sit above, seven below.</a:t>
            </a:r>
          </a:p>
        </p:txBody>
      </p:sp>
      <p:sp>
        <p:nvSpPr>
          <p:cNvPr id="28" name="TextBox 27"/>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Two complete Bradford Bulls broadcasts, home kit 2025/26, analysed at 2 frames per second. “What the club charges” is the current management allocation (totals 95%); LogoLens totals 100%.</a:t>
            </a:r>
          </a:p>
        </p:txBody>
      </p:sp>
      <p:sp>
        <p:nvSpPr>
          <p:cNvPr id="29" name="TextBox 28"/>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THE SOLUTION</a:t>
            </a:r>
          </a:p>
        </p:txBody>
      </p:sp>
      <p:sp>
        <p:nvSpPr>
          <p:cNvPr id="7" name="TextBox 6"/>
          <p:cNvSpPr txBox="1"/>
          <p:nvPr/>
        </p:nvSpPr>
        <p:spPr>
          <a:xfrm>
            <a:off x="640080" y="786384"/>
            <a:ext cx="10058400" cy="914400"/>
          </a:xfrm>
          <a:prstGeom prst="rect">
            <a:avLst/>
          </a:prstGeom>
          <a:noFill/>
        </p:spPr>
        <p:txBody>
          <a:bodyPr wrap="square" lIns="0" rIns="0" tIns="0" bIns="0" anchor="t">
            <a:spAutoFit/>
          </a:bodyPr>
          <a:lstStyle/>
          <a:p>
            <a:pPr algn="l">
              <a:lnSpc>
                <a:spcPct val="102000"/>
              </a:lnSpc>
            </a:pPr>
            <a:r>
              <a:rPr sz="3200" b="1" i="0">
                <a:solidFill>
                  <a:srgbClr val="FFFFFF"/>
                </a:solidFill>
                <a:latin typeface="Arial"/>
              </a:rPr>
              <a:t>From broadcast footage to a per-sponsor number</a:t>
            </a:r>
          </a:p>
        </p:txBody>
      </p:sp>
      <p:sp>
        <p:nvSpPr>
          <p:cNvPr id="8" name="TextBox 7"/>
          <p:cNvSpPr txBox="1"/>
          <p:nvPr/>
        </p:nvSpPr>
        <p:spPr>
          <a:xfrm>
            <a:off x="640080" y="1664208"/>
            <a:ext cx="9144000"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It watches the whole match, finds every sponsor mark on a Bradford player, and scores how well each one could actually be seen.</a:t>
            </a:r>
          </a:p>
        </p:txBody>
      </p:sp>
      <p:pic>
        <p:nvPicPr>
          <p:cNvPr id="9" name="Picture 8" descr="fr_teamsplit.jpg"/>
          <p:cNvPicPr>
            <a:picLocks noChangeAspect="1"/>
          </p:cNvPicPr>
          <p:nvPr/>
        </p:nvPicPr>
        <p:blipFill>
          <a:blip r:embed="rId2"/>
          <a:srcRect t="26" b="26"/>
          <a:stretch>
            <a:fillRect/>
          </a:stretch>
        </p:blipFill>
        <p:spPr>
          <a:xfrm>
            <a:off x="640080" y="2231136"/>
            <a:ext cx="5806440" cy="3264408"/>
          </a:xfrm>
          <a:prstGeom prst="rect">
            <a:avLst/>
          </a:prstGeom>
        </p:spPr>
      </p:pic>
      <p:sp>
        <p:nvSpPr>
          <p:cNvPr id="10" name="Rectangle 9"/>
          <p:cNvSpPr/>
          <p:nvPr/>
        </p:nvSpPr>
        <p:spPr>
          <a:xfrm>
            <a:off x="640080" y="2231136"/>
            <a:ext cx="5806440" cy="3264408"/>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 y="5596128"/>
            <a:ext cx="5806440" cy="365760"/>
          </a:xfrm>
          <a:prstGeom prst="rect">
            <a:avLst/>
          </a:prstGeom>
          <a:noFill/>
        </p:spPr>
        <p:txBody>
          <a:bodyPr wrap="square" lIns="0" rIns="0" tIns="0" bIns="0" anchor="t">
            <a:spAutoFit/>
          </a:bodyPr>
          <a:lstStyle/>
          <a:p>
            <a:pPr algn="l">
              <a:lnSpc>
                <a:spcPct val="130000"/>
              </a:lnSpc>
            </a:pPr>
            <a:r>
              <a:rPr sz="960" b="0" i="0">
                <a:solidFill>
                  <a:srgbClr val="8695AC"/>
                </a:solidFill>
                <a:latin typeface="Arial"/>
              </a:rPr>
              <a:t>Real system output. Bradford players kept (amber), opponents and officials discarded (grey), each mark boxed and named with its confidence.</a:t>
            </a:r>
          </a:p>
        </p:txBody>
      </p:sp>
      <p:sp>
        <p:nvSpPr>
          <p:cNvPr id="12" name="TextBox 11"/>
          <p:cNvSpPr txBox="1"/>
          <p:nvPr/>
        </p:nvSpPr>
        <p:spPr>
          <a:xfrm>
            <a:off x="6766560" y="2231136"/>
            <a:ext cx="457200" cy="237744"/>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01</a:t>
            </a:r>
          </a:p>
        </p:txBody>
      </p:sp>
      <p:sp>
        <p:nvSpPr>
          <p:cNvPr id="13" name="TextBox 12"/>
          <p:cNvSpPr txBox="1"/>
          <p:nvPr/>
        </p:nvSpPr>
        <p:spPr>
          <a:xfrm>
            <a:off x="7333488" y="2217420"/>
            <a:ext cx="1051560" cy="237744"/>
          </a:xfrm>
          <a:prstGeom prst="rect">
            <a:avLst/>
          </a:prstGeom>
          <a:noFill/>
        </p:spPr>
        <p:txBody>
          <a:bodyPr wrap="square" lIns="0" rIns="0" tIns="0" bIns="0" anchor="t">
            <a:spAutoFit/>
          </a:bodyPr>
          <a:lstStyle/>
          <a:p>
            <a:pPr algn="l">
              <a:lnSpc>
                <a:spcPct val="120000"/>
              </a:lnSpc>
            </a:pPr>
            <a:r>
              <a:rPr sz="1300" b="1" i="0">
                <a:solidFill>
                  <a:srgbClr val="FFFFFF"/>
                </a:solidFill>
                <a:latin typeface="Arial"/>
              </a:rPr>
              <a:t>Find</a:t>
            </a:r>
          </a:p>
        </p:txBody>
      </p:sp>
      <p:sp>
        <p:nvSpPr>
          <p:cNvPr id="14" name="TextBox 13"/>
          <p:cNvSpPr txBox="1"/>
          <p:nvPr/>
        </p:nvSpPr>
        <p:spPr>
          <a:xfrm>
            <a:off x="8503920" y="2235708"/>
            <a:ext cx="3002249" cy="457200"/>
          </a:xfrm>
          <a:prstGeom prst="rect">
            <a:avLst/>
          </a:prstGeom>
          <a:noFill/>
        </p:spPr>
        <p:txBody>
          <a:bodyPr wrap="square" lIns="0" rIns="0" tIns="0" bIns="0" anchor="t">
            <a:spAutoFit/>
          </a:bodyPr>
          <a:lstStyle/>
          <a:p>
            <a:pPr algn="l">
              <a:lnSpc>
                <a:spcPct val="126000"/>
              </a:lnSpc>
            </a:pPr>
            <a:r>
              <a:rPr sz="1080" b="0" i="0">
                <a:solidFill>
                  <a:srgbClr val="8695AC"/>
                </a:solidFill>
                <a:latin typeface="Arial"/>
              </a:rPr>
              <a:t>Every sponsor mark in every sampled frame.</a:t>
            </a:r>
          </a:p>
        </p:txBody>
      </p:sp>
      <p:sp>
        <p:nvSpPr>
          <p:cNvPr id="15" name="Rectangle 14"/>
          <p:cNvSpPr/>
          <p:nvPr/>
        </p:nvSpPr>
        <p:spPr>
          <a:xfrm>
            <a:off x="6766560" y="2679191"/>
            <a:ext cx="478532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766560" y="2811780"/>
            <a:ext cx="457200" cy="237744"/>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02</a:t>
            </a:r>
          </a:p>
        </p:txBody>
      </p:sp>
      <p:sp>
        <p:nvSpPr>
          <p:cNvPr id="17" name="TextBox 16"/>
          <p:cNvSpPr txBox="1"/>
          <p:nvPr/>
        </p:nvSpPr>
        <p:spPr>
          <a:xfrm>
            <a:off x="7333488" y="2798064"/>
            <a:ext cx="1051560" cy="237744"/>
          </a:xfrm>
          <a:prstGeom prst="rect">
            <a:avLst/>
          </a:prstGeom>
          <a:noFill/>
        </p:spPr>
        <p:txBody>
          <a:bodyPr wrap="square" lIns="0" rIns="0" tIns="0" bIns="0" anchor="t">
            <a:spAutoFit/>
          </a:bodyPr>
          <a:lstStyle/>
          <a:p>
            <a:pPr algn="l">
              <a:lnSpc>
                <a:spcPct val="120000"/>
              </a:lnSpc>
            </a:pPr>
            <a:r>
              <a:rPr sz="1300" b="1" i="0">
                <a:solidFill>
                  <a:srgbClr val="FFFFFF"/>
                </a:solidFill>
                <a:latin typeface="Arial"/>
              </a:rPr>
              <a:t>Follow</a:t>
            </a:r>
          </a:p>
        </p:txBody>
      </p:sp>
      <p:sp>
        <p:nvSpPr>
          <p:cNvPr id="18" name="TextBox 17"/>
          <p:cNvSpPr txBox="1"/>
          <p:nvPr/>
        </p:nvSpPr>
        <p:spPr>
          <a:xfrm>
            <a:off x="8503920" y="2816352"/>
            <a:ext cx="3002249" cy="457200"/>
          </a:xfrm>
          <a:prstGeom prst="rect">
            <a:avLst/>
          </a:prstGeom>
          <a:noFill/>
        </p:spPr>
        <p:txBody>
          <a:bodyPr wrap="square" lIns="0" rIns="0" tIns="0" bIns="0" anchor="t">
            <a:spAutoFit/>
          </a:bodyPr>
          <a:lstStyle/>
          <a:p>
            <a:pPr algn="l">
              <a:lnSpc>
                <a:spcPct val="126000"/>
              </a:lnSpc>
            </a:pPr>
            <a:r>
              <a:rPr sz="1080" b="0" i="0">
                <a:solidFill>
                  <a:srgbClr val="8695AC"/>
                </a:solidFill>
                <a:latin typeface="Arial"/>
              </a:rPr>
              <a:t>Link the same mark across frames into an appearance.</a:t>
            </a:r>
          </a:p>
        </p:txBody>
      </p:sp>
      <p:sp>
        <p:nvSpPr>
          <p:cNvPr id="19" name="Rectangle 18"/>
          <p:cNvSpPr/>
          <p:nvPr/>
        </p:nvSpPr>
        <p:spPr>
          <a:xfrm>
            <a:off x="6766560" y="3259836"/>
            <a:ext cx="478532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766560" y="3392424"/>
            <a:ext cx="457200" cy="237744"/>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03</a:t>
            </a:r>
          </a:p>
        </p:txBody>
      </p:sp>
      <p:sp>
        <p:nvSpPr>
          <p:cNvPr id="21" name="TextBox 20"/>
          <p:cNvSpPr txBox="1"/>
          <p:nvPr/>
        </p:nvSpPr>
        <p:spPr>
          <a:xfrm>
            <a:off x="7333488" y="3378708"/>
            <a:ext cx="1051560" cy="237744"/>
          </a:xfrm>
          <a:prstGeom prst="rect">
            <a:avLst/>
          </a:prstGeom>
          <a:noFill/>
        </p:spPr>
        <p:txBody>
          <a:bodyPr wrap="square" lIns="0" rIns="0" tIns="0" bIns="0" anchor="t">
            <a:spAutoFit/>
          </a:bodyPr>
          <a:lstStyle/>
          <a:p>
            <a:pPr algn="l">
              <a:lnSpc>
                <a:spcPct val="120000"/>
              </a:lnSpc>
            </a:pPr>
            <a:r>
              <a:rPr sz="1300" b="1" i="0">
                <a:solidFill>
                  <a:srgbClr val="FFFFFF"/>
                </a:solidFill>
                <a:latin typeface="Arial"/>
              </a:rPr>
              <a:t>Filter</a:t>
            </a:r>
          </a:p>
        </p:txBody>
      </p:sp>
      <p:sp>
        <p:nvSpPr>
          <p:cNvPr id="22" name="TextBox 21"/>
          <p:cNvSpPr txBox="1"/>
          <p:nvPr/>
        </p:nvSpPr>
        <p:spPr>
          <a:xfrm>
            <a:off x="8503920" y="3396996"/>
            <a:ext cx="3002249" cy="457200"/>
          </a:xfrm>
          <a:prstGeom prst="rect">
            <a:avLst/>
          </a:prstGeom>
          <a:noFill/>
        </p:spPr>
        <p:txBody>
          <a:bodyPr wrap="square" lIns="0" rIns="0" tIns="0" bIns="0" anchor="t">
            <a:spAutoFit/>
          </a:bodyPr>
          <a:lstStyle/>
          <a:p>
            <a:pPr algn="l">
              <a:lnSpc>
                <a:spcPct val="126000"/>
              </a:lnSpc>
            </a:pPr>
            <a:r>
              <a:rPr sz="1080" b="0" i="0">
                <a:solidFill>
                  <a:srgbClr val="8695AC"/>
                </a:solidFill>
                <a:latin typeface="Arial"/>
              </a:rPr>
              <a:t>Keep Bradford players only — discard opponents, officials and boards.</a:t>
            </a:r>
          </a:p>
        </p:txBody>
      </p:sp>
      <p:sp>
        <p:nvSpPr>
          <p:cNvPr id="23" name="Rectangle 22"/>
          <p:cNvSpPr/>
          <p:nvPr/>
        </p:nvSpPr>
        <p:spPr>
          <a:xfrm>
            <a:off x="6766560" y="3840480"/>
            <a:ext cx="478532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766560" y="3973068"/>
            <a:ext cx="457200" cy="237744"/>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04</a:t>
            </a:r>
          </a:p>
        </p:txBody>
      </p:sp>
      <p:sp>
        <p:nvSpPr>
          <p:cNvPr id="25" name="TextBox 24"/>
          <p:cNvSpPr txBox="1"/>
          <p:nvPr/>
        </p:nvSpPr>
        <p:spPr>
          <a:xfrm>
            <a:off x="7333488" y="3959352"/>
            <a:ext cx="1051560" cy="237744"/>
          </a:xfrm>
          <a:prstGeom prst="rect">
            <a:avLst/>
          </a:prstGeom>
          <a:noFill/>
        </p:spPr>
        <p:txBody>
          <a:bodyPr wrap="square" lIns="0" rIns="0" tIns="0" bIns="0" anchor="t">
            <a:spAutoFit/>
          </a:bodyPr>
          <a:lstStyle/>
          <a:p>
            <a:pPr algn="l">
              <a:lnSpc>
                <a:spcPct val="120000"/>
              </a:lnSpc>
            </a:pPr>
            <a:r>
              <a:rPr sz="1300" b="1" i="0">
                <a:solidFill>
                  <a:srgbClr val="FFFFFF"/>
                </a:solidFill>
                <a:latin typeface="Arial"/>
              </a:rPr>
              <a:t>Place</a:t>
            </a:r>
          </a:p>
        </p:txBody>
      </p:sp>
      <p:sp>
        <p:nvSpPr>
          <p:cNvPr id="26" name="TextBox 25"/>
          <p:cNvSpPr txBox="1"/>
          <p:nvPr/>
        </p:nvSpPr>
        <p:spPr>
          <a:xfrm>
            <a:off x="8503920" y="3977639"/>
            <a:ext cx="3002249" cy="457200"/>
          </a:xfrm>
          <a:prstGeom prst="rect">
            <a:avLst/>
          </a:prstGeom>
          <a:noFill/>
        </p:spPr>
        <p:txBody>
          <a:bodyPr wrap="square" lIns="0" rIns="0" tIns="0" bIns="0" anchor="t">
            <a:spAutoFit/>
          </a:bodyPr>
          <a:lstStyle/>
          <a:p>
            <a:pPr algn="l">
              <a:lnSpc>
                <a:spcPct val="126000"/>
              </a:lnSpc>
            </a:pPr>
            <a:r>
              <a:rPr sz="1080" b="0" i="0">
                <a:solidFill>
                  <a:srgbClr val="8695AC"/>
                </a:solidFill>
                <a:latin typeface="Arial"/>
              </a:rPr>
              <a:t>Tie each mark to a body zone: chest, back, sleeve, shorts, socks.</a:t>
            </a:r>
          </a:p>
        </p:txBody>
      </p:sp>
      <p:sp>
        <p:nvSpPr>
          <p:cNvPr id="27" name="Rectangle 26"/>
          <p:cNvSpPr/>
          <p:nvPr/>
        </p:nvSpPr>
        <p:spPr>
          <a:xfrm>
            <a:off x="6766560" y="4421124"/>
            <a:ext cx="478532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766560" y="4553712"/>
            <a:ext cx="457200" cy="237744"/>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05</a:t>
            </a:r>
          </a:p>
        </p:txBody>
      </p:sp>
      <p:sp>
        <p:nvSpPr>
          <p:cNvPr id="29" name="TextBox 28"/>
          <p:cNvSpPr txBox="1"/>
          <p:nvPr/>
        </p:nvSpPr>
        <p:spPr>
          <a:xfrm>
            <a:off x="7333488" y="4539996"/>
            <a:ext cx="1051560" cy="237744"/>
          </a:xfrm>
          <a:prstGeom prst="rect">
            <a:avLst/>
          </a:prstGeom>
          <a:noFill/>
        </p:spPr>
        <p:txBody>
          <a:bodyPr wrap="square" lIns="0" rIns="0" tIns="0" bIns="0" anchor="t">
            <a:spAutoFit/>
          </a:bodyPr>
          <a:lstStyle/>
          <a:p>
            <a:pPr algn="l">
              <a:lnSpc>
                <a:spcPct val="120000"/>
              </a:lnSpc>
            </a:pPr>
            <a:r>
              <a:rPr sz="1300" b="1" i="0">
                <a:solidFill>
                  <a:srgbClr val="FFFFFF"/>
                </a:solidFill>
                <a:latin typeface="Arial"/>
              </a:rPr>
              <a:t>Score</a:t>
            </a:r>
          </a:p>
        </p:txBody>
      </p:sp>
      <p:sp>
        <p:nvSpPr>
          <p:cNvPr id="30" name="TextBox 29"/>
          <p:cNvSpPr txBox="1"/>
          <p:nvPr/>
        </p:nvSpPr>
        <p:spPr>
          <a:xfrm>
            <a:off x="8503920" y="4558284"/>
            <a:ext cx="3002249" cy="457200"/>
          </a:xfrm>
          <a:prstGeom prst="rect">
            <a:avLst/>
          </a:prstGeom>
          <a:noFill/>
        </p:spPr>
        <p:txBody>
          <a:bodyPr wrap="square" lIns="0" rIns="0" tIns="0" bIns="0" anchor="t">
            <a:spAutoFit/>
          </a:bodyPr>
          <a:lstStyle/>
          <a:p>
            <a:pPr algn="l">
              <a:lnSpc>
                <a:spcPct val="126000"/>
              </a:lnSpc>
            </a:pPr>
            <a:r>
              <a:rPr sz="1080" b="0" i="0">
                <a:solidFill>
                  <a:srgbClr val="8695AC"/>
                </a:solidFill>
                <a:latin typeface="Arial"/>
              </a:rPr>
              <a:t>Weight it by size, position, clarity, angle and duration.</a:t>
            </a:r>
          </a:p>
        </p:txBody>
      </p:sp>
      <p:sp>
        <p:nvSpPr>
          <p:cNvPr id="31" name="Rectangle 30"/>
          <p:cNvSpPr/>
          <p:nvPr/>
        </p:nvSpPr>
        <p:spPr>
          <a:xfrm>
            <a:off x="6766560" y="5001768"/>
            <a:ext cx="478532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766560" y="5134356"/>
            <a:ext cx="457200" cy="237744"/>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06</a:t>
            </a:r>
          </a:p>
        </p:txBody>
      </p:sp>
      <p:sp>
        <p:nvSpPr>
          <p:cNvPr id="33" name="TextBox 32"/>
          <p:cNvSpPr txBox="1"/>
          <p:nvPr/>
        </p:nvSpPr>
        <p:spPr>
          <a:xfrm>
            <a:off x="7333488" y="5120640"/>
            <a:ext cx="1051560" cy="237744"/>
          </a:xfrm>
          <a:prstGeom prst="rect">
            <a:avLst/>
          </a:prstGeom>
          <a:noFill/>
        </p:spPr>
        <p:txBody>
          <a:bodyPr wrap="square" lIns="0" rIns="0" tIns="0" bIns="0" anchor="t">
            <a:spAutoFit/>
          </a:bodyPr>
          <a:lstStyle/>
          <a:p>
            <a:pPr algn="l">
              <a:lnSpc>
                <a:spcPct val="120000"/>
              </a:lnSpc>
            </a:pPr>
            <a:r>
              <a:rPr sz="1300" b="1" i="0">
                <a:solidFill>
                  <a:srgbClr val="FFFFFF"/>
                </a:solidFill>
                <a:latin typeface="Arial"/>
              </a:rPr>
              <a:t>Total</a:t>
            </a:r>
          </a:p>
        </p:txBody>
      </p:sp>
      <p:sp>
        <p:nvSpPr>
          <p:cNvPr id="34" name="TextBox 33"/>
          <p:cNvSpPr txBox="1"/>
          <p:nvPr/>
        </p:nvSpPr>
        <p:spPr>
          <a:xfrm>
            <a:off x="8503920" y="5138928"/>
            <a:ext cx="3002249" cy="457200"/>
          </a:xfrm>
          <a:prstGeom prst="rect">
            <a:avLst/>
          </a:prstGeom>
          <a:noFill/>
        </p:spPr>
        <p:txBody>
          <a:bodyPr wrap="square" lIns="0" rIns="0" tIns="0" bIns="0" anchor="t">
            <a:spAutoFit/>
          </a:bodyPr>
          <a:lstStyle/>
          <a:p>
            <a:pPr algn="l">
              <a:lnSpc>
                <a:spcPct val="126000"/>
              </a:lnSpc>
            </a:pPr>
            <a:r>
              <a:rPr sz="1080" b="0" i="0">
                <a:solidFill>
                  <a:srgbClr val="8695AC"/>
                </a:solidFill>
                <a:latin typeface="Arial"/>
              </a:rPr>
              <a:t>Convert to a share of the whole shirt's exposure.</a:t>
            </a:r>
          </a:p>
        </p:txBody>
      </p:sp>
      <p:sp>
        <p:nvSpPr>
          <p:cNvPr id="35" name="TextBox 34"/>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DEMONSTRATION  ·  DETECT</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Ninety seconds of real Bradford footage</a:t>
            </a:r>
          </a:p>
        </p:txBody>
      </p:sp>
      <p:sp>
        <p:nvSpPr>
          <p:cNvPr id="8" name="TextBox 7"/>
          <p:cNvSpPr txBox="1"/>
          <p:nvPr/>
        </p:nvSpPr>
        <p:spPr>
          <a:xfrm>
            <a:off x="640080" y="1645920"/>
            <a:ext cx="10607040" cy="274320"/>
          </a:xfrm>
          <a:prstGeom prst="rect">
            <a:avLst/>
          </a:prstGeom>
          <a:noFill/>
        </p:spPr>
        <p:txBody>
          <a:bodyPr wrap="square" lIns="0" rIns="0" tIns="0" bIns="0" anchor="t">
            <a:spAutoFit/>
          </a:bodyPr>
          <a:lstStyle/>
          <a:p>
            <a:pPr algn="l">
              <a:lnSpc>
                <a:spcPct val="120000"/>
              </a:lnSpc>
            </a:pPr>
            <a:r>
              <a:rPr sz="1160" b="0" i="0">
                <a:solidFill>
                  <a:srgbClr val="8695AC"/>
                </a:solidFill>
                <a:latin typeface="Arial"/>
              </a:rPr>
              <a:t>Unedited system output.   Box colour = sponsor brand.   BRA = confirmed Bradford player.   ? = not enough evidence, held back rather than guessed.</a:t>
            </a:r>
          </a:p>
        </p:txBody>
      </p:sp>
      <p:pic>
        <p:nvPicPr>
          <p:cNvPr id="9" name="demo_90s.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40080" y="2103120"/>
            <a:ext cx="6903720" cy="3886200"/>
          </a:xfrm>
          <a:prstGeom prst="rect">
            <a:avLst/>
          </a:prstGeom>
        </p:spPr>
      </p:pic>
      <p:sp>
        <p:nvSpPr>
          <p:cNvPr id="10" name="Rectangle 9"/>
          <p:cNvSpPr/>
          <p:nvPr/>
        </p:nvSpPr>
        <p:spPr>
          <a:xfrm>
            <a:off x="640080" y="2103120"/>
            <a:ext cx="6903720" cy="3886200"/>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40080" y="6053328"/>
            <a:ext cx="310896"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60704" y="5998464"/>
            <a:ext cx="6583680" cy="237744"/>
          </a:xfrm>
          <a:prstGeom prst="rect">
            <a:avLst/>
          </a:prstGeom>
          <a:noFill/>
        </p:spPr>
        <p:txBody>
          <a:bodyPr wrap="square" lIns="0" rIns="0" tIns="0" bIns="0" anchor="t">
            <a:spAutoFit/>
          </a:bodyPr>
          <a:lstStyle/>
          <a:p>
            <a:pPr algn="l">
              <a:lnSpc>
                <a:spcPct val="120000"/>
              </a:lnSpc>
            </a:pPr>
            <a:r>
              <a:rPr sz="1040" b="0" i="0">
                <a:solidFill>
                  <a:srgbClr val="8695AC"/>
                </a:solidFill>
                <a:latin typeface="Arial"/>
              </a:rPr>
              <a:t>Seven passages from one match · source timecode burned in · click to play</a:t>
            </a:r>
          </a:p>
        </p:txBody>
      </p:sp>
      <p:pic>
        <p:nvPicPr>
          <p:cNvPr id="13" name="tackle_body.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7827264" y="2103120"/>
            <a:ext cx="3767328" cy="2121408"/>
          </a:xfrm>
          <a:prstGeom prst="rect">
            <a:avLst/>
          </a:prstGeom>
        </p:spPr>
      </p:pic>
      <p:sp>
        <p:nvSpPr>
          <p:cNvPr id="14" name="Rectangle 13"/>
          <p:cNvSpPr/>
          <p:nvPr/>
        </p:nvSpPr>
        <p:spPr>
          <a:xfrm>
            <a:off x="7827264" y="2103120"/>
            <a:ext cx="3767328" cy="2121408"/>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827264" y="4334256"/>
            <a:ext cx="3767328" cy="237744"/>
          </a:xfrm>
          <a:prstGeom prst="rect">
            <a:avLst/>
          </a:prstGeom>
          <a:noFill/>
        </p:spPr>
        <p:txBody>
          <a:bodyPr wrap="square" lIns="0" rIns="0" tIns="0" bIns="0" anchor="t">
            <a:spAutoFit/>
          </a:bodyPr>
          <a:lstStyle/>
          <a:p>
            <a:pPr algn="l">
              <a:lnSpc>
                <a:spcPct val="120000"/>
              </a:lnSpc>
            </a:pPr>
            <a:r>
              <a:rPr sz="1250" b="1" i="0">
                <a:solidFill>
                  <a:srgbClr val="FFFFFF"/>
                </a:solidFill>
                <a:latin typeface="Arial"/>
              </a:rPr>
              <a:t>How it knows it is the shorts</a:t>
            </a:r>
          </a:p>
        </p:txBody>
      </p:sp>
      <p:sp>
        <p:nvSpPr>
          <p:cNvPr id="16" name="TextBox 15"/>
          <p:cNvSpPr txBox="1"/>
          <p:nvPr/>
        </p:nvSpPr>
        <p:spPr>
          <a:xfrm>
            <a:off x="7827264" y="4608576"/>
            <a:ext cx="3749039" cy="548640"/>
          </a:xfrm>
          <a:prstGeom prst="rect">
            <a:avLst/>
          </a:prstGeom>
          <a:noFill/>
        </p:spPr>
        <p:txBody>
          <a:bodyPr wrap="square" lIns="0" rIns="0" tIns="0" bIns="0" anchor="t">
            <a:spAutoFit/>
          </a:bodyPr>
          <a:lstStyle/>
          <a:p>
            <a:pPr algn="l">
              <a:lnSpc>
                <a:spcPct val="132000"/>
              </a:lnSpc>
            </a:pPr>
            <a:r>
              <a:rPr sz="1040" b="0" i="0">
                <a:solidFill>
                  <a:srgbClr val="8695AC"/>
                </a:solidFill>
                <a:latin typeface="Arial"/>
              </a:rPr>
              <a:t>Each player is broken into body regions from pose keypoints, so a mark can be tied to chest, back, sleeve, shorts or socks. Grey means the system had too little evidence and declined to assign.</a:t>
            </a:r>
          </a:p>
        </p:txBody>
      </p:sp>
      <p:sp>
        <p:nvSpPr>
          <p:cNvPr id="17" name="Rectangle 16"/>
          <p:cNvSpPr/>
          <p:nvPr/>
        </p:nvSpPr>
        <p:spPr>
          <a:xfrm>
            <a:off x="7827264" y="5504688"/>
            <a:ext cx="310896" cy="32004"/>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47888" y="5449824"/>
            <a:ext cx="3383280" cy="457200"/>
          </a:xfrm>
          <a:prstGeom prst="rect">
            <a:avLst/>
          </a:prstGeom>
          <a:noFill/>
        </p:spPr>
        <p:txBody>
          <a:bodyPr wrap="square" lIns="0" rIns="0" tIns="0" bIns="0" anchor="t">
            <a:spAutoFit/>
          </a:bodyPr>
          <a:lstStyle/>
          <a:p>
            <a:pPr algn="l">
              <a:lnSpc>
                <a:spcPct val="130000"/>
              </a:lnSpc>
            </a:pPr>
            <a:r>
              <a:rPr sz="1060" b="0" i="0">
                <a:solidFill>
                  <a:srgbClr val="FFC20E"/>
                </a:solidFill>
                <a:latin typeface="Arial"/>
              </a:rPr>
              <a:t>Around 00:52 a ruck brings ten marks into a single frame.</a:t>
            </a:r>
          </a:p>
        </p:txBody>
      </p:sp>
      <p:sp>
        <p:nvSpPr>
          <p:cNvPr id="19" name="TextBox 18"/>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Clips: artifacts/deck_media/demo_team_split_90s.mp4 and artifacts/bradford_review/tackle_body.mp4 — Bradford v Hull FC, home kit.</a:t>
            </a:r>
          </a:p>
        </p:txBody>
      </p:sp>
      <p:sp>
        <p:nvSpPr>
          <p:cNvPr id="20" name="TextBox 19"/>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05</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video>
              <p:cMediaNode vol="80000">
                <p:cTn id="3" fill="hold" display="0">
                  <p:stCondLst>
                    <p:cond delay="indefinite"/>
                  </p:stCondLst>
                </p:cTn>
                <p:tgtEl>
                  <p:spTgt spid="13"/>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DEMONSTRATION  ·  TRACK AND EVALUATE</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The same ninety seconds, as data</a:t>
            </a:r>
          </a:p>
        </p:txBody>
      </p:sp>
      <p:sp>
        <p:nvSpPr>
          <p:cNvPr id="8" name="TextBox 7"/>
          <p:cNvSpPr txBox="1"/>
          <p:nvPr/>
        </p:nvSpPr>
        <p:spPr>
          <a:xfrm>
            <a:off x="640080" y="1700784"/>
            <a:ext cx="9692640"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Every mark on the clip you just watched, tracked through time. Each tick is one detection on a Bradford player; fainter ticks are lower-confidence reads.</a:t>
            </a:r>
          </a:p>
        </p:txBody>
      </p:sp>
      <p:pic>
        <p:nvPicPr>
          <p:cNvPr id="9" name="Picture 8" descr="h_timeline.png"/>
          <p:cNvPicPr>
            <a:picLocks noChangeAspect="1"/>
          </p:cNvPicPr>
          <p:nvPr/>
        </p:nvPicPr>
        <p:blipFill>
          <a:blip r:embed="rId2"/>
          <a:stretch>
            <a:fillRect/>
          </a:stretch>
        </p:blipFill>
        <p:spPr>
          <a:xfrm>
            <a:off x="548640" y="2286000"/>
            <a:ext cx="8732520" cy="3351104"/>
          </a:xfrm>
          <a:prstGeom prst="rect">
            <a:avLst/>
          </a:prstGeom>
        </p:spPr>
      </p:pic>
      <p:sp>
        <p:nvSpPr>
          <p:cNvPr id="10" name="Rectangle 9"/>
          <p:cNvSpPr/>
          <p:nvPr/>
        </p:nvSpPr>
        <p:spPr>
          <a:xfrm>
            <a:off x="9436607" y="2286000"/>
            <a:ext cx="310896" cy="36576"/>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436607" y="2487168"/>
            <a:ext cx="2743200" cy="274320"/>
          </a:xfrm>
          <a:prstGeom prst="rect">
            <a:avLst/>
          </a:prstGeom>
          <a:noFill/>
        </p:spPr>
        <p:txBody>
          <a:bodyPr wrap="square" lIns="0" rIns="0" tIns="0" bIns="0" anchor="t">
            <a:spAutoFit/>
          </a:bodyPr>
          <a:lstStyle/>
          <a:p>
            <a:pPr algn="l">
              <a:lnSpc>
                <a:spcPct val="115000"/>
              </a:lnSpc>
            </a:pPr>
            <a:r>
              <a:rPr sz="1500" b="1" i="0">
                <a:solidFill>
                  <a:srgbClr val="FFFFFF"/>
                </a:solidFill>
                <a:latin typeface="Arial"/>
              </a:rPr>
              <a:t>15</a:t>
            </a:r>
          </a:p>
        </p:txBody>
      </p:sp>
      <p:sp>
        <p:nvSpPr>
          <p:cNvPr id="12" name="TextBox 11"/>
          <p:cNvSpPr txBox="1"/>
          <p:nvPr/>
        </p:nvSpPr>
        <p:spPr>
          <a:xfrm>
            <a:off x="9436607" y="2852928"/>
            <a:ext cx="2697480" cy="822960"/>
          </a:xfrm>
          <a:prstGeom prst="rect">
            <a:avLst/>
          </a:prstGeom>
          <a:noFill/>
        </p:spPr>
        <p:txBody>
          <a:bodyPr wrap="square" lIns="0" rIns="0" tIns="0" bIns="0" anchor="t">
            <a:spAutoFit/>
          </a:bodyPr>
          <a:lstStyle/>
          <a:p>
            <a:pPr algn="l">
              <a:lnSpc>
                <a:spcPct val="134000"/>
              </a:lnSpc>
            </a:pPr>
            <a:r>
              <a:rPr sz="1060" b="0" i="0">
                <a:solidFill>
                  <a:srgbClr val="8695AC"/>
                </a:solidFill>
                <a:latin typeface="Arial"/>
              </a:rPr>
              <a:t>sponsor brands picked up on Bradford players in a single 90-second clip.</a:t>
            </a:r>
          </a:p>
        </p:txBody>
      </p:sp>
      <p:sp>
        <p:nvSpPr>
          <p:cNvPr id="13" name="Rectangle 12"/>
          <p:cNvSpPr/>
          <p:nvPr/>
        </p:nvSpPr>
        <p:spPr>
          <a:xfrm>
            <a:off x="9436607" y="3621024"/>
            <a:ext cx="310896" cy="3657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436607" y="3822191"/>
            <a:ext cx="2743200" cy="274320"/>
          </a:xfrm>
          <a:prstGeom prst="rect">
            <a:avLst/>
          </a:prstGeom>
          <a:noFill/>
        </p:spPr>
        <p:txBody>
          <a:bodyPr wrap="square" lIns="0" rIns="0" tIns="0" bIns="0" anchor="t">
            <a:spAutoFit/>
          </a:bodyPr>
          <a:lstStyle/>
          <a:p>
            <a:pPr algn="l">
              <a:lnSpc>
                <a:spcPct val="115000"/>
              </a:lnSpc>
            </a:pPr>
            <a:r>
              <a:rPr sz="1500" b="1" i="0">
                <a:solidFill>
                  <a:srgbClr val="FFFFFF"/>
                </a:solidFill>
                <a:latin typeface="Arial"/>
              </a:rPr>
              <a:t>Continuous bands</a:t>
            </a:r>
          </a:p>
        </p:txBody>
      </p:sp>
      <p:sp>
        <p:nvSpPr>
          <p:cNvPr id="15" name="TextBox 14"/>
          <p:cNvSpPr txBox="1"/>
          <p:nvPr/>
        </p:nvSpPr>
        <p:spPr>
          <a:xfrm>
            <a:off x="9436607" y="4187952"/>
            <a:ext cx="2697480" cy="822960"/>
          </a:xfrm>
          <a:prstGeom prst="rect">
            <a:avLst/>
          </a:prstGeom>
          <a:noFill/>
        </p:spPr>
        <p:txBody>
          <a:bodyPr wrap="square" lIns="0" rIns="0" tIns="0" bIns="0" anchor="t">
            <a:spAutoFit/>
          </a:bodyPr>
          <a:lstStyle/>
          <a:p>
            <a:pPr algn="l">
              <a:lnSpc>
                <a:spcPct val="134000"/>
              </a:lnSpc>
            </a:pPr>
            <a:r>
              <a:rPr sz="1060" b="0" i="0">
                <a:solidFill>
                  <a:srgbClr val="8695AC"/>
                </a:solidFill>
                <a:latin typeface="Arial"/>
              </a:rPr>
              <a:t>are sustained appearances. Isolated ticks are glimpses that earn far less.</a:t>
            </a:r>
          </a:p>
        </p:txBody>
      </p:sp>
      <p:sp>
        <p:nvSpPr>
          <p:cNvPr id="16" name="Rectangle 15"/>
          <p:cNvSpPr/>
          <p:nvPr/>
        </p:nvSpPr>
        <p:spPr>
          <a:xfrm>
            <a:off x="9436607" y="4956048"/>
            <a:ext cx="310896" cy="36576"/>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436607" y="5157216"/>
            <a:ext cx="2743200" cy="274320"/>
          </a:xfrm>
          <a:prstGeom prst="rect">
            <a:avLst/>
          </a:prstGeom>
          <a:noFill/>
        </p:spPr>
        <p:txBody>
          <a:bodyPr wrap="square" lIns="0" rIns="0" tIns="0" bIns="0" anchor="t">
            <a:spAutoFit/>
          </a:bodyPr>
          <a:lstStyle/>
          <a:p>
            <a:pPr algn="l">
              <a:lnSpc>
                <a:spcPct val="115000"/>
              </a:lnSpc>
            </a:pPr>
            <a:r>
              <a:rPr sz="1500" b="1" i="0">
                <a:solidFill>
                  <a:srgbClr val="FFFFFF"/>
                </a:solidFill>
                <a:latin typeface="Arial"/>
              </a:rPr>
              <a:t>Gaps matter</a:t>
            </a:r>
          </a:p>
        </p:txBody>
      </p:sp>
      <p:sp>
        <p:nvSpPr>
          <p:cNvPr id="18" name="TextBox 17"/>
          <p:cNvSpPr txBox="1"/>
          <p:nvPr/>
        </p:nvSpPr>
        <p:spPr>
          <a:xfrm>
            <a:off x="9436607" y="5522976"/>
            <a:ext cx="2697480" cy="822960"/>
          </a:xfrm>
          <a:prstGeom prst="rect">
            <a:avLst/>
          </a:prstGeom>
          <a:noFill/>
        </p:spPr>
        <p:txBody>
          <a:bodyPr wrap="square" lIns="0" rIns="0" tIns="0" bIns="0" anchor="t">
            <a:spAutoFit/>
          </a:bodyPr>
          <a:lstStyle/>
          <a:p>
            <a:pPr algn="l">
              <a:lnSpc>
                <a:spcPct val="134000"/>
              </a:lnSpc>
            </a:pPr>
            <a:r>
              <a:rPr sz="1060" b="0" i="0">
                <a:solidFill>
                  <a:srgbClr val="8695AC"/>
                </a:solidFill>
                <a:latin typeface="Arial"/>
              </a:rPr>
              <a:t>as much as marks. A brand off screen earns nothing, which is what makes the totals meaningful.</a:t>
            </a:r>
          </a:p>
        </p:txBody>
      </p:sp>
      <p:sp>
        <p:nvSpPr>
          <p:cNvPr id="19" name="TextBox 18"/>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Source: artifacts/bradford_showcase/showcase_detections.json — 4,574 retained detections on Bradford players across the clip's seven passages. Detection counts are per sampled frame, not unique logos.</a:t>
            </a:r>
          </a:p>
        </p:txBody>
      </p:sp>
      <p:sp>
        <p:nvSpPr>
          <p:cNvPr id="20" name="TextBox 19"/>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HOW IT IS SCORED</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200" b="1" i="0">
                <a:solidFill>
                  <a:srgbClr val="FFFFFF"/>
                </a:solidFill>
                <a:latin typeface="Arial"/>
              </a:rPr>
              <a:t>A logo is not just present or absent</a:t>
            </a:r>
          </a:p>
        </p:txBody>
      </p:sp>
      <p:sp>
        <p:nvSpPr>
          <p:cNvPr id="8" name="TextBox 7"/>
          <p:cNvSpPr txBox="1"/>
          <p:nvPr/>
        </p:nvSpPr>
        <p:spPr>
          <a:xfrm>
            <a:off x="640080" y="1700784"/>
            <a:ext cx="8947683"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Every appearance is weighted by how well it could actually be seen. These are the things measured on each one.</a:t>
            </a:r>
          </a:p>
        </p:txBody>
      </p:sp>
      <p:sp>
        <p:nvSpPr>
          <p:cNvPr id="9" name="Rectangle 8"/>
          <p:cNvSpPr/>
          <p:nvPr/>
        </p:nvSpPr>
        <p:spPr>
          <a:xfrm>
            <a:off x="640080" y="2359152"/>
            <a:ext cx="347472" cy="4114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578608"/>
            <a:ext cx="1302797" cy="256032"/>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01</a:t>
            </a:r>
          </a:p>
        </p:txBody>
      </p:sp>
      <p:sp>
        <p:nvSpPr>
          <p:cNvPr id="11" name="TextBox 10"/>
          <p:cNvSpPr txBox="1"/>
          <p:nvPr/>
        </p:nvSpPr>
        <p:spPr>
          <a:xfrm>
            <a:off x="640080" y="2889504"/>
            <a:ext cx="1302797" cy="310896"/>
          </a:xfrm>
          <a:prstGeom prst="rect">
            <a:avLst/>
          </a:prstGeom>
          <a:noFill/>
        </p:spPr>
        <p:txBody>
          <a:bodyPr wrap="square" lIns="0" rIns="0" tIns="0" bIns="0" anchor="t">
            <a:spAutoFit/>
          </a:bodyPr>
          <a:lstStyle/>
          <a:p>
            <a:pPr algn="l">
              <a:lnSpc>
                <a:spcPct val="120000"/>
              </a:lnSpc>
            </a:pPr>
            <a:r>
              <a:rPr sz="1700" b="1" i="0">
                <a:solidFill>
                  <a:srgbClr val="FFFFFF"/>
                </a:solidFill>
                <a:latin typeface="Arial"/>
              </a:rPr>
              <a:t>Size</a:t>
            </a:r>
          </a:p>
        </p:txBody>
      </p:sp>
      <p:sp>
        <p:nvSpPr>
          <p:cNvPr id="12" name="TextBox 11"/>
          <p:cNvSpPr txBox="1"/>
          <p:nvPr/>
        </p:nvSpPr>
        <p:spPr>
          <a:xfrm>
            <a:off x="640080" y="3364992"/>
            <a:ext cx="1266221" cy="822960"/>
          </a:xfrm>
          <a:prstGeom prst="rect">
            <a:avLst/>
          </a:prstGeom>
          <a:noFill/>
        </p:spPr>
        <p:txBody>
          <a:bodyPr wrap="square" lIns="0" rIns="0" tIns="0" bIns="0" anchor="t">
            <a:spAutoFit/>
          </a:bodyPr>
          <a:lstStyle/>
          <a:p>
            <a:pPr algn="l">
              <a:lnSpc>
                <a:spcPct val="130000"/>
              </a:lnSpc>
            </a:pPr>
            <a:r>
              <a:rPr sz="1060" b="0" i="0">
                <a:solidFill>
                  <a:srgbClr val="8695AC"/>
                </a:solidFill>
                <a:latin typeface="Arial"/>
              </a:rPr>
              <a:t>How much of the screen the mark fills</a:t>
            </a:r>
          </a:p>
        </p:txBody>
      </p:sp>
      <p:sp>
        <p:nvSpPr>
          <p:cNvPr id="13" name="Rectangle 12"/>
          <p:cNvSpPr/>
          <p:nvPr/>
        </p:nvSpPr>
        <p:spPr>
          <a:xfrm>
            <a:off x="2180621" y="2359152"/>
            <a:ext cx="7315" cy="188366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198909" y="2359152"/>
            <a:ext cx="347472" cy="41148"/>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198909" y="2578608"/>
            <a:ext cx="1302797" cy="256032"/>
          </a:xfrm>
          <a:prstGeom prst="rect">
            <a:avLst/>
          </a:prstGeom>
          <a:noFill/>
        </p:spPr>
        <p:txBody>
          <a:bodyPr wrap="square" lIns="0" rIns="0" tIns="0" bIns="0" anchor="t">
            <a:spAutoFit/>
          </a:bodyPr>
          <a:lstStyle/>
          <a:p>
            <a:pPr algn="l">
              <a:lnSpc>
                <a:spcPct val="120000"/>
              </a:lnSpc>
            </a:pPr>
            <a:r>
              <a:rPr sz="1150" b="1" i="0">
                <a:solidFill>
                  <a:srgbClr val="FFC20E"/>
                </a:solidFill>
                <a:latin typeface="Arial"/>
              </a:rPr>
              <a:t>02</a:t>
            </a:r>
          </a:p>
        </p:txBody>
      </p:sp>
      <p:sp>
        <p:nvSpPr>
          <p:cNvPr id="16" name="TextBox 15"/>
          <p:cNvSpPr txBox="1"/>
          <p:nvPr/>
        </p:nvSpPr>
        <p:spPr>
          <a:xfrm>
            <a:off x="2198909" y="2889504"/>
            <a:ext cx="1302797" cy="310896"/>
          </a:xfrm>
          <a:prstGeom prst="rect">
            <a:avLst/>
          </a:prstGeom>
          <a:noFill/>
        </p:spPr>
        <p:txBody>
          <a:bodyPr wrap="square" lIns="0" rIns="0" tIns="0" bIns="0" anchor="t">
            <a:spAutoFit/>
          </a:bodyPr>
          <a:lstStyle/>
          <a:p>
            <a:pPr algn="l">
              <a:lnSpc>
                <a:spcPct val="120000"/>
              </a:lnSpc>
            </a:pPr>
            <a:r>
              <a:rPr sz="1700" b="1" i="0">
                <a:solidFill>
                  <a:srgbClr val="FFFFFF"/>
                </a:solidFill>
                <a:latin typeface="Arial"/>
              </a:rPr>
              <a:t>Position</a:t>
            </a:r>
          </a:p>
        </p:txBody>
      </p:sp>
      <p:sp>
        <p:nvSpPr>
          <p:cNvPr id="17" name="TextBox 16"/>
          <p:cNvSpPr txBox="1"/>
          <p:nvPr/>
        </p:nvSpPr>
        <p:spPr>
          <a:xfrm>
            <a:off x="2198909" y="3364992"/>
            <a:ext cx="1266221" cy="822960"/>
          </a:xfrm>
          <a:prstGeom prst="rect">
            <a:avLst/>
          </a:prstGeom>
          <a:noFill/>
        </p:spPr>
        <p:txBody>
          <a:bodyPr wrap="square" lIns="0" rIns="0" tIns="0" bIns="0" anchor="t">
            <a:spAutoFit/>
          </a:bodyPr>
          <a:lstStyle/>
          <a:p>
            <a:pPr algn="l">
              <a:lnSpc>
                <a:spcPct val="130000"/>
              </a:lnSpc>
            </a:pPr>
            <a:r>
              <a:rPr sz="1060" b="0" i="0">
                <a:solidFill>
                  <a:srgbClr val="8695AC"/>
                </a:solidFill>
                <a:latin typeface="Arial"/>
              </a:rPr>
              <a:t>How near the centre of frame it sits</a:t>
            </a:r>
          </a:p>
        </p:txBody>
      </p:sp>
      <p:sp>
        <p:nvSpPr>
          <p:cNvPr id="18" name="Rectangle 17"/>
          <p:cNvSpPr/>
          <p:nvPr/>
        </p:nvSpPr>
        <p:spPr>
          <a:xfrm>
            <a:off x="3739451" y="2359152"/>
            <a:ext cx="7315" cy="188366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3757739" y="2359152"/>
            <a:ext cx="347472" cy="41148"/>
          </a:xfrm>
          <a:prstGeom prst="rect">
            <a:avLst/>
          </a:prstGeom>
          <a:solidFill>
            <a:srgbClr val="4AC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757739" y="2578608"/>
            <a:ext cx="1302797" cy="256032"/>
          </a:xfrm>
          <a:prstGeom prst="rect">
            <a:avLst/>
          </a:prstGeom>
          <a:noFill/>
        </p:spPr>
        <p:txBody>
          <a:bodyPr wrap="square" lIns="0" rIns="0" tIns="0" bIns="0" anchor="t">
            <a:spAutoFit/>
          </a:bodyPr>
          <a:lstStyle/>
          <a:p>
            <a:pPr algn="l">
              <a:lnSpc>
                <a:spcPct val="120000"/>
              </a:lnSpc>
            </a:pPr>
            <a:r>
              <a:rPr sz="1150" b="1" i="0">
                <a:solidFill>
                  <a:srgbClr val="4AC8E8"/>
                </a:solidFill>
                <a:latin typeface="Arial"/>
              </a:rPr>
              <a:t>03</a:t>
            </a:r>
          </a:p>
        </p:txBody>
      </p:sp>
      <p:sp>
        <p:nvSpPr>
          <p:cNvPr id="21" name="TextBox 20"/>
          <p:cNvSpPr txBox="1"/>
          <p:nvPr/>
        </p:nvSpPr>
        <p:spPr>
          <a:xfrm>
            <a:off x="3757739" y="2889504"/>
            <a:ext cx="1302797" cy="310896"/>
          </a:xfrm>
          <a:prstGeom prst="rect">
            <a:avLst/>
          </a:prstGeom>
          <a:noFill/>
        </p:spPr>
        <p:txBody>
          <a:bodyPr wrap="square" lIns="0" rIns="0" tIns="0" bIns="0" anchor="t">
            <a:spAutoFit/>
          </a:bodyPr>
          <a:lstStyle/>
          <a:p>
            <a:pPr algn="l">
              <a:lnSpc>
                <a:spcPct val="120000"/>
              </a:lnSpc>
            </a:pPr>
            <a:r>
              <a:rPr sz="1700" b="1" i="0">
                <a:solidFill>
                  <a:srgbClr val="FFFFFF"/>
                </a:solidFill>
                <a:latin typeface="Arial"/>
              </a:rPr>
              <a:t>Clarity</a:t>
            </a:r>
          </a:p>
        </p:txBody>
      </p:sp>
      <p:sp>
        <p:nvSpPr>
          <p:cNvPr id="22" name="TextBox 21"/>
          <p:cNvSpPr txBox="1"/>
          <p:nvPr/>
        </p:nvSpPr>
        <p:spPr>
          <a:xfrm>
            <a:off x="3757739" y="3364992"/>
            <a:ext cx="1266221" cy="822960"/>
          </a:xfrm>
          <a:prstGeom prst="rect">
            <a:avLst/>
          </a:prstGeom>
          <a:noFill/>
        </p:spPr>
        <p:txBody>
          <a:bodyPr wrap="square" lIns="0" rIns="0" tIns="0" bIns="0" anchor="t">
            <a:spAutoFit/>
          </a:bodyPr>
          <a:lstStyle/>
          <a:p>
            <a:pPr algn="l">
              <a:lnSpc>
                <a:spcPct val="130000"/>
              </a:lnSpc>
            </a:pPr>
            <a:r>
              <a:rPr sz="1060" b="0" i="0">
                <a:solidFill>
                  <a:srgbClr val="8695AC"/>
                </a:solidFill>
                <a:latin typeface="Arial"/>
              </a:rPr>
              <a:t>How readable the mark is</a:t>
            </a:r>
          </a:p>
        </p:txBody>
      </p:sp>
      <p:sp>
        <p:nvSpPr>
          <p:cNvPr id="23" name="Rectangle 22"/>
          <p:cNvSpPr/>
          <p:nvPr/>
        </p:nvSpPr>
        <p:spPr>
          <a:xfrm>
            <a:off x="5298281" y="2359152"/>
            <a:ext cx="7315" cy="188366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316569" y="2359152"/>
            <a:ext cx="347472" cy="41148"/>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316569" y="2578608"/>
            <a:ext cx="1302797" cy="256032"/>
          </a:xfrm>
          <a:prstGeom prst="rect">
            <a:avLst/>
          </a:prstGeom>
          <a:noFill/>
        </p:spPr>
        <p:txBody>
          <a:bodyPr wrap="square" lIns="0" rIns="0" tIns="0" bIns="0" anchor="t">
            <a:spAutoFit/>
          </a:bodyPr>
          <a:lstStyle/>
          <a:p>
            <a:pPr algn="l">
              <a:lnSpc>
                <a:spcPct val="120000"/>
              </a:lnSpc>
            </a:pPr>
            <a:r>
              <a:rPr sz="1150" b="1" i="0">
                <a:solidFill>
                  <a:srgbClr val="3E9BE0"/>
                </a:solidFill>
                <a:latin typeface="Arial"/>
              </a:rPr>
              <a:t>04</a:t>
            </a:r>
          </a:p>
        </p:txBody>
      </p:sp>
      <p:sp>
        <p:nvSpPr>
          <p:cNvPr id="26" name="TextBox 25"/>
          <p:cNvSpPr txBox="1"/>
          <p:nvPr/>
        </p:nvSpPr>
        <p:spPr>
          <a:xfrm>
            <a:off x="5316569" y="2889504"/>
            <a:ext cx="1302797" cy="310896"/>
          </a:xfrm>
          <a:prstGeom prst="rect">
            <a:avLst/>
          </a:prstGeom>
          <a:noFill/>
        </p:spPr>
        <p:txBody>
          <a:bodyPr wrap="square" lIns="0" rIns="0" tIns="0" bIns="0" anchor="t">
            <a:spAutoFit/>
          </a:bodyPr>
          <a:lstStyle/>
          <a:p>
            <a:pPr algn="l">
              <a:lnSpc>
                <a:spcPct val="120000"/>
              </a:lnSpc>
            </a:pPr>
            <a:r>
              <a:rPr sz="1700" b="1" i="0">
                <a:solidFill>
                  <a:srgbClr val="FFFFFF"/>
                </a:solidFill>
                <a:latin typeface="Arial"/>
              </a:rPr>
              <a:t>Angle</a:t>
            </a:r>
          </a:p>
        </p:txBody>
      </p:sp>
      <p:sp>
        <p:nvSpPr>
          <p:cNvPr id="27" name="TextBox 26"/>
          <p:cNvSpPr txBox="1"/>
          <p:nvPr/>
        </p:nvSpPr>
        <p:spPr>
          <a:xfrm>
            <a:off x="5316569" y="3364992"/>
            <a:ext cx="1266221" cy="822960"/>
          </a:xfrm>
          <a:prstGeom prst="rect">
            <a:avLst/>
          </a:prstGeom>
          <a:noFill/>
        </p:spPr>
        <p:txBody>
          <a:bodyPr wrap="square" lIns="0" rIns="0" tIns="0" bIns="0" anchor="t">
            <a:spAutoFit/>
          </a:bodyPr>
          <a:lstStyle/>
          <a:p>
            <a:pPr algn="l">
              <a:lnSpc>
                <a:spcPct val="130000"/>
              </a:lnSpc>
            </a:pPr>
            <a:r>
              <a:rPr sz="1060" b="0" i="0">
                <a:solidFill>
                  <a:srgbClr val="8695AC"/>
                </a:solidFill>
                <a:latin typeface="Arial"/>
              </a:rPr>
              <a:t>How square-on it is to camera</a:t>
            </a:r>
          </a:p>
        </p:txBody>
      </p:sp>
      <p:sp>
        <p:nvSpPr>
          <p:cNvPr id="28" name="Rectangle 27"/>
          <p:cNvSpPr/>
          <p:nvPr/>
        </p:nvSpPr>
        <p:spPr>
          <a:xfrm>
            <a:off x="6857111" y="2359152"/>
            <a:ext cx="7315" cy="188366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875399" y="2359152"/>
            <a:ext cx="347472" cy="41148"/>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875399" y="2578608"/>
            <a:ext cx="1302797" cy="256032"/>
          </a:xfrm>
          <a:prstGeom prst="rect">
            <a:avLst/>
          </a:prstGeom>
          <a:noFill/>
        </p:spPr>
        <p:txBody>
          <a:bodyPr wrap="square" lIns="0" rIns="0" tIns="0" bIns="0" anchor="t">
            <a:spAutoFit/>
          </a:bodyPr>
          <a:lstStyle/>
          <a:p>
            <a:pPr algn="l">
              <a:lnSpc>
                <a:spcPct val="120000"/>
              </a:lnSpc>
            </a:pPr>
            <a:r>
              <a:rPr sz="1150" b="1" i="0">
                <a:solidFill>
                  <a:srgbClr val="25C787"/>
                </a:solidFill>
                <a:latin typeface="Arial"/>
              </a:rPr>
              <a:t>05</a:t>
            </a:r>
          </a:p>
        </p:txBody>
      </p:sp>
      <p:sp>
        <p:nvSpPr>
          <p:cNvPr id="31" name="TextBox 30"/>
          <p:cNvSpPr txBox="1"/>
          <p:nvPr/>
        </p:nvSpPr>
        <p:spPr>
          <a:xfrm>
            <a:off x="6875399" y="2889504"/>
            <a:ext cx="1302797" cy="310896"/>
          </a:xfrm>
          <a:prstGeom prst="rect">
            <a:avLst/>
          </a:prstGeom>
          <a:noFill/>
        </p:spPr>
        <p:txBody>
          <a:bodyPr wrap="square" lIns="0" rIns="0" tIns="0" bIns="0" anchor="t">
            <a:spAutoFit/>
          </a:bodyPr>
          <a:lstStyle/>
          <a:p>
            <a:pPr algn="l">
              <a:lnSpc>
                <a:spcPct val="120000"/>
              </a:lnSpc>
            </a:pPr>
            <a:r>
              <a:rPr sz="1700" b="1" i="0">
                <a:solidFill>
                  <a:srgbClr val="FFFFFF"/>
                </a:solidFill>
                <a:latin typeface="Arial"/>
              </a:rPr>
              <a:t>Duration</a:t>
            </a:r>
          </a:p>
        </p:txBody>
      </p:sp>
      <p:sp>
        <p:nvSpPr>
          <p:cNvPr id="32" name="TextBox 31"/>
          <p:cNvSpPr txBox="1"/>
          <p:nvPr/>
        </p:nvSpPr>
        <p:spPr>
          <a:xfrm>
            <a:off x="6875399" y="3364992"/>
            <a:ext cx="1266221" cy="822960"/>
          </a:xfrm>
          <a:prstGeom prst="rect">
            <a:avLst/>
          </a:prstGeom>
          <a:noFill/>
        </p:spPr>
        <p:txBody>
          <a:bodyPr wrap="square" lIns="0" rIns="0" tIns="0" bIns="0" anchor="t">
            <a:spAutoFit/>
          </a:bodyPr>
          <a:lstStyle/>
          <a:p>
            <a:pPr algn="l">
              <a:lnSpc>
                <a:spcPct val="130000"/>
              </a:lnSpc>
            </a:pPr>
            <a:r>
              <a:rPr sz="1060" b="0" i="0">
                <a:solidFill>
                  <a:srgbClr val="8695AC"/>
                </a:solidFill>
                <a:latin typeface="Arial"/>
              </a:rPr>
              <a:t>How long a continuous appearance holds</a:t>
            </a:r>
          </a:p>
        </p:txBody>
      </p:sp>
      <p:sp>
        <p:nvSpPr>
          <p:cNvPr id="33" name="Rectangle 32"/>
          <p:cNvSpPr/>
          <p:nvPr/>
        </p:nvSpPr>
        <p:spPr>
          <a:xfrm>
            <a:off x="8415941" y="2359152"/>
            <a:ext cx="7315" cy="188366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8434229" y="2359152"/>
            <a:ext cx="347472" cy="4114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434229" y="2578608"/>
            <a:ext cx="1302797" cy="256032"/>
          </a:xfrm>
          <a:prstGeom prst="rect">
            <a:avLst/>
          </a:prstGeom>
          <a:noFill/>
        </p:spPr>
        <p:txBody>
          <a:bodyPr wrap="square" lIns="0" rIns="0" tIns="0" bIns="0" anchor="t">
            <a:spAutoFit/>
          </a:bodyPr>
          <a:lstStyle/>
          <a:p>
            <a:pPr algn="l">
              <a:lnSpc>
                <a:spcPct val="120000"/>
              </a:lnSpc>
            </a:pPr>
            <a:r>
              <a:rPr sz="1150" b="1" i="0">
                <a:solidFill>
                  <a:srgbClr val="E4002B"/>
                </a:solidFill>
                <a:latin typeface="Arial"/>
              </a:rPr>
              <a:t>06</a:t>
            </a:r>
          </a:p>
        </p:txBody>
      </p:sp>
      <p:sp>
        <p:nvSpPr>
          <p:cNvPr id="36" name="TextBox 35"/>
          <p:cNvSpPr txBox="1"/>
          <p:nvPr/>
        </p:nvSpPr>
        <p:spPr>
          <a:xfrm>
            <a:off x="8434229" y="2889504"/>
            <a:ext cx="1302797" cy="310896"/>
          </a:xfrm>
          <a:prstGeom prst="rect">
            <a:avLst/>
          </a:prstGeom>
          <a:noFill/>
        </p:spPr>
        <p:txBody>
          <a:bodyPr wrap="square" lIns="0" rIns="0" tIns="0" bIns="0" anchor="t">
            <a:spAutoFit/>
          </a:bodyPr>
          <a:lstStyle/>
          <a:p>
            <a:pPr algn="l">
              <a:lnSpc>
                <a:spcPct val="120000"/>
              </a:lnSpc>
            </a:pPr>
            <a:r>
              <a:rPr sz="1700" b="1" i="0">
                <a:solidFill>
                  <a:srgbClr val="FFFFFF"/>
                </a:solidFill>
                <a:latin typeface="Arial"/>
              </a:rPr>
              <a:t>Frequency</a:t>
            </a:r>
          </a:p>
        </p:txBody>
      </p:sp>
      <p:sp>
        <p:nvSpPr>
          <p:cNvPr id="37" name="TextBox 36"/>
          <p:cNvSpPr txBox="1"/>
          <p:nvPr/>
        </p:nvSpPr>
        <p:spPr>
          <a:xfrm>
            <a:off x="8434229" y="3364992"/>
            <a:ext cx="1266221" cy="822960"/>
          </a:xfrm>
          <a:prstGeom prst="rect">
            <a:avLst/>
          </a:prstGeom>
          <a:noFill/>
        </p:spPr>
        <p:txBody>
          <a:bodyPr wrap="square" lIns="0" rIns="0" tIns="0" bIns="0" anchor="t">
            <a:spAutoFit/>
          </a:bodyPr>
          <a:lstStyle/>
          <a:p>
            <a:pPr algn="l">
              <a:lnSpc>
                <a:spcPct val="130000"/>
              </a:lnSpc>
            </a:pPr>
            <a:r>
              <a:rPr sz="1060" b="0" i="0">
                <a:solidFill>
                  <a:srgbClr val="8695AC"/>
                </a:solidFill>
                <a:latin typeface="Arial"/>
              </a:rPr>
              <a:t>How many separate times it returns</a:t>
            </a:r>
          </a:p>
        </p:txBody>
      </p:sp>
      <p:sp>
        <p:nvSpPr>
          <p:cNvPr id="38" name="Rectangle 37"/>
          <p:cNvSpPr/>
          <p:nvPr/>
        </p:nvSpPr>
        <p:spPr>
          <a:xfrm>
            <a:off x="9974771" y="2359152"/>
            <a:ext cx="7315" cy="188366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993059" y="2359152"/>
            <a:ext cx="347472" cy="41148"/>
          </a:xfrm>
          <a:prstGeom prst="rect">
            <a:avLst/>
          </a:prstGeom>
          <a:solidFill>
            <a:srgbClr val="A9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993059" y="2578608"/>
            <a:ext cx="1302797" cy="256032"/>
          </a:xfrm>
          <a:prstGeom prst="rect">
            <a:avLst/>
          </a:prstGeom>
          <a:noFill/>
        </p:spPr>
        <p:txBody>
          <a:bodyPr wrap="square" lIns="0" rIns="0" tIns="0" bIns="0" anchor="t">
            <a:spAutoFit/>
          </a:bodyPr>
          <a:lstStyle/>
          <a:p>
            <a:pPr algn="l">
              <a:lnSpc>
                <a:spcPct val="120000"/>
              </a:lnSpc>
            </a:pPr>
            <a:r>
              <a:rPr sz="1150" b="1" i="0">
                <a:solidFill>
                  <a:srgbClr val="A98BFF"/>
                </a:solidFill>
                <a:latin typeface="Arial"/>
              </a:rPr>
              <a:t>07</a:t>
            </a:r>
          </a:p>
        </p:txBody>
      </p:sp>
      <p:sp>
        <p:nvSpPr>
          <p:cNvPr id="41" name="TextBox 40"/>
          <p:cNvSpPr txBox="1"/>
          <p:nvPr/>
        </p:nvSpPr>
        <p:spPr>
          <a:xfrm>
            <a:off x="9993059" y="2889504"/>
            <a:ext cx="1302797" cy="310896"/>
          </a:xfrm>
          <a:prstGeom prst="rect">
            <a:avLst/>
          </a:prstGeom>
          <a:noFill/>
        </p:spPr>
        <p:txBody>
          <a:bodyPr wrap="square" lIns="0" rIns="0" tIns="0" bIns="0" anchor="t">
            <a:spAutoFit/>
          </a:bodyPr>
          <a:lstStyle/>
          <a:p>
            <a:pPr algn="l">
              <a:lnSpc>
                <a:spcPct val="120000"/>
              </a:lnSpc>
            </a:pPr>
            <a:r>
              <a:rPr sz="1700" b="1" i="0">
                <a:solidFill>
                  <a:srgbClr val="FFFFFF"/>
                </a:solidFill>
                <a:latin typeface="Arial"/>
              </a:rPr>
              <a:t>Occlusion</a:t>
            </a:r>
          </a:p>
        </p:txBody>
      </p:sp>
      <p:sp>
        <p:nvSpPr>
          <p:cNvPr id="42" name="TextBox 41"/>
          <p:cNvSpPr txBox="1"/>
          <p:nvPr/>
        </p:nvSpPr>
        <p:spPr>
          <a:xfrm>
            <a:off x="9993059" y="3364992"/>
            <a:ext cx="1266221" cy="822960"/>
          </a:xfrm>
          <a:prstGeom prst="rect">
            <a:avLst/>
          </a:prstGeom>
          <a:noFill/>
        </p:spPr>
        <p:txBody>
          <a:bodyPr wrap="square" lIns="0" rIns="0" tIns="0" bIns="0" anchor="t">
            <a:spAutoFit/>
          </a:bodyPr>
          <a:lstStyle/>
          <a:p>
            <a:pPr algn="l">
              <a:lnSpc>
                <a:spcPct val="130000"/>
              </a:lnSpc>
            </a:pPr>
            <a:r>
              <a:rPr sz="1060" b="0" i="0">
                <a:solidFill>
                  <a:srgbClr val="8695AC"/>
                </a:solidFill>
                <a:latin typeface="Arial"/>
              </a:rPr>
              <a:t>How much of the mark is hidden</a:t>
            </a:r>
          </a:p>
        </p:txBody>
      </p:sp>
      <p:sp>
        <p:nvSpPr>
          <p:cNvPr id="43" name="Rectangle 42"/>
          <p:cNvSpPr/>
          <p:nvPr/>
        </p:nvSpPr>
        <p:spPr>
          <a:xfrm>
            <a:off x="640080" y="4553712"/>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0080" y="4846320"/>
            <a:ext cx="7269480" cy="347472"/>
          </a:xfrm>
          <a:prstGeom prst="rect">
            <a:avLst/>
          </a:prstGeom>
          <a:noFill/>
        </p:spPr>
        <p:txBody>
          <a:bodyPr wrap="square" lIns="0" rIns="0" tIns="0" bIns="0" anchor="t">
            <a:spAutoFit/>
          </a:bodyPr>
          <a:lstStyle/>
          <a:p>
            <a:pPr algn="l">
              <a:lnSpc>
                <a:spcPct val="120000"/>
              </a:lnSpc>
            </a:pPr>
            <a:r>
              <a:rPr sz="1600" b="1" i="0">
                <a:solidFill>
                  <a:srgbClr val="FFFFFF"/>
                </a:solidFill>
                <a:latin typeface="Arial"/>
              </a:rPr>
              <a:t>size  ×  position  ×  clarity  ×  angle  ×  duration weight  ×  seconds</a:t>
            </a:r>
          </a:p>
        </p:txBody>
      </p:sp>
      <p:sp>
        <p:nvSpPr>
          <p:cNvPr id="45" name="TextBox 44"/>
          <p:cNvSpPr txBox="1"/>
          <p:nvPr/>
        </p:nvSpPr>
        <p:spPr>
          <a:xfrm>
            <a:off x="640080" y="5285232"/>
            <a:ext cx="7223760" cy="822960"/>
          </a:xfrm>
          <a:prstGeom prst="rect">
            <a:avLst/>
          </a:prstGeom>
          <a:noFill/>
        </p:spPr>
        <p:txBody>
          <a:bodyPr wrap="square" lIns="0" rIns="0" tIns="0" bIns="0" anchor="t">
            <a:spAutoFit/>
          </a:bodyPr>
          <a:lstStyle/>
          <a:p>
            <a:pPr algn="l">
              <a:lnSpc>
                <a:spcPct val="140000"/>
              </a:lnSpc>
            </a:pPr>
            <a:r>
              <a:rPr sz="1160" b="0" i="0">
                <a:solidFill>
                  <a:srgbClr val="8695AC"/>
                </a:solidFill>
                <a:latin typeface="Arial"/>
              </a:rPr>
              <a:t>Each factor is stored per detection rather than baked into one number, so the club can ask “what if position did not matter?” and see the answer immediately instead of waiting for a re-run. An asset's percentage is its share of all that quality-weighted exposure across the whole match.</a:t>
            </a:r>
          </a:p>
        </p:txBody>
      </p:sp>
      <p:sp>
        <p:nvSpPr>
          <p:cNvPr id="46" name="Rectangle 45"/>
          <p:cNvSpPr/>
          <p:nvPr/>
        </p:nvSpPr>
        <p:spPr>
          <a:xfrm>
            <a:off x="8193023" y="4791456"/>
            <a:ext cx="310896" cy="36576"/>
          </a:xfrm>
          <a:prstGeom prst="rect">
            <a:avLst/>
          </a:prstGeom>
          <a:solidFill>
            <a:srgbClr val="A9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8193023" y="4956048"/>
            <a:ext cx="3566160" cy="256032"/>
          </a:xfrm>
          <a:prstGeom prst="rect">
            <a:avLst/>
          </a:prstGeom>
          <a:noFill/>
        </p:spPr>
        <p:txBody>
          <a:bodyPr wrap="square" lIns="0" rIns="0" tIns="0" bIns="0" anchor="t">
            <a:spAutoFit/>
          </a:bodyPr>
          <a:lstStyle/>
          <a:p>
            <a:pPr algn="l">
              <a:lnSpc>
                <a:spcPct val="120000"/>
              </a:lnSpc>
            </a:pPr>
            <a:r>
              <a:rPr sz="1200" b="1" i="0">
                <a:solidFill>
                  <a:srgbClr val="A98BFF"/>
                </a:solidFill>
                <a:latin typeface="Arial"/>
              </a:rPr>
              <a:t>On occlusion, to be exact</a:t>
            </a:r>
          </a:p>
        </p:txBody>
      </p:sp>
      <p:sp>
        <p:nvSpPr>
          <p:cNvPr id="48" name="TextBox 47"/>
          <p:cNvSpPr txBox="1"/>
          <p:nvPr/>
        </p:nvSpPr>
        <p:spPr>
          <a:xfrm>
            <a:off x="8193023" y="5248656"/>
            <a:ext cx="3474720" cy="822960"/>
          </a:xfrm>
          <a:prstGeom prst="rect">
            <a:avLst/>
          </a:prstGeom>
          <a:noFill/>
        </p:spPr>
        <p:txBody>
          <a:bodyPr wrap="square" lIns="0" rIns="0" tIns="0" bIns="0" anchor="t">
            <a:spAutoFit/>
          </a:bodyPr>
          <a:lstStyle/>
          <a:p>
            <a:pPr algn="l">
              <a:lnSpc>
                <a:spcPct val="134000"/>
              </a:lnSpc>
            </a:pPr>
            <a:r>
              <a:rPr sz="1040" b="0" i="0">
                <a:solidFill>
                  <a:srgbClr val="DCE4EF"/>
                </a:solidFill>
                <a:latin typeface="Arial"/>
              </a:rPr>
              <a:t>Occlusion is not scored as a separate number today. A partly hidden mark reaches the score twice: through a smaller box and through a lower clarity reading. A fully hidden mark simply earns nothing. An explicit occlusion percentage would need instance-level annotation the project does not yet have.</a:t>
            </a:r>
          </a:p>
        </p:txBody>
      </p:sp>
      <p:sp>
        <p:nvSpPr>
          <p:cNvPr id="49" name="TextBox 48"/>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54609" y="384048"/>
            <a:ext cx="1280160" cy="640080"/>
          </a:xfrm>
          <a:prstGeom prst="rect">
            <a:avLst/>
          </a:prstGeom>
          <a:noFill/>
        </p:spPr>
        <p:txBody>
          <a:bodyPr wrap="square" lIns="0" rIns="0" tIns="0" bIns="0" anchor="t">
            <a:spAutoFit/>
          </a:bodyPr>
          <a:lstStyle/>
          <a:p>
            <a:pPr algn="r">
              <a:lnSpc>
                <a:spcPct val="90000"/>
              </a:lnSpc>
            </a:pPr>
            <a:r>
              <a:rPr sz="4600" b="1" i="0">
                <a:solidFill>
                  <a:srgbClr val="18222F"/>
                </a:solidFill>
                <a:latin typeface="Arial"/>
              </a:rPr>
              <a:t>01</a:t>
            </a:r>
          </a:p>
        </p:txBody>
      </p:sp>
      <p:sp>
        <p:nvSpPr>
          <p:cNvPr id="6" name="Freeform 5"/>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FINDING ONE</a:t>
            </a:r>
          </a:p>
        </p:txBody>
      </p:sp>
      <p:sp>
        <p:nvSpPr>
          <p:cNvPr id="8" name="TextBox 7"/>
          <p:cNvSpPr txBox="1"/>
          <p:nvPr/>
        </p:nvSpPr>
        <p:spPr>
          <a:xfrm>
            <a:off x="640080" y="786384"/>
            <a:ext cx="9692640"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The camera and the price list disagree</a:t>
            </a:r>
          </a:p>
        </p:txBody>
      </p:sp>
      <p:pic>
        <p:nvPicPr>
          <p:cNvPr id="9" name="Picture 8" descr="h_headline.png"/>
          <p:cNvPicPr>
            <a:picLocks noChangeAspect="1"/>
          </p:cNvPicPr>
          <p:nvPr/>
        </p:nvPicPr>
        <p:blipFill>
          <a:blip r:embed="rId2"/>
          <a:stretch>
            <a:fillRect/>
          </a:stretch>
        </p:blipFill>
        <p:spPr>
          <a:xfrm>
            <a:off x="512063" y="1627632"/>
            <a:ext cx="7882127" cy="3859391"/>
          </a:xfrm>
          <a:prstGeom prst="rect">
            <a:avLst/>
          </a:prstGeom>
        </p:spPr>
      </p:pic>
      <p:sp>
        <p:nvSpPr>
          <p:cNvPr id="10" name="Rectangle 9"/>
          <p:cNvSpPr/>
          <p:nvPr/>
        </p:nvSpPr>
        <p:spPr>
          <a:xfrm>
            <a:off x="8613648" y="1700784"/>
            <a:ext cx="365760" cy="36576"/>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613648" y="1883664"/>
            <a:ext cx="3017520" cy="274320"/>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Nine assets deliver more</a:t>
            </a:r>
          </a:p>
        </p:txBody>
      </p:sp>
      <p:sp>
        <p:nvSpPr>
          <p:cNvPr id="12" name="TextBox 11"/>
          <p:cNvSpPr txBox="1"/>
          <p:nvPr/>
        </p:nvSpPr>
        <p:spPr>
          <a:xfrm>
            <a:off x="8613648" y="2212848"/>
            <a:ext cx="2971800" cy="822960"/>
          </a:xfrm>
          <a:prstGeom prst="rect">
            <a:avLst/>
          </a:prstGeom>
          <a:noFill/>
        </p:spPr>
        <p:txBody>
          <a:bodyPr wrap="square" lIns="0" rIns="0" tIns="0" bIns="0" anchor="t">
            <a:spAutoFit/>
          </a:bodyPr>
          <a:lstStyle/>
          <a:p>
            <a:pPr algn="l">
              <a:lnSpc>
                <a:spcPct val="134000"/>
              </a:lnSpc>
            </a:pPr>
            <a:r>
              <a:rPr sz="1100" b="0" i="0">
                <a:solidFill>
                  <a:srgbClr val="8695AC"/>
                </a:solidFill>
                <a:latin typeface="Arial"/>
              </a:rPr>
              <a:t>KLG gets 23.3% of all measured exposure on a 5% share of the price — the most-seen mark on the kit.</a:t>
            </a:r>
          </a:p>
        </p:txBody>
      </p:sp>
      <p:sp>
        <p:nvSpPr>
          <p:cNvPr id="13" name="Rectangle 12"/>
          <p:cNvSpPr/>
          <p:nvPr/>
        </p:nvSpPr>
        <p:spPr>
          <a:xfrm>
            <a:off x="8613648" y="3200400"/>
            <a:ext cx="365760" cy="36576"/>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613648" y="3383280"/>
            <a:ext cx="3017520" cy="274320"/>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Seven deliver less</a:t>
            </a:r>
          </a:p>
        </p:txBody>
      </p:sp>
      <p:sp>
        <p:nvSpPr>
          <p:cNvPr id="15" name="TextBox 14"/>
          <p:cNvSpPr txBox="1"/>
          <p:nvPr/>
        </p:nvSpPr>
        <p:spPr>
          <a:xfrm>
            <a:off x="8613648" y="3712463"/>
            <a:ext cx="2971800" cy="822960"/>
          </a:xfrm>
          <a:prstGeom prst="rect">
            <a:avLst/>
          </a:prstGeom>
          <a:noFill/>
        </p:spPr>
        <p:txBody>
          <a:bodyPr wrap="square" lIns="0" rIns="0" tIns="0" bIns="0" anchor="t">
            <a:spAutoFit/>
          </a:bodyPr>
          <a:lstStyle/>
          <a:p>
            <a:pPr algn="l">
              <a:lnSpc>
                <a:spcPct val="134000"/>
              </a:lnSpc>
            </a:pPr>
            <a:r>
              <a:rPr sz="1100" b="0" i="0">
                <a:solidFill>
                  <a:srgbClr val="8695AC"/>
                </a:solidFill>
                <a:latin typeface="Arial"/>
              </a:rPr>
              <a:t>Top Notch holds 26% of the price and 11.3% of the exposure. ATM Hospitality: 11% against 2.2%.</a:t>
            </a:r>
          </a:p>
        </p:txBody>
      </p:sp>
      <p:sp>
        <p:nvSpPr>
          <p:cNvPr id="16" name="Rectangle 15"/>
          <p:cNvSpPr/>
          <p:nvPr/>
        </p:nvSpPr>
        <p:spPr>
          <a:xfrm>
            <a:off x="8613648" y="4700016"/>
            <a:ext cx="365760" cy="3657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613648" y="4882896"/>
            <a:ext cx="3017520" cy="274320"/>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None of them match</a:t>
            </a:r>
          </a:p>
        </p:txBody>
      </p:sp>
      <p:sp>
        <p:nvSpPr>
          <p:cNvPr id="18" name="TextBox 17"/>
          <p:cNvSpPr txBox="1"/>
          <p:nvPr/>
        </p:nvSpPr>
        <p:spPr>
          <a:xfrm>
            <a:off x="8613648" y="5212080"/>
            <a:ext cx="2971800" cy="822960"/>
          </a:xfrm>
          <a:prstGeom prst="rect">
            <a:avLst/>
          </a:prstGeom>
          <a:noFill/>
        </p:spPr>
        <p:txBody>
          <a:bodyPr wrap="square" lIns="0" rIns="0" tIns="0" bIns="0" anchor="t">
            <a:spAutoFit/>
          </a:bodyPr>
          <a:lstStyle/>
          <a:p>
            <a:pPr algn="l">
              <a:lnSpc>
                <a:spcPct val="134000"/>
              </a:lnSpc>
            </a:pPr>
            <a:r>
              <a:rPr sz="1100" b="0" i="0">
                <a:solidFill>
                  <a:srgbClr val="8695AC"/>
                </a:solidFill>
                <a:latin typeface="Arial"/>
              </a:rPr>
              <a:t>Not one of the sixteen is priced in line with what it was measured to deliver.</a:t>
            </a:r>
          </a:p>
        </p:txBody>
      </p:sp>
      <p:sp>
        <p:nvSpPr>
          <p:cNvPr id="19" name="TextBox 18"/>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Two complete Bradford Bulls broadcasts, home kit 2025/26, analysed at 2 frames per second. “What the club charges” is the current management allocation (totals 95%); LogoLens totals 100%.</a:t>
            </a:r>
          </a:p>
        </p:txBody>
      </p:sp>
      <p:sp>
        <p:nvSpPr>
          <p:cNvPr id="20" name="TextBox 19"/>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54609" y="384048"/>
            <a:ext cx="1280160" cy="640080"/>
          </a:xfrm>
          <a:prstGeom prst="rect">
            <a:avLst/>
          </a:prstGeom>
          <a:noFill/>
        </p:spPr>
        <p:txBody>
          <a:bodyPr wrap="square" lIns="0" rIns="0" tIns="0" bIns="0" anchor="t">
            <a:spAutoFit/>
          </a:bodyPr>
          <a:lstStyle/>
          <a:p>
            <a:pPr algn="r">
              <a:lnSpc>
                <a:spcPct val="90000"/>
              </a:lnSpc>
            </a:pPr>
            <a:r>
              <a:rPr sz="4600" b="1" i="0">
                <a:solidFill>
                  <a:srgbClr val="18222F"/>
                </a:solidFill>
                <a:latin typeface="Arial"/>
              </a:rPr>
              <a:t>02</a:t>
            </a:r>
          </a:p>
        </p:txBody>
      </p:sp>
      <p:sp>
        <p:nvSpPr>
          <p:cNvPr id="6" name="Freeform 5"/>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FINDING TWO</a:t>
            </a:r>
          </a:p>
        </p:txBody>
      </p:sp>
      <p:sp>
        <p:nvSpPr>
          <p:cNvPr id="8" name="TextBox 7"/>
          <p:cNvSpPr txBox="1"/>
          <p:nvPr/>
        </p:nvSpPr>
        <p:spPr>
          <a:xfrm>
            <a:off x="640080" y="786384"/>
            <a:ext cx="3977639" cy="914400"/>
          </a:xfrm>
          <a:prstGeom prst="rect">
            <a:avLst/>
          </a:prstGeom>
          <a:noFill/>
        </p:spPr>
        <p:txBody>
          <a:bodyPr wrap="square" lIns="0" rIns="0" tIns="0" bIns="0" anchor="t">
            <a:spAutoFit/>
          </a:bodyPr>
          <a:lstStyle/>
          <a:p>
            <a:pPr algn="l">
              <a:lnSpc>
                <a:spcPct val="102000"/>
              </a:lnSpc>
            </a:pPr>
            <a:r>
              <a:rPr sz="2500" b="1" i="0">
                <a:solidFill>
                  <a:srgbClr val="FFFFFF"/>
                </a:solidFill>
                <a:latin typeface="Arial"/>
              </a:rPr>
              <a:t>The pattern is positional,</a:t>
            </a:r>
          </a:p>
          <a:p>
            <a:pPr algn="l">
              <a:lnSpc>
                <a:spcPct val="102000"/>
              </a:lnSpc>
            </a:pPr>
            <a:r>
              <a:rPr sz="2500" b="1" i="0">
                <a:solidFill>
                  <a:srgbClr val="FFFFFF"/>
                </a:solidFill>
                <a:latin typeface="Arial"/>
              </a:rPr>
              <a:t>not brand by brand</a:t>
            </a:r>
          </a:p>
        </p:txBody>
      </p:sp>
      <p:pic>
        <p:nvPicPr>
          <p:cNvPr id="9" name="Picture 8" descr="kit_map.jpg"/>
          <p:cNvPicPr>
            <a:picLocks noChangeAspect="1"/>
          </p:cNvPicPr>
          <p:nvPr/>
        </p:nvPicPr>
        <p:blipFill>
          <a:blip r:embed="rId2"/>
          <a:stretch>
            <a:fillRect/>
          </a:stretch>
        </p:blipFill>
        <p:spPr>
          <a:xfrm>
            <a:off x="4590288" y="1389888"/>
            <a:ext cx="7598664" cy="4712525"/>
          </a:xfrm>
          <a:prstGeom prst="rect">
            <a:avLst/>
          </a:prstGeom>
        </p:spPr>
      </p:pic>
      <p:sp>
        <p:nvSpPr>
          <p:cNvPr id="10" name="Rectangle 9"/>
          <p:cNvSpPr/>
          <p:nvPr/>
        </p:nvSpPr>
        <p:spPr>
          <a:xfrm>
            <a:off x="4443984" y="731520"/>
            <a:ext cx="12801" cy="5413248"/>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 y="2212848"/>
            <a:ext cx="3200400" cy="237744"/>
          </a:xfrm>
          <a:prstGeom prst="rect">
            <a:avLst/>
          </a:prstGeom>
          <a:noFill/>
        </p:spPr>
        <p:txBody>
          <a:bodyPr wrap="square" lIns="0" rIns="0" tIns="0" bIns="0" anchor="t">
            <a:spAutoFit/>
          </a:bodyPr>
          <a:lstStyle/>
          <a:p>
            <a:pPr algn="l">
              <a:lnSpc>
                <a:spcPct val="120000"/>
              </a:lnSpc>
            </a:pPr>
            <a:r>
              <a:rPr sz="1000" b="1" i="0" spc="160">
                <a:solidFill>
                  <a:srgbClr val="8695AC"/>
                </a:solidFill>
                <a:latin typeface="Arial"/>
              </a:rPr>
              <a:t>CAMERA ÷ PRICE, BY POSITION</a:t>
            </a:r>
          </a:p>
        </p:txBody>
      </p:sp>
      <p:sp>
        <p:nvSpPr>
          <p:cNvPr id="12" name="Rectangle 11"/>
          <p:cNvSpPr/>
          <p:nvPr/>
        </p:nvSpPr>
        <p:spPr>
          <a:xfrm>
            <a:off x="640080" y="2610612"/>
            <a:ext cx="173736" cy="173736"/>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50976" y="2560320"/>
            <a:ext cx="1097280" cy="219456"/>
          </a:xfrm>
          <a:prstGeom prst="rect">
            <a:avLst/>
          </a:prstGeom>
          <a:noFill/>
        </p:spPr>
        <p:txBody>
          <a:bodyPr wrap="square" lIns="0" rIns="0" tIns="0" bIns="0" anchor="t">
            <a:spAutoFit/>
          </a:bodyPr>
          <a:lstStyle/>
          <a:p>
            <a:pPr algn="l">
              <a:lnSpc>
                <a:spcPct val="120000"/>
              </a:lnSpc>
            </a:pPr>
            <a:r>
              <a:rPr sz="1150" b="1" i="0">
                <a:solidFill>
                  <a:srgbClr val="FFFFFF"/>
                </a:solidFill>
                <a:latin typeface="Arial"/>
              </a:rPr>
              <a:t>≥ 3.0×</a:t>
            </a:r>
          </a:p>
        </p:txBody>
      </p:sp>
      <p:sp>
        <p:nvSpPr>
          <p:cNvPr id="14" name="TextBox 13"/>
          <p:cNvSpPr txBox="1"/>
          <p:nvPr/>
        </p:nvSpPr>
        <p:spPr>
          <a:xfrm>
            <a:off x="2121408" y="2574036"/>
            <a:ext cx="2011680" cy="365760"/>
          </a:xfrm>
          <a:prstGeom prst="rect">
            <a:avLst/>
          </a:prstGeom>
          <a:noFill/>
        </p:spPr>
        <p:txBody>
          <a:bodyPr wrap="square" lIns="0" rIns="0" tIns="0" bIns="0" anchor="t">
            <a:spAutoFit/>
          </a:bodyPr>
          <a:lstStyle/>
          <a:p>
            <a:pPr algn="l">
              <a:lnSpc>
                <a:spcPct val="120000"/>
              </a:lnSpc>
            </a:pPr>
            <a:r>
              <a:rPr sz="1000" b="0" i="0">
                <a:solidFill>
                  <a:srgbClr val="8695AC"/>
                </a:solidFill>
                <a:latin typeface="Arial"/>
              </a:rPr>
              <a:t>far more seen than priced</a:t>
            </a:r>
          </a:p>
        </p:txBody>
      </p:sp>
      <p:sp>
        <p:nvSpPr>
          <p:cNvPr id="15" name="Rectangle 14"/>
          <p:cNvSpPr/>
          <p:nvPr/>
        </p:nvSpPr>
        <p:spPr>
          <a:xfrm>
            <a:off x="640080" y="3012948"/>
            <a:ext cx="173736" cy="173736"/>
          </a:xfrm>
          <a:prstGeom prst="rect">
            <a:avLst/>
          </a:prstGeom>
          <a:solidFill>
            <a:srgbClr val="F57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50976" y="2962656"/>
            <a:ext cx="1097280" cy="219456"/>
          </a:xfrm>
          <a:prstGeom prst="rect">
            <a:avLst/>
          </a:prstGeom>
          <a:noFill/>
        </p:spPr>
        <p:txBody>
          <a:bodyPr wrap="square" lIns="0" rIns="0" tIns="0" bIns="0" anchor="t">
            <a:spAutoFit/>
          </a:bodyPr>
          <a:lstStyle/>
          <a:p>
            <a:pPr algn="l">
              <a:lnSpc>
                <a:spcPct val="120000"/>
              </a:lnSpc>
            </a:pPr>
            <a:r>
              <a:rPr sz="1150" b="1" i="0">
                <a:solidFill>
                  <a:srgbClr val="FFFFFF"/>
                </a:solidFill>
                <a:latin typeface="Arial"/>
              </a:rPr>
              <a:t>1.8 – 3.0×</a:t>
            </a:r>
          </a:p>
        </p:txBody>
      </p:sp>
      <p:sp>
        <p:nvSpPr>
          <p:cNvPr id="17" name="TextBox 16"/>
          <p:cNvSpPr txBox="1"/>
          <p:nvPr/>
        </p:nvSpPr>
        <p:spPr>
          <a:xfrm>
            <a:off x="2121408" y="2976372"/>
            <a:ext cx="2011680" cy="365760"/>
          </a:xfrm>
          <a:prstGeom prst="rect">
            <a:avLst/>
          </a:prstGeom>
          <a:noFill/>
        </p:spPr>
        <p:txBody>
          <a:bodyPr wrap="square" lIns="0" rIns="0" tIns="0" bIns="0" anchor="t">
            <a:spAutoFit/>
          </a:bodyPr>
          <a:lstStyle/>
          <a:p>
            <a:pPr algn="l">
              <a:lnSpc>
                <a:spcPct val="120000"/>
              </a:lnSpc>
            </a:pPr>
            <a:r>
              <a:rPr sz="1000" b="0" i="0">
                <a:solidFill>
                  <a:srgbClr val="8695AC"/>
                </a:solidFill>
                <a:latin typeface="Arial"/>
              </a:rPr>
              <a:t>materially under-priced</a:t>
            </a:r>
          </a:p>
        </p:txBody>
      </p:sp>
      <p:sp>
        <p:nvSpPr>
          <p:cNvPr id="18" name="Rectangle 17"/>
          <p:cNvSpPr/>
          <p:nvPr/>
        </p:nvSpPr>
        <p:spPr>
          <a:xfrm>
            <a:off x="640080" y="3415284"/>
            <a:ext cx="173736" cy="17373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50976" y="3364991"/>
            <a:ext cx="1097280" cy="219456"/>
          </a:xfrm>
          <a:prstGeom prst="rect">
            <a:avLst/>
          </a:prstGeom>
          <a:noFill/>
        </p:spPr>
        <p:txBody>
          <a:bodyPr wrap="square" lIns="0" rIns="0" tIns="0" bIns="0" anchor="t">
            <a:spAutoFit/>
          </a:bodyPr>
          <a:lstStyle/>
          <a:p>
            <a:pPr algn="l">
              <a:lnSpc>
                <a:spcPct val="120000"/>
              </a:lnSpc>
            </a:pPr>
            <a:r>
              <a:rPr sz="1150" b="1" i="0">
                <a:solidFill>
                  <a:srgbClr val="FFFFFF"/>
                </a:solidFill>
                <a:latin typeface="Arial"/>
              </a:rPr>
              <a:t>1.15 – 1.8×</a:t>
            </a:r>
          </a:p>
        </p:txBody>
      </p:sp>
      <p:sp>
        <p:nvSpPr>
          <p:cNvPr id="20" name="TextBox 19"/>
          <p:cNvSpPr txBox="1"/>
          <p:nvPr/>
        </p:nvSpPr>
        <p:spPr>
          <a:xfrm>
            <a:off x="2121408" y="3378708"/>
            <a:ext cx="2011680" cy="365760"/>
          </a:xfrm>
          <a:prstGeom prst="rect">
            <a:avLst/>
          </a:prstGeom>
          <a:noFill/>
        </p:spPr>
        <p:txBody>
          <a:bodyPr wrap="square" lIns="0" rIns="0" tIns="0" bIns="0" anchor="t">
            <a:spAutoFit/>
          </a:bodyPr>
          <a:lstStyle/>
          <a:p>
            <a:pPr algn="l">
              <a:lnSpc>
                <a:spcPct val="120000"/>
              </a:lnSpc>
            </a:pPr>
            <a:r>
              <a:rPr sz="1000" b="0" i="0">
                <a:solidFill>
                  <a:srgbClr val="8695AC"/>
                </a:solidFill>
                <a:latin typeface="Arial"/>
              </a:rPr>
              <a:t>modestly under-priced</a:t>
            </a:r>
          </a:p>
        </p:txBody>
      </p:sp>
      <p:sp>
        <p:nvSpPr>
          <p:cNvPr id="21" name="Rectangle 20"/>
          <p:cNvSpPr/>
          <p:nvPr/>
        </p:nvSpPr>
        <p:spPr>
          <a:xfrm>
            <a:off x="640080" y="3817620"/>
            <a:ext cx="173736" cy="173736"/>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50976" y="3767328"/>
            <a:ext cx="1097280" cy="219456"/>
          </a:xfrm>
          <a:prstGeom prst="rect">
            <a:avLst/>
          </a:prstGeom>
          <a:noFill/>
        </p:spPr>
        <p:txBody>
          <a:bodyPr wrap="square" lIns="0" rIns="0" tIns="0" bIns="0" anchor="t">
            <a:spAutoFit/>
          </a:bodyPr>
          <a:lstStyle/>
          <a:p>
            <a:pPr algn="l">
              <a:lnSpc>
                <a:spcPct val="120000"/>
              </a:lnSpc>
            </a:pPr>
            <a:r>
              <a:rPr sz="1150" b="1" i="0">
                <a:solidFill>
                  <a:srgbClr val="FFFFFF"/>
                </a:solidFill>
                <a:latin typeface="Arial"/>
              </a:rPr>
              <a:t>0.85 – 1.15×</a:t>
            </a:r>
          </a:p>
        </p:txBody>
      </p:sp>
      <p:sp>
        <p:nvSpPr>
          <p:cNvPr id="23" name="TextBox 22"/>
          <p:cNvSpPr txBox="1"/>
          <p:nvPr/>
        </p:nvSpPr>
        <p:spPr>
          <a:xfrm>
            <a:off x="2121408" y="3781044"/>
            <a:ext cx="2011680" cy="365760"/>
          </a:xfrm>
          <a:prstGeom prst="rect">
            <a:avLst/>
          </a:prstGeom>
          <a:noFill/>
        </p:spPr>
        <p:txBody>
          <a:bodyPr wrap="square" lIns="0" rIns="0" tIns="0" bIns="0" anchor="t">
            <a:spAutoFit/>
          </a:bodyPr>
          <a:lstStyle/>
          <a:p>
            <a:pPr algn="l">
              <a:lnSpc>
                <a:spcPct val="120000"/>
              </a:lnSpc>
            </a:pPr>
            <a:r>
              <a:rPr sz="1000" b="0" i="0">
                <a:solidFill>
                  <a:srgbClr val="8695AC"/>
                </a:solidFill>
                <a:latin typeface="Arial"/>
              </a:rPr>
              <a:t>about right</a:t>
            </a:r>
          </a:p>
        </p:txBody>
      </p:sp>
      <p:sp>
        <p:nvSpPr>
          <p:cNvPr id="24" name="Rectangle 23"/>
          <p:cNvSpPr/>
          <p:nvPr/>
        </p:nvSpPr>
        <p:spPr>
          <a:xfrm>
            <a:off x="640080" y="4219955"/>
            <a:ext cx="173736" cy="173736"/>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50976" y="4169663"/>
            <a:ext cx="1097280" cy="219456"/>
          </a:xfrm>
          <a:prstGeom prst="rect">
            <a:avLst/>
          </a:prstGeom>
          <a:noFill/>
        </p:spPr>
        <p:txBody>
          <a:bodyPr wrap="square" lIns="0" rIns="0" tIns="0" bIns="0" anchor="t">
            <a:spAutoFit/>
          </a:bodyPr>
          <a:lstStyle/>
          <a:p>
            <a:pPr algn="l">
              <a:lnSpc>
                <a:spcPct val="120000"/>
              </a:lnSpc>
            </a:pPr>
            <a:r>
              <a:rPr sz="1150" b="1" i="0">
                <a:solidFill>
                  <a:srgbClr val="FFFFFF"/>
                </a:solidFill>
                <a:latin typeface="Arial"/>
              </a:rPr>
              <a:t>&lt; 0.85×</a:t>
            </a:r>
          </a:p>
        </p:txBody>
      </p:sp>
      <p:sp>
        <p:nvSpPr>
          <p:cNvPr id="26" name="TextBox 25"/>
          <p:cNvSpPr txBox="1"/>
          <p:nvPr/>
        </p:nvSpPr>
        <p:spPr>
          <a:xfrm>
            <a:off x="2121408" y="4183379"/>
            <a:ext cx="2011680" cy="365760"/>
          </a:xfrm>
          <a:prstGeom prst="rect">
            <a:avLst/>
          </a:prstGeom>
          <a:noFill/>
        </p:spPr>
        <p:txBody>
          <a:bodyPr wrap="square" lIns="0" rIns="0" tIns="0" bIns="0" anchor="t">
            <a:spAutoFit/>
          </a:bodyPr>
          <a:lstStyle/>
          <a:p>
            <a:pPr algn="l">
              <a:lnSpc>
                <a:spcPct val="120000"/>
              </a:lnSpc>
            </a:pPr>
            <a:r>
              <a:rPr sz="1000" b="0" i="0">
                <a:solidFill>
                  <a:srgbClr val="8695AC"/>
                </a:solidFill>
                <a:latin typeface="Arial"/>
              </a:rPr>
              <a:t>priced above what it delivers</a:t>
            </a:r>
          </a:p>
        </p:txBody>
      </p:sp>
      <p:sp>
        <p:nvSpPr>
          <p:cNvPr id="27" name="Rectangle 26"/>
          <p:cNvSpPr/>
          <p:nvPr/>
        </p:nvSpPr>
        <p:spPr>
          <a:xfrm>
            <a:off x="640080" y="4773168"/>
            <a:ext cx="365760" cy="3657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 y="4974336"/>
            <a:ext cx="3200400" cy="822960"/>
          </a:xfrm>
          <a:prstGeom prst="rect">
            <a:avLst/>
          </a:prstGeom>
          <a:noFill/>
        </p:spPr>
        <p:txBody>
          <a:bodyPr wrap="square" lIns="0" rIns="0" tIns="0" bIns="0" anchor="t">
            <a:spAutoFit/>
          </a:bodyPr>
          <a:lstStyle/>
          <a:p>
            <a:pPr algn="l">
              <a:lnSpc>
                <a:spcPct val="130000"/>
              </a:lnSpc>
            </a:pPr>
            <a:r>
              <a:rPr sz="1400" b="1" i="0">
                <a:solidFill>
                  <a:srgbClr val="FFFFFF"/>
                </a:solidFill>
                <a:latin typeface="Arial"/>
              </a:rPr>
              <a:t>Everything below the waist runs hot.</a:t>
            </a:r>
          </a:p>
          <a:p>
            <a:pPr algn="l">
              <a:lnSpc>
                <a:spcPct val="130000"/>
              </a:lnSpc>
            </a:pPr>
            <a:r>
              <a:rPr sz="1400" b="1" i="0">
                <a:solidFill>
                  <a:srgbClr val="FFFFFF"/>
                </a:solidFill>
                <a:latin typeface="Arial"/>
              </a:rPr>
              <a:t>Everything at the collar runs cold.</a:t>
            </a:r>
          </a:p>
        </p:txBody>
      </p:sp>
      <p:sp>
        <p:nvSpPr>
          <p:cNvPr id="29" name="TextBox 28"/>
          <p:cNvSpPr txBox="1"/>
          <p:nvPr/>
        </p:nvSpPr>
        <p:spPr>
          <a:xfrm>
            <a:off x="640080" y="5577840"/>
            <a:ext cx="3200400" cy="731520"/>
          </a:xfrm>
          <a:prstGeom prst="rect">
            <a:avLst/>
          </a:prstGeom>
          <a:noFill/>
        </p:spPr>
        <p:txBody>
          <a:bodyPr wrap="square" lIns="0" rIns="0" tIns="0" bIns="0" anchor="t">
            <a:spAutoFit/>
          </a:bodyPr>
          <a:lstStyle/>
          <a:p>
            <a:pPr algn="l">
              <a:lnSpc>
                <a:spcPct val="136000"/>
              </a:lnSpc>
            </a:pPr>
            <a:r>
              <a:rPr sz="1100" b="0" i="0">
                <a:solidFill>
                  <a:srgbClr val="8695AC"/>
                </a:solidFill>
                <a:latin typeface="Arial"/>
              </a:rPr>
              <a:t>Broadcast cameras live around the contact area — and the contact area is shorts and lower back, not shoulders.</a:t>
            </a:r>
          </a:p>
        </p:txBody>
      </p:sp>
      <p:sp>
        <p:nvSpPr>
          <p:cNvPr id="30" name="TextBox 29"/>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Ratio = mean measured visibility share ÷ club allocation share. Kit artwork: Bradford Bulls 2025/26 home playing kit.</a:t>
            </a:r>
          </a:p>
        </p:txBody>
      </p:sp>
      <p:sp>
        <p:nvSpPr>
          <p:cNvPr id="31" name="TextBox 30"/>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54609" y="384048"/>
            <a:ext cx="1280160" cy="640080"/>
          </a:xfrm>
          <a:prstGeom prst="rect">
            <a:avLst/>
          </a:prstGeom>
          <a:noFill/>
        </p:spPr>
        <p:txBody>
          <a:bodyPr wrap="square" lIns="0" rIns="0" tIns="0" bIns="0" anchor="t">
            <a:spAutoFit/>
          </a:bodyPr>
          <a:lstStyle/>
          <a:p>
            <a:pPr algn="r">
              <a:lnSpc>
                <a:spcPct val="90000"/>
              </a:lnSpc>
            </a:pPr>
            <a:r>
              <a:rPr sz="4600" b="1" i="0">
                <a:solidFill>
                  <a:srgbClr val="18222F"/>
                </a:solidFill>
                <a:latin typeface="Arial"/>
              </a:rPr>
              <a:t>03</a:t>
            </a:r>
          </a:p>
        </p:txBody>
      </p:sp>
      <p:sp>
        <p:nvSpPr>
          <p:cNvPr id="6" name="Freeform 5"/>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FINDING THREE  ·  OVERVIEW</a:t>
            </a:r>
          </a:p>
        </p:txBody>
      </p:sp>
      <p:sp>
        <p:nvSpPr>
          <p:cNvPr id="8" name="TextBox 7"/>
          <p:cNvSpPr txBox="1"/>
          <p:nvPr/>
        </p:nvSpPr>
        <p:spPr>
          <a:xfrm>
            <a:off x="640080" y="786384"/>
            <a:ext cx="9326880" cy="914400"/>
          </a:xfrm>
          <a:prstGeom prst="rect">
            <a:avLst/>
          </a:prstGeom>
          <a:noFill/>
        </p:spPr>
        <p:txBody>
          <a:bodyPr wrap="square" lIns="0" rIns="0" tIns="0" bIns="0" anchor="t">
            <a:spAutoFit/>
          </a:bodyPr>
          <a:lstStyle/>
          <a:p>
            <a:pPr algn="l">
              <a:lnSpc>
                <a:spcPct val="102000"/>
              </a:lnSpc>
            </a:pPr>
            <a:r>
              <a:rPr sz="3000" b="1" i="0">
                <a:solidFill>
                  <a:srgbClr val="FFFFFF"/>
                </a:solidFill>
                <a:latin typeface="Arial"/>
              </a:rPr>
              <a:t>Grouped by placement, the split is stark</a:t>
            </a:r>
          </a:p>
        </p:txBody>
      </p:sp>
      <p:pic>
        <p:nvPicPr>
          <p:cNvPr id="9" name="Picture 8" descr="h_placement.png"/>
          <p:cNvPicPr>
            <a:picLocks noChangeAspect="1"/>
          </p:cNvPicPr>
          <p:nvPr/>
        </p:nvPicPr>
        <p:blipFill>
          <a:blip r:embed="rId2"/>
          <a:stretch>
            <a:fillRect/>
          </a:stretch>
        </p:blipFill>
        <p:spPr>
          <a:xfrm>
            <a:off x="530352" y="1700784"/>
            <a:ext cx="7059168" cy="2807208"/>
          </a:xfrm>
          <a:prstGeom prst="rect">
            <a:avLst/>
          </a:prstGeom>
        </p:spPr>
      </p:pic>
      <p:pic>
        <p:nvPicPr>
          <p:cNvPr id="10" name="Picture 9" descr="ev_shorts.jpg"/>
          <p:cNvPicPr>
            <a:picLocks noChangeAspect="1"/>
          </p:cNvPicPr>
          <p:nvPr/>
        </p:nvPicPr>
        <p:blipFill>
          <a:blip r:embed="rId3"/>
          <a:srcRect l="7778" r="7778"/>
          <a:stretch>
            <a:fillRect/>
          </a:stretch>
        </p:blipFill>
        <p:spPr>
          <a:xfrm>
            <a:off x="7882127" y="1792224"/>
            <a:ext cx="877824" cy="1097280"/>
          </a:xfrm>
          <a:prstGeom prst="rect">
            <a:avLst/>
          </a:prstGeom>
        </p:spPr>
      </p:pic>
      <p:sp>
        <p:nvSpPr>
          <p:cNvPr id="11" name="Rectangle 10"/>
          <p:cNvSpPr/>
          <p:nvPr/>
        </p:nvSpPr>
        <p:spPr>
          <a:xfrm>
            <a:off x="7882127" y="2889504"/>
            <a:ext cx="877824" cy="4114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882127" y="3017520"/>
            <a:ext cx="969264" cy="182880"/>
          </a:xfrm>
          <a:prstGeom prst="rect">
            <a:avLst/>
          </a:prstGeom>
          <a:noFill/>
        </p:spPr>
        <p:txBody>
          <a:bodyPr wrap="square" lIns="0" rIns="0" tIns="0" bIns="0" anchor="t">
            <a:spAutoFit/>
          </a:bodyPr>
          <a:lstStyle/>
          <a:p>
            <a:pPr algn="l">
              <a:lnSpc>
                <a:spcPct val="120000"/>
              </a:lnSpc>
            </a:pPr>
            <a:r>
              <a:rPr sz="940" b="1" i="0">
                <a:solidFill>
                  <a:srgbClr val="FFFFFF"/>
                </a:solidFill>
                <a:latin typeface="Arial"/>
              </a:rPr>
              <a:t>Shorts</a:t>
            </a:r>
          </a:p>
        </p:txBody>
      </p:sp>
      <p:pic>
        <p:nvPicPr>
          <p:cNvPr id="13" name="Picture 12" descr="ev_sleeves.jpg"/>
          <p:cNvPicPr>
            <a:picLocks noChangeAspect="1"/>
          </p:cNvPicPr>
          <p:nvPr/>
        </p:nvPicPr>
        <p:blipFill>
          <a:blip r:embed="rId4"/>
          <a:srcRect l="7778" r="7778"/>
          <a:stretch>
            <a:fillRect/>
          </a:stretch>
        </p:blipFill>
        <p:spPr>
          <a:xfrm>
            <a:off x="8878824" y="1792224"/>
            <a:ext cx="877824" cy="1097280"/>
          </a:xfrm>
          <a:prstGeom prst="rect">
            <a:avLst/>
          </a:prstGeom>
        </p:spPr>
      </p:pic>
      <p:sp>
        <p:nvSpPr>
          <p:cNvPr id="14" name="Rectangle 13"/>
          <p:cNvSpPr/>
          <p:nvPr/>
        </p:nvSpPr>
        <p:spPr>
          <a:xfrm>
            <a:off x="8878824" y="2889504"/>
            <a:ext cx="877824" cy="41148"/>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878824" y="3017520"/>
            <a:ext cx="969264" cy="182880"/>
          </a:xfrm>
          <a:prstGeom prst="rect">
            <a:avLst/>
          </a:prstGeom>
          <a:noFill/>
        </p:spPr>
        <p:txBody>
          <a:bodyPr wrap="square" lIns="0" rIns="0" tIns="0" bIns="0" anchor="t">
            <a:spAutoFit/>
          </a:bodyPr>
          <a:lstStyle/>
          <a:p>
            <a:pPr algn="l">
              <a:lnSpc>
                <a:spcPct val="120000"/>
              </a:lnSpc>
            </a:pPr>
            <a:r>
              <a:rPr sz="940" b="1" i="0">
                <a:solidFill>
                  <a:srgbClr val="FFFFFF"/>
                </a:solidFill>
                <a:latin typeface="Arial"/>
              </a:rPr>
              <a:t>Sleeves</a:t>
            </a:r>
          </a:p>
        </p:txBody>
      </p:sp>
      <p:pic>
        <p:nvPicPr>
          <p:cNvPr id="16" name="Picture 15" descr="ev_back.jpg"/>
          <p:cNvPicPr>
            <a:picLocks noChangeAspect="1"/>
          </p:cNvPicPr>
          <p:nvPr/>
        </p:nvPicPr>
        <p:blipFill>
          <a:blip r:embed="rId5"/>
          <a:srcRect t="822" b="822"/>
          <a:stretch>
            <a:fillRect/>
          </a:stretch>
        </p:blipFill>
        <p:spPr>
          <a:xfrm>
            <a:off x="9875519" y="1792224"/>
            <a:ext cx="877824" cy="1097280"/>
          </a:xfrm>
          <a:prstGeom prst="rect">
            <a:avLst/>
          </a:prstGeom>
        </p:spPr>
      </p:pic>
      <p:sp>
        <p:nvSpPr>
          <p:cNvPr id="17" name="Rectangle 16"/>
          <p:cNvSpPr/>
          <p:nvPr/>
        </p:nvSpPr>
        <p:spPr>
          <a:xfrm>
            <a:off x="9875519" y="2889504"/>
            <a:ext cx="877824" cy="41148"/>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875519" y="3017520"/>
            <a:ext cx="969264" cy="182880"/>
          </a:xfrm>
          <a:prstGeom prst="rect">
            <a:avLst/>
          </a:prstGeom>
          <a:noFill/>
        </p:spPr>
        <p:txBody>
          <a:bodyPr wrap="square" lIns="0" rIns="0" tIns="0" bIns="0" anchor="t">
            <a:spAutoFit/>
          </a:bodyPr>
          <a:lstStyle/>
          <a:p>
            <a:pPr algn="l">
              <a:lnSpc>
                <a:spcPct val="120000"/>
              </a:lnSpc>
            </a:pPr>
            <a:r>
              <a:rPr sz="940" b="1" i="0">
                <a:solidFill>
                  <a:srgbClr val="FFFFFF"/>
                </a:solidFill>
                <a:latin typeface="Arial"/>
              </a:rPr>
              <a:t>Back</a:t>
            </a:r>
          </a:p>
        </p:txBody>
      </p:sp>
      <p:pic>
        <p:nvPicPr>
          <p:cNvPr id="19" name="Picture 18" descr="ev_chest.jpg"/>
          <p:cNvPicPr>
            <a:picLocks noChangeAspect="1"/>
          </p:cNvPicPr>
          <p:nvPr/>
        </p:nvPicPr>
        <p:blipFill>
          <a:blip r:embed="rId6"/>
          <a:srcRect l="327" r="327"/>
          <a:stretch>
            <a:fillRect/>
          </a:stretch>
        </p:blipFill>
        <p:spPr>
          <a:xfrm>
            <a:off x="10872215" y="1792224"/>
            <a:ext cx="877824" cy="1097280"/>
          </a:xfrm>
          <a:prstGeom prst="rect">
            <a:avLst/>
          </a:prstGeom>
        </p:spPr>
      </p:pic>
      <p:sp>
        <p:nvSpPr>
          <p:cNvPr id="20" name="Rectangle 19"/>
          <p:cNvSpPr/>
          <p:nvPr/>
        </p:nvSpPr>
        <p:spPr>
          <a:xfrm>
            <a:off x="10872215" y="2889504"/>
            <a:ext cx="877824" cy="41148"/>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872215" y="3017520"/>
            <a:ext cx="969264" cy="182880"/>
          </a:xfrm>
          <a:prstGeom prst="rect">
            <a:avLst/>
          </a:prstGeom>
          <a:noFill/>
        </p:spPr>
        <p:txBody>
          <a:bodyPr wrap="square" lIns="0" rIns="0" tIns="0" bIns="0" anchor="t">
            <a:spAutoFit/>
          </a:bodyPr>
          <a:lstStyle/>
          <a:p>
            <a:pPr algn="l">
              <a:lnSpc>
                <a:spcPct val="120000"/>
              </a:lnSpc>
            </a:pPr>
            <a:r>
              <a:rPr sz="940" b="1" i="0">
                <a:solidFill>
                  <a:srgbClr val="FFFFFF"/>
                </a:solidFill>
                <a:latin typeface="Arial"/>
              </a:rPr>
              <a:t>Chest</a:t>
            </a:r>
          </a:p>
        </p:txBody>
      </p:sp>
      <p:sp>
        <p:nvSpPr>
          <p:cNvPr id="22" name="TextBox 21"/>
          <p:cNvSpPr txBox="1"/>
          <p:nvPr/>
        </p:nvSpPr>
        <p:spPr>
          <a:xfrm>
            <a:off x="7882127" y="3346704"/>
            <a:ext cx="3749039" cy="548640"/>
          </a:xfrm>
          <a:prstGeom prst="rect">
            <a:avLst/>
          </a:prstGeom>
          <a:noFill/>
        </p:spPr>
        <p:txBody>
          <a:bodyPr wrap="square" lIns="0" rIns="0" tIns="0" bIns="0" anchor="t">
            <a:spAutoFit/>
          </a:bodyPr>
          <a:lstStyle/>
          <a:p>
            <a:pPr algn="l">
              <a:lnSpc>
                <a:spcPct val="132000"/>
              </a:lnSpc>
            </a:pPr>
            <a:r>
              <a:rPr sz="980" b="0" i="0">
                <a:solidFill>
                  <a:srgbClr val="56657C"/>
                </a:solidFill>
                <a:latin typeface="Arial"/>
              </a:rPr>
              <a:t>Real detections from the analysed footage — one per placement group. The system reads the mark itself, not just the position it expects.</a:t>
            </a:r>
          </a:p>
        </p:txBody>
      </p:sp>
      <p:sp>
        <p:nvSpPr>
          <p:cNvPr id="23" name="Rectangle 22"/>
          <p:cNvSpPr/>
          <p:nvPr/>
        </p:nvSpPr>
        <p:spPr>
          <a:xfrm>
            <a:off x="640080" y="4572000"/>
            <a:ext cx="365760" cy="36576"/>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0080" y="4773168"/>
            <a:ext cx="3383280" cy="457200"/>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Shorts carry the match.</a:t>
            </a:r>
          </a:p>
        </p:txBody>
      </p:sp>
      <p:sp>
        <p:nvSpPr>
          <p:cNvPr id="25" name="TextBox 24"/>
          <p:cNvSpPr txBox="1"/>
          <p:nvPr/>
        </p:nvSpPr>
        <p:spPr>
          <a:xfrm>
            <a:off x="640080" y="5120640"/>
            <a:ext cx="3401568" cy="1371600"/>
          </a:xfrm>
          <a:prstGeom prst="rect">
            <a:avLst/>
          </a:prstGeom>
          <a:noFill/>
        </p:spPr>
        <p:txBody>
          <a:bodyPr wrap="square" lIns="0" rIns="0" tIns="0" bIns="0" anchor="t">
            <a:spAutoFit/>
          </a:bodyPr>
          <a:lstStyle/>
          <a:p>
            <a:pPr algn="l">
              <a:lnSpc>
                <a:spcPct val="136000"/>
              </a:lnSpc>
            </a:pPr>
            <a:r>
              <a:rPr sz="1060" b="0" i="0">
                <a:solidFill>
                  <a:srgbClr val="8695AC"/>
                </a:solidFill>
                <a:latin typeface="Arial"/>
              </a:rPr>
              <a:t>Rugby league is played low. Rucks, tackles and play-the-ball put the shorts in the centre of close and medium camera work — where the broadcast spends most of its time. All four shorts positions measure above their price.</a:t>
            </a:r>
          </a:p>
        </p:txBody>
      </p:sp>
      <p:sp>
        <p:nvSpPr>
          <p:cNvPr id="26" name="Rectangle 25"/>
          <p:cNvSpPr/>
          <p:nvPr/>
        </p:nvSpPr>
        <p:spPr>
          <a:xfrm>
            <a:off x="4352544" y="4572000"/>
            <a:ext cx="365760" cy="36576"/>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352544" y="4773168"/>
            <a:ext cx="3383280" cy="457200"/>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The chest carries the price.</a:t>
            </a:r>
          </a:p>
        </p:txBody>
      </p:sp>
      <p:sp>
        <p:nvSpPr>
          <p:cNvPr id="28" name="TextBox 27"/>
          <p:cNvSpPr txBox="1"/>
          <p:nvPr/>
        </p:nvSpPr>
        <p:spPr>
          <a:xfrm>
            <a:off x="4352544" y="5120640"/>
            <a:ext cx="3401568" cy="1371600"/>
          </a:xfrm>
          <a:prstGeom prst="rect">
            <a:avLst/>
          </a:prstGeom>
          <a:noFill/>
        </p:spPr>
        <p:txBody>
          <a:bodyPr wrap="square" lIns="0" rIns="0" tIns="0" bIns="0" anchor="t">
            <a:spAutoFit/>
          </a:bodyPr>
          <a:lstStyle/>
          <a:p>
            <a:pPr algn="l">
              <a:lnSpc>
                <a:spcPct val="136000"/>
              </a:lnSpc>
            </a:pPr>
            <a:r>
              <a:rPr sz="1060" b="0" i="0">
                <a:solidFill>
                  <a:srgbClr val="8695AC"/>
                </a:solidFill>
                <a:latin typeface="Arial"/>
              </a:rPr>
              <a:t>Top Notch, MNA Cladding and Romantica hold 41% of the shirt price and 16.7% of the exposure. That premium is real, but it is bought with brand association, stills and press — not with broadcast seconds.</a:t>
            </a:r>
          </a:p>
        </p:txBody>
      </p:sp>
      <p:sp>
        <p:nvSpPr>
          <p:cNvPr id="29" name="Rectangle 28"/>
          <p:cNvSpPr/>
          <p:nvPr/>
        </p:nvSpPr>
        <p:spPr>
          <a:xfrm>
            <a:off x="8065007" y="4572000"/>
            <a:ext cx="365760" cy="3657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065007" y="4773168"/>
            <a:ext cx="3383280" cy="457200"/>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The group total can hide the story.</a:t>
            </a:r>
          </a:p>
        </p:txBody>
      </p:sp>
      <p:sp>
        <p:nvSpPr>
          <p:cNvPr id="31" name="TextBox 30"/>
          <p:cNvSpPr txBox="1"/>
          <p:nvPr/>
        </p:nvSpPr>
        <p:spPr>
          <a:xfrm>
            <a:off x="8065007" y="5120640"/>
            <a:ext cx="3401568" cy="1371600"/>
          </a:xfrm>
          <a:prstGeom prst="rect">
            <a:avLst/>
          </a:prstGeom>
          <a:noFill/>
        </p:spPr>
        <p:txBody>
          <a:bodyPr wrap="square" lIns="0" rIns="0" tIns="0" bIns="0" anchor="t">
            <a:spAutoFit/>
          </a:bodyPr>
          <a:lstStyle/>
          <a:p>
            <a:pPr algn="l">
              <a:lnSpc>
                <a:spcPct val="136000"/>
              </a:lnSpc>
            </a:pPr>
            <a:r>
              <a:rPr sz="1060" b="0" i="0">
                <a:solidFill>
                  <a:srgbClr val="8695AC"/>
                </a:solidFill>
                <a:latin typeface="Arial"/>
              </a:rPr>
              <a:t>Sleeves match almost exactly at block level, 19% against 21.6%. Inside that block, Bartercard measures 13.6% on a 4% price while ATM Hospitality measures 2.2% on an 11% price.</a:t>
            </a:r>
          </a:p>
        </p:txBody>
      </p:sp>
      <p:sp>
        <p:nvSpPr>
          <p:cNvPr id="32" name="TextBox 31"/>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Two complete Bradford Bulls broadcasts, home kit 2025/26, analysed at 2 frames per second. “What the club charges” is the current management allocation (totals 95%); LogoLens totals 100%.</a:t>
            </a:r>
          </a:p>
        </p:txBody>
      </p:sp>
      <p:sp>
        <p:nvSpPr>
          <p:cNvPr id="33" name="TextBox 32"/>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54609" y="384048"/>
            <a:ext cx="1280160" cy="640080"/>
          </a:xfrm>
          <a:prstGeom prst="rect">
            <a:avLst/>
          </a:prstGeom>
          <a:noFill/>
        </p:spPr>
        <p:txBody>
          <a:bodyPr wrap="square" lIns="0" rIns="0" tIns="0" bIns="0" anchor="t">
            <a:spAutoFit/>
          </a:bodyPr>
          <a:lstStyle/>
          <a:p>
            <a:pPr algn="r">
              <a:lnSpc>
                <a:spcPct val="90000"/>
              </a:lnSpc>
            </a:pPr>
            <a:r>
              <a:rPr sz="4600" b="1" i="0">
                <a:solidFill>
                  <a:srgbClr val="18222F"/>
                </a:solidFill>
                <a:latin typeface="Arial"/>
              </a:rPr>
              <a:t>03</a:t>
            </a:r>
          </a:p>
        </p:txBody>
      </p:sp>
      <p:sp>
        <p:nvSpPr>
          <p:cNvPr id="6" name="Freeform 5"/>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FINDING THREE  ·  AREA BY AREA</a:t>
            </a:r>
          </a:p>
        </p:txBody>
      </p:sp>
      <p:sp>
        <p:nvSpPr>
          <p:cNvPr id="8" name="TextBox 7"/>
          <p:cNvSpPr txBox="1"/>
          <p:nvPr/>
        </p:nvSpPr>
        <p:spPr>
          <a:xfrm>
            <a:off x="640080" y="786384"/>
            <a:ext cx="9692640" cy="914400"/>
          </a:xfrm>
          <a:prstGeom prst="rect">
            <a:avLst/>
          </a:prstGeom>
          <a:noFill/>
        </p:spPr>
        <p:txBody>
          <a:bodyPr wrap="square" lIns="0" rIns="0" tIns="0" bIns="0" anchor="t">
            <a:spAutoFit/>
          </a:bodyPr>
          <a:lstStyle/>
          <a:p>
            <a:pPr algn="l">
              <a:lnSpc>
                <a:spcPct val="102000"/>
              </a:lnSpc>
            </a:pPr>
            <a:r>
              <a:rPr sz="2900" b="1" i="0">
                <a:solidFill>
                  <a:srgbClr val="FFFFFF"/>
                </a:solidFill>
                <a:latin typeface="Arial"/>
              </a:rPr>
              <a:t>Manual score against AI score, one area at a time</a:t>
            </a:r>
          </a:p>
        </p:txBody>
      </p:sp>
      <p:sp>
        <p:nvSpPr>
          <p:cNvPr id="9" name="Rectangle 8"/>
          <p:cNvSpPr/>
          <p:nvPr/>
        </p:nvSpPr>
        <p:spPr>
          <a:xfrm>
            <a:off x="640080" y="1755648"/>
            <a:ext cx="2563360" cy="45720"/>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1956816"/>
            <a:ext cx="2563360" cy="274320"/>
          </a:xfrm>
          <a:prstGeom prst="rect">
            <a:avLst/>
          </a:prstGeom>
          <a:noFill/>
        </p:spPr>
        <p:txBody>
          <a:bodyPr wrap="square" lIns="0" rIns="0" tIns="0" bIns="0" anchor="t">
            <a:spAutoFit/>
          </a:bodyPr>
          <a:lstStyle/>
          <a:p>
            <a:pPr algn="l">
              <a:lnSpc>
                <a:spcPct val="114000"/>
              </a:lnSpc>
            </a:pPr>
            <a:r>
              <a:rPr sz="1450" b="1" i="0">
                <a:solidFill>
                  <a:srgbClr val="FFFFFF"/>
                </a:solidFill>
                <a:latin typeface="Arial"/>
              </a:rPr>
              <a:t>Chest / front torso</a:t>
            </a:r>
          </a:p>
        </p:txBody>
      </p:sp>
      <p:pic>
        <p:nvPicPr>
          <p:cNvPr id="11" name="Picture 10" descr="ev_chest.jpg"/>
          <p:cNvPicPr>
            <a:picLocks noChangeAspect="1"/>
          </p:cNvPicPr>
          <p:nvPr/>
        </p:nvPicPr>
        <p:blipFill>
          <a:blip r:embed="rId2"/>
          <a:srcRect t="26733" b="26733"/>
          <a:stretch>
            <a:fillRect/>
          </a:stretch>
        </p:blipFill>
        <p:spPr>
          <a:xfrm>
            <a:off x="640080" y="2432304"/>
            <a:ext cx="2563360" cy="1481328"/>
          </a:xfrm>
          <a:prstGeom prst="rect">
            <a:avLst/>
          </a:prstGeom>
        </p:spPr>
      </p:pic>
      <p:sp>
        <p:nvSpPr>
          <p:cNvPr id="12" name="Rectangle 11"/>
          <p:cNvSpPr/>
          <p:nvPr/>
        </p:nvSpPr>
        <p:spPr>
          <a:xfrm>
            <a:off x="640080" y="2432304"/>
            <a:ext cx="2563360" cy="1481328"/>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0080" y="3968496"/>
            <a:ext cx="2563360" cy="201168"/>
          </a:xfrm>
          <a:prstGeom prst="rect">
            <a:avLst/>
          </a:prstGeom>
          <a:noFill/>
        </p:spPr>
        <p:txBody>
          <a:bodyPr wrap="square" lIns="0" rIns="0" tIns="0" bIns="0" anchor="t">
            <a:spAutoFit/>
          </a:bodyPr>
          <a:lstStyle/>
          <a:p>
            <a:pPr algn="l">
              <a:lnSpc>
                <a:spcPct val="120000"/>
              </a:lnSpc>
            </a:pPr>
            <a:r>
              <a:rPr sz="860" b="0" i="0">
                <a:solidFill>
                  <a:srgbClr val="56657C"/>
                </a:solidFill>
                <a:latin typeface="Arial"/>
              </a:rPr>
              <a:t>Top Notch · conf 0.82</a:t>
            </a:r>
          </a:p>
        </p:txBody>
      </p:sp>
      <p:sp>
        <p:nvSpPr>
          <p:cNvPr id="14" name="TextBox 13"/>
          <p:cNvSpPr txBox="1"/>
          <p:nvPr/>
        </p:nvSpPr>
        <p:spPr>
          <a:xfrm>
            <a:off x="640080" y="4279392"/>
            <a:ext cx="914400" cy="201168"/>
          </a:xfrm>
          <a:prstGeom prst="rect">
            <a:avLst/>
          </a:prstGeom>
          <a:noFill/>
        </p:spPr>
        <p:txBody>
          <a:bodyPr wrap="square" lIns="0" rIns="0" tIns="0" bIns="0" anchor="t">
            <a:spAutoFit/>
          </a:bodyPr>
          <a:lstStyle/>
          <a:p>
            <a:pPr algn="l">
              <a:lnSpc>
                <a:spcPct val="120000"/>
              </a:lnSpc>
            </a:pPr>
            <a:r>
              <a:rPr sz="960" b="1" i="0">
                <a:solidFill>
                  <a:srgbClr val="8695AC"/>
                </a:solidFill>
                <a:latin typeface="Arial"/>
              </a:rPr>
              <a:t>Manual</a:t>
            </a:r>
          </a:p>
        </p:txBody>
      </p:sp>
      <p:sp>
        <p:nvSpPr>
          <p:cNvPr id="15" name="Rectangle 14"/>
          <p:cNvSpPr/>
          <p:nvPr/>
        </p:nvSpPr>
        <p:spPr>
          <a:xfrm>
            <a:off x="1508760" y="4306824"/>
            <a:ext cx="1544042" cy="132588"/>
          </a:xfrm>
          <a:prstGeom prst="rect">
            <a:avLst/>
          </a:prstGeom>
          <a:solidFill>
            <a:srgbClr val="7C8A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25954" y="4261104"/>
            <a:ext cx="731520" cy="201168"/>
          </a:xfrm>
          <a:prstGeom prst="rect">
            <a:avLst/>
          </a:prstGeom>
          <a:noFill/>
        </p:spPr>
        <p:txBody>
          <a:bodyPr wrap="square" lIns="0" rIns="0" tIns="0" bIns="0" anchor="t">
            <a:spAutoFit/>
          </a:bodyPr>
          <a:lstStyle/>
          <a:p>
            <a:pPr algn="l">
              <a:lnSpc>
                <a:spcPct val="120000"/>
              </a:lnSpc>
            </a:pPr>
            <a:r>
              <a:rPr sz="980" b="0" i="0">
                <a:solidFill>
                  <a:srgbClr val="8695AC"/>
                </a:solidFill>
                <a:latin typeface="Arial"/>
              </a:rPr>
              <a:t>41%</a:t>
            </a:r>
          </a:p>
        </p:txBody>
      </p:sp>
      <p:sp>
        <p:nvSpPr>
          <p:cNvPr id="17" name="TextBox 16"/>
          <p:cNvSpPr txBox="1"/>
          <p:nvPr/>
        </p:nvSpPr>
        <p:spPr>
          <a:xfrm>
            <a:off x="640080" y="4590288"/>
            <a:ext cx="914400" cy="201168"/>
          </a:xfrm>
          <a:prstGeom prst="rect">
            <a:avLst/>
          </a:prstGeom>
          <a:noFill/>
        </p:spPr>
        <p:txBody>
          <a:bodyPr wrap="square" lIns="0" rIns="0" tIns="0" bIns="0" anchor="t">
            <a:spAutoFit/>
          </a:bodyPr>
          <a:lstStyle/>
          <a:p>
            <a:pPr algn="l">
              <a:lnSpc>
                <a:spcPct val="120000"/>
              </a:lnSpc>
            </a:pPr>
            <a:r>
              <a:rPr sz="960" b="1" i="0">
                <a:solidFill>
                  <a:srgbClr val="FFFFFF"/>
                </a:solidFill>
                <a:latin typeface="Arial"/>
              </a:rPr>
              <a:t>AI</a:t>
            </a:r>
          </a:p>
        </p:txBody>
      </p:sp>
      <p:sp>
        <p:nvSpPr>
          <p:cNvPr id="18" name="Rectangle 17"/>
          <p:cNvSpPr/>
          <p:nvPr/>
        </p:nvSpPr>
        <p:spPr>
          <a:xfrm>
            <a:off x="1508760" y="4617720"/>
            <a:ext cx="630232" cy="132588"/>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212144" y="4572000"/>
            <a:ext cx="731520" cy="201168"/>
          </a:xfrm>
          <a:prstGeom prst="rect">
            <a:avLst/>
          </a:prstGeom>
          <a:noFill/>
        </p:spPr>
        <p:txBody>
          <a:bodyPr wrap="square" lIns="0" rIns="0" tIns="0" bIns="0" anchor="t">
            <a:spAutoFit/>
          </a:bodyPr>
          <a:lstStyle/>
          <a:p>
            <a:pPr algn="l">
              <a:lnSpc>
                <a:spcPct val="120000"/>
              </a:lnSpc>
            </a:pPr>
            <a:r>
              <a:rPr sz="980" b="1" i="0">
                <a:solidFill>
                  <a:srgbClr val="FFFFFF"/>
                </a:solidFill>
                <a:latin typeface="Arial"/>
              </a:rPr>
              <a:t>16.7%</a:t>
            </a:r>
          </a:p>
        </p:txBody>
      </p:sp>
      <p:sp>
        <p:nvSpPr>
          <p:cNvPr id="20" name="TextBox 19"/>
          <p:cNvSpPr txBox="1"/>
          <p:nvPr/>
        </p:nvSpPr>
        <p:spPr>
          <a:xfrm>
            <a:off x="640080" y="4974336"/>
            <a:ext cx="2563360" cy="365760"/>
          </a:xfrm>
          <a:prstGeom prst="rect">
            <a:avLst/>
          </a:prstGeom>
          <a:noFill/>
        </p:spPr>
        <p:txBody>
          <a:bodyPr wrap="square" lIns="0" rIns="0" tIns="0" bIns="0" anchor="t">
            <a:spAutoFit/>
          </a:bodyPr>
          <a:lstStyle/>
          <a:p>
            <a:pPr algn="l">
              <a:lnSpc>
                <a:spcPct val="120000"/>
              </a:lnSpc>
            </a:pPr>
            <a:r>
              <a:rPr sz="2500" b="1" i="0">
                <a:solidFill>
                  <a:srgbClr val="3E9BE0"/>
                </a:solidFill>
                <a:latin typeface="Arial"/>
              </a:rPr>
              <a:t>0.41×</a:t>
            </a:r>
          </a:p>
        </p:txBody>
      </p:sp>
      <p:sp>
        <p:nvSpPr>
          <p:cNvPr id="21" name="TextBox 20"/>
          <p:cNvSpPr txBox="1"/>
          <p:nvPr/>
        </p:nvSpPr>
        <p:spPr>
          <a:xfrm>
            <a:off x="640080" y="5431536"/>
            <a:ext cx="2471920" cy="914400"/>
          </a:xfrm>
          <a:prstGeom prst="rect">
            <a:avLst/>
          </a:prstGeom>
          <a:noFill/>
        </p:spPr>
        <p:txBody>
          <a:bodyPr wrap="square" lIns="0" rIns="0" tIns="0" bIns="0" anchor="t">
            <a:spAutoFit/>
          </a:bodyPr>
          <a:lstStyle/>
          <a:p>
            <a:pPr algn="l">
              <a:lnSpc>
                <a:spcPct val="134000"/>
              </a:lnSpc>
            </a:pPr>
            <a:r>
              <a:rPr sz="1000" b="0" i="0">
                <a:solidFill>
                  <a:srgbClr val="8695AC"/>
                </a:solidFill>
                <a:latin typeface="Arial"/>
              </a:rPr>
              <a:t>Top Notch alone holds 26 of the 41 points. The premium is real — it is just not bought with broadcast seconds.</a:t>
            </a:r>
          </a:p>
        </p:txBody>
      </p:sp>
      <p:sp>
        <p:nvSpPr>
          <p:cNvPr id="22" name="Rectangle 21"/>
          <p:cNvSpPr/>
          <p:nvPr/>
        </p:nvSpPr>
        <p:spPr>
          <a:xfrm>
            <a:off x="3422896" y="1755648"/>
            <a:ext cx="2563360" cy="4572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22896" y="1956816"/>
            <a:ext cx="2563360" cy="274320"/>
          </a:xfrm>
          <a:prstGeom prst="rect">
            <a:avLst/>
          </a:prstGeom>
          <a:noFill/>
        </p:spPr>
        <p:txBody>
          <a:bodyPr wrap="square" lIns="0" rIns="0" tIns="0" bIns="0" anchor="t">
            <a:spAutoFit/>
          </a:bodyPr>
          <a:lstStyle/>
          <a:p>
            <a:pPr algn="l">
              <a:lnSpc>
                <a:spcPct val="114000"/>
              </a:lnSpc>
            </a:pPr>
            <a:r>
              <a:rPr sz="1450" b="1" i="0">
                <a:solidFill>
                  <a:srgbClr val="FFFFFF"/>
                </a:solidFill>
                <a:latin typeface="Arial"/>
              </a:rPr>
              <a:t>Back and collar</a:t>
            </a:r>
          </a:p>
        </p:txBody>
      </p:sp>
      <p:pic>
        <p:nvPicPr>
          <p:cNvPr id="24" name="Picture 23" descr="ev_back.jpg"/>
          <p:cNvPicPr>
            <a:picLocks noChangeAspect="1"/>
          </p:cNvPicPr>
          <p:nvPr/>
        </p:nvPicPr>
        <p:blipFill>
          <a:blip r:embed="rId3"/>
          <a:srcRect t="27265" b="27265"/>
          <a:stretch>
            <a:fillRect/>
          </a:stretch>
        </p:blipFill>
        <p:spPr>
          <a:xfrm>
            <a:off x="3422896" y="2432304"/>
            <a:ext cx="2563360" cy="1481328"/>
          </a:xfrm>
          <a:prstGeom prst="rect">
            <a:avLst/>
          </a:prstGeom>
        </p:spPr>
      </p:pic>
      <p:sp>
        <p:nvSpPr>
          <p:cNvPr id="25" name="Rectangle 24"/>
          <p:cNvSpPr/>
          <p:nvPr/>
        </p:nvSpPr>
        <p:spPr>
          <a:xfrm>
            <a:off x="3422896" y="2432304"/>
            <a:ext cx="2563360" cy="1481328"/>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422896" y="3968496"/>
            <a:ext cx="2563360" cy="201168"/>
          </a:xfrm>
          <a:prstGeom prst="rect">
            <a:avLst/>
          </a:prstGeom>
          <a:noFill/>
        </p:spPr>
        <p:txBody>
          <a:bodyPr wrap="square" lIns="0" rIns="0" tIns="0" bIns="0" anchor="t">
            <a:spAutoFit/>
          </a:bodyPr>
          <a:lstStyle/>
          <a:p>
            <a:pPr algn="l">
              <a:lnSpc>
                <a:spcPct val="120000"/>
              </a:lnSpc>
            </a:pPr>
            <a:r>
              <a:rPr sz="860" b="0" i="0">
                <a:solidFill>
                  <a:srgbClr val="56657C"/>
                </a:solidFill>
                <a:latin typeface="Arial"/>
              </a:rPr>
              <a:t>MCP · conf 0.87</a:t>
            </a:r>
          </a:p>
        </p:txBody>
      </p:sp>
      <p:sp>
        <p:nvSpPr>
          <p:cNvPr id="27" name="TextBox 26"/>
          <p:cNvSpPr txBox="1"/>
          <p:nvPr/>
        </p:nvSpPr>
        <p:spPr>
          <a:xfrm>
            <a:off x="3422896" y="4279392"/>
            <a:ext cx="914400" cy="201168"/>
          </a:xfrm>
          <a:prstGeom prst="rect">
            <a:avLst/>
          </a:prstGeom>
          <a:noFill/>
        </p:spPr>
        <p:txBody>
          <a:bodyPr wrap="square" lIns="0" rIns="0" tIns="0" bIns="0" anchor="t">
            <a:spAutoFit/>
          </a:bodyPr>
          <a:lstStyle/>
          <a:p>
            <a:pPr algn="l">
              <a:lnSpc>
                <a:spcPct val="120000"/>
              </a:lnSpc>
            </a:pPr>
            <a:r>
              <a:rPr sz="960" b="1" i="0">
                <a:solidFill>
                  <a:srgbClr val="8695AC"/>
                </a:solidFill>
                <a:latin typeface="Arial"/>
              </a:rPr>
              <a:t>Manual</a:t>
            </a:r>
          </a:p>
        </p:txBody>
      </p:sp>
      <p:sp>
        <p:nvSpPr>
          <p:cNvPr id="28" name="Rectangle 27"/>
          <p:cNvSpPr/>
          <p:nvPr/>
        </p:nvSpPr>
        <p:spPr>
          <a:xfrm>
            <a:off x="4291576" y="4306824"/>
            <a:ext cx="715531" cy="132588"/>
          </a:xfrm>
          <a:prstGeom prst="rect">
            <a:avLst/>
          </a:prstGeom>
          <a:solidFill>
            <a:srgbClr val="7C8A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080260" y="4261104"/>
            <a:ext cx="731520" cy="201168"/>
          </a:xfrm>
          <a:prstGeom prst="rect">
            <a:avLst/>
          </a:prstGeom>
          <a:noFill/>
        </p:spPr>
        <p:txBody>
          <a:bodyPr wrap="square" lIns="0" rIns="0" tIns="0" bIns="0" anchor="t">
            <a:spAutoFit/>
          </a:bodyPr>
          <a:lstStyle/>
          <a:p>
            <a:pPr algn="l">
              <a:lnSpc>
                <a:spcPct val="120000"/>
              </a:lnSpc>
            </a:pPr>
            <a:r>
              <a:rPr sz="980" b="0" i="0">
                <a:solidFill>
                  <a:srgbClr val="8695AC"/>
                </a:solidFill>
                <a:latin typeface="Arial"/>
              </a:rPr>
              <a:t>19%</a:t>
            </a:r>
          </a:p>
        </p:txBody>
      </p:sp>
      <p:sp>
        <p:nvSpPr>
          <p:cNvPr id="30" name="TextBox 29"/>
          <p:cNvSpPr txBox="1"/>
          <p:nvPr/>
        </p:nvSpPr>
        <p:spPr>
          <a:xfrm>
            <a:off x="3422896" y="4590288"/>
            <a:ext cx="914400" cy="201168"/>
          </a:xfrm>
          <a:prstGeom prst="rect">
            <a:avLst/>
          </a:prstGeom>
          <a:noFill/>
        </p:spPr>
        <p:txBody>
          <a:bodyPr wrap="square" lIns="0" rIns="0" tIns="0" bIns="0" anchor="t">
            <a:spAutoFit/>
          </a:bodyPr>
          <a:lstStyle/>
          <a:p>
            <a:pPr algn="l">
              <a:lnSpc>
                <a:spcPct val="120000"/>
              </a:lnSpc>
            </a:pPr>
            <a:r>
              <a:rPr sz="960" b="1" i="0">
                <a:solidFill>
                  <a:srgbClr val="FFFFFF"/>
                </a:solidFill>
                <a:latin typeface="Arial"/>
              </a:rPr>
              <a:t>AI</a:t>
            </a:r>
          </a:p>
        </p:txBody>
      </p:sp>
      <p:sp>
        <p:nvSpPr>
          <p:cNvPr id="31" name="Rectangle 30"/>
          <p:cNvSpPr/>
          <p:nvPr/>
        </p:nvSpPr>
        <p:spPr>
          <a:xfrm>
            <a:off x="4291576" y="4617720"/>
            <a:ext cx="517442" cy="132588"/>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882170" y="4572000"/>
            <a:ext cx="731520" cy="201168"/>
          </a:xfrm>
          <a:prstGeom prst="rect">
            <a:avLst/>
          </a:prstGeom>
          <a:noFill/>
        </p:spPr>
        <p:txBody>
          <a:bodyPr wrap="square" lIns="0" rIns="0" tIns="0" bIns="0" anchor="t">
            <a:spAutoFit/>
          </a:bodyPr>
          <a:lstStyle/>
          <a:p>
            <a:pPr algn="l">
              <a:lnSpc>
                <a:spcPct val="120000"/>
              </a:lnSpc>
            </a:pPr>
            <a:r>
              <a:rPr sz="980" b="1" i="0">
                <a:solidFill>
                  <a:srgbClr val="FFFFFF"/>
                </a:solidFill>
                <a:latin typeface="Arial"/>
              </a:rPr>
              <a:t>13.7%</a:t>
            </a:r>
          </a:p>
        </p:txBody>
      </p:sp>
      <p:sp>
        <p:nvSpPr>
          <p:cNvPr id="33" name="TextBox 32"/>
          <p:cNvSpPr txBox="1"/>
          <p:nvPr/>
        </p:nvSpPr>
        <p:spPr>
          <a:xfrm>
            <a:off x="3422896" y="4974336"/>
            <a:ext cx="2563360" cy="365760"/>
          </a:xfrm>
          <a:prstGeom prst="rect">
            <a:avLst/>
          </a:prstGeom>
          <a:noFill/>
        </p:spPr>
        <p:txBody>
          <a:bodyPr wrap="square" lIns="0" rIns="0" tIns="0" bIns="0" anchor="t">
            <a:spAutoFit/>
          </a:bodyPr>
          <a:lstStyle/>
          <a:p>
            <a:pPr algn="l">
              <a:lnSpc>
                <a:spcPct val="120000"/>
              </a:lnSpc>
            </a:pPr>
            <a:r>
              <a:rPr sz="2500" b="1" i="0">
                <a:solidFill>
                  <a:srgbClr val="FFC20E"/>
                </a:solidFill>
                <a:latin typeface="Arial"/>
              </a:rPr>
              <a:t>0.72×</a:t>
            </a:r>
          </a:p>
        </p:txBody>
      </p:sp>
      <p:sp>
        <p:nvSpPr>
          <p:cNvPr id="34" name="TextBox 33"/>
          <p:cNvSpPr txBox="1"/>
          <p:nvPr/>
        </p:nvSpPr>
        <p:spPr>
          <a:xfrm>
            <a:off x="3422896" y="5431536"/>
            <a:ext cx="2471920" cy="914400"/>
          </a:xfrm>
          <a:prstGeom prst="rect">
            <a:avLst/>
          </a:prstGeom>
          <a:noFill/>
        </p:spPr>
        <p:txBody>
          <a:bodyPr wrap="square" lIns="0" rIns="0" tIns="0" bIns="0" anchor="t">
            <a:spAutoFit/>
          </a:bodyPr>
          <a:lstStyle/>
          <a:p>
            <a:pPr algn="l">
              <a:lnSpc>
                <a:spcPct val="134000"/>
              </a:lnSpc>
            </a:pPr>
            <a:r>
              <a:rPr sz="1000" b="0" i="0">
                <a:solidFill>
                  <a:srgbClr val="8695AC"/>
                </a:solidFill>
                <a:latin typeface="Arial"/>
              </a:rPr>
              <a:t>The closest block of the four. ASC Group on the lower back over-delivers; the three collar marks sit below their price.</a:t>
            </a:r>
          </a:p>
        </p:txBody>
      </p:sp>
      <p:sp>
        <p:nvSpPr>
          <p:cNvPr id="35" name="Rectangle 34"/>
          <p:cNvSpPr/>
          <p:nvPr/>
        </p:nvSpPr>
        <p:spPr>
          <a:xfrm>
            <a:off x="6205712" y="1755648"/>
            <a:ext cx="2563360" cy="45720"/>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205712" y="1956816"/>
            <a:ext cx="2563360" cy="274320"/>
          </a:xfrm>
          <a:prstGeom prst="rect">
            <a:avLst/>
          </a:prstGeom>
          <a:noFill/>
        </p:spPr>
        <p:txBody>
          <a:bodyPr wrap="square" lIns="0" rIns="0" tIns="0" bIns="0" anchor="t">
            <a:spAutoFit/>
          </a:bodyPr>
          <a:lstStyle/>
          <a:p>
            <a:pPr algn="l">
              <a:lnSpc>
                <a:spcPct val="114000"/>
              </a:lnSpc>
            </a:pPr>
            <a:r>
              <a:rPr sz="1450" b="1" i="0">
                <a:solidFill>
                  <a:srgbClr val="FFFFFF"/>
                </a:solidFill>
                <a:latin typeface="Arial"/>
              </a:rPr>
              <a:t>Sleeves</a:t>
            </a:r>
          </a:p>
        </p:txBody>
      </p:sp>
      <p:pic>
        <p:nvPicPr>
          <p:cNvPr id="37" name="Picture 36" descr="ev_sleeves.jpg"/>
          <p:cNvPicPr>
            <a:picLocks noChangeAspect="1"/>
          </p:cNvPicPr>
          <p:nvPr/>
        </p:nvPicPr>
        <p:blipFill>
          <a:blip r:embed="rId4"/>
          <a:srcRect t="22626" b="22626"/>
          <a:stretch>
            <a:fillRect/>
          </a:stretch>
        </p:blipFill>
        <p:spPr>
          <a:xfrm>
            <a:off x="6205712" y="2432304"/>
            <a:ext cx="2563360" cy="1481328"/>
          </a:xfrm>
          <a:prstGeom prst="rect">
            <a:avLst/>
          </a:prstGeom>
        </p:spPr>
      </p:pic>
      <p:sp>
        <p:nvSpPr>
          <p:cNvPr id="38" name="Rectangle 37"/>
          <p:cNvSpPr/>
          <p:nvPr/>
        </p:nvSpPr>
        <p:spPr>
          <a:xfrm>
            <a:off x="6205712" y="2432304"/>
            <a:ext cx="2563360" cy="1481328"/>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205712" y="3968496"/>
            <a:ext cx="2563360" cy="201168"/>
          </a:xfrm>
          <a:prstGeom prst="rect">
            <a:avLst/>
          </a:prstGeom>
          <a:noFill/>
        </p:spPr>
        <p:txBody>
          <a:bodyPr wrap="square" lIns="0" rIns="0" tIns="0" bIns="0" anchor="t">
            <a:spAutoFit/>
          </a:bodyPr>
          <a:lstStyle/>
          <a:p>
            <a:pPr algn="l">
              <a:lnSpc>
                <a:spcPct val="120000"/>
              </a:lnSpc>
            </a:pPr>
            <a:r>
              <a:rPr sz="860" b="0" i="0">
                <a:solidFill>
                  <a:srgbClr val="56657C"/>
                </a:solidFill>
                <a:latin typeface="Arial"/>
              </a:rPr>
              <a:t>ATM Hospitality · conf 0.71</a:t>
            </a:r>
          </a:p>
        </p:txBody>
      </p:sp>
      <p:sp>
        <p:nvSpPr>
          <p:cNvPr id="40" name="TextBox 39"/>
          <p:cNvSpPr txBox="1"/>
          <p:nvPr/>
        </p:nvSpPr>
        <p:spPr>
          <a:xfrm>
            <a:off x="6205712" y="4279392"/>
            <a:ext cx="914400" cy="201168"/>
          </a:xfrm>
          <a:prstGeom prst="rect">
            <a:avLst/>
          </a:prstGeom>
          <a:noFill/>
        </p:spPr>
        <p:txBody>
          <a:bodyPr wrap="square" lIns="0" rIns="0" tIns="0" bIns="0" anchor="t">
            <a:spAutoFit/>
          </a:bodyPr>
          <a:lstStyle/>
          <a:p>
            <a:pPr algn="l">
              <a:lnSpc>
                <a:spcPct val="120000"/>
              </a:lnSpc>
            </a:pPr>
            <a:r>
              <a:rPr sz="960" b="1" i="0">
                <a:solidFill>
                  <a:srgbClr val="8695AC"/>
                </a:solidFill>
                <a:latin typeface="Arial"/>
              </a:rPr>
              <a:t>Manual</a:t>
            </a:r>
          </a:p>
        </p:txBody>
      </p:sp>
      <p:sp>
        <p:nvSpPr>
          <p:cNvPr id="41" name="Rectangle 40"/>
          <p:cNvSpPr/>
          <p:nvPr/>
        </p:nvSpPr>
        <p:spPr>
          <a:xfrm>
            <a:off x="7074392" y="4306824"/>
            <a:ext cx="715531" cy="132588"/>
          </a:xfrm>
          <a:prstGeom prst="rect">
            <a:avLst/>
          </a:prstGeom>
          <a:solidFill>
            <a:srgbClr val="7C8A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863076" y="4261104"/>
            <a:ext cx="731520" cy="201168"/>
          </a:xfrm>
          <a:prstGeom prst="rect">
            <a:avLst/>
          </a:prstGeom>
          <a:noFill/>
        </p:spPr>
        <p:txBody>
          <a:bodyPr wrap="square" lIns="0" rIns="0" tIns="0" bIns="0" anchor="t">
            <a:spAutoFit/>
          </a:bodyPr>
          <a:lstStyle/>
          <a:p>
            <a:pPr algn="l">
              <a:lnSpc>
                <a:spcPct val="120000"/>
              </a:lnSpc>
            </a:pPr>
            <a:r>
              <a:rPr sz="980" b="0" i="0">
                <a:solidFill>
                  <a:srgbClr val="8695AC"/>
                </a:solidFill>
                <a:latin typeface="Arial"/>
              </a:rPr>
              <a:t>19%</a:t>
            </a:r>
          </a:p>
        </p:txBody>
      </p:sp>
      <p:sp>
        <p:nvSpPr>
          <p:cNvPr id="43" name="TextBox 42"/>
          <p:cNvSpPr txBox="1"/>
          <p:nvPr/>
        </p:nvSpPr>
        <p:spPr>
          <a:xfrm>
            <a:off x="6205712" y="4590288"/>
            <a:ext cx="914400" cy="201168"/>
          </a:xfrm>
          <a:prstGeom prst="rect">
            <a:avLst/>
          </a:prstGeom>
          <a:noFill/>
        </p:spPr>
        <p:txBody>
          <a:bodyPr wrap="square" lIns="0" rIns="0" tIns="0" bIns="0" anchor="t">
            <a:spAutoFit/>
          </a:bodyPr>
          <a:lstStyle/>
          <a:p>
            <a:pPr algn="l">
              <a:lnSpc>
                <a:spcPct val="120000"/>
              </a:lnSpc>
            </a:pPr>
            <a:r>
              <a:rPr sz="960" b="1" i="0">
                <a:solidFill>
                  <a:srgbClr val="FFFFFF"/>
                </a:solidFill>
                <a:latin typeface="Arial"/>
              </a:rPr>
              <a:t>AI</a:t>
            </a:r>
          </a:p>
        </p:txBody>
      </p:sp>
      <p:sp>
        <p:nvSpPr>
          <p:cNvPr id="44" name="Rectangle 43"/>
          <p:cNvSpPr/>
          <p:nvPr/>
        </p:nvSpPr>
        <p:spPr>
          <a:xfrm>
            <a:off x="7074392" y="4617720"/>
            <a:ext cx="813069" cy="132588"/>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960614" y="4572000"/>
            <a:ext cx="731520" cy="201168"/>
          </a:xfrm>
          <a:prstGeom prst="rect">
            <a:avLst/>
          </a:prstGeom>
          <a:noFill/>
        </p:spPr>
        <p:txBody>
          <a:bodyPr wrap="square" lIns="0" rIns="0" tIns="0" bIns="0" anchor="t">
            <a:spAutoFit/>
          </a:bodyPr>
          <a:lstStyle/>
          <a:p>
            <a:pPr algn="l">
              <a:lnSpc>
                <a:spcPct val="120000"/>
              </a:lnSpc>
            </a:pPr>
            <a:r>
              <a:rPr sz="980" b="1" i="0">
                <a:solidFill>
                  <a:srgbClr val="FFFFFF"/>
                </a:solidFill>
                <a:latin typeface="Arial"/>
              </a:rPr>
              <a:t>21.6%</a:t>
            </a:r>
          </a:p>
        </p:txBody>
      </p:sp>
      <p:sp>
        <p:nvSpPr>
          <p:cNvPr id="46" name="TextBox 45"/>
          <p:cNvSpPr txBox="1"/>
          <p:nvPr/>
        </p:nvSpPr>
        <p:spPr>
          <a:xfrm>
            <a:off x="6205712" y="4974336"/>
            <a:ext cx="2563360" cy="365760"/>
          </a:xfrm>
          <a:prstGeom prst="rect">
            <a:avLst/>
          </a:prstGeom>
          <a:noFill/>
        </p:spPr>
        <p:txBody>
          <a:bodyPr wrap="square" lIns="0" rIns="0" tIns="0" bIns="0" anchor="t">
            <a:spAutoFit/>
          </a:bodyPr>
          <a:lstStyle/>
          <a:p>
            <a:pPr algn="l">
              <a:lnSpc>
                <a:spcPct val="120000"/>
              </a:lnSpc>
            </a:pPr>
            <a:r>
              <a:rPr sz="2500" b="1" i="0">
                <a:solidFill>
                  <a:srgbClr val="25C787"/>
                </a:solidFill>
                <a:latin typeface="Arial"/>
              </a:rPr>
              <a:t>1.14×</a:t>
            </a:r>
          </a:p>
        </p:txBody>
      </p:sp>
      <p:sp>
        <p:nvSpPr>
          <p:cNvPr id="47" name="TextBox 46"/>
          <p:cNvSpPr txBox="1"/>
          <p:nvPr/>
        </p:nvSpPr>
        <p:spPr>
          <a:xfrm>
            <a:off x="6205712" y="5431536"/>
            <a:ext cx="2471920" cy="914400"/>
          </a:xfrm>
          <a:prstGeom prst="rect">
            <a:avLst/>
          </a:prstGeom>
          <a:noFill/>
        </p:spPr>
        <p:txBody>
          <a:bodyPr wrap="square" lIns="0" rIns="0" tIns="0" bIns="0" anchor="t">
            <a:spAutoFit/>
          </a:bodyPr>
          <a:lstStyle/>
          <a:p>
            <a:pPr algn="l">
              <a:lnSpc>
                <a:spcPct val="134000"/>
              </a:lnSpc>
            </a:pPr>
            <a:r>
              <a:rPr sz="1000" b="0" i="0">
                <a:solidFill>
                  <a:srgbClr val="8695AC"/>
                </a:solidFill>
                <a:latin typeface="Arial"/>
              </a:rPr>
              <a:t>Matches at block level and splits violently inside it: Bartercard 13.6% on 4%, ATM Hospitality 2.2% on 11%.</a:t>
            </a:r>
          </a:p>
        </p:txBody>
      </p:sp>
      <p:sp>
        <p:nvSpPr>
          <p:cNvPr id="48" name="Rectangle 47"/>
          <p:cNvSpPr/>
          <p:nvPr/>
        </p:nvSpPr>
        <p:spPr>
          <a:xfrm>
            <a:off x="8988529" y="1755648"/>
            <a:ext cx="2563360" cy="4572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8988529" y="1956816"/>
            <a:ext cx="2563360" cy="274320"/>
          </a:xfrm>
          <a:prstGeom prst="rect">
            <a:avLst/>
          </a:prstGeom>
          <a:noFill/>
        </p:spPr>
        <p:txBody>
          <a:bodyPr wrap="square" lIns="0" rIns="0" tIns="0" bIns="0" anchor="t">
            <a:spAutoFit/>
          </a:bodyPr>
          <a:lstStyle/>
          <a:p>
            <a:pPr algn="l">
              <a:lnSpc>
                <a:spcPct val="114000"/>
              </a:lnSpc>
            </a:pPr>
            <a:r>
              <a:rPr sz="1450" b="1" i="0">
                <a:solidFill>
                  <a:srgbClr val="FFFFFF"/>
                </a:solidFill>
                <a:latin typeface="Arial"/>
              </a:rPr>
              <a:t>Shorts</a:t>
            </a:r>
          </a:p>
        </p:txBody>
      </p:sp>
      <p:pic>
        <p:nvPicPr>
          <p:cNvPr id="50" name="Picture 49" descr="ev_shorts.jpg"/>
          <p:cNvPicPr>
            <a:picLocks noChangeAspect="1"/>
          </p:cNvPicPr>
          <p:nvPr/>
        </p:nvPicPr>
        <p:blipFill>
          <a:blip r:embed="rId5"/>
          <a:srcRect t="22626" b="22626"/>
          <a:stretch>
            <a:fillRect/>
          </a:stretch>
        </p:blipFill>
        <p:spPr>
          <a:xfrm>
            <a:off x="8988529" y="2432304"/>
            <a:ext cx="2563360" cy="1481328"/>
          </a:xfrm>
          <a:prstGeom prst="rect">
            <a:avLst/>
          </a:prstGeom>
        </p:spPr>
      </p:pic>
      <p:sp>
        <p:nvSpPr>
          <p:cNvPr id="51" name="Rectangle 50"/>
          <p:cNvSpPr/>
          <p:nvPr/>
        </p:nvSpPr>
        <p:spPr>
          <a:xfrm>
            <a:off x="8988529" y="2432304"/>
            <a:ext cx="2563360" cy="1481328"/>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8988529" y="3968496"/>
            <a:ext cx="2563360" cy="201168"/>
          </a:xfrm>
          <a:prstGeom prst="rect">
            <a:avLst/>
          </a:prstGeom>
          <a:noFill/>
        </p:spPr>
        <p:txBody>
          <a:bodyPr wrap="square" lIns="0" rIns="0" tIns="0" bIns="0" anchor="t">
            <a:spAutoFit/>
          </a:bodyPr>
          <a:lstStyle/>
          <a:p>
            <a:pPr algn="l">
              <a:lnSpc>
                <a:spcPct val="120000"/>
              </a:lnSpc>
            </a:pPr>
            <a:r>
              <a:rPr sz="860" b="0" i="0">
                <a:solidFill>
                  <a:srgbClr val="56657C"/>
                </a:solidFill>
                <a:latin typeface="Arial"/>
              </a:rPr>
              <a:t>KLG · conf 0.81</a:t>
            </a:r>
          </a:p>
        </p:txBody>
      </p:sp>
      <p:sp>
        <p:nvSpPr>
          <p:cNvPr id="53" name="TextBox 52"/>
          <p:cNvSpPr txBox="1"/>
          <p:nvPr/>
        </p:nvSpPr>
        <p:spPr>
          <a:xfrm>
            <a:off x="8988529" y="4279392"/>
            <a:ext cx="914400" cy="201168"/>
          </a:xfrm>
          <a:prstGeom prst="rect">
            <a:avLst/>
          </a:prstGeom>
          <a:noFill/>
        </p:spPr>
        <p:txBody>
          <a:bodyPr wrap="square" lIns="0" rIns="0" tIns="0" bIns="0" anchor="t">
            <a:spAutoFit/>
          </a:bodyPr>
          <a:lstStyle/>
          <a:p>
            <a:pPr algn="l">
              <a:lnSpc>
                <a:spcPct val="120000"/>
              </a:lnSpc>
            </a:pPr>
            <a:r>
              <a:rPr sz="960" b="1" i="0">
                <a:solidFill>
                  <a:srgbClr val="8695AC"/>
                </a:solidFill>
                <a:latin typeface="Arial"/>
              </a:rPr>
              <a:t>Manual</a:t>
            </a:r>
          </a:p>
        </p:txBody>
      </p:sp>
      <p:sp>
        <p:nvSpPr>
          <p:cNvPr id="54" name="Rectangle 53"/>
          <p:cNvSpPr/>
          <p:nvPr/>
        </p:nvSpPr>
        <p:spPr>
          <a:xfrm>
            <a:off x="9857209" y="4306824"/>
            <a:ext cx="527233" cy="132588"/>
          </a:xfrm>
          <a:prstGeom prst="rect">
            <a:avLst/>
          </a:prstGeom>
          <a:solidFill>
            <a:srgbClr val="7C8A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10457595" y="4261104"/>
            <a:ext cx="731520" cy="201168"/>
          </a:xfrm>
          <a:prstGeom prst="rect">
            <a:avLst/>
          </a:prstGeom>
          <a:noFill/>
        </p:spPr>
        <p:txBody>
          <a:bodyPr wrap="square" lIns="0" rIns="0" tIns="0" bIns="0" anchor="t">
            <a:spAutoFit/>
          </a:bodyPr>
          <a:lstStyle/>
          <a:p>
            <a:pPr algn="l">
              <a:lnSpc>
                <a:spcPct val="120000"/>
              </a:lnSpc>
            </a:pPr>
            <a:r>
              <a:rPr sz="980" b="0" i="0">
                <a:solidFill>
                  <a:srgbClr val="8695AC"/>
                </a:solidFill>
                <a:latin typeface="Arial"/>
              </a:rPr>
              <a:t>14%</a:t>
            </a:r>
          </a:p>
        </p:txBody>
      </p:sp>
      <p:sp>
        <p:nvSpPr>
          <p:cNvPr id="56" name="TextBox 55"/>
          <p:cNvSpPr txBox="1"/>
          <p:nvPr/>
        </p:nvSpPr>
        <p:spPr>
          <a:xfrm>
            <a:off x="8988529" y="4590288"/>
            <a:ext cx="914400" cy="201168"/>
          </a:xfrm>
          <a:prstGeom prst="rect">
            <a:avLst/>
          </a:prstGeom>
          <a:noFill/>
        </p:spPr>
        <p:txBody>
          <a:bodyPr wrap="square" lIns="0" rIns="0" tIns="0" bIns="0" anchor="t">
            <a:spAutoFit/>
          </a:bodyPr>
          <a:lstStyle/>
          <a:p>
            <a:pPr algn="l">
              <a:lnSpc>
                <a:spcPct val="120000"/>
              </a:lnSpc>
            </a:pPr>
            <a:r>
              <a:rPr sz="960" b="1" i="0">
                <a:solidFill>
                  <a:srgbClr val="FFFFFF"/>
                </a:solidFill>
                <a:latin typeface="Arial"/>
              </a:rPr>
              <a:t>AI</a:t>
            </a:r>
          </a:p>
        </p:txBody>
      </p:sp>
      <p:sp>
        <p:nvSpPr>
          <p:cNvPr id="57" name="Rectangle 56"/>
          <p:cNvSpPr/>
          <p:nvPr/>
        </p:nvSpPr>
        <p:spPr>
          <a:xfrm>
            <a:off x="9857209" y="4617720"/>
            <a:ext cx="1621244" cy="13258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11551605" y="4572000"/>
            <a:ext cx="731520" cy="201168"/>
          </a:xfrm>
          <a:prstGeom prst="rect">
            <a:avLst/>
          </a:prstGeom>
          <a:noFill/>
        </p:spPr>
        <p:txBody>
          <a:bodyPr wrap="square" lIns="0" rIns="0" tIns="0" bIns="0" anchor="t">
            <a:spAutoFit/>
          </a:bodyPr>
          <a:lstStyle/>
          <a:p>
            <a:pPr algn="l">
              <a:lnSpc>
                <a:spcPct val="120000"/>
              </a:lnSpc>
            </a:pPr>
            <a:r>
              <a:rPr sz="980" b="1" i="0">
                <a:solidFill>
                  <a:srgbClr val="FFFFFF"/>
                </a:solidFill>
                <a:latin typeface="Arial"/>
              </a:rPr>
              <a:t>43.0%</a:t>
            </a:r>
          </a:p>
        </p:txBody>
      </p:sp>
      <p:sp>
        <p:nvSpPr>
          <p:cNvPr id="59" name="TextBox 58"/>
          <p:cNvSpPr txBox="1"/>
          <p:nvPr/>
        </p:nvSpPr>
        <p:spPr>
          <a:xfrm>
            <a:off x="8988529" y="4974336"/>
            <a:ext cx="2563360" cy="365760"/>
          </a:xfrm>
          <a:prstGeom prst="rect">
            <a:avLst/>
          </a:prstGeom>
          <a:noFill/>
        </p:spPr>
        <p:txBody>
          <a:bodyPr wrap="square" lIns="0" rIns="0" tIns="0" bIns="0" anchor="t">
            <a:spAutoFit/>
          </a:bodyPr>
          <a:lstStyle/>
          <a:p>
            <a:pPr algn="l">
              <a:lnSpc>
                <a:spcPct val="120000"/>
              </a:lnSpc>
            </a:pPr>
            <a:r>
              <a:rPr sz="2500" b="1" i="0">
                <a:solidFill>
                  <a:srgbClr val="E4002B"/>
                </a:solidFill>
                <a:latin typeface="Arial"/>
              </a:rPr>
              <a:t>3.07×</a:t>
            </a:r>
          </a:p>
        </p:txBody>
      </p:sp>
      <p:sp>
        <p:nvSpPr>
          <p:cNvPr id="60" name="TextBox 59"/>
          <p:cNvSpPr txBox="1"/>
          <p:nvPr/>
        </p:nvSpPr>
        <p:spPr>
          <a:xfrm>
            <a:off x="8988529" y="5431536"/>
            <a:ext cx="2471920" cy="914400"/>
          </a:xfrm>
          <a:prstGeom prst="rect">
            <a:avLst/>
          </a:prstGeom>
          <a:noFill/>
        </p:spPr>
        <p:txBody>
          <a:bodyPr wrap="square" lIns="0" rIns="0" tIns="0" bIns="0" anchor="t">
            <a:spAutoFit/>
          </a:bodyPr>
          <a:lstStyle/>
          <a:p>
            <a:pPr algn="l">
              <a:lnSpc>
                <a:spcPct val="134000"/>
              </a:lnSpc>
            </a:pPr>
            <a:r>
              <a:rPr sz="1000" b="0" i="0">
                <a:solidFill>
                  <a:srgbClr val="8695AC"/>
                </a:solidFill>
                <a:latin typeface="Arial"/>
              </a:rPr>
              <a:t>The strongest signal in the analysis. All four positions over-deliver and KLG is the single most-seen mark on the kit.</a:t>
            </a:r>
          </a:p>
        </p:txBody>
      </p:sp>
      <p:sp>
        <p:nvSpPr>
          <p:cNvPr id="61" name="TextBox 60"/>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Manual = current club allocation for the whole area. AI = mean measured visibility share across the two matches. Bars share a common 0–45% scale.</a:t>
            </a:r>
          </a:p>
        </p:txBody>
      </p:sp>
      <p:sp>
        <p:nvSpPr>
          <p:cNvPr id="62" name="TextBox 61"/>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54609" y="384048"/>
            <a:ext cx="1280160" cy="640080"/>
          </a:xfrm>
          <a:prstGeom prst="rect">
            <a:avLst/>
          </a:prstGeom>
          <a:noFill/>
        </p:spPr>
        <p:txBody>
          <a:bodyPr wrap="square" lIns="0" rIns="0" tIns="0" bIns="0" anchor="t">
            <a:spAutoFit/>
          </a:bodyPr>
          <a:lstStyle/>
          <a:p>
            <a:pPr algn="r">
              <a:lnSpc>
                <a:spcPct val="90000"/>
              </a:lnSpc>
            </a:pPr>
            <a:r>
              <a:rPr sz="4600" b="1" i="0">
                <a:solidFill>
                  <a:srgbClr val="18222F"/>
                </a:solidFill>
                <a:latin typeface="Arial"/>
              </a:rPr>
              <a:t>04</a:t>
            </a:r>
          </a:p>
        </p:txBody>
      </p:sp>
      <p:sp>
        <p:nvSpPr>
          <p:cNvPr id="6" name="Freeform 5"/>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FINDING FOUR</a:t>
            </a:r>
          </a:p>
        </p:txBody>
      </p:sp>
      <p:sp>
        <p:nvSpPr>
          <p:cNvPr id="8" name="TextBox 7"/>
          <p:cNvSpPr txBox="1"/>
          <p:nvPr/>
        </p:nvSpPr>
        <p:spPr>
          <a:xfrm>
            <a:off x="640080" y="786384"/>
            <a:ext cx="8229600" cy="914400"/>
          </a:xfrm>
          <a:prstGeom prst="rect">
            <a:avLst/>
          </a:prstGeom>
          <a:noFill/>
        </p:spPr>
        <p:txBody>
          <a:bodyPr wrap="square" lIns="0" rIns="0" tIns="0" bIns="0" anchor="t">
            <a:spAutoFit/>
          </a:bodyPr>
          <a:lstStyle/>
          <a:p>
            <a:pPr algn="l">
              <a:lnSpc>
                <a:spcPct val="102000"/>
              </a:lnSpc>
            </a:pPr>
            <a:r>
              <a:rPr sz="3000" b="1" i="0">
                <a:solidFill>
                  <a:srgbClr val="FFFFFF"/>
                </a:solidFill>
                <a:latin typeface="Arial"/>
              </a:rPr>
              <a:t>Exposure lands where the contact is</a:t>
            </a:r>
          </a:p>
        </p:txBody>
      </p:sp>
      <p:sp>
        <p:nvSpPr>
          <p:cNvPr id="9" name="TextBox 8"/>
          <p:cNvSpPr txBox="1"/>
          <p:nvPr/>
        </p:nvSpPr>
        <p:spPr>
          <a:xfrm>
            <a:off x="640080" y="1664208"/>
            <a:ext cx="8595360"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Heat shows where the retained sponsor marks actually sat on the television picture. It is screen position, not pitch position.</a:t>
            </a:r>
          </a:p>
        </p:txBody>
      </p:sp>
      <p:pic>
        <p:nvPicPr>
          <p:cNvPr id="10" name="Picture 9" descr="hm_tackle.jpg"/>
          <p:cNvPicPr>
            <a:picLocks noChangeAspect="1"/>
          </p:cNvPicPr>
          <p:nvPr/>
        </p:nvPicPr>
        <p:blipFill>
          <a:blip r:embed="rId2"/>
          <a:srcRect t="41" b="41"/>
          <a:stretch>
            <a:fillRect/>
          </a:stretch>
        </p:blipFill>
        <p:spPr>
          <a:xfrm>
            <a:off x="640080" y="2249424"/>
            <a:ext cx="5010912" cy="2816352"/>
          </a:xfrm>
          <a:prstGeom prst="rect">
            <a:avLst/>
          </a:prstGeom>
        </p:spPr>
      </p:pic>
      <p:sp>
        <p:nvSpPr>
          <p:cNvPr id="11" name="Rectangle 10"/>
          <p:cNvSpPr/>
          <p:nvPr/>
        </p:nvSpPr>
        <p:spPr>
          <a:xfrm>
            <a:off x="640080" y="2249424"/>
            <a:ext cx="5010912" cy="2816352"/>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0080" y="5175504"/>
            <a:ext cx="5010912" cy="237744"/>
          </a:xfrm>
          <a:prstGeom prst="rect">
            <a:avLst/>
          </a:prstGeom>
          <a:noFill/>
        </p:spPr>
        <p:txBody>
          <a:bodyPr wrap="square" lIns="0" rIns="0" tIns="0" bIns="0" anchor="t">
            <a:spAutoFit/>
          </a:bodyPr>
          <a:lstStyle/>
          <a:p>
            <a:pPr algn="l">
              <a:lnSpc>
                <a:spcPct val="120000"/>
              </a:lnSpc>
            </a:pPr>
            <a:r>
              <a:rPr sz="1250" b="1" i="0">
                <a:solidFill>
                  <a:srgbClr val="FFFFFF"/>
                </a:solidFill>
                <a:latin typeface="Arial"/>
              </a:rPr>
              <a:t>Close and contact play</a:t>
            </a:r>
          </a:p>
        </p:txBody>
      </p:sp>
      <p:sp>
        <p:nvSpPr>
          <p:cNvPr id="13" name="TextBox 12"/>
          <p:cNvSpPr txBox="1"/>
          <p:nvPr/>
        </p:nvSpPr>
        <p:spPr>
          <a:xfrm>
            <a:off x="640080" y="5449824"/>
            <a:ext cx="4937760" cy="640080"/>
          </a:xfrm>
          <a:prstGeom prst="rect">
            <a:avLst/>
          </a:prstGeom>
          <a:noFill/>
        </p:spPr>
        <p:txBody>
          <a:bodyPr wrap="square" lIns="0" rIns="0" tIns="0" bIns="0" anchor="t">
            <a:spAutoFit/>
          </a:bodyPr>
          <a:lstStyle/>
          <a:p>
            <a:pPr algn="l">
              <a:lnSpc>
                <a:spcPct val="134000"/>
              </a:lnSpc>
            </a:pPr>
            <a:r>
              <a:rPr sz="1060" b="0" i="0">
                <a:solidFill>
                  <a:srgbClr val="8695AC"/>
                </a:solidFill>
                <a:latin typeface="Arial"/>
              </a:rPr>
              <a:t>Marks concentrate centre-right at roughly waist height. Shorts and lower-back positions sit exactly there.</a:t>
            </a:r>
          </a:p>
        </p:txBody>
      </p:sp>
      <p:pic>
        <p:nvPicPr>
          <p:cNvPr id="14" name="Picture 13" descr="hm_wide.jpg"/>
          <p:cNvPicPr>
            <a:picLocks noChangeAspect="1"/>
          </p:cNvPicPr>
          <p:nvPr/>
        </p:nvPicPr>
        <p:blipFill>
          <a:blip r:embed="rId3"/>
          <a:srcRect t="41" b="41"/>
          <a:stretch>
            <a:fillRect/>
          </a:stretch>
        </p:blipFill>
        <p:spPr>
          <a:xfrm>
            <a:off x="5852160" y="2249424"/>
            <a:ext cx="5010912" cy="2816352"/>
          </a:xfrm>
          <a:prstGeom prst="rect">
            <a:avLst/>
          </a:prstGeom>
        </p:spPr>
      </p:pic>
      <p:sp>
        <p:nvSpPr>
          <p:cNvPr id="15" name="Rectangle 14"/>
          <p:cNvSpPr/>
          <p:nvPr/>
        </p:nvSpPr>
        <p:spPr>
          <a:xfrm>
            <a:off x="5852160" y="2249424"/>
            <a:ext cx="5010912" cy="2816352"/>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852160" y="5175504"/>
            <a:ext cx="5010912" cy="237744"/>
          </a:xfrm>
          <a:prstGeom prst="rect">
            <a:avLst/>
          </a:prstGeom>
          <a:noFill/>
        </p:spPr>
        <p:txBody>
          <a:bodyPr wrap="square" lIns="0" rIns="0" tIns="0" bIns="0" anchor="t">
            <a:spAutoFit/>
          </a:bodyPr>
          <a:lstStyle/>
          <a:p>
            <a:pPr algn="l">
              <a:lnSpc>
                <a:spcPct val="120000"/>
              </a:lnSpc>
            </a:pPr>
            <a:r>
              <a:rPr sz="1250" b="1" i="0">
                <a:solidFill>
                  <a:srgbClr val="FFFFFF"/>
                </a:solidFill>
                <a:latin typeface="Arial"/>
              </a:rPr>
              <a:t>Wide tactical play</a:t>
            </a:r>
          </a:p>
        </p:txBody>
      </p:sp>
      <p:sp>
        <p:nvSpPr>
          <p:cNvPr id="17" name="TextBox 16"/>
          <p:cNvSpPr txBox="1"/>
          <p:nvPr/>
        </p:nvSpPr>
        <p:spPr>
          <a:xfrm>
            <a:off x="5852160" y="5449824"/>
            <a:ext cx="4937760" cy="640080"/>
          </a:xfrm>
          <a:prstGeom prst="rect">
            <a:avLst/>
          </a:prstGeom>
          <a:noFill/>
        </p:spPr>
        <p:txBody>
          <a:bodyPr wrap="square" lIns="0" rIns="0" tIns="0" bIns="0" anchor="t">
            <a:spAutoFit/>
          </a:bodyPr>
          <a:lstStyle/>
          <a:p>
            <a:pPr algn="l">
              <a:lnSpc>
                <a:spcPct val="134000"/>
              </a:lnSpc>
            </a:pPr>
            <a:r>
              <a:rPr sz="1060" b="0" i="0">
                <a:solidFill>
                  <a:srgbClr val="8695AC"/>
                </a:solidFill>
                <a:latin typeface="Arial"/>
              </a:rPr>
              <a:t>Exposure spreads, weakens and drifts to the edge of frame, where the position weighting cuts its value.</a:t>
            </a:r>
          </a:p>
        </p:txBody>
      </p:sp>
      <p:sp>
        <p:nvSpPr>
          <p:cNvPr id="18" name="TextBox 17"/>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Relative intensity of retained logo detections in screen space, from two representative passages of the analysed footage.</a:t>
            </a:r>
          </a:p>
        </p:txBody>
      </p:sp>
      <p:sp>
        <p:nvSpPr>
          <p:cNvPr id="19" name="TextBox 18"/>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MODEL PERFORMANCE</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How accurate is the detector?</a:t>
            </a:r>
          </a:p>
        </p:txBody>
      </p:sp>
      <p:sp>
        <p:nvSpPr>
          <p:cNvPr id="8" name="TextBox 7"/>
          <p:cNvSpPr txBox="1"/>
          <p:nvPr/>
        </p:nvSpPr>
        <p:spPr>
          <a:xfrm>
            <a:off x="640080" y="1700784"/>
            <a:ext cx="8947683"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Measured on three complete matches the model had never seen, against hand-annotated ground truth.</a:t>
            </a:r>
          </a:p>
        </p:txBody>
      </p:sp>
      <p:pic>
        <p:nvPicPr>
          <p:cNvPr id="9" name="Picture 8" descr="h_accuracy.png"/>
          <p:cNvPicPr>
            <a:picLocks noChangeAspect="1"/>
          </p:cNvPicPr>
          <p:nvPr/>
        </p:nvPicPr>
        <p:blipFill>
          <a:blip r:embed="rId2"/>
          <a:stretch>
            <a:fillRect/>
          </a:stretch>
        </p:blipFill>
        <p:spPr>
          <a:xfrm>
            <a:off x="548640" y="2194560"/>
            <a:ext cx="4846320" cy="2954749"/>
          </a:xfrm>
          <a:prstGeom prst="rect">
            <a:avLst/>
          </a:prstGeom>
        </p:spPr>
      </p:pic>
      <p:sp>
        <p:nvSpPr>
          <p:cNvPr id="10" name="TextBox 9"/>
          <p:cNvSpPr txBox="1"/>
          <p:nvPr/>
        </p:nvSpPr>
        <p:spPr>
          <a:xfrm>
            <a:off x="640080" y="5138928"/>
            <a:ext cx="4754880" cy="457200"/>
          </a:xfrm>
          <a:prstGeom prst="rect">
            <a:avLst/>
          </a:prstGeom>
          <a:noFill/>
        </p:spPr>
        <p:txBody>
          <a:bodyPr wrap="square" lIns="0" rIns="0" tIns="0" bIns="0" anchor="t">
            <a:spAutoFit/>
          </a:bodyPr>
          <a:lstStyle/>
          <a:p>
            <a:pPr algn="l">
              <a:lnSpc>
                <a:spcPct val="130000"/>
              </a:lnSpc>
            </a:pPr>
            <a:r>
              <a:rPr sz="1019" b="0" i="0">
                <a:solidFill>
                  <a:srgbClr val="8695AC"/>
                </a:solidFill>
                <a:latin typeface="Arial"/>
              </a:rPr>
              <a:t>The deployed detector against the strongest conventional baseline trained on identical data, scored by one evaluator on the same held-out images.</a:t>
            </a:r>
          </a:p>
        </p:txBody>
      </p:sp>
      <p:pic>
        <p:nvPicPr>
          <p:cNvPr id="11" name="Picture 10" descr="h_camera.png"/>
          <p:cNvPicPr>
            <a:picLocks noChangeAspect="1"/>
          </p:cNvPicPr>
          <p:nvPr/>
        </p:nvPicPr>
        <p:blipFill>
          <a:blip r:embed="rId3"/>
          <a:stretch>
            <a:fillRect/>
          </a:stretch>
        </p:blipFill>
        <p:spPr>
          <a:xfrm>
            <a:off x="5815584" y="2194560"/>
            <a:ext cx="3520440" cy="2602402"/>
          </a:xfrm>
          <a:prstGeom prst="rect">
            <a:avLst/>
          </a:prstGeom>
        </p:spPr>
      </p:pic>
      <p:sp>
        <p:nvSpPr>
          <p:cNvPr id="12" name="TextBox 11"/>
          <p:cNvSpPr txBox="1"/>
          <p:nvPr/>
        </p:nvSpPr>
        <p:spPr>
          <a:xfrm>
            <a:off x="5815584" y="5138928"/>
            <a:ext cx="3566160" cy="640080"/>
          </a:xfrm>
          <a:prstGeom prst="rect">
            <a:avLst/>
          </a:prstGeom>
          <a:noFill/>
        </p:spPr>
        <p:txBody>
          <a:bodyPr wrap="square" lIns="0" rIns="0" tIns="0" bIns="0" anchor="t">
            <a:spAutoFit/>
          </a:bodyPr>
          <a:lstStyle/>
          <a:p>
            <a:pPr algn="l">
              <a:lnSpc>
                <a:spcPct val="130000"/>
              </a:lnSpc>
            </a:pPr>
            <a:r>
              <a:rPr sz="1019" b="0" i="0">
                <a:solidFill>
                  <a:srgbClr val="8695AC"/>
                </a:solidFill>
                <a:latin typeface="Arial"/>
              </a:rPr>
              <a:t>The weakness worth declaring: on wide shots the model finds only half the marks. It rarely invents them — it misses them, so the exposure figures run conservative.</a:t>
            </a:r>
          </a:p>
        </p:txBody>
      </p:sp>
      <p:sp>
        <p:nvSpPr>
          <p:cNvPr id="13" name="Rectangle 12"/>
          <p:cNvSpPr/>
          <p:nvPr/>
        </p:nvSpPr>
        <p:spPr>
          <a:xfrm>
            <a:off x="9528048" y="2194560"/>
            <a:ext cx="310896" cy="36576"/>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28048" y="2359152"/>
            <a:ext cx="2286000" cy="201168"/>
          </a:xfrm>
          <a:prstGeom prst="rect">
            <a:avLst/>
          </a:prstGeom>
          <a:noFill/>
        </p:spPr>
        <p:txBody>
          <a:bodyPr wrap="square" lIns="0" rIns="0" tIns="0" bIns="0" anchor="t">
            <a:spAutoFit/>
          </a:bodyPr>
          <a:lstStyle/>
          <a:p>
            <a:pPr algn="l">
              <a:lnSpc>
                <a:spcPct val="120000"/>
              </a:lnSpc>
            </a:pPr>
            <a:r>
              <a:rPr sz="919" b="1" i="0" spc="140">
                <a:solidFill>
                  <a:srgbClr val="8695AC"/>
                </a:solidFill>
                <a:latin typeface="Arial"/>
              </a:rPr>
              <a:t>UNSEEN MATCHES</a:t>
            </a:r>
          </a:p>
        </p:txBody>
      </p:sp>
      <p:sp>
        <p:nvSpPr>
          <p:cNvPr id="15" name="TextBox 14"/>
          <p:cNvSpPr txBox="1"/>
          <p:nvPr/>
        </p:nvSpPr>
        <p:spPr>
          <a:xfrm>
            <a:off x="9528048" y="2596896"/>
            <a:ext cx="2286000" cy="329184"/>
          </a:xfrm>
          <a:prstGeom prst="rect">
            <a:avLst/>
          </a:prstGeom>
          <a:noFill/>
        </p:spPr>
        <p:txBody>
          <a:bodyPr wrap="square" lIns="0" rIns="0" tIns="0" bIns="0" anchor="t">
            <a:spAutoFit/>
          </a:bodyPr>
          <a:lstStyle/>
          <a:p>
            <a:pPr algn="l">
              <a:lnSpc>
                <a:spcPct val="120000"/>
              </a:lnSpc>
            </a:pPr>
            <a:r>
              <a:rPr sz="2100" b="1" i="0">
                <a:solidFill>
                  <a:srgbClr val="FFFFFF"/>
                </a:solidFill>
                <a:latin typeface="Arial"/>
              </a:rPr>
              <a:t>0.933</a:t>
            </a:r>
          </a:p>
        </p:txBody>
      </p:sp>
      <p:sp>
        <p:nvSpPr>
          <p:cNvPr id="16" name="TextBox 15"/>
          <p:cNvSpPr txBox="1"/>
          <p:nvPr/>
        </p:nvSpPr>
        <p:spPr>
          <a:xfrm>
            <a:off x="9528048" y="2889504"/>
            <a:ext cx="2286000" cy="219456"/>
          </a:xfrm>
          <a:prstGeom prst="rect">
            <a:avLst/>
          </a:prstGeom>
          <a:noFill/>
        </p:spPr>
        <p:txBody>
          <a:bodyPr wrap="square" lIns="0" rIns="0" tIns="0" bIns="0" anchor="t">
            <a:spAutoFit/>
          </a:bodyPr>
          <a:lstStyle/>
          <a:p>
            <a:pPr algn="l">
              <a:lnSpc>
                <a:spcPct val="120000"/>
              </a:lnSpc>
            </a:pPr>
            <a:r>
              <a:rPr sz="919" b="0" i="0">
                <a:solidFill>
                  <a:srgbClr val="56657C"/>
                </a:solidFill>
                <a:latin typeface="Arial"/>
              </a:rPr>
              <a:t>mAP@0.50</a:t>
            </a:r>
          </a:p>
        </p:txBody>
      </p:sp>
      <p:sp>
        <p:nvSpPr>
          <p:cNvPr id="17" name="Rectangle 16"/>
          <p:cNvSpPr/>
          <p:nvPr/>
        </p:nvSpPr>
        <p:spPr>
          <a:xfrm>
            <a:off x="9528048" y="3127248"/>
            <a:ext cx="310896" cy="3657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28048" y="3291840"/>
            <a:ext cx="2286000" cy="201168"/>
          </a:xfrm>
          <a:prstGeom prst="rect">
            <a:avLst/>
          </a:prstGeom>
          <a:noFill/>
        </p:spPr>
        <p:txBody>
          <a:bodyPr wrap="square" lIns="0" rIns="0" tIns="0" bIns="0" anchor="t">
            <a:spAutoFit/>
          </a:bodyPr>
          <a:lstStyle/>
          <a:p>
            <a:pPr algn="l">
              <a:lnSpc>
                <a:spcPct val="120000"/>
              </a:lnSpc>
            </a:pPr>
            <a:r>
              <a:rPr sz="919" b="1" i="0" spc="140">
                <a:solidFill>
                  <a:srgbClr val="8695AC"/>
                </a:solidFill>
                <a:latin typeface="Arial"/>
              </a:rPr>
              <a:t>LOCALISATION</a:t>
            </a:r>
          </a:p>
        </p:txBody>
      </p:sp>
      <p:sp>
        <p:nvSpPr>
          <p:cNvPr id="19" name="TextBox 18"/>
          <p:cNvSpPr txBox="1"/>
          <p:nvPr/>
        </p:nvSpPr>
        <p:spPr>
          <a:xfrm>
            <a:off x="9528048" y="3529584"/>
            <a:ext cx="2286000" cy="329184"/>
          </a:xfrm>
          <a:prstGeom prst="rect">
            <a:avLst/>
          </a:prstGeom>
          <a:noFill/>
        </p:spPr>
        <p:txBody>
          <a:bodyPr wrap="square" lIns="0" rIns="0" tIns="0" bIns="0" anchor="t">
            <a:spAutoFit/>
          </a:bodyPr>
          <a:lstStyle/>
          <a:p>
            <a:pPr algn="l">
              <a:lnSpc>
                <a:spcPct val="120000"/>
              </a:lnSpc>
            </a:pPr>
            <a:r>
              <a:rPr sz="2100" b="1" i="0">
                <a:solidFill>
                  <a:srgbClr val="FFFFFF"/>
                </a:solidFill>
                <a:latin typeface="Arial"/>
              </a:rPr>
              <a:t>0.917</a:t>
            </a:r>
          </a:p>
        </p:txBody>
      </p:sp>
      <p:sp>
        <p:nvSpPr>
          <p:cNvPr id="20" name="TextBox 19"/>
          <p:cNvSpPr txBox="1"/>
          <p:nvPr/>
        </p:nvSpPr>
        <p:spPr>
          <a:xfrm>
            <a:off x="9528048" y="3822191"/>
            <a:ext cx="2286000" cy="219456"/>
          </a:xfrm>
          <a:prstGeom prst="rect">
            <a:avLst/>
          </a:prstGeom>
          <a:noFill/>
        </p:spPr>
        <p:txBody>
          <a:bodyPr wrap="square" lIns="0" rIns="0" tIns="0" bIns="0" anchor="t">
            <a:spAutoFit/>
          </a:bodyPr>
          <a:lstStyle/>
          <a:p>
            <a:pPr algn="l">
              <a:lnSpc>
                <a:spcPct val="120000"/>
              </a:lnSpc>
            </a:pPr>
            <a:r>
              <a:rPr sz="919" b="0" i="0">
                <a:solidFill>
                  <a:srgbClr val="56657C"/>
                </a:solidFill>
                <a:latin typeface="Arial"/>
              </a:rPr>
              <a:t>mAP@0.75</a:t>
            </a:r>
          </a:p>
        </p:txBody>
      </p:sp>
      <p:sp>
        <p:nvSpPr>
          <p:cNvPr id="21" name="Rectangle 20"/>
          <p:cNvSpPr/>
          <p:nvPr/>
        </p:nvSpPr>
        <p:spPr>
          <a:xfrm>
            <a:off x="9528048" y="4059935"/>
            <a:ext cx="310896" cy="36576"/>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528048" y="4224527"/>
            <a:ext cx="2286000" cy="201168"/>
          </a:xfrm>
          <a:prstGeom prst="rect">
            <a:avLst/>
          </a:prstGeom>
          <a:noFill/>
        </p:spPr>
        <p:txBody>
          <a:bodyPr wrap="square" lIns="0" rIns="0" tIns="0" bIns="0" anchor="t">
            <a:spAutoFit/>
          </a:bodyPr>
          <a:lstStyle/>
          <a:p>
            <a:pPr algn="l">
              <a:lnSpc>
                <a:spcPct val="120000"/>
              </a:lnSpc>
            </a:pPr>
            <a:r>
              <a:rPr sz="919" b="1" i="0" spc="140">
                <a:solidFill>
                  <a:srgbClr val="8695AC"/>
                </a:solidFill>
                <a:latin typeface="Arial"/>
              </a:rPr>
              <a:t>BEST F1</a:t>
            </a:r>
          </a:p>
        </p:txBody>
      </p:sp>
      <p:sp>
        <p:nvSpPr>
          <p:cNvPr id="23" name="TextBox 22"/>
          <p:cNvSpPr txBox="1"/>
          <p:nvPr/>
        </p:nvSpPr>
        <p:spPr>
          <a:xfrm>
            <a:off x="9528048" y="4462272"/>
            <a:ext cx="2286000" cy="329184"/>
          </a:xfrm>
          <a:prstGeom prst="rect">
            <a:avLst/>
          </a:prstGeom>
          <a:noFill/>
        </p:spPr>
        <p:txBody>
          <a:bodyPr wrap="square" lIns="0" rIns="0" tIns="0" bIns="0" anchor="t">
            <a:spAutoFit/>
          </a:bodyPr>
          <a:lstStyle/>
          <a:p>
            <a:pPr algn="l">
              <a:lnSpc>
                <a:spcPct val="120000"/>
              </a:lnSpc>
            </a:pPr>
            <a:r>
              <a:rPr sz="2100" b="1" i="0">
                <a:solidFill>
                  <a:srgbClr val="FFFFFF"/>
                </a:solidFill>
                <a:latin typeface="Arial"/>
              </a:rPr>
              <a:t>0.898</a:t>
            </a:r>
          </a:p>
        </p:txBody>
      </p:sp>
      <p:sp>
        <p:nvSpPr>
          <p:cNvPr id="24" name="TextBox 23"/>
          <p:cNvSpPr txBox="1"/>
          <p:nvPr/>
        </p:nvSpPr>
        <p:spPr>
          <a:xfrm>
            <a:off x="9528048" y="4754879"/>
            <a:ext cx="2286000" cy="219456"/>
          </a:xfrm>
          <a:prstGeom prst="rect">
            <a:avLst/>
          </a:prstGeom>
          <a:noFill/>
        </p:spPr>
        <p:txBody>
          <a:bodyPr wrap="square" lIns="0" rIns="0" tIns="0" bIns="0" anchor="t">
            <a:spAutoFit/>
          </a:bodyPr>
          <a:lstStyle/>
          <a:p>
            <a:pPr algn="l">
              <a:lnSpc>
                <a:spcPct val="120000"/>
              </a:lnSpc>
            </a:pPr>
            <a:r>
              <a:rPr sz="919" b="0" i="0">
                <a:solidFill>
                  <a:srgbClr val="56657C"/>
                </a:solidFill>
                <a:latin typeface="Arial"/>
              </a:rPr>
              <a:t>at the operating point</a:t>
            </a:r>
          </a:p>
        </p:txBody>
      </p:sp>
      <p:sp>
        <p:nvSpPr>
          <p:cNvPr id="25" name="Rectangle 24"/>
          <p:cNvSpPr/>
          <p:nvPr/>
        </p:nvSpPr>
        <p:spPr>
          <a:xfrm>
            <a:off x="9528048" y="4992624"/>
            <a:ext cx="310896" cy="36576"/>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528048" y="5157216"/>
            <a:ext cx="2286000" cy="201168"/>
          </a:xfrm>
          <a:prstGeom prst="rect">
            <a:avLst/>
          </a:prstGeom>
          <a:noFill/>
        </p:spPr>
        <p:txBody>
          <a:bodyPr wrap="square" lIns="0" rIns="0" tIns="0" bIns="0" anchor="t">
            <a:spAutoFit/>
          </a:bodyPr>
          <a:lstStyle/>
          <a:p>
            <a:pPr algn="l">
              <a:lnSpc>
                <a:spcPct val="120000"/>
              </a:lnSpc>
            </a:pPr>
            <a:r>
              <a:rPr sz="919" b="1" i="0" spc="140">
                <a:solidFill>
                  <a:srgbClr val="8695AC"/>
                </a:solidFill>
                <a:latin typeface="Arial"/>
              </a:rPr>
              <a:t>SPEED</a:t>
            </a:r>
          </a:p>
        </p:txBody>
      </p:sp>
      <p:sp>
        <p:nvSpPr>
          <p:cNvPr id="27" name="TextBox 26"/>
          <p:cNvSpPr txBox="1"/>
          <p:nvPr/>
        </p:nvSpPr>
        <p:spPr>
          <a:xfrm>
            <a:off x="9528048" y="5394960"/>
            <a:ext cx="2286000" cy="329184"/>
          </a:xfrm>
          <a:prstGeom prst="rect">
            <a:avLst/>
          </a:prstGeom>
          <a:noFill/>
        </p:spPr>
        <p:txBody>
          <a:bodyPr wrap="square" lIns="0" rIns="0" tIns="0" bIns="0" anchor="t">
            <a:spAutoFit/>
          </a:bodyPr>
          <a:lstStyle/>
          <a:p>
            <a:pPr algn="l">
              <a:lnSpc>
                <a:spcPct val="120000"/>
              </a:lnSpc>
            </a:pPr>
            <a:r>
              <a:rPr sz="2100" b="1" i="0">
                <a:solidFill>
                  <a:srgbClr val="FFFFFF"/>
                </a:solidFill>
                <a:latin typeface="Arial"/>
              </a:rPr>
              <a:t>19.8 fps</a:t>
            </a:r>
          </a:p>
        </p:txBody>
      </p:sp>
      <p:sp>
        <p:nvSpPr>
          <p:cNvPr id="28" name="TextBox 27"/>
          <p:cNvSpPr txBox="1"/>
          <p:nvPr/>
        </p:nvSpPr>
        <p:spPr>
          <a:xfrm>
            <a:off x="9528048" y="5687568"/>
            <a:ext cx="2286000" cy="219456"/>
          </a:xfrm>
          <a:prstGeom prst="rect">
            <a:avLst/>
          </a:prstGeom>
          <a:noFill/>
        </p:spPr>
        <p:txBody>
          <a:bodyPr wrap="square" lIns="0" rIns="0" tIns="0" bIns="0" anchor="t">
            <a:spAutoFit/>
          </a:bodyPr>
          <a:lstStyle/>
          <a:p>
            <a:pPr algn="l">
              <a:lnSpc>
                <a:spcPct val="120000"/>
              </a:lnSpc>
            </a:pPr>
            <a:r>
              <a:rPr sz="919" b="0" i="0">
                <a:solidFill>
                  <a:srgbClr val="56657C"/>
                </a:solidFill>
                <a:latin typeface="Arial"/>
              </a:rPr>
              <a:t>50 ms per frame, one GPU</a:t>
            </a:r>
          </a:p>
        </p:txBody>
      </p:sp>
      <p:sp>
        <p:nvSpPr>
          <p:cNvPr id="29" name="Rectangle 28"/>
          <p:cNvSpPr/>
          <p:nvPr/>
        </p:nvSpPr>
        <p:spPr>
          <a:xfrm>
            <a:off x="640080" y="5632704"/>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0080" y="5779008"/>
            <a:ext cx="3520440" cy="237744"/>
          </a:xfrm>
          <a:prstGeom prst="rect">
            <a:avLst/>
          </a:prstGeom>
          <a:noFill/>
        </p:spPr>
        <p:txBody>
          <a:bodyPr wrap="square" lIns="0" rIns="0" tIns="0" bIns="0" anchor="t">
            <a:spAutoFit/>
          </a:bodyPr>
          <a:lstStyle/>
          <a:p>
            <a:pPr algn="l">
              <a:lnSpc>
                <a:spcPct val="120000"/>
              </a:lnSpc>
            </a:pPr>
            <a:r>
              <a:rPr sz="1100" b="1" i="0">
                <a:solidFill>
                  <a:srgbClr val="FFFFFF"/>
                </a:solidFill>
                <a:latin typeface="Arial"/>
              </a:rPr>
              <a:t>0.998 on familiar footage, 0.933 on new</a:t>
            </a:r>
          </a:p>
        </p:txBody>
      </p:sp>
      <p:sp>
        <p:nvSpPr>
          <p:cNvPr id="31" name="TextBox 30"/>
          <p:cNvSpPr txBox="1"/>
          <p:nvPr/>
        </p:nvSpPr>
        <p:spPr>
          <a:xfrm>
            <a:off x="640080" y="6016752"/>
            <a:ext cx="3520440" cy="365760"/>
          </a:xfrm>
          <a:prstGeom prst="rect">
            <a:avLst/>
          </a:prstGeom>
          <a:noFill/>
        </p:spPr>
        <p:txBody>
          <a:bodyPr wrap="square" lIns="0" rIns="0" tIns="0" bIns="0" anchor="t">
            <a:spAutoFit/>
          </a:bodyPr>
          <a:lstStyle/>
          <a:p>
            <a:pPr algn="l">
              <a:lnSpc>
                <a:spcPct val="126000"/>
              </a:lnSpc>
            </a:pPr>
            <a:r>
              <a:rPr sz="940" b="0" i="0">
                <a:solidFill>
                  <a:srgbClr val="8695AC"/>
                </a:solidFill>
                <a:latin typeface="Arial"/>
              </a:rPr>
              <a:t>We report the harder number. The gap is evaluation optimism, not skill.</a:t>
            </a:r>
          </a:p>
        </p:txBody>
      </p:sp>
      <p:sp>
        <p:nvSpPr>
          <p:cNvPr id="32" name="TextBox 31"/>
          <p:cNvSpPr txBox="1"/>
          <p:nvPr/>
        </p:nvSpPr>
        <p:spPr>
          <a:xfrm>
            <a:off x="4352544" y="5779008"/>
            <a:ext cx="3520440" cy="237744"/>
          </a:xfrm>
          <a:prstGeom prst="rect">
            <a:avLst/>
          </a:prstGeom>
          <a:noFill/>
        </p:spPr>
        <p:txBody>
          <a:bodyPr wrap="square" lIns="0" rIns="0" tIns="0" bIns="0" anchor="t">
            <a:spAutoFit/>
          </a:bodyPr>
          <a:lstStyle/>
          <a:p>
            <a:pPr algn="l">
              <a:lnSpc>
                <a:spcPct val="120000"/>
              </a:lnSpc>
            </a:pPr>
            <a:r>
              <a:rPr sz="1100" b="1" i="0">
                <a:solidFill>
                  <a:srgbClr val="FFFFFF"/>
                </a:solidFill>
                <a:latin typeface="Arial"/>
              </a:rPr>
              <a:t>0.917 once sparse classes are removed</a:t>
            </a:r>
          </a:p>
        </p:txBody>
      </p:sp>
      <p:sp>
        <p:nvSpPr>
          <p:cNvPr id="33" name="TextBox 32"/>
          <p:cNvSpPr txBox="1"/>
          <p:nvPr/>
        </p:nvSpPr>
        <p:spPr>
          <a:xfrm>
            <a:off x="4352544" y="6016752"/>
            <a:ext cx="3520440" cy="365760"/>
          </a:xfrm>
          <a:prstGeom prst="rect">
            <a:avLst/>
          </a:prstGeom>
          <a:noFill/>
        </p:spPr>
        <p:txBody>
          <a:bodyPr wrap="square" lIns="0" rIns="0" tIns="0" bIns="0" anchor="t">
            <a:spAutoFit/>
          </a:bodyPr>
          <a:lstStyle/>
          <a:p>
            <a:pPr algn="l">
              <a:lnSpc>
                <a:spcPct val="126000"/>
              </a:lnSpc>
            </a:pPr>
            <a:r>
              <a:rPr sz="940" b="0" i="0">
                <a:solidFill>
                  <a:srgbClr val="8695AC"/>
                </a:solidFill>
                <a:latin typeface="Arial"/>
              </a:rPr>
              <a:t>Four brands have fewer than five test boxes; taking them out costs 1.7 points.</a:t>
            </a:r>
          </a:p>
        </p:txBody>
      </p:sp>
      <p:sp>
        <p:nvSpPr>
          <p:cNvPr id="34" name="TextBox 33"/>
          <p:cNvSpPr txBox="1"/>
          <p:nvPr/>
        </p:nvSpPr>
        <p:spPr>
          <a:xfrm>
            <a:off x="8065007" y="5779008"/>
            <a:ext cx="3520440" cy="237744"/>
          </a:xfrm>
          <a:prstGeom prst="rect">
            <a:avLst/>
          </a:prstGeom>
          <a:noFill/>
        </p:spPr>
        <p:txBody>
          <a:bodyPr wrap="square" lIns="0" rIns="0" tIns="0" bIns="0" anchor="t">
            <a:spAutoFit/>
          </a:bodyPr>
          <a:lstStyle/>
          <a:p>
            <a:pPr algn="l">
              <a:lnSpc>
                <a:spcPct val="120000"/>
              </a:lnSpc>
            </a:pPr>
            <a:r>
              <a:rPr sz="1100" b="1" i="0">
                <a:solidFill>
                  <a:srgbClr val="FFFFFF"/>
                </a:solidFill>
                <a:latin typeface="Arial"/>
              </a:rPr>
              <a:t>No frame-level manual labels exist yet</a:t>
            </a:r>
          </a:p>
        </p:txBody>
      </p:sp>
      <p:sp>
        <p:nvSpPr>
          <p:cNvPr id="35" name="TextBox 34"/>
          <p:cNvSpPr txBox="1"/>
          <p:nvPr/>
        </p:nvSpPr>
        <p:spPr>
          <a:xfrm>
            <a:off x="8065007" y="6016752"/>
            <a:ext cx="3520440" cy="365760"/>
          </a:xfrm>
          <a:prstGeom prst="rect">
            <a:avLst/>
          </a:prstGeom>
          <a:noFill/>
        </p:spPr>
        <p:txBody>
          <a:bodyPr wrap="square" lIns="0" rIns="0" tIns="0" bIns="0" anchor="t">
            <a:spAutoFit/>
          </a:bodyPr>
          <a:lstStyle/>
          <a:p>
            <a:pPr algn="l">
              <a:lnSpc>
                <a:spcPct val="126000"/>
              </a:lnSpc>
            </a:pPr>
            <a:r>
              <a:rPr sz="940" b="0" i="0">
                <a:solidFill>
                  <a:srgbClr val="8695AC"/>
                </a:solidFill>
                <a:latin typeface="Arial"/>
              </a:rPr>
              <a:t>So detection accuracy is validated; visibility scoring is not yet.</a:t>
            </a:r>
          </a:p>
        </p:txBody>
      </p:sp>
      <p:sp>
        <p:nvSpPr>
          <p:cNvPr id="36" name="TextBox 35"/>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RF-DETR Small at 896 px, evaluated on 61 held-out images / 165 boxes across three unseen matches. Baseline: best of three YOLO26 variants on the identical split.</a:t>
            </a:r>
          </a:p>
        </p:txBody>
      </p:sp>
      <p:sp>
        <p:nvSpPr>
          <p:cNvPr id="37" name="TextBox 36"/>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AI AGAINST MANUAL ASSESSMENT</a:t>
            </a:r>
          </a:p>
        </p:txBody>
      </p:sp>
      <p:sp>
        <p:nvSpPr>
          <p:cNvPr id="7" name="TextBox 6"/>
          <p:cNvSpPr txBox="1"/>
          <p:nvPr/>
        </p:nvSpPr>
        <p:spPr>
          <a:xfrm>
            <a:off x="640080" y="786384"/>
            <a:ext cx="9692640" cy="914400"/>
          </a:xfrm>
          <a:prstGeom prst="rect">
            <a:avLst/>
          </a:prstGeom>
          <a:noFill/>
        </p:spPr>
        <p:txBody>
          <a:bodyPr wrap="square" lIns="0" rIns="0" tIns="0" bIns="0" anchor="t">
            <a:spAutoFit/>
          </a:bodyPr>
          <a:lstStyle/>
          <a:p>
            <a:pPr algn="l">
              <a:lnSpc>
                <a:spcPct val="102000"/>
              </a:lnSpc>
            </a:pPr>
            <a:r>
              <a:rPr sz="3000" b="1" i="0">
                <a:solidFill>
                  <a:srgbClr val="FFFFFF"/>
                </a:solidFill>
                <a:latin typeface="Arial"/>
              </a:rPr>
              <a:t>It agrees with itself, not with the price list</a:t>
            </a:r>
          </a:p>
        </p:txBody>
      </p:sp>
      <p:pic>
        <p:nvPicPr>
          <p:cNvPr id="8" name="Picture 7" descr="h_agreement.png"/>
          <p:cNvPicPr>
            <a:picLocks noChangeAspect="1"/>
          </p:cNvPicPr>
          <p:nvPr/>
        </p:nvPicPr>
        <p:blipFill>
          <a:blip r:embed="rId2"/>
          <a:stretch>
            <a:fillRect/>
          </a:stretch>
        </p:blipFill>
        <p:spPr>
          <a:xfrm>
            <a:off x="594359" y="1883664"/>
            <a:ext cx="3977639" cy="3452220"/>
          </a:xfrm>
          <a:prstGeom prst="rect">
            <a:avLst/>
          </a:prstGeom>
        </p:spPr>
      </p:pic>
      <p:sp>
        <p:nvSpPr>
          <p:cNvPr id="9" name="TextBox 8"/>
          <p:cNvSpPr txBox="1"/>
          <p:nvPr/>
        </p:nvSpPr>
        <p:spPr>
          <a:xfrm>
            <a:off x="640080" y="5431536"/>
            <a:ext cx="3977639" cy="457200"/>
          </a:xfrm>
          <a:prstGeom prst="rect">
            <a:avLst/>
          </a:prstGeom>
          <a:noFill/>
        </p:spPr>
        <p:txBody>
          <a:bodyPr wrap="square" lIns="0" rIns="0" tIns="0" bIns="0" anchor="t">
            <a:spAutoFit/>
          </a:bodyPr>
          <a:lstStyle/>
          <a:p>
            <a:pPr algn="l">
              <a:lnSpc>
                <a:spcPct val="130000"/>
              </a:lnSpc>
            </a:pPr>
            <a:r>
              <a:rPr sz="980" b="0" i="0">
                <a:solidFill>
                  <a:srgbClr val="8695AC"/>
                </a:solidFill>
                <a:latin typeface="Arial"/>
              </a:rPr>
              <a:t>Each asset by its rank in the club's price list against its rank by measured visibility. Agreement would sit on the dashed line.</a:t>
            </a:r>
          </a:p>
        </p:txBody>
      </p:sp>
      <p:pic>
        <p:nvPicPr>
          <p:cNvPr id="10" name="Picture 9" descr="h_repeat.png"/>
          <p:cNvPicPr>
            <a:picLocks noChangeAspect="1"/>
          </p:cNvPicPr>
          <p:nvPr/>
        </p:nvPicPr>
        <p:blipFill>
          <a:blip r:embed="rId3"/>
          <a:stretch>
            <a:fillRect/>
          </a:stretch>
        </p:blipFill>
        <p:spPr>
          <a:xfrm>
            <a:off x="5120640" y="1883664"/>
            <a:ext cx="3154680" cy="2786686"/>
          </a:xfrm>
          <a:prstGeom prst="rect">
            <a:avLst/>
          </a:prstGeom>
        </p:spPr>
      </p:pic>
      <p:sp>
        <p:nvSpPr>
          <p:cNvPr id="11" name="TextBox 10"/>
          <p:cNvSpPr txBox="1"/>
          <p:nvPr/>
        </p:nvSpPr>
        <p:spPr>
          <a:xfrm>
            <a:off x="5120640" y="5431536"/>
            <a:ext cx="3154680" cy="457200"/>
          </a:xfrm>
          <a:prstGeom prst="rect">
            <a:avLst/>
          </a:prstGeom>
          <a:noFill/>
        </p:spPr>
        <p:txBody>
          <a:bodyPr wrap="square" lIns="0" rIns="0" tIns="0" bIns="0" anchor="t">
            <a:spAutoFit/>
          </a:bodyPr>
          <a:lstStyle/>
          <a:p>
            <a:pPr algn="l">
              <a:lnSpc>
                <a:spcPct val="130000"/>
              </a:lnSpc>
            </a:pPr>
            <a:r>
              <a:rPr sz="980" b="0" i="0">
                <a:solidFill>
                  <a:srgbClr val="8695AC"/>
                </a:solidFill>
                <a:latin typeface="Arial"/>
              </a:rPr>
              <a:t>The same measurement run on two different matches — the system agreeing with itself.</a:t>
            </a:r>
          </a:p>
        </p:txBody>
      </p:sp>
      <p:sp>
        <p:nvSpPr>
          <p:cNvPr id="12" name="Rectangle 11"/>
          <p:cNvSpPr/>
          <p:nvPr/>
        </p:nvSpPr>
        <p:spPr>
          <a:xfrm>
            <a:off x="8961119" y="1883664"/>
            <a:ext cx="310896" cy="3657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961119" y="2048256"/>
            <a:ext cx="2834640" cy="201168"/>
          </a:xfrm>
          <a:prstGeom prst="rect">
            <a:avLst/>
          </a:prstGeom>
          <a:noFill/>
        </p:spPr>
        <p:txBody>
          <a:bodyPr wrap="square" lIns="0" rIns="0" tIns="0" bIns="0" anchor="t">
            <a:spAutoFit/>
          </a:bodyPr>
          <a:lstStyle/>
          <a:p>
            <a:pPr algn="l">
              <a:lnSpc>
                <a:spcPct val="120000"/>
              </a:lnSpc>
            </a:pPr>
            <a:r>
              <a:rPr sz="919" b="1" i="0" spc="130">
                <a:solidFill>
                  <a:srgbClr val="8695AC"/>
                </a:solidFill>
                <a:latin typeface="Arial"/>
              </a:rPr>
              <a:t>AGREEMENT WITH THE CLUB</a:t>
            </a:r>
          </a:p>
        </p:txBody>
      </p:sp>
      <p:sp>
        <p:nvSpPr>
          <p:cNvPr id="14" name="TextBox 13"/>
          <p:cNvSpPr txBox="1"/>
          <p:nvPr/>
        </p:nvSpPr>
        <p:spPr>
          <a:xfrm>
            <a:off x="8961119" y="2286000"/>
            <a:ext cx="2834640" cy="329184"/>
          </a:xfrm>
          <a:prstGeom prst="rect">
            <a:avLst/>
          </a:prstGeom>
          <a:noFill/>
        </p:spPr>
        <p:txBody>
          <a:bodyPr wrap="square" lIns="0" rIns="0" tIns="0" bIns="0" anchor="t">
            <a:spAutoFit/>
          </a:bodyPr>
          <a:lstStyle/>
          <a:p>
            <a:pPr algn="l">
              <a:lnSpc>
                <a:spcPct val="120000"/>
              </a:lnSpc>
            </a:pPr>
            <a:r>
              <a:rPr sz="2100" b="1" i="0">
                <a:solidFill>
                  <a:srgbClr val="FFC20E"/>
                </a:solidFill>
                <a:latin typeface="Arial"/>
              </a:rPr>
              <a:t>ρ −0.075</a:t>
            </a:r>
          </a:p>
        </p:txBody>
      </p:sp>
      <p:sp>
        <p:nvSpPr>
          <p:cNvPr id="15" name="TextBox 14"/>
          <p:cNvSpPr txBox="1"/>
          <p:nvPr/>
        </p:nvSpPr>
        <p:spPr>
          <a:xfrm>
            <a:off x="8961119" y="2651760"/>
            <a:ext cx="2788920" cy="457200"/>
          </a:xfrm>
          <a:prstGeom prst="rect">
            <a:avLst/>
          </a:prstGeom>
          <a:noFill/>
        </p:spPr>
        <p:txBody>
          <a:bodyPr wrap="square" lIns="0" rIns="0" tIns="0" bIns="0" anchor="t">
            <a:spAutoFit/>
          </a:bodyPr>
          <a:lstStyle/>
          <a:p>
            <a:pPr algn="l">
              <a:lnSpc>
                <a:spcPct val="130000"/>
              </a:lnSpc>
            </a:pPr>
            <a:r>
              <a:rPr sz="1000" b="0" i="0">
                <a:solidFill>
                  <a:srgbClr val="DCE4EF"/>
                </a:solidFill>
                <a:latin typeface="Arial"/>
              </a:rPr>
              <a:t>Effectively no rank agreement between price and measured visibility.</a:t>
            </a:r>
          </a:p>
        </p:txBody>
      </p:sp>
      <p:sp>
        <p:nvSpPr>
          <p:cNvPr id="16" name="Rectangle 15"/>
          <p:cNvSpPr/>
          <p:nvPr/>
        </p:nvSpPr>
        <p:spPr>
          <a:xfrm>
            <a:off x="8961119" y="3072384"/>
            <a:ext cx="310896" cy="36576"/>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961119" y="3236976"/>
            <a:ext cx="2834640" cy="201168"/>
          </a:xfrm>
          <a:prstGeom prst="rect">
            <a:avLst/>
          </a:prstGeom>
          <a:noFill/>
        </p:spPr>
        <p:txBody>
          <a:bodyPr wrap="square" lIns="0" rIns="0" tIns="0" bIns="0" anchor="t">
            <a:spAutoFit/>
          </a:bodyPr>
          <a:lstStyle/>
          <a:p>
            <a:pPr algn="l">
              <a:lnSpc>
                <a:spcPct val="120000"/>
              </a:lnSpc>
            </a:pPr>
            <a:r>
              <a:rPr sz="919" b="1" i="0" spc="130">
                <a:solidFill>
                  <a:srgbClr val="8695AC"/>
                </a:solidFill>
                <a:latin typeface="Arial"/>
              </a:rPr>
              <a:t>AGREEMENT WITH ITSELF</a:t>
            </a:r>
          </a:p>
        </p:txBody>
      </p:sp>
      <p:sp>
        <p:nvSpPr>
          <p:cNvPr id="18" name="TextBox 17"/>
          <p:cNvSpPr txBox="1"/>
          <p:nvPr/>
        </p:nvSpPr>
        <p:spPr>
          <a:xfrm>
            <a:off x="8961119" y="3474720"/>
            <a:ext cx="2834640" cy="329184"/>
          </a:xfrm>
          <a:prstGeom prst="rect">
            <a:avLst/>
          </a:prstGeom>
          <a:noFill/>
        </p:spPr>
        <p:txBody>
          <a:bodyPr wrap="square" lIns="0" rIns="0" tIns="0" bIns="0" anchor="t">
            <a:spAutoFit/>
          </a:bodyPr>
          <a:lstStyle/>
          <a:p>
            <a:pPr algn="l">
              <a:lnSpc>
                <a:spcPct val="120000"/>
              </a:lnSpc>
            </a:pPr>
            <a:r>
              <a:rPr sz="2100" b="1" i="0">
                <a:solidFill>
                  <a:srgbClr val="25C787"/>
                </a:solidFill>
                <a:latin typeface="Arial"/>
              </a:rPr>
              <a:t>ρ 0.846</a:t>
            </a:r>
          </a:p>
        </p:txBody>
      </p:sp>
      <p:sp>
        <p:nvSpPr>
          <p:cNvPr id="19" name="TextBox 18"/>
          <p:cNvSpPr txBox="1"/>
          <p:nvPr/>
        </p:nvSpPr>
        <p:spPr>
          <a:xfrm>
            <a:off x="8961119" y="3840480"/>
            <a:ext cx="2788920" cy="457200"/>
          </a:xfrm>
          <a:prstGeom prst="rect">
            <a:avLst/>
          </a:prstGeom>
          <a:noFill/>
        </p:spPr>
        <p:txBody>
          <a:bodyPr wrap="square" lIns="0" rIns="0" tIns="0" bIns="0" anchor="t">
            <a:spAutoFit/>
          </a:bodyPr>
          <a:lstStyle/>
          <a:p>
            <a:pPr algn="l">
              <a:lnSpc>
                <a:spcPct val="130000"/>
              </a:lnSpc>
            </a:pPr>
            <a:r>
              <a:rPr sz="1000" b="0" i="0">
                <a:solidFill>
                  <a:srgbClr val="DCE4EF"/>
                </a:solidFill>
                <a:latin typeface="Arial"/>
              </a:rPr>
              <a:t>Strong rank stability between the two matches.</a:t>
            </a:r>
          </a:p>
        </p:txBody>
      </p:sp>
      <p:sp>
        <p:nvSpPr>
          <p:cNvPr id="20" name="Rectangle 19"/>
          <p:cNvSpPr/>
          <p:nvPr/>
        </p:nvSpPr>
        <p:spPr>
          <a:xfrm>
            <a:off x="8961119" y="4261104"/>
            <a:ext cx="310896" cy="36576"/>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61119" y="4425696"/>
            <a:ext cx="2834640" cy="201168"/>
          </a:xfrm>
          <a:prstGeom prst="rect">
            <a:avLst/>
          </a:prstGeom>
          <a:noFill/>
        </p:spPr>
        <p:txBody>
          <a:bodyPr wrap="square" lIns="0" rIns="0" tIns="0" bIns="0" anchor="t">
            <a:spAutoFit/>
          </a:bodyPr>
          <a:lstStyle/>
          <a:p>
            <a:pPr algn="l">
              <a:lnSpc>
                <a:spcPct val="120000"/>
              </a:lnSpc>
            </a:pPr>
            <a:r>
              <a:rPr sz="919" b="1" i="0" spc="130">
                <a:solidFill>
                  <a:srgbClr val="8695AC"/>
                </a:solidFill>
                <a:latin typeface="Arial"/>
              </a:rPr>
              <a:t>AVERAGE DISAGREEMENT</a:t>
            </a:r>
          </a:p>
        </p:txBody>
      </p:sp>
      <p:sp>
        <p:nvSpPr>
          <p:cNvPr id="22" name="TextBox 21"/>
          <p:cNvSpPr txBox="1"/>
          <p:nvPr/>
        </p:nvSpPr>
        <p:spPr>
          <a:xfrm>
            <a:off x="8961119" y="4663440"/>
            <a:ext cx="2834640" cy="329184"/>
          </a:xfrm>
          <a:prstGeom prst="rect">
            <a:avLst/>
          </a:prstGeom>
          <a:noFill/>
        </p:spPr>
        <p:txBody>
          <a:bodyPr wrap="square" lIns="0" rIns="0" tIns="0" bIns="0" anchor="t">
            <a:spAutoFit/>
          </a:bodyPr>
          <a:lstStyle/>
          <a:p>
            <a:pPr algn="l">
              <a:lnSpc>
                <a:spcPct val="120000"/>
              </a:lnSpc>
            </a:pPr>
            <a:r>
              <a:rPr sz="2100" b="1" i="0">
                <a:solidFill>
                  <a:srgbClr val="E4002B"/>
                </a:solidFill>
                <a:latin typeface="Arial"/>
              </a:rPr>
              <a:t>5.6 pp</a:t>
            </a:r>
          </a:p>
        </p:txBody>
      </p:sp>
      <p:sp>
        <p:nvSpPr>
          <p:cNvPr id="23" name="TextBox 22"/>
          <p:cNvSpPr txBox="1"/>
          <p:nvPr/>
        </p:nvSpPr>
        <p:spPr>
          <a:xfrm>
            <a:off x="8961119" y="5029200"/>
            <a:ext cx="2788920" cy="457200"/>
          </a:xfrm>
          <a:prstGeom prst="rect">
            <a:avLst/>
          </a:prstGeom>
          <a:noFill/>
        </p:spPr>
        <p:txBody>
          <a:bodyPr wrap="square" lIns="0" rIns="0" tIns="0" bIns="0" anchor="t">
            <a:spAutoFit/>
          </a:bodyPr>
          <a:lstStyle/>
          <a:p>
            <a:pPr algn="l">
              <a:lnSpc>
                <a:spcPct val="130000"/>
              </a:lnSpc>
            </a:pPr>
            <a:r>
              <a:rPr sz="1000" b="0" i="0">
                <a:solidFill>
                  <a:srgbClr val="DCE4EF"/>
                </a:solidFill>
                <a:latin typeface="Arial"/>
              </a:rPr>
              <a:t>Mean absolute gap per asset; the largest is 18.3 points.</a:t>
            </a:r>
          </a:p>
        </p:txBody>
      </p:sp>
      <p:sp>
        <p:nvSpPr>
          <p:cNvPr id="24" name="Rectangle 23"/>
          <p:cNvSpPr/>
          <p:nvPr/>
        </p:nvSpPr>
        <p:spPr>
          <a:xfrm>
            <a:off x="640080" y="5797296"/>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0080" y="5943600"/>
            <a:ext cx="10911809" cy="457200"/>
          </a:xfrm>
          <a:prstGeom prst="rect">
            <a:avLst/>
          </a:prstGeom>
          <a:noFill/>
        </p:spPr>
        <p:txBody>
          <a:bodyPr wrap="square" lIns="0" rIns="0" tIns="0" bIns="0" anchor="t">
            <a:spAutoFit/>
          </a:bodyPr>
          <a:lstStyle/>
          <a:p>
            <a:pPr algn="l">
              <a:lnSpc>
                <a:spcPct val="132000"/>
              </a:lnSpc>
            </a:pPr>
            <a:r>
              <a:rPr sz="1060" b="0" i="0">
                <a:solidFill>
                  <a:srgbClr val="FFC20E"/>
                </a:solidFill>
                <a:latin typeface="Arial"/>
              </a:rPr>
              <a:t>What can and cannot be claimed: the detector is validated against hand-annotated boxes; the visibility score is not yet validated against a human timing the same footage. That study is the next piece of work, not a finished result.</a:t>
            </a:r>
          </a:p>
        </p:txBody>
      </p:sp>
      <p:sp>
        <p:nvSpPr>
          <p:cNvPr id="26" name="TextBox 25"/>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Two complete Bradford Bulls broadcasts, home kit 2025/26, analysed at 2 frames per second. “What the club charges” is the current management allocation (totals 95%); LogoLens totals 100%.</a:t>
            </a:r>
          </a:p>
        </p:txBody>
      </p:sp>
      <p:sp>
        <p:nvSpPr>
          <p:cNvPr id="27" name="TextBox 26"/>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CHALLENGES</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Where the footage fights back</a:t>
            </a:r>
          </a:p>
        </p:txBody>
      </p:sp>
      <p:sp>
        <p:nvSpPr>
          <p:cNvPr id="8" name="TextBox 7"/>
          <p:cNvSpPr txBox="1"/>
          <p:nvPr/>
        </p:nvSpPr>
        <p:spPr>
          <a:xfrm>
            <a:off x="640080" y="1700784"/>
            <a:ext cx="8947683"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Every example below is real output from the analysed match, not a staged illustration.</a:t>
            </a:r>
          </a:p>
        </p:txBody>
      </p:sp>
      <p:pic>
        <p:nvPicPr>
          <p:cNvPr id="9" name="Picture 8" descr="ch_occlusion.jpg"/>
          <p:cNvPicPr>
            <a:picLocks noChangeAspect="1"/>
          </p:cNvPicPr>
          <p:nvPr/>
        </p:nvPicPr>
        <p:blipFill>
          <a:blip r:embed="rId2"/>
          <a:srcRect l="2254" r="2254"/>
          <a:stretch>
            <a:fillRect/>
          </a:stretch>
        </p:blipFill>
        <p:spPr>
          <a:xfrm>
            <a:off x="640080" y="2194560"/>
            <a:ext cx="2590792" cy="1554480"/>
          </a:xfrm>
          <a:prstGeom prst="rect">
            <a:avLst/>
          </a:prstGeom>
        </p:spPr>
      </p:pic>
      <p:sp>
        <p:nvSpPr>
          <p:cNvPr id="10" name="Rectangle 9"/>
          <p:cNvSpPr/>
          <p:nvPr/>
        </p:nvSpPr>
        <p:spPr>
          <a:xfrm>
            <a:off x="640080" y="2194560"/>
            <a:ext cx="2590792" cy="1554480"/>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40080" y="3822191"/>
            <a:ext cx="310896"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0080" y="3986784"/>
            <a:ext cx="2590792" cy="237744"/>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Occlusion</a:t>
            </a:r>
          </a:p>
        </p:txBody>
      </p:sp>
      <p:sp>
        <p:nvSpPr>
          <p:cNvPr id="13" name="TextBox 12"/>
          <p:cNvSpPr txBox="1"/>
          <p:nvPr/>
        </p:nvSpPr>
        <p:spPr>
          <a:xfrm>
            <a:off x="640080" y="4279392"/>
            <a:ext cx="2535928" cy="731520"/>
          </a:xfrm>
          <a:prstGeom prst="rect">
            <a:avLst/>
          </a:prstGeom>
          <a:noFill/>
        </p:spPr>
        <p:txBody>
          <a:bodyPr wrap="square" lIns="0" rIns="0" tIns="0" bIns="0" anchor="t">
            <a:spAutoFit/>
          </a:bodyPr>
          <a:lstStyle/>
          <a:p>
            <a:pPr algn="l">
              <a:lnSpc>
                <a:spcPct val="132000"/>
              </a:lnSpc>
            </a:pPr>
            <a:r>
              <a:rPr sz="1040" b="0" i="0">
                <a:solidFill>
                  <a:srgbClr val="8695AC"/>
                </a:solidFill>
                <a:latin typeface="Arial"/>
              </a:rPr>
              <a:t>Players cover each other constantly. A partly hidden mark scores lower; a fully hidden one earns nothing at all.</a:t>
            </a:r>
          </a:p>
        </p:txBody>
      </p:sp>
      <p:pic>
        <p:nvPicPr>
          <p:cNvPr id="14" name="Picture 13" descr="ch_blur.jpg"/>
          <p:cNvPicPr>
            <a:picLocks noChangeAspect="1"/>
          </p:cNvPicPr>
          <p:nvPr/>
        </p:nvPicPr>
        <p:blipFill>
          <a:blip r:embed="rId3"/>
          <a:srcRect l="2254" r="2254"/>
          <a:stretch>
            <a:fillRect/>
          </a:stretch>
        </p:blipFill>
        <p:spPr>
          <a:xfrm>
            <a:off x="3413752" y="2194560"/>
            <a:ext cx="2590792" cy="1554480"/>
          </a:xfrm>
          <a:prstGeom prst="rect">
            <a:avLst/>
          </a:prstGeom>
        </p:spPr>
      </p:pic>
      <p:sp>
        <p:nvSpPr>
          <p:cNvPr id="15" name="Rectangle 14"/>
          <p:cNvSpPr/>
          <p:nvPr/>
        </p:nvSpPr>
        <p:spPr>
          <a:xfrm>
            <a:off x="3413752" y="2194560"/>
            <a:ext cx="2590792" cy="1554480"/>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3413752" y="3822191"/>
            <a:ext cx="310896"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413752" y="3986784"/>
            <a:ext cx="2590792" cy="237744"/>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Movement and blur</a:t>
            </a:r>
          </a:p>
        </p:txBody>
      </p:sp>
      <p:sp>
        <p:nvSpPr>
          <p:cNvPr id="18" name="TextBox 17"/>
          <p:cNvSpPr txBox="1"/>
          <p:nvPr/>
        </p:nvSpPr>
        <p:spPr>
          <a:xfrm>
            <a:off x="3413752" y="4279392"/>
            <a:ext cx="2535928" cy="731520"/>
          </a:xfrm>
          <a:prstGeom prst="rect">
            <a:avLst/>
          </a:prstGeom>
          <a:noFill/>
        </p:spPr>
        <p:txBody>
          <a:bodyPr wrap="square" lIns="0" rIns="0" tIns="0" bIns="0" anchor="t">
            <a:spAutoFit/>
          </a:bodyPr>
          <a:lstStyle/>
          <a:p>
            <a:pPr algn="l">
              <a:lnSpc>
                <a:spcPct val="132000"/>
              </a:lnSpc>
            </a:pPr>
            <a:r>
              <a:rPr sz="1040" b="0" i="0">
                <a:solidFill>
                  <a:srgbClr val="8695AC"/>
                </a:solidFill>
                <a:latin typeface="Arial"/>
              </a:rPr>
              <a:t>Small marks on sprinting players go soft. Lower-back and sleeve logos suffer most.</a:t>
            </a:r>
          </a:p>
        </p:txBody>
      </p:sp>
      <p:pic>
        <p:nvPicPr>
          <p:cNvPr id="19" name="Picture 18" descr="ch_oblique.jpg"/>
          <p:cNvPicPr>
            <a:picLocks noChangeAspect="1"/>
          </p:cNvPicPr>
          <p:nvPr/>
        </p:nvPicPr>
        <p:blipFill>
          <a:blip r:embed="rId4"/>
          <a:srcRect l="2254" r="2254"/>
          <a:stretch>
            <a:fillRect/>
          </a:stretch>
        </p:blipFill>
        <p:spPr>
          <a:xfrm>
            <a:off x="6187424" y="2194560"/>
            <a:ext cx="2590792" cy="1554480"/>
          </a:xfrm>
          <a:prstGeom prst="rect">
            <a:avLst/>
          </a:prstGeom>
        </p:spPr>
      </p:pic>
      <p:sp>
        <p:nvSpPr>
          <p:cNvPr id="20" name="Rectangle 19"/>
          <p:cNvSpPr/>
          <p:nvPr/>
        </p:nvSpPr>
        <p:spPr>
          <a:xfrm>
            <a:off x="6187424" y="2194560"/>
            <a:ext cx="2590792" cy="1554480"/>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187424" y="3822191"/>
            <a:ext cx="310896"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187424" y="3986784"/>
            <a:ext cx="2590792" cy="237744"/>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Camera angle</a:t>
            </a:r>
          </a:p>
        </p:txBody>
      </p:sp>
      <p:sp>
        <p:nvSpPr>
          <p:cNvPr id="23" name="TextBox 22"/>
          <p:cNvSpPr txBox="1"/>
          <p:nvPr/>
        </p:nvSpPr>
        <p:spPr>
          <a:xfrm>
            <a:off x="6187424" y="4279392"/>
            <a:ext cx="2535928" cy="731520"/>
          </a:xfrm>
          <a:prstGeom prst="rect">
            <a:avLst/>
          </a:prstGeom>
          <a:noFill/>
        </p:spPr>
        <p:txBody>
          <a:bodyPr wrap="square" lIns="0" rIns="0" tIns="0" bIns="0" anchor="t">
            <a:spAutoFit/>
          </a:bodyPr>
          <a:lstStyle/>
          <a:p>
            <a:pPr algn="l">
              <a:lnSpc>
                <a:spcPct val="132000"/>
              </a:lnSpc>
            </a:pPr>
            <a:r>
              <a:rPr sz="1040" b="0" i="0">
                <a:solidFill>
                  <a:srgbClr val="8695AC"/>
                </a:solidFill>
                <a:latin typeface="Arial"/>
              </a:rPr>
              <a:t>An oblique view stretches and distorts the mark. The system corrects for shape, but confidence still falls.</a:t>
            </a:r>
          </a:p>
        </p:txBody>
      </p:sp>
      <p:pic>
        <p:nvPicPr>
          <p:cNvPr id="24" name="Picture 23" descr="ch_crowd.jpg"/>
          <p:cNvPicPr>
            <a:picLocks noChangeAspect="1"/>
          </p:cNvPicPr>
          <p:nvPr/>
        </p:nvPicPr>
        <p:blipFill>
          <a:blip r:embed="rId5"/>
          <a:srcRect l="2254" r="2254"/>
          <a:stretch>
            <a:fillRect/>
          </a:stretch>
        </p:blipFill>
        <p:spPr>
          <a:xfrm>
            <a:off x="8961097" y="2194560"/>
            <a:ext cx="2590792" cy="1554480"/>
          </a:xfrm>
          <a:prstGeom prst="rect">
            <a:avLst/>
          </a:prstGeom>
        </p:spPr>
      </p:pic>
      <p:sp>
        <p:nvSpPr>
          <p:cNvPr id="25" name="Rectangle 24"/>
          <p:cNvSpPr/>
          <p:nvPr/>
        </p:nvSpPr>
        <p:spPr>
          <a:xfrm>
            <a:off x="8961097" y="2194560"/>
            <a:ext cx="2590792" cy="1554480"/>
          </a:xfrm>
          <a:prstGeom prst="rect">
            <a:avLst/>
          </a:prstGeom>
          <a:noFill/>
          <a:ln w="12700">
            <a:solidFill>
              <a:srgbClr val="2735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8961097" y="3822191"/>
            <a:ext cx="310896" cy="3200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961097" y="3986784"/>
            <a:ext cx="2590792" cy="237744"/>
          </a:xfrm>
          <a:prstGeom prst="rect">
            <a:avLst/>
          </a:prstGeom>
          <a:noFill/>
        </p:spPr>
        <p:txBody>
          <a:bodyPr wrap="square" lIns="0" rIns="0" tIns="0" bIns="0" anchor="t">
            <a:spAutoFit/>
          </a:bodyPr>
          <a:lstStyle/>
          <a:p>
            <a:pPr algn="l">
              <a:lnSpc>
                <a:spcPct val="120000"/>
              </a:lnSpc>
            </a:pPr>
            <a:r>
              <a:rPr sz="1350" b="1" i="0">
                <a:solidFill>
                  <a:srgbClr val="FFFFFF"/>
                </a:solidFill>
                <a:latin typeface="Arial"/>
              </a:rPr>
              <a:t>Crowded phases</a:t>
            </a:r>
          </a:p>
        </p:txBody>
      </p:sp>
      <p:sp>
        <p:nvSpPr>
          <p:cNvPr id="28" name="TextBox 27"/>
          <p:cNvSpPr txBox="1"/>
          <p:nvPr/>
        </p:nvSpPr>
        <p:spPr>
          <a:xfrm>
            <a:off x="8961097" y="4279392"/>
            <a:ext cx="2535928" cy="731520"/>
          </a:xfrm>
          <a:prstGeom prst="rect">
            <a:avLst/>
          </a:prstGeom>
          <a:noFill/>
        </p:spPr>
        <p:txBody>
          <a:bodyPr wrap="square" lIns="0" rIns="0" tIns="0" bIns="0" anchor="t">
            <a:spAutoFit/>
          </a:bodyPr>
          <a:lstStyle/>
          <a:p>
            <a:pPr algn="l">
              <a:lnSpc>
                <a:spcPct val="132000"/>
              </a:lnSpc>
            </a:pPr>
            <a:r>
              <a:rPr sz="1040" b="0" i="0">
                <a:solidFill>
                  <a:srgbClr val="8695AC"/>
                </a:solidFill>
                <a:latin typeface="Arial"/>
              </a:rPr>
              <a:t>Scrums and rucks stack players. Tying each mark to the right player becomes much harder.</a:t>
            </a:r>
          </a:p>
        </p:txBody>
      </p:sp>
      <p:sp>
        <p:nvSpPr>
          <p:cNvPr id="29" name="Rectangle 28"/>
          <p:cNvSpPr/>
          <p:nvPr/>
        </p:nvSpPr>
        <p:spPr>
          <a:xfrm>
            <a:off x="640080" y="5358384"/>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0080" y="5559552"/>
            <a:ext cx="3520440" cy="237744"/>
          </a:xfrm>
          <a:prstGeom prst="rect">
            <a:avLst/>
          </a:prstGeom>
          <a:noFill/>
        </p:spPr>
        <p:txBody>
          <a:bodyPr wrap="square" lIns="0" rIns="0" tIns="0" bIns="0" anchor="t">
            <a:spAutoFit/>
          </a:bodyPr>
          <a:lstStyle/>
          <a:p>
            <a:pPr algn="l">
              <a:lnSpc>
                <a:spcPct val="120000"/>
              </a:lnSpc>
            </a:pPr>
            <a:r>
              <a:rPr sz="1140" b="1" i="0">
                <a:solidFill>
                  <a:srgbClr val="FFFFFF"/>
                </a:solidFill>
                <a:latin typeface="Arial"/>
              </a:rPr>
              <a:t>Video quality sets the floor</a:t>
            </a:r>
          </a:p>
        </p:txBody>
      </p:sp>
      <p:sp>
        <p:nvSpPr>
          <p:cNvPr id="31" name="TextBox 30"/>
          <p:cNvSpPr txBox="1"/>
          <p:nvPr/>
        </p:nvSpPr>
        <p:spPr>
          <a:xfrm>
            <a:off x="640080" y="5852160"/>
            <a:ext cx="3520440" cy="457200"/>
          </a:xfrm>
          <a:prstGeom prst="rect">
            <a:avLst/>
          </a:prstGeom>
          <a:noFill/>
        </p:spPr>
        <p:txBody>
          <a:bodyPr wrap="square" lIns="0" rIns="0" tIns="0" bIns="0" anchor="t">
            <a:spAutoFit/>
          </a:bodyPr>
          <a:lstStyle/>
          <a:p>
            <a:pPr algn="l">
              <a:lnSpc>
                <a:spcPct val="130000"/>
              </a:lnSpc>
            </a:pPr>
            <a:r>
              <a:rPr sz="1000" b="0" i="0">
                <a:solidFill>
                  <a:srgbClr val="8695AC"/>
                </a:solidFill>
                <a:latin typeface="Arial"/>
              </a:rPr>
              <a:t>Lower source resolution and heavy compression shrink a mark below what any detector can read.</a:t>
            </a:r>
          </a:p>
        </p:txBody>
      </p:sp>
      <p:sp>
        <p:nvSpPr>
          <p:cNvPr id="32" name="TextBox 31"/>
          <p:cNvSpPr txBox="1"/>
          <p:nvPr/>
        </p:nvSpPr>
        <p:spPr>
          <a:xfrm>
            <a:off x="4352544" y="5559552"/>
            <a:ext cx="3520440" cy="237744"/>
          </a:xfrm>
          <a:prstGeom prst="rect">
            <a:avLst/>
          </a:prstGeom>
          <a:noFill/>
        </p:spPr>
        <p:txBody>
          <a:bodyPr wrap="square" lIns="0" rIns="0" tIns="0" bIns="0" anchor="t">
            <a:spAutoFit/>
          </a:bodyPr>
          <a:lstStyle/>
          <a:p>
            <a:pPr algn="l">
              <a:lnSpc>
                <a:spcPct val="120000"/>
              </a:lnSpc>
            </a:pPr>
            <a:r>
              <a:rPr sz="1140" b="1" i="0">
                <a:solidFill>
                  <a:srgbClr val="FFFFFF"/>
                </a:solidFill>
                <a:latin typeface="Arial"/>
              </a:rPr>
              <a:t>Wide play is under-counted</a:t>
            </a:r>
          </a:p>
        </p:txBody>
      </p:sp>
      <p:sp>
        <p:nvSpPr>
          <p:cNvPr id="33" name="TextBox 32"/>
          <p:cNvSpPr txBox="1"/>
          <p:nvPr/>
        </p:nvSpPr>
        <p:spPr>
          <a:xfrm>
            <a:off x="4352544" y="5852160"/>
            <a:ext cx="3520440" cy="457200"/>
          </a:xfrm>
          <a:prstGeom prst="rect">
            <a:avLst/>
          </a:prstGeom>
          <a:noFill/>
        </p:spPr>
        <p:txBody>
          <a:bodyPr wrap="square" lIns="0" rIns="0" tIns="0" bIns="0" anchor="t">
            <a:spAutoFit/>
          </a:bodyPr>
          <a:lstStyle/>
          <a:p>
            <a:pPr algn="l">
              <a:lnSpc>
                <a:spcPct val="130000"/>
              </a:lnSpc>
            </a:pPr>
            <a:r>
              <a:rPr sz="1000" b="0" i="0">
                <a:solidFill>
                  <a:srgbClr val="8695AC"/>
                </a:solidFill>
                <a:latin typeface="Arial"/>
              </a:rPr>
              <a:t>Recall falls to 0.500 on wide shots, so totals are conservative rather than inflated.</a:t>
            </a:r>
          </a:p>
        </p:txBody>
      </p:sp>
      <p:sp>
        <p:nvSpPr>
          <p:cNvPr id="34" name="TextBox 33"/>
          <p:cNvSpPr txBox="1"/>
          <p:nvPr/>
        </p:nvSpPr>
        <p:spPr>
          <a:xfrm>
            <a:off x="8065007" y="5559552"/>
            <a:ext cx="3520440" cy="237744"/>
          </a:xfrm>
          <a:prstGeom prst="rect">
            <a:avLst/>
          </a:prstGeom>
          <a:noFill/>
        </p:spPr>
        <p:txBody>
          <a:bodyPr wrap="square" lIns="0" rIns="0" tIns="0" bIns="0" anchor="t">
            <a:spAutoFit/>
          </a:bodyPr>
          <a:lstStyle/>
          <a:p>
            <a:pPr algn="l">
              <a:lnSpc>
                <a:spcPct val="120000"/>
              </a:lnSpc>
            </a:pPr>
            <a:r>
              <a:rPr sz="1140" b="1" i="0">
                <a:solidFill>
                  <a:srgbClr val="FFFFFF"/>
                </a:solidFill>
                <a:latin typeface="Arial"/>
              </a:rPr>
              <a:t>Three back positions share an anchor</a:t>
            </a:r>
          </a:p>
        </p:txBody>
      </p:sp>
      <p:sp>
        <p:nvSpPr>
          <p:cNvPr id="35" name="TextBox 34"/>
          <p:cNvSpPr txBox="1"/>
          <p:nvPr/>
        </p:nvSpPr>
        <p:spPr>
          <a:xfrm>
            <a:off x="8065007" y="5852160"/>
            <a:ext cx="3520440" cy="457200"/>
          </a:xfrm>
          <a:prstGeom prst="rect">
            <a:avLst/>
          </a:prstGeom>
          <a:noFill/>
        </p:spPr>
        <p:txBody>
          <a:bodyPr wrap="square" lIns="0" rIns="0" tIns="0" bIns="0" anchor="t">
            <a:spAutoFit/>
          </a:bodyPr>
          <a:lstStyle/>
          <a:p>
            <a:pPr algn="l">
              <a:lnSpc>
                <a:spcPct val="130000"/>
              </a:lnSpc>
            </a:pPr>
            <a:r>
              <a:rPr sz="1000" b="0" i="0">
                <a:solidFill>
                  <a:srgbClr val="8695AC"/>
                </a:solidFill>
                <a:latin typeface="Arial"/>
              </a:rPr>
              <a:t>Top back, nape and collar back are read as a group, not as three independent readings.</a:t>
            </a:r>
          </a:p>
        </p:txBody>
      </p:sp>
      <p:sp>
        <p:nvSpPr>
          <p:cNvPr id="36" name="TextBox 35"/>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Examples selected from artifacts/bradford_showcase. Confidence is a model output, not a measured occlusion percentage.</a:t>
            </a:r>
          </a:p>
        </p:txBody>
      </p:sp>
      <p:sp>
        <p:nvSpPr>
          <p:cNvPr id="37" name="TextBox 36"/>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WHAT THE MODEL RECOMMENDS</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One suggested action per asset</a:t>
            </a:r>
          </a:p>
        </p:txBody>
      </p:sp>
      <p:sp>
        <p:nvSpPr>
          <p:cNvPr id="8" name="TextBox 7"/>
          <p:cNvSpPr txBox="1"/>
          <p:nvPr/>
        </p:nvSpPr>
        <p:spPr>
          <a:xfrm>
            <a:off x="640080" y="1700784"/>
            <a:ext cx="9692640"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Evidence-led starting positions for a pricing review — not automatic price changes. Thresholds are illustrative and the club sets them.</a:t>
            </a:r>
          </a:p>
        </p:txBody>
      </p:sp>
      <p:sp>
        <p:nvSpPr>
          <p:cNvPr id="9" name="Rectangle 8"/>
          <p:cNvSpPr/>
          <p:nvPr/>
        </p:nvSpPr>
        <p:spPr>
          <a:xfrm>
            <a:off x="640080" y="2212848"/>
            <a:ext cx="2563360" cy="45720"/>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395728"/>
            <a:ext cx="2563360" cy="365760"/>
          </a:xfrm>
          <a:prstGeom prst="rect">
            <a:avLst/>
          </a:prstGeom>
          <a:noFill/>
        </p:spPr>
        <p:txBody>
          <a:bodyPr wrap="square" lIns="0" rIns="0" tIns="0" bIns="0" anchor="t">
            <a:spAutoFit/>
          </a:bodyPr>
          <a:lstStyle/>
          <a:p>
            <a:pPr algn="l">
              <a:lnSpc>
                <a:spcPct val="120000"/>
              </a:lnSpc>
            </a:pPr>
            <a:r>
              <a:rPr sz="3000" b="1" i="0">
                <a:solidFill>
                  <a:srgbClr val="25C787"/>
                </a:solidFill>
                <a:latin typeface="Arial"/>
              </a:rPr>
              <a:t>4</a:t>
            </a:r>
          </a:p>
        </p:txBody>
      </p:sp>
      <p:sp>
        <p:nvSpPr>
          <p:cNvPr id="11" name="TextBox 10"/>
          <p:cNvSpPr txBox="1"/>
          <p:nvPr/>
        </p:nvSpPr>
        <p:spPr>
          <a:xfrm>
            <a:off x="640080" y="2871216"/>
            <a:ext cx="2563360" cy="274320"/>
          </a:xfrm>
          <a:prstGeom prst="rect">
            <a:avLst/>
          </a:prstGeom>
          <a:noFill/>
        </p:spPr>
        <p:txBody>
          <a:bodyPr wrap="square" lIns="0" rIns="0" tIns="0" bIns="0" anchor="t">
            <a:spAutoFit/>
          </a:bodyPr>
          <a:lstStyle/>
          <a:p>
            <a:pPr algn="l">
              <a:lnSpc>
                <a:spcPct val="115000"/>
              </a:lnSpc>
            </a:pPr>
            <a:r>
              <a:rPr sz="1500" b="1" i="0">
                <a:solidFill>
                  <a:srgbClr val="FFFFFF"/>
                </a:solidFill>
                <a:latin typeface="Arial"/>
              </a:rPr>
              <a:t>Review upward</a:t>
            </a:r>
          </a:p>
        </p:txBody>
      </p:sp>
      <p:sp>
        <p:nvSpPr>
          <p:cNvPr id="12" name="TextBox 11"/>
          <p:cNvSpPr txBox="1"/>
          <p:nvPr/>
        </p:nvSpPr>
        <p:spPr>
          <a:xfrm>
            <a:off x="640080" y="3218688"/>
            <a:ext cx="2471920" cy="731520"/>
          </a:xfrm>
          <a:prstGeom prst="rect">
            <a:avLst/>
          </a:prstGeom>
          <a:noFill/>
        </p:spPr>
        <p:txBody>
          <a:bodyPr wrap="square" lIns="0" rIns="0" tIns="0" bIns="0" anchor="t">
            <a:spAutoFit/>
          </a:bodyPr>
          <a:lstStyle/>
          <a:p>
            <a:pPr algn="l">
              <a:lnSpc>
                <a:spcPct val="132000"/>
              </a:lnSpc>
            </a:pPr>
            <a:r>
              <a:rPr sz="1019" b="0" i="0">
                <a:solidFill>
                  <a:srgbClr val="8695AC"/>
                </a:solidFill>
                <a:latin typeface="Arial"/>
              </a:rPr>
              <a:t>Measured delivery far exceeds price share. Test a stronger asking price, or repackage.</a:t>
            </a:r>
          </a:p>
        </p:txBody>
      </p:sp>
      <p:sp>
        <p:nvSpPr>
          <p:cNvPr id="13" name="Rectangle 12"/>
          <p:cNvSpPr/>
          <p:nvPr/>
        </p:nvSpPr>
        <p:spPr>
          <a:xfrm>
            <a:off x="640080" y="4041648"/>
            <a:ext cx="2563360"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 y="420624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KLG</a:t>
            </a:r>
          </a:p>
        </p:txBody>
      </p:sp>
      <p:sp>
        <p:nvSpPr>
          <p:cNvPr id="15" name="TextBox 14"/>
          <p:cNvSpPr txBox="1"/>
          <p:nvPr/>
        </p:nvSpPr>
        <p:spPr>
          <a:xfrm>
            <a:off x="2334760" y="4206240"/>
            <a:ext cx="822960" cy="219456"/>
          </a:xfrm>
          <a:prstGeom prst="rect">
            <a:avLst/>
          </a:prstGeom>
          <a:noFill/>
        </p:spPr>
        <p:txBody>
          <a:bodyPr wrap="square" lIns="0" rIns="0" tIns="0" bIns="0" anchor="t">
            <a:spAutoFit/>
          </a:bodyPr>
          <a:lstStyle/>
          <a:p>
            <a:pPr algn="r">
              <a:lnSpc>
                <a:spcPct val="120000"/>
              </a:lnSpc>
            </a:pPr>
            <a:r>
              <a:rPr sz="1040" b="1" i="0">
                <a:solidFill>
                  <a:srgbClr val="25C787"/>
                </a:solidFill>
                <a:latin typeface="Arial"/>
              </a:rPr>
              <a:t>+18.3</a:t>
            </a:r>
          </a:p>
        </p:txBody>
      </p:sp>
      <p:sp>
        <p:nvSpPr>
          <p:cNvPr id="16" name="TextBox 15"/>
          <p:cNvSpPr txBox="1"/>
          <p:nvPr/>
        </p:nvSpPr>
        <p:spPr>
          <a:xfrm>
            <a:off x="640080" y="4480559"/>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Bartercard</a:t>
            </a:r>
          </a:p>
        </p:txBody>
      </p:sp>
      <p:sp>
        <p:nvSpPr>
          <p:cNvPr id="17" name="TextBox 16"/>
          <p:cNvSpPr txBox="1"/>
          <p:nvPr/>
        </p:nvSpPr>
        <p:spPr>
          <a:xfrm>
            <a:off x="2334760" y="4480559"/>
            <a:ext cx="822960" cy="219456"/>
          </a:xfrm>
          <a:prstGeom prst="rect">
            <a:avLst/>
          </a:prstGeom>
          <a:noFill/>
        </p:spPr>
        <p:txBody>
          <a:bodyPr wrap="square" lIns="0" rIns="0" tIns="0" bIns="0" anchor="t">
            <a:spAutoFit/>
          </a:bodyPr>
          <a:lstStyle/>
          <a:p>
            <a:pPr algn="r">
              <a:lnSpc>
                <a:spcPct val="120000"/>
              </a:lnSpc>
            </a:pPr>
            <a:r>
              <a:rPr sz="1040" b="1" i="0">
                <a:solidFill>
                  <a:srgbClr val="25C787"/>
                </a:solidFill>
                <a:latin typeface="Arial"/>
              </a:rPr>
              <a:t>+9.6</a:t>
            </a:r>
          </a:p>
        </p:txBody>
      </p:sp>
      <p:sp>
        <p:nvSpPr>
          <p:cNvPr id="18" name="TextBox 17"/>
          <p:cNvSpPr txBox="1"/>
          <p:nvPr/>
        </p:nvSpPr>
        <p:spPr>
          <a:xfrm>
            <a:off x="640080" y="4754879"/>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Cedar Court Hotels</a:t>
            </a:r>
          </a:p>
        </p:txBody>
      </p:sp>
      <p:sp>
        <p:nvSpPr>
          <p:cNvPr id="19" name="TextBox 18"/>
          <p:cNvSpPr txBox="1"/>
          <p:nvPr/>
        </p:nvSpPr>
        <p:spPr>
          <a:xfrm>
            <a:off x="2334760" y="4754879"/>
            <a:ext cx="822960" cy="219456"/>
          </a:xfrm>
          <a:prstGeom prst="rect">
            <a:avLst/>
          </a:prstGeom>
          <a:noFill/>
        </p:spPr>
        <p:txBody>
          <a:bodyPr wrap="square" lIns="0" rIns="0" tIns="0" bIns="0" anchor="t">
            <a:spAutoFit/>
          </a:bodyPr>
          <a:lstStyle/>
          <a:p>
            <a:pPr algn="r">
              <a:lnSpc>
                <a:spcPct val="120000"/>
              </a:lnSpc>
            </a:pPr>
            <a:r>
              <a:rPr sz="1040" b="1" i="0">
                <a:solidFill>
                  <a:srgbClr val="25C787"/>
                </a:solidFill>
                <a:latin typeface="Arial"/>
              </a:rPr>
              <a:t>+4.4</a:t>
            </a:r>
          </a:p>
        </p:txBody>
      </p:sp>
      <p:sp>
        <p:nvSpPr>
          <p:cNvPr id="20" name="TextBox 19"/>
          <p:cNvSpPr txBox="1"/>
          <p:nvPr/>
        </p:nvSpPr>
        <p:spPr>
          <a:xfrm>
            <a:off x="640080" y="502920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ASC Group</a:t>
            </a:r>
          </a:p>
        </p:txBody>
      </p:sp>
      <p:sp>
        <p:nvSpPr>
          <p:cNvPr id="21" name="TextBox 20"/>
          <p:cNvSpPr txBox="1"/>
          <p:nvPr/>
        </p:nvSpPr>
        <p:spPr>
          <a:xfrm>
            <a:off x="2334760" y="5029200"/>
            <a:ext cx="822960" cy="219456"/>
          </a:xfrm>
          <a:prstGeom prst="rect">
            <a:avLst/>
          </a:prstGeom>
          <a:noFill/>
        </p:spPr>
        <p:txBody>
          <a:bodyPr wrap="square" lIns="0" rIns="0" tIns="0" bIns="0" anchor="t">
            <a:spAutoFit/>
          </a:bodyPr>
          <a:lstStyle/>
          <a:p>
            <a:pPr algn="r">
              <a:lnSpc>
                <a:spcPct val="120000"/>
              </a:lnSpc>
            </a:pPr>
            <a:r>
              <a:rPr sz="1040" b="1" i="0">
                <a:solidFill>
                  <a:srgbClr val="25C787"/>
                </a:solidFill>
                <a:latin typeface="Arial"/>
              </a:rPr>
              <a:t>+4.3</a:t>
            </a:r>
          </a:p>
        </p:txBody>
      </p:sp>
      <p:sp>
        <p:nvSpPr>
          <p:cNvPr id="22" name="Rectangle 21"/>
          <p:cNvSpPr/>
          <p:nvPr/>
        </p:nvSpPr>
        <p:spPr>
          <a:xfrm>
            <a:off x="3422896" y="2212848"/>
            <a:ext cx="2563360" cy="45720"/>
          </a:xfrm>
          <a:prstGeom prst="rect">
            <a:avLst/>
          </a:prstGeom>
          <a:solidFill>
            <a:srgbClr val="4AC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22896" y="2395728"/>
            <a:ext cx="2563360" cy="365760"/>
          </a:xfrm>
          <a:prstGeom prst="rect">
            <a:avLst/>
          </a:prstGeom>
          <a:noFill/>
        </p:spPr>
        <p:txBody>
          <a:bodyPr wrap="square" lIns="0" rIns="0" tIns="0" bIns="0" anchor="t">
            <a:spAutoFit/>
          </a:bodyPr>
          <a:lstStyle/>
          <a:p>
            <a:pPr algn="l">
              <a:lnSpc>
                <a:spcPct val="120000"/>
              </a:lnSpc>
            </a:pPr>
            <a:r>
              <a:rPr sz="3000" b="1" i="0">
                <a:solidFill>
                  <a:srgbClr val="4AC8E8"/>
                </a:solidFill>
                <a:latin typeface="Arial"/>
              </a:rPr>
              <a:t>5</a:t>
            </a:r>
          </a:p>
        </p:txBody>
      </p:sp>
      <p:sp>
        <p:nvSpPr>
          <p:cNvPr id="24" name="TextBox 23"/>
          <p:cNvSpPr txBox="1"/>
          <p:nvPr/>
        </p:nvSpPr>
        <p:spPr>
          <a:xfrm>
            <a:off x="3422896" y="2871216"/>
            <a:ext cx="2563360" cy="274320"/>
          </a:xfrm>
          <a:prstGeom prst="rect">
            <a:avLst/>
          </a:prstGeom>
          <a:noFill/>
        </p:spPr>
        <p:txBody>
          <a:bodyPr wrap="square" lIns="0" rIns="0" tIns="0" bIns="0" anchor="t">
            <a:spAutoFit/>
          </a:bodyPr>
          <a:lstStyle/>
          <a:p>
            <a:pPr algn="l">
              <a:lnSpc>
                <a:spcPct val="115000"/>
              </a:lnSpc>
            </a:pPr>
            <a:r>
              <a:rPr sz="1500" b="1" i="0">
                <a:solidFill>
                  <a:srgbClr val="FFFFFF"/>
                </a:solidFill>
                <a:latin typeface="Arial"/>
              </a:rPr>
              <a:t>Modest upside</a:t>
            </a:r>
          </a:p>
        </p:txBody>
      </p:sp>
      <p:sp>
        <p:nvSpPr>
          <p:cNvPr id="25" name="TextBox 24"/>
          <p:cNvSpPr txBox="1"/>
          <p:nvPr/>
        </p:nvSpPr>
        <p:spPr>
          <a:xfrm>
            <a:off x="3422896" y="3218688"/>
            <a:ext cx="2471920" cy="731520"/>
          </a:xfrm>
          <a:prstGeom prst="rect">
            <a:avLst/>
          </a:prstGeom>
          <a:noFill/>
        </p:spPr>
        <p:txBody>
          <a:bodyPr wrap="square" lIns="0" rIns="0" tIns="0" bIns="0" anchor="t">
            <a:spAutoFit/>
          </a:bodyPr>
          <a:lstStyle/>
          <a:p>
            <a:pPr algn="l">
              <a:lnSpc>
                <a:spcPct val="132000"/>
              </a:lnSpc>
            </a:pPr>
            <a:r>
              <a:rPr sz="1019" b="0" i="0">
                <a:solidFill>
                  <a:srgbClr val="8695AC"/>
                </a:solidFill>
                <a:latin typeface="Arial"/>
              </a:rPr>
              <a:t>Delivers above its price share. Candidate for bundling or a tier move.</a:t>
            </a:r>
          </a:p>
        </p:txBody>
      </p:sp>
      <p:sp>
        <p:nvSpPr>
          <p:cNvPr id="26" name="Rectangle 25"/>
          <p:cNvSpPr/>
          <p:nvPr/>
        </p:nvSpPr>
        <p:spPr>
          <a:xfrm>
            <a:off x="3422896" y="4041648"/>
            <a:ext cx="2563360"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422896" y="420624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Paints &amp; Lacquers</a:t>
            </a:r>
          </a:p>
        </p:txBody>
      </p:sp>
      <p:sp>
        <p:nvSpPr>
          <p:cNvPr id="28" name="TextBox 27"/>
          <p:cNvSpPr txBox="1"/>
          <p:nvPr/>
        </p:nvSpPr>
        <p:spPr>
          <a:xfrm>
            <a:off x="5117576" y="4206240"/>
            <a:ext cx="822960" cy="219456"/>
          </a:xfrm>
          <a:prstGeom prst="rect">
            <a:avLst/>
          </a:prstGeom>
          <a:noFill/>
        </p:spPr>
        <p:txBody>
          <a:bodyPr wrap="square" lIns="0" rIns="0" tIns="0" bIns="0" anchor="t">
            <a:spAutoFit/>
          </a:bodyPr>
          <a:lstStyle/>
          <a:p>
            <a:pPr algn="r">
              <a:lnSpc>
                <a:spcPct val="120000"/>
              </a:lnSpc>
            </a:pPr>
            <a:r>
              <a:rPr sz="1040" b="1" i="0">
                <a:solidFill>
                  <a:srgbClr val="4AC8E8"/>
                </a:solidFill>
                <a:latin typeface="Arial"/>
              </a:rPr>
              <a:t>+3.5</a:t>
            </a:r>
          </a:p>
        </p:txBody>
      </p:sp>
      <p:sp>
        <p:nvSpPr>
          <p:cNvPr id="29" name="TextBox 28"/>
          <p:cNvSpPr txBox="1"/>
          <p:nvPr/>
        </p:nvSpPr>
        <p:spPr>
          <a:xfrm>
            <a:off x="3422896" y="4480559"/>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AON</a:t>
            </a:r>
          </a:p>
        </p:txBody>
      </p:sp>
      <p:sp>
        <p:nvSpPr>
          <p:cNvPr id="30" name="TextBox 29"/>
          <p:cNvSpPr txBox="1"/>
          <p:nvPr/>
        </p:nvSpPr>
        <p:spPr>
          <a:xfrm>
            <a:off x="5117576" y="4480559"/>
            <a:ext cx="822960" cy="219456"/>
          </a:xfrm>
          <a:prstGeom prst="rect">
            <a:avLst/>
          </a:prstGeom>
          <a:noFill/>
        </p:spPr>
        <p:txBody>
          <a:bodyPr wrap="square" lIns="0" rIns="0" tIns="0" bIns="0" anchor="t">
            <a:spAutoFit/>
          </a:bodyPr>
          <a:lstStyle/>
          <a:p>
            <a:pPr algn="r">
              <a:lnSpc>
                <a:spcPct val="120000"/>
              </a:lnSpc>
            </a:pPr>
            <a:r>
              <a:rPr sz="1040" b="1" i="0">
                <a:solidFill>
                  <a:srgbClr val="4AC8E8"/>
                </a:solidFill>
                <a:latin typeface="Arial"/>
              </a:rPr>
              <a:t>+2.9</a:t>
            </a:r>
          </a:p>
        </p:txBody>
      </p:sp>
      <p:sp>
        <p:nvSpPr>
          <p:cNvPr id="31" name="TextBox 30"/>
          <p:cNvSpPr txBox="1"/>
          <p:nvPr/>
        </p:nvSpPr>
        <p:spPr>
          <a:xfrm>
            <a:off x="3422896" y="4754879"/>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Chadwick &amp; Lawrence</a:t>
            </a:r>
          </a:p>
        </p:txBody>
      </p:sp>
      <p:sp>
        <p:nvSpPr>
          <p:cNvPr id="32" name="TextBox 31"/>
          <p:cNvSpPr txBox="1"/>
          <p:nvPr/>
        </p:nvSpPr>
        <p:spPr>
          <a:xfrm>
            <a:off x="5117576" y="4754879"/>
            <a:ext cx="822960" cy="219456"/>
          </a:xfrm>
          <a:prstGeom prst="rect">
            <a:avLst/>
          </a:prstGeom>
          <a:noFill/>
        </p:spPr>
        <p:txBody>
          <a:bodyPr wrap="square" lIns="0" rIns="0" tIns="0" bIns="0" anchor="t">
            <a:spAutoFit/>
          </a:bodyPr>
          <a:lstStyle/>
          <a:p>
            <a:pPr algn="r">
              <a:lnSpc>
                <a:spcPct val="120000"/>
              </a:lnSpc>
            </a:pPr>
            <a:r>
              <a:rPr sz="1040" b="1" i="0">
                <a:solidFill>
                  <a:srgbClr val="4AC8E8"/>
                </a:solidFill>
                <a:latin typeface="Arial"/>
              </a:rPr>
              <a:t>+1.9</a:t>
            </a:r>
          </a:p>
        </p:txBody>
      </p:sp>
      <p:sp>
        <p:nvSpPr>
          <p:cNvPr id="33" name="TextBox 32"/>
          <p:cNvSpPr txBox="1"/>
          <p:nvPr/>
        </p:nvSpPr>
        <p:spPr>
          <a:xfrm>
            <a:off x="3422896" y="502920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Ellgren</a:t>
            </a:r>
          </a:p>
        </p:txBody>
      </p:sp>
      <p:sp>
        <p:nvSpPr>
          <p:cNvPr id="34" name="TextBox 33"/>
          <p:cNvSpPr txBox="1"/>
          <p:nvPr/>
        </p:nvSpPr>
        <p:spPr>
          <a:xfrm>
            <a:off x="5117576" y="5029200"/>
            <a:ext cx="822960" cy="219456"/>
          </a:xfrm>
          <a:prstGeom prst="rect">
            <a:avLst/>
          </a:prstGeom>
          <a:noFill/>
        </p:spPr>
        <p:txBody>
          <a:bodyPr wrap="square" lIns="0" rIns="0" tIns="0" bIns="0" anchor="t">
            <a:spAutoFit/>
          </a:bodyPr>
          <a:lstStyle/>
          <a:p>
            <a:pPr algn="r">
              <a:lnSpc>
                <a:spcPct val="120000"/>
              </a:lnSpc>
            </a:pPr>
            <a:r>
              <a:rPr sz="1040" b="1" i="0">
                <a:solidFill>
                  <a:srgbClr val="4AC8E8"/>
                </a:solidFill>
                <a:latin typeface="Arial"/>
              </a:rPr>
              <a:t>+1.5</a:t>
            </a:r>
          </a:p>
        </p:txBody>
      </p:sp>
      <p:sp>
        <p:nvSpPr>
          <p:cNvPr id="35" name="TextBox 34"/>
          <p:cNvSpPr txBox="1"/>
          <p:nvPr/>
        </p:nvSpPr>
        <p:spPr>
          <a:xfrm>
            <a:off x="3422896" y="530352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EM Workwear</a:t>
            </a:r>
          </a:p>
        </p:txBody>
      </p:sp>
      <p:sp>
        <p:nvSpPr>
          <p:cNvPr id="36" name="TextBox 35"/>
          <p:cNvSpPr txBox="1"/>
          <p:nvPr/>
        </p:nvSpPr>
        <p:spPr>
          <a:xfrm>
            <a:off x="5117576" y="5303520"/>
            <a:ext cx="822960" cy="219456"/>
          </a:xfrm>
          <a:prstGeom prst="rect">
            <a:avLst/>
          </a:prstGeom>
          <a:noFill/>
        </p:spPr>
        <p:txBody>
          <a:bodyPr wrap="square" lIns="0" rIns="0" tIns="0" bIns="0" anchor="t">
            <a:spAutoFit/>
          </a:bodyPr>
          <a:lstStyle/>
          <a:p>
            <a:pPr algn="r">
              <a:lnSpc>
                <a:spcPct val="120000"/>
              </a:lnSpc>
            </a:pPr>
            <a:r>
              <a:rPr sz="1040" b="1" i="0">
                <a:solidFill>
                  <a:srgbClr val="4AC8E8"/>
                </a:solidFill>
                <a:latin typeface="Arial"/>
              </a:rPr>
              <a:t>+1.4</a:t>
            </a:r>
          </a:p>
        </p:txBody>
      </p:sp>
      <p:sp>
        <p:nvSpPr>
          <p:cNvPr id="37" name="Rectangle 36"/>
          <p:cNvSpPr/>
          <p:nvPr/>
        </p:nvSpPr>
        <p:spPr>
          <a:xfrm>
            <a:off x="6205712" y="2212848"/>
            <a:ext cx="2563360" cy="4572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205712" y="2395728"/>
            <a:ext cx="2563360" cy="365760"/>
          </a:xfrm>
          <a:prstGeom prst="rect">
            <a:avLst/>
          </a:prstGeom>
          <a:noFill/>
        </p:spPr>
        <p:txBody>
          <a:bodyPr wrap="square" lIns="0" rIns="0" tIns="0" bIns="0" anchor="t">
            <a:spAutoFit/>
          </a:bodyPr>
          <a:lstStyle/>
          <a:p>
            <a:pPr algn="l">
              <a:lnSpc>
                <a:spcPct val="120000"/>
              </a:lnSpc>
            </a:pPr>
            <a:r>
              <a:rPr sz="3000" b="1" i="0">
                <a:solidFill>
                  <a:srgbClr val="FFC20E"/>
                </a:solidFill>
                <a:latin typeface="Arial"/>
              </a:rPr>
              <a:t>1</a:t>
            </a:r>
          </a:p>
        </p:txBody>
      </p:sp>
      <p:sp>
        <p:nvSpPr>
          <p:cNvPr id="39" name="TextBox 38"/>
          <p:cNvSpPr txBox="1"/>
          <p:nvPr/>
        </p:nvSpPr>
        <p:spPr>
          <a:xfrm>
            <a:off x="6205712" y="2871216"/>
            <a:ext cx="2563360" cy="274320"/>
          </a:xfrm>
          <a:prstGeom prst="rect">
            <a:avLst/>
          </a:prstGeom>
          <a:noFill/>
        </p:spPr>
        <p:txBody>
          <a:bodyPr wrap="square" lIns="0" rIns="0" tIns="0" bIns="0" anchor="t">
            <a:spAutoFit/>
          </a:bodyPr>
          <a:lstStyle/>
          <a:p>
            <a:pPr algn="l">
              <a:lnSpc>
                <a:spcPct val="115000"/>
              </a:lnSpc>
            </a:pPr>
            <a:r>
              <a:rPr sz="1500" b="1" i="0">
                <a:solidFill>
                  <a:srgbClr val="FFFFFF"/>
                </a:solidFill>
                <a:latin typeface="Arial"/>
              </a:rPr>
              <a:t>Hold</a:t>
            </a:r>
          </a:p>
        </p:txBody>
      </p:sp>
      <p:sp>
        <p:nvSpPr>
          <p:cNvPr id="40" name="TextBox 39"/>
          <p:cNvSpPr txBox="1"/>
          <p:nvPr/>
        </p:nvSpPr>
        <p:spPr>
          <a:xfrm>
            <a:off x="6205712" y="3218688"/>
            <a:ext cx="2471920" cy="731520"/>
          </a:xfrm>
          <a:prstGeom prst="rect">
            <a:avLst/>
          </a:prstGeom>
          <a:noFill/>
        </p:spPr>
        <p:txBody>
          <a:bodyPr wrap="square" lIns="0" rIns="0" tIns="0" bIns="0" anchor="t">
            <a:spAutoFit/>
          </a:bodyPr>
          <a:lstStyle/>
          <a:p>
            <a:pPr algn="l">
              <a:lnSpc>
                <a:spcPct val="132000"/>
              </a:lnSpc>
            </a:pPr>
            <a:r>
              <a:rPr sz="1019" b="0" i="0">
                <a:solidFill>
                  <a:srgbClr val="8695AC"/>
                </a:solidFill>
                <a:latin typeface="Arial"/>
              </a:rPr>
              <a:t>Price and delivery are close enough to leave alone.</a:t>
            </a:r>
          </a:p>
        </p:txBody>
      </p:sp>
      <p:sp>
        <p:nvSpPr>
          <p:cNvPr id="41" name="Rectangle 40"/>
          <p:cNvSpPr/>
          <p:nvPr/>
        </p:nvSpPr>
        <p:spPr>
          <a:xfrm>
            <a:off x="6205712" y="4041648"/>
            <a:ext cx="2563360"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205712" y="420624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Fairway</a:t>
            </a:r>
          </a:p>
        </p:txBody>
      </p:sp>
      <p:sp>
        <p:nvSpPr>
          <p:cNvPr id="43" name="TextBox 42"/>
          <p:cNvSpPr txBox="1"/>
          <p:nvPr/>
        </p:nvSpPr>
        <p:spPr>
          <a:xfrm>
            <a:off x="7900393" y="4206240"/>
            <a:ext cx="822960" cy="219456"/>
          </a:xfrm>
          <a:prstGeom prst="rect">
            <a:avLst/>
          </a:prstGeom>
          <a:noFill/>
        </p:spPr>
        <p:txBody>
          <a:bodyPr wrap="square" lIns="0" rIns="0" tIns="0" bIns="0" anchor="t">
            <a:spAutoFit/>
          </a:bodyPr>
          <a:lstStyle/>
          <a:p>
            <a:pPr algn="r">
              <a:lnSpc>
                <a:spcPct val="120000"/>
              </a:lnSpc>
            </a:pPr>
            <a:r>
              <a:rPr sz="1040" b="1" i="0">
                <a:solidFill>
                  <a:srgbClr val="FFC20E"/>
                </a:solidFill>
                <a:latin typeface="Arial"/>
              </a:rPr>
              <a:t>-0.8</a:t>
            </a:r>
          </a:p>
        </p:txBody>
      </p:sp>
      <p:sp>
        <p:nvSpPr>
          <p:cNvPr id="44" name="Rectangle 43"/>
          <p:cNvSpPr/>
          <p:nvPr/>
        </p:nvSpPr>
        <p:spPr>
          <a:xfrm>
            <a:off x="8988529" y="2212848"/>
            <a:ext cx="2563360" cy="45720"/>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8988529" y="2395728"/>
            <a:ext cx="2563360" cy="365760"/>
          </a:xfrm>
          <a:prstGeom prst="rect">
            <a:avLst/>
          </a:prstGeom>
          <a:noFill/>
        </p:spPr>
        <p:txBody>
          <a:bodyPr wrap="square" lIns="0" rIns="0" tIns="0" bIns="0" anchor="t">
            <a:spAutoFit/>
          </a:bodyPr>
          <a:lstStyle/>
          <a:p>
            <a:pPr algn="l">
              <a:lnSpc>
                <a:spcPct val="120000"/>
              </a:lnSpc>
            </a:pPr>
            <a:r>
              <a:rPr sz="3000" b="1" i="0">
                <a:solidFill>
                  <a:srgbClr val="3E9BE0"/>
                </a:solidFill>
                <a:latin typeface="Arial"/>
              </a:rPr>
              <a:t>6</a:t>
            </a:r>
          </a:p>
        </p:txBody>
      </p:sp>
      <p:sp>
        <p:nvSpPr>
          <p:cNvPr id="46" name="TextBox 45"/>
          <p:cNvSpPr txBox="1"/>
          <p:nvPr/>
        </p:nvSpPr>
        <p:spPr>
          <a:xfrm>
            <a:off x="8988529" y="2871216"/>
            <a:ext cx="2563360" cy="274320"/>
          </a:xfrm>
          <a:prstGeom prst="rect">
            <a:avLst/>
          </a:prstGeom>
          <a:noFill/>
        </p:spPr>
        <p:txBody>
          <a:bodyPr wrap="square" lIns="0" rIns="0" tIns="0" bIns="0" anchor="t">
            <a:spAutoFit/>
          </a:bodyPr>
          <a:lstStyle/>
          <a:p>
            <a:pPr algn="l">
              <a:lnSpc>
                <a:spcPct val="115000"/>
              </a:lnSpc>
            </a:pPr>
            <a:r>
              <a:rPr sz="1500" b="1" i="0">
                <a:solidFill>
                  <a:srgbClr val="FFFFFF"/>
                </a:solidFill>
                <a:latin typeface="Arial"/>
              </a:rPr>
              <a:t>Justify the premium</a:t>
            </a:r>
          </a:p>
        </p:txBody>
      </p:sp>
      <p:sp>
        <p:nvSpPr>
          <p:cNvPr id="47" name="TextBox 46"/>
          <p:cNvSpPr txBox="1"/>
          <p:nvPr/>
        </p:nvSpPr>
        <p:spPr>
          <a:xfrm>
            <a:off x="8988529" y="3218688"/>
            <a:ext cx="2471920" cy="731520"/>
          </a:xfrm>
          <a:prstGeom prst="rect">
            <a:avLst/>
          </a:prstGeom>
          <a:noFill/>
        </p:spPr>
        <p:txBody>
          <a:bodyPr wrap="square" lIns="0" rIns="0" tIns="0" bIns="0" anchor="t">
            <a:spAutoFit/>
          </a:bodyPr>
          <a:lstStyle/>
          <a:p>
            <a:pPr algn="l">
              <a:lnSpc>
                <a:spcPct val="132000"/>
              </a:lnSpc>
            </a:pPr>
            <a:r>
              <a:rPr sz="1019" b="0" i="0">
                <a:solidFill>
                  <a:srgbClr val="8695AC"/>
                </a:solidFill>
                <a:latin typeface="Arial"/>
              </a:rPr>
              <a:t>Priced above measured delivery. Document the non-broadcast value in writing.</a:t>
            </a:r>
          </a:p>
        </p:txBody>
      </p:sp>
      <p:sp>
        <p:nvSpPr>
          <p:cNvPr id="48" name="Rectangle 47"/>
          <p:cNvSpPr/>
          <p:nvPr/>
        </p:nvSpPr>
        <p:spPr>
          <a:xfrm>
            <a:off x="8988529" y="4041648"/>
            <a:ext cx="2563360"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8988529" y="420624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MCP</a:t>
            </a:r>
          </a:p>
        </p:txBody>
      </p:sp>
      <p:sp>
        <p:nvSpPr>
          <p:cNvPr id="50" name="TextBox 49"/>
          <p:cNvSpPr txBox="1"/>
          <p:nvPr/>
        </p:nvSpPr>
        <p:spPr>
          <a:xfrm>
            <a:off x="10683209" y="4206240"/>
            <a:ext cx="822960" cy="219456"/>
          </a:xfrm>
          <a:prstGeom prst="rect">
            <a:avLst/>
          </a:prstGeom>
          <a:noFill/>
        </p:spPr>
        <p:txBody>
          <a:bodyPr wrap="square" lIns="0" rIns="0" tIns="0" bIns="0" anchor="t">
            <a:spAutoFit/>
          </a:bodyPr>
          <a:lstStyle/>
          <a:p>
            <a:pPr algn="r">
              <a:lnSpc>
                <a:spcPct val="120000"/>
              </a:lnSpc>
            </a:pPr>
            <a:r>
              <a:rPr sz="1040" b="1" i="0">
                <a:solidFill>
                  <a:srgbClr val="3E9BE0"/>
                </a:solidFill>
                <a:latin typeface="Arial"/>
              </a:rPr>
              <a:t>-2.8</a:t>
            </a:r>
          </a:p>
        </p:txBody>
      </p:sp>
      <p:sp>
        <p:nvSpPr>
          <p:cNvPr id="51" name="TextBox 50"/>
          <p:cNvSpPr txBox="1"/>
          <p:nvPr/>
        </p:nvSpPr>
        <p:spPr>
          <a:xfrm>
            <a:off x="8988529" y="4480559"/>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MNA Cladding</a:t>
            </a:r>
          </a:p>
        </p:txBody>
      </p:sp>
      <p:sp>
        <p:nvSpPr>
          <p:cNvPr id="52" name="TextBox 51"/>
          <p:cNvSpPr txBox="1"/>
          <p:nvPr/>
        </p:nvSpPr>
        <p:spPr>
          <a:xfrm>
            <a:off x="10683209" y="4480559"/>
            <a:ext cx="822960" cy="219456"/>
          </a:xfrm>
          <a:prstGeom prst="rect">
            <a:avLst/>
          </a:prstGeom>
          <a:noFill/>
        </p:spPr>
        <p:txBody>
          <a:bodyPr wrap="square" lIns="0" rIns="0" tIns="0" bIns="0" anchor="t">
            <a:spAutoFit/>
          </a:bodyPr>
          <a:lstStyle/>
          <a:p>
            <a:pPr algn="r">
              <a:lnSpc>
                <a:spcPct val="120000"/>
              </a:lnSpc>
            </a:pPr>
            <a:r>
              <a:rPr sz="1040" b="1" i="0">
                <a:solidFill>
                  <a:srgbClr val="3E9BE0"/>
                </a:solidFill>
                <a:latin typeface="Arial"/>
              </a:rPr>
              <a:t>-4.7</a:t>
            </a:r>
          </a:p>
        </p:txBody>
      </p:sp>
      <p:sp>
        <p:nvSpPr>
          <p:cNvPr id="53" name="TextBox 52"/>
          <p:cNvSpPr txBox="1"/>
          <p:nvPr/>
        </p:nvSpPr>
        <p:spPr>
          <a:xfrm>
            <a:off x="8988529" y="4754879"/>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Romantica</a:t>
            </a:r>
          </a:p>
        </p:txBody>
      </p:sp>
      <p:sp>
        <p:nvSpPr>
          <p:cNvPr id="54" name="TextBox 53"/>
          <p:cNvSpPr txBox="1"/>
          <p:nvPr/>
        </p:nvSpPr>
        <p:spPr>
          <a:xfrm>
            <a:off x="10683209" y="4754879"/>
            <a:ext cx="822960" cy="219456"/>
          </a:xfrm>
          <a:prstGeom prst="rect">
            <a:avLst/>
          </a:prstGeom>
          <a:noFill/>
        </p:spPr>
        <p:txBody>
          <a:bodyPr wrap="square" lIns="0" rIns="0" tIns="0" bIns="0" anchor="t">
            <a:spAutoFit/>
          </a:bodyPr>
          <a:lstStyle/>
          <a:p>
            <a:pPr algn="r">
              <a:lnSpc>
                <a:spcPct val="120000"/>
              </a:lnSpc>
            </a:pPr>
            <a:r>
              <a:rPr sz="1040" b="1" i="0">
                <a:solidFill>
                  <a:srgbClr val="3E9BE0"/>
                </a:solidFill>
                <a:latin typeface="Arial"/>
              </a:rPr>
              <a:t>-4.9</a:t>
            </a:r>
          </a:p>
        </p:txBody>
      </p:sp>
      <p:sp>
        <p:nvSpPr>
          <p:cNvPr id="55" name="TextBox 54"/>
          <p:cNvSpPr txBox="1"/>
          <p:nvPr/>
        </p:nvSpPr>
        <p:spPr>
          <a:xfrm>
            <a:off x="8988529" y="502920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MNA Support Services</a:t>
            </a:r>
          </a:p>
        </p:txBody>
      </p:sp>
      <p:sp>
        <p:nvSpPr>
          <p:cNvPr id="56" name="TextBox 55"/>
          <p:cNvSpPr txBox="1"/>
          <p:nvPr/>
        </p:nvSpPr>
        <p:spPr>
          <a:xfrm>
            <a:off x="10683209" y="5029200"/>
            <a:ext cx="822960" cy="219456"/>
          </a:xfrm>
          <a:prstGeom prst="rect">
            <a:avLst/>
          </a:prstGeom>
          <a:noFill/>
        </p:spPr>
        <p:txBody>
          <a:bodyPr wrap="square" lIns="0" rIns="0" tIns="0" bIns="0" anchor="t">
            <a:spAutoFit/>
          </a:bodyPr>
          <a:lstStyle/>
          <a:p>
            <a:pPr algn="r">
              <a:lnSpc>
                <a:spcPct val="120000"/>
              </a:lnSpc>
            </a:pPr>
            <a:r>
              <a:rPr sz="1040" b="1" i="0">
                <a:solidFill>
                  <a:srgbClr val="3E9BE0"/>
                </a:solidFill>
                <a:latin typeface="Arial"/>
              </a:rPr>
              <a:t>-5.8</a:t>
            </a:r>
          </a:p>
        </p:txBody>
      </p:sp>
      <p:sp>
        <p:nvSpPr>
          <p:cNvPr id="57" name="TextBox 56"/>
          <p:cNvSpPr txBox="1"/>
          <p:nvPr/>
        </p:nvSpPr>
        <p:spPr>
          <a:xfrm>
            <a:off x="8988529" y="530352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ATM Hospitality</a:t>
            </a:r>
          </a:p>
        </p:txBody>
      </p:sp>
      <p:sp>
        <p:nvSpPr>
          <p:cNvPr id="58" name="TextBox 57"/>
          <p:cNvSpPr txBox="1"/>
          <p:nvPr/>
        </p:nvSpPr>
        <p:spPr>
          <a:xfrm>
            <a:off x="10683209" y="5303520"/>
            <a:ext cx="822960" cy="219456"/>
          </a:xfrm>
          <a:prstGeom prst="rect">
            <a:avLst/>
          </a:prstGeom>
          <a:noFill/>
        </p:spPr>
        <p:txBody>
          <a:bodyPr wrap="square" lIns="0" rIns="0" tIns="0" bIns="0" anchor="t">
            <a:spAutoFit/>
          </a:bodyPr>
          <a:lstStyle/>
          <a:p>
            <a:pPr algn="r">
              <a:lnSpc>
                <a:spcPct val="120000"/>
              </a:lnSpc>
            </a:pPr>
            <a:r>
              <a:rPr sz="1040" b="1" i="0">
                <a:solidFill>
                  <a:srgbClr val="3E9BE0"/>
                </a:solidFill>
                <a:latin typeface="Arial"/>
              </a:rPr>
              <a:t>-8.8</a:t>
            </a:r>
          </a:p>
        </p:txBody>
      </p:sp>
      <p:sp>
        <p:nvSpPr>
          <p:cNvPr id="59" name="TextBox 58"/>
          <p:cNvSpPr txBox="1"/>
          <p:nvPr/>
        </p:nvSpPr>
        <p:spPr>
          <a:xfrm>
            <a:off x="8988529" y="5577840"/>
            <a:ext cx="1694680" cy="219456"/>
          </a:xfrm>
          <a:prstGeom prst="rect">
            <a:avLst/>
          </a:prstGeom>
          <a:noFill/>
        </p:spPr>
        <p:txBody>
          <a:bodyPr wrap="square" lIns="0" rIns="0" tIns="0" bIns="0" anchor="t">
            <a:spAutoFit/>
          </a:bodyPr>
          <a:lstStyle/>
          <a:p>
            <a:pPr algn="l">
              <a:lnSpc>
                <a:spcPct val="120000"/>
              </a:lnSpc>
            </a:pPr>
            <a:r>
              <a:rPr sz="1040" b="0" i="0">
                <a:solidFill>
                  <a:srgbClr val="DCE4EF"/>
                </a:solidFill>
                <a:latin typeface="Arial"/>
              </a:rPr>
              <a:t>Top Notch</a:t>
            </a:r>
          </a:p>
        </p:txBody>
      </p:sp>
      <p:sp>
        <p:nvSpPr>
          <p:cNvPr id="60" name="TextBox 59"/>
          <p:cNvSpPr txBox="1"/>
          <p:nvPr/>
        </p:nvSpPr>
        <p:spPr>
          <a:xfrm>
            <a:off x="10683209" y="5577840"/>
            <a:ext cx="822960" cy="219456"/>
          </a:xfrm>
          <a:prstGeom prst="rect">
            <a:avLst/>
          </a:prstGeom>
          <a:noFill/>
        </p:spPr>
        <p:txBody>
          <a:bodyPr wrap="square" lIns="0" rIns="0" tIns="0" bIns="0" anchor="t">
            <a:spAutoFit/>
          </a:bodyPr>
          <a:lstStyle/>
          <a:p>
            <a:pPr algn="r">
              <a:lnSpc>
                <a:spcPct val="120000"/>
              </a:lnSpc>
            </a:pPr>
            <a:r>
              <a:rPr sz="1040" b="1" i="0">
                <a:solidFill>
                  <a:srgbClr val="3E9BE0"/>
                </a:solidFill>
                <a:latin typeface="Arial"/>
              </a:rPr>
              <a:t>-14.7</a:t>
            </a:r>
          </a:p>
        </p:txBody>
      </p:sp>
      <p:sp>
        <p:nvSpPr>
          <p:cNvPr id="61" name="TextBox 60"/>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Bands applied to the mean measured gap in percentage points: ≥ +4.0, +1.0 to +4.0, −2.0 to +1.0, and ≤ −2.0. Illustrative thresholds.</a:t>
            </a:r>
          </a:p>
        </p:txBody>
      </p:sp>
      <p:sp>
        <p:nvSpPr>
          <p:cNvPr id="62" name="TextBox 61"/>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PRACTICAL VALUE</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What this is worth to Bradford Bulls</a:t>
            </a:r>
          </a:p>
        </p:txBody>
      </p:sp>
      <p:sp>
        <p:nvSpPr>
          <p:cNvPr id="8" name="TextBox 7"/>
          <p:cNvSpPr txBox="1"/>
          <p:nvPr/>
        </p:nvSpPr>
        <p:spPr>
          <a:xfrm>
            <a:off x="640080" y="1700784"/>
            <a:ext cx="8947683"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The output is evidence for a commercial conversation — not an automatic price list.</a:t>
            </a:r>
          </a:p>
        </p:txBody>
      </p:sp>
      <p:sp>
        <p:nvSpPr>
          <p:cNvPr id="9" name="Rectangle 8"/>
          <p:cNvSpPr/>
          <p:nvPr/>
        </p:nvSpPr>
        <p:spPr>
          <a:xfrm>
            <a:off x="640080" y="2359152"/>
            <a:ext cx="384048" cy="4114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578608"/>
            <a:ext cx="4937760" cy="329184"/>
          </a:xfrm>
          <a:prstGeom prst="rect">
            <a:avLst/>
          </a:prstGeom>
          <a:noFill/>
        </p:spPr>
        <p:txBody>
          <a:bodyPr wrap="square" lIns="0" rIns="0" tIns="0" bIns="0" anchor="t">
            <a:spAutoFit/>
          </a:bodyPr>
          <a:lstStyle/>
          <a:p>
            <a:pPr algn="l">
              <a:lnSpc>
                <a:spcPct val="115000"/>
              </a:lnSpc>
            </a:pPr>
            <a:r>
              <a:rPr sz="1700" b="1" i="0">
                <a:solidFill>
                  <a:srgbClr val="FFFFFF"/>
                </a:solidFill>
                <a:latin typeface="Arial"/>
              </a:rPr>
              <a:t>Sponsorship valuation</a:t>
            </a:r>
          </a:p>
        </p:txBody>
      </p:sp>
      <p:sp>
        <p:nvSpPr>
          <p:cNvPr id="11" name="TextBox 10"/>
          <p:cNvSpPr txBox="1"/>
          <p:nvPr/>
        </p:nvSpPr>
        <p:spPr>
          <a:xfrm>
            <a:off x="640080" y="3054096"/>
            <a:ext cx="5074920" cy="914400"/>
          </a:xfrm>
          <a:prstGeom prst="rect">
            <a:avLst/>
          </a:prstGeom>
          <a:noFill/>
        </p:spPr>
        <p:txBody>
          <a:bodyPr wrap="square" lIns="0" rIns="0" tIns="0" bIns="0" anchor="t">
            <a:spAutoFit/>
          </a:bodyPr>
          <a:lstStyle/>
          <a:p>
            <a:pPr algn="l">
              <a:lnSpc>
                <a:spcPct val="140000"/>
              </a:lnSpc>
            </a:pPr>
            <a:r>
              <a:rPr sz="1140" b="0" i="0">
                <a:solidFill>
                  <a:srgbClr val="8695AC"/>
                </a:solidFill>
                <a:latin typeface="Arial"/>
              </a:rPr>
              <a:t>Each position now has a measured delivery figure that traces back to frames and timestamps, so the shirt can be valued as an inventory rather than a list of slots.</a:t>
            </a:r>
          </a:p>
        </p:txBody>
      </p:sp>
      <p:sp>
        <p:nvSpPr>
          <p:cNvPr id="12" name="Rectangle 11"/>
          <p:cNvSpPr/>
          <p:nvPr/>
        </p:nvSpPr>
        <p:spPr>
          <a:xfrm>
            <a:off x="5961888" y="2359152"/>
            <a:ext cx="7315" cy="1389888"/>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09360" y="2359152"/>
            <a:ext cx="384048" cy="41148"/>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09360" y="2578608"/>
            <a:ext cx="4937760" cy="329184"/>
          </a:xfrm>
          <a:prstGeom prst="rect">
            <a:avLst/>
          </a:prstGeom>
          <a:noFill/>
        </p:spPr>
        <p:txBody>
          <a:bodyPr wrap="square" lIns="0" rIns="0" tIns="0" bIns="0" anchor="t">
            <a:spAutoFit/>
          </a:bodyPr>
          <a:lstStyle/>
          <a:p>
            <a:pPr algn="l">
              <a:lnSpc>
                <a:spcPct val="115000"/>
              </a:lnSpc>
            </a:pPr>
            <a:r>
              <a:rPr sz="1700" b="1" i="0">
                <a:solidFill>
                  <a:srgbClr val="FFFFFF"/>
                </a:solidFill>
                <a:latin typeface="Arial"/>
              </a:rPr>
              <a:t>Pricing decisions</a:t>
            </a:r>
          </a:p>
        </p:txBody>
      </p:sp>
      <p:sp>
        <p:nvSpPr>
          <p:cNvPr id="15" name="TextBox 14"/>
          <p:cNvSpPr txBox="1"/>
          <p:nvPr/>
        </p:nvSpPr>
        <p:spPr>
          <a:xfrm>
            <a:off x="6309360" y="3054096"/>
            <a:ext cx="5074920" cy="914400"/>
          </a:xfrm>
          <a:prstGeom prst="rect">
            <a:avLst/>
          </a:prstGeom>
          <a:noFill/>
        </p:spPr>
        <p:txBody>
          <a:bodyPr wrap="square" lIns="0" rIns="0" tIns="0" bIns="0" anchor="t">
            <a:spAutoFit/>
          </a:bodyPr>
          <a:lstStyle/>
          <a:p>
            <a:pPr algn="l">
              <a:lnSpc>
                <a:spcPct val="140000"/>
              </a:lnSpc>
            </a:pPr>
            <a:r>
              <a:rPr sz="1140" b="0" i="0">
                <a:solidFill>
                  <a:srgbClr val="8695AC"/>
                </a:solidFill>
                <a:latin typeface="Arial"/>
              </a:rPr>
              <a:t>Shorts and lower-back positions are sold cheaply relative to what they deliver; the chest premium can be defended deliberately rather than by habit.</a:t>
            </a:r>
          </a:p>
        </p:txBody>
      </p:sp>
      <p:sp>
        <p:nvSpPr>
          <p:cNvPr id="16" name="Rectangle 15"/>
          <p:cNvSpPr/>
          <p:nvPr/>
        </p:nvSpPr>
        <p:spPr>
          <a:xfrm>
            <a:off x="640080" y="4114800"/>
            <a:ext cx="384048" cy="41148"/>
          </a:xfrm>
          <a:prstGeom prst="rect">
            <a:avLst/>
          </a:prstGeom>
          <a:solidFill>
            <a:srgbClr val="3E9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4334256"/>
            <a:ext cx="4937760" cy="329184"/>
          </a:xfrm>
          <a:prstGeom prst="rect">
            <a:avLst/>
          </a:prstGeom>
          <a:noFill/>
        </p:spPr>
        <p:txBody>
          <a:bodyPr wrap="square" lIns="0" rIns="0" tIns="0" bIns="0" anchor="t">
            <a:spAutoFit/>
          </a:bodyPr>
          <a:lstStyle/>
          <a:p>
            <a:pPr algn="l">
              <a:lnSpc>
                <a:spcPct val="115000"/>
              </a:lnSpc>
            </a:pPr>
            <a:r>
              <a:rPr sz="1700" b="1" i="0">
                <a:solidFill>
                  <a:srgbClr val="FFFFFF"/>
                </a:solidFill>
                <a:latin typeface="Arial"/>
              </a:rPr>
              <a:t>Evidence-based sponsor talks</a:t>
            </a:r>
          </a:p>
        </p:txBody>
      </p:sp>
      <p:sp>
        <p:nvSpPr>
          <p:cNvPr id="18" name="TextBox 17"/>
          <p:cNvSpPr txBox="1"/>
          <p:nvPr/>
        </p:nvSpPr>
        <p:spPr>
          <a:xfrm>
            <a:off x="640080" y="4809744"/>
            <a:ext cx="5074920" cy="914400"/>
          </a:xfrm>
          <a:prstGeom prst="rect">
            <a:avLst/>
          </a:prstGeom>
          <a:noFill/>
        </p:spPr>
        <p:txBody>
          <a:bodyPr wrap="square" lIns="0" rIns="0" tIns="0" bIns="0" anchor="t">
            <a:spAutoFit/>
          </a:bodyPr>
          <a:lstStyle/>
          <a:p>
            <a:pPr algn="l">
              <a:lnSpc>
                <a:spcPct val="140000"/>
              </a:lnSpc>
            </a:pPr>
            <a:r>
              <a:rPr sz="1140" b="0" i="0">
                <a:solidFill>
                  <a:srgbClr val="8695AC"/>
                </a:solidFill>
                <a:latin typeface="Arial"/>
              </a:rPr>
              <a:t>Renewal conversations move from assertion to a number both sides can see, with the method open to challenge.</a:t>
            </a:r>
          </a:p>
        </p:txBody>
      </p:sp>
      <p:sp>
        <p:nvSpPr>
          <p:cNvPr id="19" name="Rectangle 18"/>
          <p:cNvSpPr/>
          <p:nvPr/>
        </p:nvSpPr>
        <p:spPr>
          <a:xfrm>
            <a:off x="5961888" y="4114800"/>
            <a:ext cx="7315" cy="1389888"/>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309360" y="4114800"/>
            <a:ext cx="384048" cy="41148"/>
          </a:xfrm>
          <a:prstGeom prst="rect">
            <a:avLst/>
          </a:prstGeom>
          <a:solidFill>
            <a:srgbClr val="25C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09360" y="4334256"/>
            <a:ext cx="4937760" cy="329184"/>
          </a:xfrm>
          <a:prstGeom prst="rect">
            <a:avLst/>
          </a:prstGeom>
          <a:noFill/>
        </p:spPr>
        <p:txBody>
          <a:bodyPr wrap="square" lIns="0" rIns="0" tIns="0" bIns="0" anchor="t">
            <a:spAutoFit/>
          </a:bodyPr>
          <a:lstStyle/>
          <a:p>
            <a:pPr algn="l">
              <a:lnSpc>
                <a:spcPct val="115000"/>
              </a:lnSpc>
            </a:pPr>
            <a:r>
              <a:rPr sz="1700" b="1" i="0">
                <a:solidFill>
                  <a:srgbClr val="FFFFFF"/>
                </a:solidFill>
                <a:latin typeface="Arial"/>
              </a:rPr>
              <a:t>Sponsor reporting and retention</a:t>
            </a:r>
          </a:p>
        </p:txBody>
      </p:sp>
      <p:sp>
        <p:nvSpPr>
          <p:cNvPr id="22" name="TextBox 21"/>
          <p:cNvSpPr txBox="1"/>
          <p:nvPr/>
        </p:nvSpPr>
        <p:spPr>
          <a:xfrm>
            <a:off x="6309360" y="4809744"/>
            <a:ext cx="5074920" cy="914400"/>
          </a:xfrm>
          <a:prstGeom prst="rect">
            <a:avLst/>
          </a:prstGeom>
          <a:noFill/>
        </p:spPr>
        <p:txBody>
          <a:bodyPr wrap="square" lIns="0" rIns="0" tIns="0" bIns="0" anchor="t">
            <a:spAutoFit/>
          </a:bodyPr>
          <a:lstStyle/>
          <a:p>
            <a:pPr algn="l">
              <a:lnSpc>
                <a:spcPct val="140000"/>
              </a:lnSpc>
            </a:pPr>
            <a:r>
              <a:rPr sz="1140" b="0" i="0">
                <a:solidFill>
                  <a:srgbClr val="8695AC"/>
                </a:solidFill>
                <a:latin typeface="Arial"/>
              </a:rPr>
              <a:t>Each partner can be given a per-match summary of their own delivery: seconds, appearances, quality and share of the shirt.</a:t>
            </a:r>
          </a:p>
        </p:txBody>
      </p:sp>
      <p:sp>
        <p:nvSpPr>
          <p:cNvPr id="23" name="Rectangle 22"/>
          <p:cNvSpPr/>
          <p:nvPr/>
        </p:nvSpPr>
        <p:spPr>
          <a:xfrm>
            <a:off x="640080" y="5907024"/>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0080" y="6089904"/>
            <a:ext cx="10911809" cy="274320"/>
          </a:xfrm>
          <a:prstGeom prst="rect">
            <a:avLst/>
          </a:prstGeom>
          <a:noFill/>
        </p:spPr>
        <p:txBody>
          <a:bodyPr wrap="square" lIns="0" rIns="0" tIns="0" bIns="0" anchor="t">
            <a:spAutoFit/>
          </a:bodyPr>
          <a:lstStyle/>
          <a:p>
            <a:pPr algn="l">
              <a:lnSpc>
                <a:spcPct val="120000"/>
              </a:lnSpc>
            </a:pPr>
            <a:r>
              <a:rPr sz="1250" b="1" i="0">
                <a:solidFill>
                  <a:srgbClr val="FFC20E"/>
                </a:solidFill>
                <a:latin typeface="Arial"/>
              </a:rPr>
              <a:t>Use it as decision evidence, not as a pricing engine: club judgement, LogoLens measurement, and a written rationale wherever the two disagree.</a:t>
            </a:r>
          </a:p>
        </p:txBody>
      </p:sp>
      <p:sp>
        <p:nvSpPr>
          <p:cNvPr id="25" name="TextBox 24"/>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NEXT STEPS</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From a two-match pilot to a season-level system</a:t>
            </a:r>
          </a:p>
        </p:txBody>
      </p:sp>
      <p:sp>
        <p:nvSpPr>
          <p:cNvPr id="8" name="TextBox 7"/>
          <p:cNvSpPr txBox="1"/>
          <p:nvPr/>
        </p:nvSpPr>
        <p:spPr>
          <a:xfrm>
            <a:off x="640080" y="1700784"/>
            <a:ext cx="8947683" cy="548640"/>
          </a:xfrm>
          <a:prstGeom prst="rect">
            <a:avLst/>
          </a:prstGeom>
          <a:noFill/>
        </p:spPr>
        <p:txBody>
          <a:bodyPr wrap="square" lIns="0" rIns="0" tIns="0" bIns="0" anchor="t">
            <a:spAutoFit/>
          </a:bodyPr>
          <a:lstStyle/>
          <a:p>
            <a:pPr algn="l">
              <a:lnSpc>
                <a:spcPct val="135000"/>
              </a:lnSpc>
            </a:pPr>
            <a:r>
              <a:rPr sz="1300" b="0" i="0">
                <a:solidFill>
                  <a:srgbClr val="8695AC"/>
                </a:solidFill>
                <a:latin typeface="Arial"/>
              </a:rPr>
              <a:t>Four steps in order — then the work that takes it beyond one club.</a:t>
            </a:r>
          </a:p>
        </p:txBody>
      </p:sp>
      <p:sp>
        <p:nvSpPr>
          <p:cNvPr id="9" name="Freeform 8"/>
          <p:cNvSpPr/>
          <p:nvPr/>
        </p:nvSpPr>
        <p:spPr>
          <a:xfrm>
            <a:off x="640080" y="2286000"/>
            <a:ext cx="402335" cy="187452"/>
          </a:xfrm>
          <a:custGeom>
            <a:avLst/>
            <a:gdLst/>
            <a:ahLst/>
            <a:cxnLst/>
            <a:rect l="l" t="t" r="r" b="b"/>
            <a:pathLst>
              <a:path w="402335" h="187452">
                <a:moveTo>
                  <a:pt x="0" y="0"/>
                </a:moveTo>
                <a:lnTo>
                  <a:pt x="201167" y="118872"/>
                </a:lnTo>
                <a:lnTo>
                  <a:pt x="402335" y="0"/>
                </a:lnTo>
                <a:lnTo>
                  <a:pt x="402335" y="68580"/>
                </a:lnTo>
                <a:lnTo>
                  <a:pt x="201167" y="187452"/>
                </a:lnTo>
                <a:lnTo>
                  <a:pt x="0" y="68580"/>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615184"/>
            <a:ext cx="2522212" cy="384048"/>
          </a:xfrm>
          <a:prstGeom prst="rect">
            <a:avLst/>
          </a:prstGeom>
          <a:noFill/>
        </p:spPr>
        <p:txBody>
          <a:bodyPr wrap="square" lIns="0" rIns="0" tIns="0" bIns="0" anchor="t">
            <a:spAutoFit/>
          </a:bodyPr>
          <a:lstStyle/>
          <a:p>
            <a:pPr algn="l">
              <a:lnSpc>
                <a:spcPct val="120000"/>
              </a:lnSpc>
            </a:pPr>
            <a:r>
              <a:rPr sz="3000" b="1" i="0">
                <a:solidFill>
                  <a:srgbClr val="E4002B"/>
                </a:solidFill>
                <a:latin typeface="Arial"/>
              </a:rPr>
              <a:t>01</a:t>
            </a:r>
          </a:p>
        </p:txBody>
      </p:sp>
      <p:sp>
        <p:nvSpPr>
          <p:cNvPr id="11" name="TextBox 10"/>
          <p:cNvSpPr txBox="1"/>
          <p:nvPr/>
        </p:nvSpPr>
        <p:spPr>
          <a:xfrm>
            <a:off x="640080" y="3145536"/>
            <a:ext cx="2522212" cy="329184"/>
          </a:xfrm>
          <a:prstGeom prst="rect">
            <a:avLst/>
          </a:prstGeom>
          <a:noFill/>
        </p:spPr>
        <p:txBody>
          <a:bodyPr wrap="square" lIns="0" rIns="0" tIns="0" bIns="0" anchor="t">
            <a:spAutoFit/>
          </a:bodyPr>
          <a:lstStyle/>
          <a:p>
            <a:pPr algn="l">
              <a:lnSpc>
                <a:spcPct val="114000"/>
              </a:lnSpc>
            </a:pPr>
            <a:r>
              <a:rPr sz="1600" b="1" i="0">
                <a:solidFill>
                  <a:srgbClr val="FFFFFF"/>
                </a:solidFill>
                <a:latin typeface="Arial"/>
              </a:rPr>
              <a:t>Confirm the map</a:t>
            </a:r>
          </a:p>
        </p:txBody>
      </p:sp>
      <p:sp>
        <p:nvSpPr>
          <p:cNvPr id="12" name="TextBox 11"/>
          <p:cNvSpPr txBox="1"/>
          <p:nvPr/>
        </p:nvSpPr>
        <p:spPr>
          <a:xfrm>
            <a:off x="640080" y="3639312"/>
            <a:ext cx="2375908" cy="1005840"/>
          </a:xfrm>
          <a:prstGeom prst="rect">
            <a:avLst/>
          </a:prstGeom>
          <a:noFill/>
        </p:spPr>
        <p:txBody>
          <a:bodyPr wrap="square" lIns="0" rIns="0" tIns="0" bIns="0" anchor="t">
            <a:spAutoFit/>
          </a:bodyPr>
          <a:lstStyle/>
          <a:p>
            <a:pPr algn="l">
              <a:lnSpc>
                <a:spcPct val="136000"/>
              </a:lnSpc>
            </a:pPr>
            <a:r>
              <a:rPr sz="1100" b="0" i="0">
                <a:solidFill>
                  <a:srgbClr val="8695AC"/>
                </a:solidFill>
                <a:latin typeface="Arial"/>
              </a:rPr>
              <a:t>Club signs off which brand sits in which position and the current price share.</a:t>
            </a:r>
          </a:p>
        </p:txBody>
      </p:sp>
      <p:sp>
        <p:nvSpPr>
          <p:cNvPr id="13" name="TextBox 12"/>
          <p:cNvSpPr txBox="1"/>
          <p:nvPr/>
        </p:nvSpPr>
        <p:spPr>
          <a:xfrm>
            <a:off x="640080" y="4626864"/>
            <a:ext cx="2522212" cy="237744"/>
          </a:xfrm>
          <a:prstGeom prst="rect">
            <a:avLst/>
          </a:prstGeom>
          <a:noFill/>
        </p:spPr>
        <p:txBody>
          <a:bodyPr wrap="square" lIns="0" rIns="0" tIns="0" bIns="0" anchor="t">
            <a:spAutoFit/>
          </a:bodyPr>
          <a:lstStyle/>
          <a:p>
            <a:pPr algn="l">
              <a:lnSpc>
                <a:spcPct val="120000"/>
              </a:lnSpc>
            </a:pPr>
            <a:r>
              <a:rPr sz="940" b="1" i="0" spc="120">
                <a:solidFill>
                  <a:srgbClr val="E4002B"/>
                </a:solidFill>
                <a:latin typeface="Arial"/>
              </a:rPr>
              <a:t>CLUB · 1 WEEK</a:t>
            </a:r>
          </a:p>
        </p:txBody>
      </p:sp>
      <p:sp>
        <p:nvSpPr>
          <p:cNvPr id="14" name="Rectangle 13"/>
          <p:cNvSpPr/>
          <p:nvPr/>
        </p:nvSpPr>
        <p:spPr>
          <a:xfrm>
            <a:off x="3272020" y="2286000"/>
            <a:ext cx="7315" cy="261518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Freeform 14"/>
          <p:cNvSpPr/>
          <p:nvPr/>
        </p:nvSpPr>
        <p:spPr>
          <a:xfrm>
            <a:off x="3436612" y="2286000"/>
            <a:ext cx="402336" cy="187452"/>
          </a:xfrm>
          <a:custGeom>
            <a:avLst/>
            <a:gdLst/>
            <a:ahLst/>
            <a:cxnLst/>
            <a:rect l="l" t="t" r="r" b="b"/>
            <a:pathLst>
              <a:path w="402336" h="187452">
                <a:moveTo>
                  <a:pt x="0" y="0"/>
                </a:moveTo>
                <a:lnTo>
                  <a:pt x="201168" y="118872"/>
                </a:lnTo>
                <a:lnTo>
                  <a:pt x="402336" y="0"/>
                </a:lnTo>
                <a:lnTo>
                  <a:pt x="402336" y="68580"/>
                </a:lnTo>
                <a:lnTo>
                  <a:pt x="201168" y="187452"/>
                </a:lnTo>
                <a:lnTo>
                  <a:pt x="0" y="68580"/>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36612" y="2615184"/>
            <a:ext cx="2522212" cy="384048"/>
          </a:xfrm>
          <a:prstGeom prst="rect">
            <a:avLst/>
          </a:prstGeom>
          <a:noFill/>
        </p:spPr>
        <p:txBody>
          <a:bodyPr wrap="square" lIns="0" rIns="0" tIns="0" bIns="0" anchor="t">
            <a:spAutoFit/>
          </a:bodyPr>
          <a:lstStyle/>
          <a:p>
            <a:pPr algn="l">
              <a:lnSpc>
                <a:spcPct val="120000"/>
              </a:lnSpc>
            </a:pPr>
            <a:r>
              <a:rPr sz="3000" b="1" i="0">
                <a:solidFill>
                  <a:srgbClr val="E4002B"/>
                </a:solidFill>
                <a:latin typeface="Arial"/>
              </a:rPr>
              <a:t>02</a:t>
            </a:r>
          </a:p>
        </p:txBody>
      </p:sp>
      <p:sp>
        <p:nvSpPr>
          <p:cNvPr id="17" name="TextBox 16"/>
          <p:cNvSpPr txBox="1"/>
          <p:nvPr/>
        </p:nvSpPr>
        <p:spPr>
          <a:xfrm>
            <a:off x="3436612" y="3145536"/>
            <a:ext cx="2522212" cy="329184"/>
          </a:xfrm>
          <a:prstGeom prst="rect">
            <a:avLst/>
          </a:prstGeom>
          <a:noFill/>
        </p:spPr>
        <p:txBody>
          <a:bodyPr wrap="square" lIns="0" rIns="0" tIns="0" bIns="0" anchor="t">
            <a:spAutoFit/>
          </a:bodyPr>
          <a:lstStyle/>
          <a:p>
            <a:pPr algn="l">
              <a:lnSpc>
                <a:spcPct val="114000"/>
              </a:lnSpc>
            </a:pPr>
            <a:r>
              <a:rPr sz="1600" b="1" i="0">
                <a:solidFill>
                  <a:srgbClr val="FFFFFF"/>
                </a:solidFill>
                <a:latin typeface="Arial"/>
              </a:rPr>
              <a:t>Extend the evidence</a:t>
            </a:r>
          </a:p>
        </p:txBody>
      </p:sp>
      <p:sp>
        <p:nvSpPr>
          <p:cNvPr id="18" name="TextBox 17"/>
          <p:cNvSpPr txBox="1"/>
          <p:nvPr/>
        </p:nvSpPr>
        <p:spPr>
          <a:xfrm>
            <a:off x="3436612" y="3639312"/>
            <a:ext cx="2375908" cy="1005840"/>
          </a:xfrm>
          <a:prstGeom prst="rect">
            <a:avLst/>
          </a:prstGeom>
          <a:noFill/>
        </p:spPr>
        <p:txBody>
          <a:bodyPr wrap="square" lIns="0" rIns="0" tIns="0" bIns="0" anchor="t">
            <a:spAutoFit/>
          </a:bodyPr>
          <a:lstStyle/>
          <a:p>
            <a:pPr algn="l">
              <a:lnSpc>
                <a:spcPct val="136000"/>
              </a:lnSpc>
            </a:pPr>
            <a:r>
              <a:rPr sz="1100" b="0" i="0">
                <a:solidFill>
                  <a:srgbClr val="8695AC"/>
                </a:solidFill>
                <a:latin typeface="Arial"/>
              </a:rPr>
              <a:t>Run the same pipeline over a broader set of complete home-kit broadcasts.</a:t>
            </a:r>
          </a:p>
        </p:txBody>
      </p:sp>
      <p:sp>
        <p:nvSpPr>
          <p:cNvPr id="19" name="TextBox 18"/>
          <p:cNvSpPr txBox="1"/>
          <p:nvPr/>
        </p:nvSpPr>
        <p:spPr>
          <a:xfrm>
            <a:off x="3436612" y="4626864"/>
            <a:ext cx="2522212" cy="237744"/>
          </a:xfrm>
          <a:prstGeom prst="rect">
            <a:avLst/>
          </a:prstGeom>
          <a:noFill/>
        </p:spPr>
        <p:txBody>
          <a:bodyPr wrap="square" lIns="0" rIns="0" tIns="0" bIns="0" anchor="t">
            <a:spAutoFit/>
          </a:bodyPr>
          <a:lstStyle/>
          <a:p>
            <a:pPr algn="l">
              <a:lnSpc>
                <a:spcPct val="120000"/>
              </a:lnSpc>
            </a:pPr>
            <a:r>
              <a:rPr sz="940" b="1" i="0" spc="120">
                <a:solidFill>
                  <a:srgbClr val="E4002B"/>
                </a:solidFill>
                <a:latin typeface="Arial"/>
              </a:rPr>
              <a:t>AUTOMATED · PER MATCH</a:t>
            </a:r>
          </a:p>
        </p:txBody>
      </p:sp>
      <p:sp>
        <p:nvSpPr>
          <p:cNvPr id="20" name="Rectangle 19"/>
          <p:cNvSpPr/>
          <p:nvPr/>
        </p:nvSpPr>
        <p:spPr>
          <a:xfrm>
            <a:off x="6068552" y="2286000"/>
            <a:ext cx="7315" cy="261518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Freeform 20"/>
          <p:cNvSpPr/>
          <p:nvPr/>
        </p:nvSpPr>
        <p:spPr>
          <a:xfrm>
            <a:off x="6233144" y="2286000"/>
            <a:ext cx="402336" cy="187452"/>
          </a:xfrm>
          <a:custGeom>
            <a:avLst/>
            <a:gdLst/>
            <a:ahLst/>
            <a:cxnLst/>
            <a:rect l="l" t="t" r="r" b="b"/>
            <a:pathLst>
              <a:path w="402336" h="187452">
                <a:moveTo>
                  <a:pt x="0" y="0"/>
                </a:moveTo>
                <a:lnTo>
                  <a:pt x="201168" y="118872"/>
                </a:lnTo>
                <a:lnTo>
                  <a:pt x="402336" y="0"/>
                </a:lnTo>
                <a:lnTo>
                  <a:pt x="402336" y="68580"/>
                </a:lnTo>
                <a:lnTo>
                  <a:pt x="201168" y="187452"/>
                </a:lnTo>
                <a:lnTo>
                  <a:pt x="0" y="68580"/>
                </a:lnTo>
                <a:close/>
              </a:path>
            </a:pathLst>
          </a:cu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33144" y="2615184"/>
            <a:ext cx="2522212" cy="384048"/>
          </a:xfrm>
          <a:prstGeom prst="rect">
            <a:avLst/>
          </a:prstGeom>
          <a:noFill/>
        </p:spPr>
        <p:txBody>
          <a:bodyPr wrap="square" lIns="0" rIns="0" tIns="0" bIns="0" anchor="t">
            <a:spAutoFit/>
          </a:bodyPr>
          <a:lstStyle/>
          <a:p>
            <a:pPr algn="l">
              <a:lnSpc>
                <a:spcPct val="120000"/>
              </a:lnSpc>
            </a:pPr>
            <a:r>
              <a:rPr sz="3000" b="1" i="0">
                <a:solidFill>
                  <a:srgbClr val="FFC20E"/>
                </a:solidFill>
                <a:latin typeface="Arial"/>
              </a:rPr>
              <a:t>03</a:t>
            </a:r>
          </a:p>
        </p:txBody>
      </p:sp>
      <p:sp>
        <p:nvSpPr>
          <p:cNvPr id="23" name="TextBox 22"/>
          <p:cNvSpPr txBox="1"/>
          <p:nvPr/>
        </p:nvSpPr>
        <p:spPr>
          <a:xfrm>
            <a:off x="6233144" y="3145536"/>
            <a:ext cx="2522212" cy="329184"/>
          </a:xfrm>
          <a:prstGeom prst="rect">
            <a:avLst/>
          </a:prstGeom>
          <a:noFill/>
        </p:spPr>
        <p:txBody>
          <a:bodyPr wrap="square" lIns="0" rIns="0" tIns="0" bIns="0" anchor="t">
            <a:spAutoFit/>
          </a:bodyPr>
          <a:lstStyle/>
          <a:p>
            <a:pPr algn="l">
              <a:lnSpc>
                <a:spcPct val="114000"/>
              </a:lnSpc>
            </a:pPr>
            <a:r>
              <a:rPr sz="1600" b="1" i="0">
                <a:solidFill>
                  <a:srgbClr val="FFFFFF"/>
                </a:solidFill>
                <a:latin typeface="Arial"/>
              </a:rPr>
              <a:t>Validate by hand</a:t>
            </a:r>
          </a:p>
        </p:txBody>
      </p:sp>
      <p:sp>
        <p:nvSpPr>
          <p:cNvPr id="24" name="TextBox 23"/>
          <p:cNvSpPr txBox="1"/>
          <p:nvPr/>
        </p:nvSpPr>
        <p:spPr>
          <a:xfrm>
            <a:off x="6233144" y="3639312"/>
            <a:ext cx="2375908" cy="1005840"/>
          </a:xfrm>
          <a:prstGeom prst="rect">
            <a:avLst/>
          </a:prstGeom>
          <a:noFill/>
        </p:spPr>
        <p:txBody>
          <a:bodyPr wrap="square" lIns="0" rIns="0" tIns="0" bIns="0" anchor="t">
            <a:spAutoFit/>
          </a:bodyPr>
          <a:lstStyle/>
          <a:p>
            <a:pPr algn="l">
              <a:lnSpc>
                <a:spcPct val="136000"/>
              </a:lnSpc>
            </a:pPr>
            <a:r>
              <a:rPr sz="1100" b="0" i="0">
                <a:solidFill>
                  <a:srgbClr val="8695AC"/>
                </a:solidFill>
                <a:latin typeface="Arial"/>
              </a:rPr>
              <a:t>Time and readability checked by a human on a stratified sample — the missing validation.</a:t>
            </a:r>
          </a:p>
        </p:txBody>
      </p:sp>
      <p:sp>
        <p:nvSpPr>
          <p:cNvPr id="25" name="TextBox 24"/>
          <p:cNvSpPr txBox="1"/>
          <p:nvPr/>
        </p:nvSpPr>
        <p:spPr>
          <a:xfrm>
            <a:off x="6233144" y="4626864"/>
            <a:ext cx="2522212" cy="237744"/>
          </a:xfrm>
          <a:prstGeom prst="rect">
            <a:avLst/>
          </a:prstGeom>
          <a:noFill/>
        </p:spPr>
        <p:txBody>
          <a:bodyPr wrap="square" lIns="0" rIns="0" tIns="0" bIns="0" anchor="t">
            <a:spAutoFit/>
          </a:bodyPr>
          <a:lstStyle/>
          <a:p>
            <a:pPr algn="l">
              <a:lnSpc>
                <a:spcPct val="120000"/>
              </a:lnSpc>
            </a:pPr>
            <a:r>
              <a:rPr sz="940" b="1" i="0" spc="120">
                <a:solidFill>
                  <a:srgbClr val="FFC20E"/>
                </a:solidFill>
                <a:latin typeface="Arial"/>
              </a:rPr>
              <a:t>JOINT · 2–3 WEEKS</a:t>
            </a:r>
          </a:p>
        </p:txBody>
      </p:sp>
      <p:sp>
        <p:nvSpPr>
          <p:cNvPr id="26" name="Rectangle 25"/>
          <p:cNvSpPr/>
          <p:nvPr/>
        </p:nvSpPr>
        <p:spPr>
          <a:xfrm>
            <a:off x="8865085" y="2286000"/>
            <a:ext cx="7315" cy="2615184"/>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Freeform 26"/>
          <p:cNvSpPr/>
          <p:nvPr/>
        </p:nvSpPr>
        <p:spPr>
          <a:xfrm>
            <a:off x="9029677" y="2286000"/>
            <a:ext cx="402336" cy="187452"/>
          </a:xfrm>
          <a:custGeom>
            <a:avLst/>
            <a:gdLst/>
            <a:ahLst/>
            <a:cxnLst/>
            <a:rect l="l" t="t" r="r" b="b"/>
            <a:pathLst>
              <a:path w="402336" h="187452">
                <a:moveTo>
                  <a:pt x="0" y="0"/>
                </a:moveTo>
                <a:lnTo>
                  <a:pt x="201168" y="118872"/>
                </a:lnTo>
                <a:lnTo>
                  <a:pt x="402336" y="0"/>
                </a:lnTo>
                <a:lnTo>
                  <a:pt x="402336" y="68580"/>
                </a:lnTo>
                <a:lnTo>
                  <a:pt x="201168" y="187452"/>
                </a:lnTo>
                <a:lnTo>
                  <a:pt x="0" y="68580"/>
                </a:lnTo>
                <a:close/>
              </a:path>
            </a:pathLst>
          </a:cu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29677" y="2615184"/>
            <a:ext cx="2522212" cy="384048"/>
          </a:xfrm>
          <a:prstGeom prst="rect">
            <a:avLst/>
          </a:prstGeom>
          <a:noFill/>
        </p:spPr>
        <p:txBody>
          <a:bodyPr wrap="square" lIns="0" rIns="0" tIns="0" bIns="0" anchor="t">
            <a:spAutoFit/>
          </a:bodyPr>
          <a:lstStyle/>
          <a:p>
            <a:pPr algn="l">
              <a:lnSpc>
                <a:spcPct val="120000"/>
              </a:lnSpc>
            </a:pPr>
            <a:r>
              <a:rPr sz="3000" b="1" i="0">
                <a:solidFill>
                  <a:srgbClr val="FFC20E"/>
                </a:solidFill>
                <a:latin typeface="Arial"/>
              </a:rPr>
              <a:t>04</a:t>
            </a:r>
          </a:p>
        </p:txBody>
      </p:sp>
      <p:sp>
        <p:nvSpPr>
          <p:cNvPr id="29" name="TextBox 28"/>
          <p:cNvSpPr txBox="1"/>
          <p:nvPr/>
        </p:nvSpPr>
        <p:spPr>
          <a:xfrm>
            <a:off x="9029677" y="3145536"/>
            <a:ext cx="2522212" cy="329184"/>
          </a:xfrm>
          <a:prstGeom prst="rect">
            <a:avLst/>
          </a:prstGeom>
          <a:noFill/>
        </p:spPr>
        <p:txBody>
          <a:bodyPr wrap="square" lIns="0" rIns="0" tIns="0" bIns="0" anchor="t">
            <a:spAutoFit/>
          </a:bodyPr>
          <a:lstStyle/>
          <a:p>
            <a:pPr algn="l">
              <a:lnSpc>
                <a:spcPct val="114000"/>
              </a:lnSpc>
            </a:pPr>
            <a:r>
              <a:rPr sz="1600" b="1" i="0">
                <a:solidFill>
                  <a:srgbClr val="FFFFFF"/>
                </a:solidFill>
                <a:latin typeface="Arial"/>
              </a:rPr>
              <a:t>Run the pricing review</a:t>
            </a:r>
          </a:p>
        </p:txBody>
      </p:sp>
      <p:sp>
        <p:nvSpPr>
          <p:cNvPr id="30" name="TextBox 29"/>
          <p:cNvSpPr txBox="1"/>
          <p:nvPr/>
        </p:nvSpPr>
        <p:spPr>
          <a:xfrm>
            <a:off x="9029677" y="3639312"/>
            <a:ext cx="2375908" cy="1005840"/>
          </a:xfrm>
          <a:prstGeom prst="rect">
            <a:avLst/>
          </a:prstGeom>
          <a:noFill/>
        </p:spPr>
        <p:txBody>
          <a:bodyPr wrap="square" lIns="0" rIns="0" tIns="0" bIns="0" anchor="t">
            <a:spAutoFit/>
          </a:bodyPr>
          <a:lstStyle/>
          <a:p>
            <a:pPr algn="l">
              <a:lnSpc>
                <a:spcPct val="136000"/>
              </a:lnSpc>
            </a:pPr>
            <a:r>
              <a:rPr sz="1100" b="0" i="0">
                <a:solidFill>
                  <a:srgbClr val="8695AC"/>
                </a:solidFill>
                <a:latin typeface="Arial"/>
              </a:rPr>
              <a:t>Measured delivery, current rate card and a documented rationale into the renewal cycle.</a:t>
            </a:r>
          </a:p>
        </p:txBody>
      </p:sp>
      <p:sp>
        <p:nvSpPr>
          <p:cNvPr id="31" name="TextBox 30"/>
          <p:cNvSpPr txBox="1"/>
          <p:nvPr/>
        </p:nvSpPr>
        <p:spPr>
          <a:xfrm>
            <a:off x="9029677" y="4626864"/>
            <a:ext cx="2522212" cy="237744"/>
          </a:xfrm>
          <a:prstGeom prst="rect">
            <a:avLst/>
          </a:prstGeom>
          <a:noFill/>
        </p:spPr>
        <p:txBody>
          <a:bodyPr wrap="square" lIns="0" rIns="0" tIns="0" bIns="0" anchor="t">
            <a:spAutoFit/>
          </a:bodyPr>
          <a:lstStyle/>
          <a:p>
            <a:pPr algn="l">
              <a:lnSpc>
                <a:spcPct val="120000"/>
              </a:lnSpc>
            </a:pPr>
            <a:r>
              <a:rPr sz="940" b="1" i="0" spc="120">
                <a:solidFill>
                  <a:srgbClr val="FFC20E"/>
                </a:solidFill>
                <a:latin typeface="Arial"/>
              </a:rPr>
              <a:t>COMMERCIAL · NEXT CYCLE</a:t>
            </a:r>
          </a:p>
        </p:txBody>
      </p:sp>
      <p:sp>
        <p:nvSpPr>
          <p:cNvPr id="32" name="Rectangle 31"/>
          <p:cNvSpPr/>
          <p:nvPr/>
        </p:nvSpPr>
        <p:spPr>
          <a:xfrm>
            <a:off x="640080" y="5084064"/>
            <a:ext cx="10911809" cy="7315"/>
          </a:xfrm>
          <a:prstGeom prst="rect">
            <a:avLst/>
          </a:prstGeom>
          <a:solidFill>
            <a:srgbClr val="273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0080" y="5266944"/>
            <a:ext cx="2743200" cy="237744"/>
          </a:xfrm>
          <a:prstGeom prst="rect">
            <a:avLst/>
          </a:prstGeom>
          <a:noFill/>
        </p:spPr>
        <p:txBody>
          <a:bodyPr wrap="square" lIns="0" rIns="0" tIns="0" bIns="0" anchor="t">
            <a:spAutoFit/>
          </a:bodyPr>
          <a:lstStyle/>
          <a:p>
            <a:pPr algn="l">
              <a:lnSpc>
                <a:spcPct val="120000"/>
              </a:lnSpc>
            </a:pPr>
            <a:r>
              <a:rPr sz="1050" b="1" i="0" spc="180">
                <a:solidFill>
                  <a:srgbClr val="FFC20E"/>
                </a:solidFill>
                <a:latin typeface="Arial"/>
              </a:rPr>
              <a:t>FUTURE WORK</a:t>
            </a:r>
          </a:p>
        </p:txBody>
      </p:sp>
      <p:sp>
        <p:nvSpPr>
          <p:cNvPr id="34" name="TextBox 33"/>
          <p:cNvSpPr txBox="1"/>
          <p:nvPr/>
        </p:nvSpPr>
        <p:spPr>
          <a:xfrm>
            <a:off x="640080" y="5541264"/>
            <a:ext cx="3520440" cy="237744"/>
          </a:xfrm>
          <a:prstGeom prst="rect">
            <a:avLst/>
          </a:prstGeom>
          <a:noFill/>
        </p:spPr>
        <p:txBody>
          <a:bodyPr wrap="square" lIns="0" rIns="0" tIns="0" bIns="0" anchor="t">
            <a:spAutoFit/>
          </a:bodyPr>
          <a:lstStyle/>
          <a:p>
            <a:pPr algn="l">
              <a:lnSpc>
                <a:spcPct val="120000"/>
              </a:lnSpc>
            </a:pPr>
            <a:r>
              <a:rPr sz="1140" b="1" i="0">
                <a:solidFill>
                  <a:srgbClr val="FFFFFF"/>
                </a:solidFill>
                <a:latin typeface="Arial"/>
              </a:rPr>
              <a:t>Auto-labelling across clubs</a:t>
            </a:r>
          </a:p>
        </p:txBody>
      </p:sp>
      <p:sp>
        <p:nvSpPr>
          <p:cNvPr id="35" name="TextBox 34"/>
          <p:cNvSpPr txBox="1"/>
          <p:nvPr/>
        </p:nvSpPr>
        <p:spPr>
          <a:xfrm>
            <a:off x="640080" y="5815584"/>
            <a:ext cx="3520440" cy="658368"/>
          </a:xfrm>
          <a:prstGeom prst="rect">
            <a:avLst/>
          </a:prstGeom>
          <a:noFill/>
        </p:spPr>
        <p:txBody>
          <a:bodyPr wrap="square" lIns="0" rIns="0" tIns="0" bIns="0" anchor="t">
            <a:spAutoFit/>
          </a:bodyPr>
          <a:lstStyle/>
          <a:p>
            <a:pPr algn="l">
              <a:lnSpc>
                <a:spcPct val="130000"/>
              </a:lnSpc>
            </a:pPr>
            <a:r>
              <a:rPr sz="960" b="0" i="0">
                <a:solidFill>
                  <a:srgbClr val="8695AC"/>
                </a:solidFill>
                <a:latin typeface="Arial"/>
              </a:rPr>
              <a:t>Within a league, kit regulations fix where a sponsor mark may sit relative to a shirt's seams and panels. Clubs differ in colourway and artwork, not in placement. A labelled reference kit can therefore seed draft boxes for a new club's kit — correction instead of annotation from nothing.</a:t>
            </a:r>
          </a:p>
        </p:txBody>
      </p:sp>
      <p:sp>
        <p:nvSpPr>
          <p:cNvPr id="36" name="TextBox 35"/>
          <p:cNvSpPr txBox="1"/>
          <p:nvPr/>
        </p:nvSpPr>
        <p:spPr>
          <a:xfrm>
            <a:off x="4352544" y="5541264"/>
            <a:ext cx="3520440" cy="237744"/>
          </a:xfrm>
          <a:prstGeom prst="rect">
            <a:avLst/>
          </a:prstGeom>
          <a:noFill/>
        </p:spPr>
        <p:txBody>
          <a:bodyPr wrap="square" lIns="0" rIns="0" tIns="0" bIns="0" anchor="t">
            <a:spAutoFit/>
          </a:bodyPr>
          <a:lstStyle/>
          <a:p>
            <a:pPr algn="l">
              <a:lnSpc>
                <a:spcPct val="120000"/>
              </a:lnSpc>
            </a:pPr>
            <a:r>
              <a:rPr sz="1140" b="1" i="0">
                <a:solidFill>
                  <a:srgbClr val="FFFFFF"/>
                </a:solidFill>
                <a:latin typeface="Arial"/>
              </a:rPr>
              <a:t>Occlusion and orientation as scored factors</a:t>
            </a:r>
          </a:p>
        </p:txBody>
      </p:sp>
      <p:sp>
        <p:nvSpPr>
          <p:cNvPr id="37" name="TextBox 36"/>
          <p:cNvSpPr txBox="1"/>
          <p:nvPr/>
        </p:nvSpPr>
        <p:spPr>
          <a:xfrm>
            <a:off x="4352544" y="5815584"/>
            <a:ext cx="3520440" cy="658368"/>
          </a:xfrm>
          <a:prstGeom prst="rect">
            <a:avLst/>
          </a:prstGeom>
          <a:noFill/>
        </p:spPr>
        <p:txBody>
          <a:bodyPr wrap="square" lIns="0" rIns="0" tIns="0" bIns="0" anchor="t">
            <a:spAutoFit/>
          </a:bodyPr>
          <a:lstStyle/>
          <a:p>
            <a:pPr algn="l">
              <a:lnSpc>
                <a:spcPct val="130000"/>
              </a:lnSpc>
            </a:pPr>
            <a:r>
              <a:rPr sz="960" b="0" i="0">
                <a:solidFill>
                  <a:srgbClr val="8695AC"/>
                </a:solidFill>
                <a:latin typeface="Arial"/>
              </a:rPr>
              <a:t>Instance-level occlusion labels and an oriented-box model would let both enter the score explicitly, instead of arriving indirectly through clarity.</a:t>
            </a:r>
          </a:p>
        </p:txBody>
      </p:sp>
      <p:sp>
        <p:nvSpPr>
          <p:cNvPr id="38" name="TextBox 37"/>
          <p:cNvSpPr txBox="1"/>
          <p:nvPr/>
        </p:nvSpPr>
        <p:spPr>
          <a:xfrm>
            <a:off x="8065007" y="5541264"/>
            <a:ext cx="3520440" cy="237744"/>
          </a:xfrm>
          <a:prstGeom prst="rect">
            <a:avLst/>
          </a:prstGeom>
          <a:noFill/>
        </p:spPr>
        <p:txBody>
          <a:bodyPr wrap="square" lIns="0" rIns="0" tIns="0" bIns="0" anchor="t">
            <a:spAutoFit/>
          </a:bodyPr>
          <a:lstStyle/>
          <a:p>
            <a:pPr algn="l">
              <a:lnSpc>
                <a:spcPct val="120000"/>
              </a:lnSpc>
            </a:pPr>
            <a:r>
              <a:rPr sz="1140" b="1" i="0">
                <a:solidFill>
                  <a:srgbClr val="FFFFFF"/>
                </a:solidFill>
                <a:latin typeface="Arial"/>
              </a:rPr>
              <a:t>Real-time and multi-sport</a:t>
            </a:r>
          </a:p>
        </p:txBody>
      </p:sp>
      <p:sp>
        <p:nvSpPr>
          <p:cNvPr id="39" name="TextBox 38"/>
          <p:cNvSpPr txBox="1"/>
          <p:nvPr/>
        </p:nvSpPr>
        <p:spPr>
          <a:xfrm>
            <a:off x="8065007" y="5815584"/>
            <a:ext cx="3520440" cy="658368"/>
          </a:xfrm>
          <a:prstGeom prst="rect">
            <a:avLst/>
          </a:prstGeom>
          <a:noFill/>
        </p:spPr>
        <p:txBody>
          <a:bodyPr wrap="square" lIns="0" rIns="0" tIns="0" bIns="0" anchor="t">
            <a:spAutoFit/>
          </a:bodyPr>
          <a:lstStyle/>
          <a:p>
            <a:pPr algn="l">
              <a:lnSpc>
                <a:spcPct val="130000"/>
              </a:lnSpc>
            </a:pPr>
            <a:r>
              <a:rPr sz="960" b="0" i="0">
                <a:solidFill>
                  <a:srgbClr val="8695AC"/>
                </a:solidFill>
                <a:latin typeface="Arial"/>
              </a:rPr>
              <a:t>The same pipeline applies to any fixed sponsor roster. A live variant would let the club report delivery during a match rather than after it.</a:t>
            </a:r>
          </a:p>
        </p:txBody>
      </p:sp>
      <p:sp>
        <p:nvSpPr>
          <p:cNvPr id="40" name="TextBox 39"/>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70A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bg_close.jpg"/>
          <p:cNvPicPr>
            <a:picLocks noChangeAspect="1"/>
          </p:cNvPicPr>
          <p:nvPr/>
        </p:nvPicPr>
        <p:blipFill>
          <a:blip r:embed="rId2"/>
          <a:srcRect l="0" r="0"/>
          <a:stretch>
            <a:fillRect/>
          </a:stretch>
        </p:blipFill>
        <p:spPr>
          <a:xfrm>
            <a:off x="0" y="0"/>
            <a:ext cx="12191969" cy="6858000"/>
          </a:xfrm>
          <a:prstGeom prst="rect">
            <a:avLst/>
          </a:prstGeom>
        </p:spPr>
      </p:pic>
      <p:sp>
        <p:nvSpPr>
          <p:cNvPr id="4" name="Freeform 3"/>
          <p:cNvSpPr/>
          <p:nvPr/>
        </p:nvSpPr>
        <p:spPr>
          <a:xfrm>
            <a:off x="0" y="0"/>
            <a:ext cx="8778240" cy="6858000"/>
          </a:xfrm>
          <a:custGeom>
            <a:avLst/>
            <a:gdLst/>
            <a:ahLst/>
            <a:cxnLst/>
            <a:rect l="l" t="t" r="r" b="b"/>
            <a:pathLst>
              <a:path w="8778240" h="6858000">
                <a:moveTo>
                  <a:pt x="0" y="0"/>
                </a:moveTo>
                <a:lnTo>
                  <a:pt x="8778240" y="0"/>
                </a:lnTo>
                <a:lnTo>
                  <a:pt x="7680960" y="6858000"/>
                </a:lnTo>
                <a:lnTo>
                  <a:pt x="0" y="6858000"/>
                </a:lnTo>
                <a:close/>
              </a:path>
            </a:pathLst>
          </a:custGeom>
          <a:solidFill>
            <a:srgbClr val="070A0F">
              <a:alpha val="9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46304"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46304" y="0"/>
            <a:ext cx="68580"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Freeform 6"/>
          <p:cNvSpPr/>
          <p:nvPr/>
        </p:nvSpPr>
        <p:spPr>
          <a:xfrm>
            <a:off x="640080" y="1330451"/>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16736"/>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IN ONE LINE</a:t>
            </a:r>
          </a:p>
        </p:txBody>
      </p:sp>
      <p:sp>
        <p:nvSpPr>
          <p:cNvPr id="9" name="TextBox 8"/>
          <p:cNvSpPr txBox="1"/>
          <p:nvPr/>
        </p:nvSpPr>
        <p:spPr>
          <a:xfrm>
            <a:off x="640080" y="1755648"/>
            <a:ext cx="6949440" cy="2194560"/>
          </a:xfrm>
          <a:prstGeom prst="rect">
            <a:avLst/>
          </a:prstGeom>
          <a:noFill/>
        </p:spPr>
        <p:txBody>
          <a:bodyPr wrap="square" lIns="0" rIns="0" tIns="0" bIns="0" anchor="t">
            <a:spAutoFit/>
          </a:bodyPr>
          <a:lstStyle/>
          <a:p>
            <a:pPr algn="l">
              <a:lnSpc>
                <a:spcPct val="114000"/>
              </a:lnSpc>
            </a:pPr>
            <a:r>
              <a:rPr sz="3800" b="1" i="0">
                <a:solidFill>
                  <a:srgbClr val="FFFFFF"/>
                </a:solidFill>
                <a:latin typeface="Arial"/>
              </a:rPr>
              <a:t>Broadcast footage,</a:t>
            </a:r>
          </a:p>
          <a:p>
            <a:pPr algn="l">
              <a:lnSpc>
                <a:spcPct val="114000"/>
              </a:lnSpc>
            </a:pPr>
            <a:r>
              <a:rPr sz="3800" b="1" i="0">
                <a:solidFill>
                  <a:srgbClr val="FFFFFF"/>
                </a:solidFill>
                <a:latin typeface="Arial"/>
              </a:rPr>
              <a:t>turned into</a:t>
            </a:r>
          </a:p>
          <a:p>
            <a:pPr algn="l">
              <a:lnSpc>
                <a:spcPct val="114000"/>
              </a:lnSpc>
            </a:pPr>
            <a:r>
              <a:rPr sz="3800" b="1" i="0">
                <a:solidFill>
                  <a:srgbClr val="FFFFFF"/>
                </a:solidFill>
                <a:latin typeface="Arial"/>
              </a:rPr>
              <a:t>sponsorship evidence.</a:t>
            </a:r>
          </a:p>
        </p:txBody>
      </p:sp>
      <p:sp>
        <p:nvSpPr>
          <p:cNvPr id="10" name="Rectangle 9"/>
          <p:cNvSpPr/>
          <p:nvPr/>
        </p:nvSpPr>
        <p:spPr>
          <a:xfrm>
            <a:off x="640080" y="4224528"/>
            <a:ext cx="1371600" cy="41148"/>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 y="4517136"/>
            <a:ext cx="6400800" cy="1097280"/>
          </a:xfrm>
          <a:prstGeom prst="rect">
            <a:avLst/>
          </a:prstGeom>
          <a:noFill/>
        </p:spPr>
        <p:txBody>
          <a:bodyPr wrap="square" lIns="0" rIns="0" tIns="0" bIns="0" anchor="t">
            <a:spAutoFit/>
          </a:bodyPr>
          <a:lstStyle/>
          <a:p>
            <a:pPr algn="l">
              <a:lnSpc>
                <a:spcPct val="146000"/>
              </a:lnSpc>
            </a:pPr>
            <a:r>
              <a:rPr sz="1450" b="0" i="0">
                <a:solidFill>
                  <a:srgbClr val="DCE4EF"/>
                </a:solidFill>
                <a:latin typeface="Arial"/>
              </a:rPr>
              <a:t>The measurement is stable and it is repeatable. The pricing map is the part worth revisiting — with the club's judgement leading and the evidence alongside it.</a:t>
            </a:r>
          </a:p>
        </p:txBody>
      </p:sp>
      <p:sp>
        <p:nvSpPr>
          <p:cNvPr id="12" name="TextBox 11"/>
          <p:cNvSpPr txBox="1"/>
          <p:nvPr/>
        </p:nvSpPr>
        <p:spPr>
          <a:xfrm>
            <a:off x="640080" y="6016752"/>
            <a:ext cx="6949440" cy="457200"/>
          </a:xfrm>
          <a:prstGeom prst="rect">
            <a:avLst/>
          </a:prstGeom>
          <a:noFill/>
        </p:spPr>
        <p:txBody>
          <a:bodyPr wrap="square" lIns="0" rIns="0" tIns="0" bIns="0" anchor="t">
            <a:spAutoFit/>
          </a:bodyPr>
          <a:lstStyle/>
          <a:p>
            <a:pPr algn="l">
              <a:lnSpc>
                <a:spcPct val="120000"/>
              </a:lnSpc>
            </a:pPr>
            <a:r>
              <a:rPr sz="1000" b="0" i="0">
                <a:solidFill>
                  <a:srgbClr val="56657C"/>
                </a:solidFill>
                <a:latin typeface="Arial"/>
              </a:rPr>
              <a:t>LogoLens  ·  MSc Applied AI &amp; Data Analytics, University of Bradford  ·  in partnership with Bradford Bulls</a:t>
            </a:r>
          </a:p>
        </p:txBody>
      </p:sp>
      <p:sp>
        <p:nvSpPr>
          <p:cNvPr id="13" name="TextBox 12"/>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 y="-54864"/>
            <a:ext cx="12301697" cy="6967728"/>
          </a:xfrm>
          <a:prstGeom prst="rect">
            <a:avLst/>
          </a:prstGeom>
          <a:solidFill>
            <a:srgbClr val="0B0F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5156" cy="685800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5156" y="0"/>
            <a:ext cx="50292" cy="685800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reeform 4"/>
          <p:cNvSpPr/>
          <p:nvPr/>
        </p:nvSpPr>
        <p:spPr>
          <a:xfrm>
            <a:off x="640080" y="489204"/>
            <a:ext cx="152476" cy="173736"/>
          </a:xfrm>
          <a:custGeom>
            <a:avLst/>
            <a:gdLst/>
            <a:ahLst/>
            <a:cxnLst/>
            <a:rect l="l" t="t" r="r" b="b"/>
            <a:pathLst>
              <a:path w="152476" h="173736">
                <a:moveTo>
                  <a:pt x="47320" y="0"/>
                </a:moveTo>
                <a:lnTo>
                  <a:pt x="152476" y="0"/>
                </a:lnTo>
                <a:lnTo>
                  <a:pt x="105156" y="173736"/>
                </a:lnTo>
                <a:lnTo>
                  <a:pt x="0" y="173736"/>
                </a:lnTo>
                <a:close/>
              </a:path>
            </a:pathLst>
          </a:cu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75488"/>
            <a:ext cx="10546049" cy="219456"/>
          </a:xfrm>
          <a:prstGeom prst="rect">
            <a:avLst/>
          </a:prstGeom>
          <a:noFill/>
        </p:spPr>
        <p:txBody>
          <a:bodyPr wrap="square" lIns="0" rIns="0" tIns="0" bIns="0" anchor="t">
            <a:spAutoFit/>
          </a:bodyPr>
          <a:lstStyle/>
          <a:p>
            <a:pPr algn="l">
              <a:lnSpc>
                <a:spcPct val="120000"/>
              </a:lnSpc>
            </a:pPr>
            <a:r>
              <a:rPr sz="1050" b="1" i="0" spc="220">
                <a:solidFill>
                  <a:srgbClr val="FFC20E"/>
                </a:solidFill>
                <a:latin typeface="Arial"/>
              </a:rPr>
              <a:t>APPENDIX</a:t>
            </a:r>
          </a:p>
        </p:txBody>
      </p:sp>
      <p:sp>
        <p:nvSpPr>
          <p:cNvPr id="7" name="TextBox 6"/>
          <p:cNvSpPr txBox="1"/>
          <p:nvPr/>
        </p:nvSpPr>
        <p:spPr>
          <a:xfrm>
            <a:off x="640080" y="786384"/>
            <a:ext cx="10911809" cy="914400"/>
          </a:xfrm>
          <a:prstGeom prst="rect">
            <a:avLst/>
          </a:prstGeom>
          <a:noFill/>
        </p:spPr>
        <p:txBody>
          <a:bodyPr wrap="square" lIns="0" rIns="0" tIns="0" bIns="0" anchor="t">
            <a:spAutoFit/>
          </a:bodyPr>
          <a:lstStyle/>
          <a:p>
            <a:pPr algn="l">
              <a:lnSpc>
                <a:spcPct val="102000"/>
              </a:lnSpc>
            </a:pPr>
            <a:r>
              <a:rPr sz="2800" b="1" i="0">
                <a:solidFill>
                  <a:srgbClr val="FFFFFF"/>
                </a:solidFill>
                <a:latin typeface="Arial"/>
              </a:rPr>
              <a:t>All sixteen assets</a:t>
            </a:r>
          </a:p>
        </p:txBody>
      </p:sp>
      <p:sp>
        <p:nvSpPr>
          <p:cNvPr id="8" name="TextBox 7"/>
          <p:cNvSpPr txBox="1"/>
          <p:nvPr/>
        </p:nvSpPr>
        <p:spPr>
          <a:xfrm>
            <a:off x="640080" y="1481328"/>
            <a:ext cx="10911809" cy="274320"/>
          </a:xfrm>
          <a:prstGeom prst="rect">
            <a:avLst/>
          </a:prstGeom>
          <a:noFill/>
        </p:spPr>
        <p:txBody>
          <a:bodyPr wrap="square" lIns="0" rIns="0" tIns="0" bIns="0" anchor="t">
            <a:spAutoFit/>
          </a:bodyPr>
          <a:lstStyle/>
          <a:p>
            <a:pPr algn="l">
              <a:lnSpc>
                <a:spcPct val="120000"/>
              </a:lnSpc>
            </a:pPr>
            <a:r>
              <a:rPr sz="1150" b="0" i="0">
                <a:solidFill>
                  <a:srgbClr val="8695AC"/>
                </a:solidFill>
                <a:latin typeface="Arial"/>
              </a:rPr>
              <a:t>Club allocation, measured visibility in each match, the mean and the gap.</a:t>
            </a:r>
          </a:p>
        </p:txBody>
      </p:sp>
      <p:sp>
        <p:nvSpPr>
          <p:cNvPr id="9" name="Rectangle 8"/>
          <p:cNvSpPr/>
          <p:nvPr/>
        </p:nvSpPr>
        <p:spPr>
          <a:xfrm>
            <a:off x="640080" y="2157984"/>
            <a:ext cx="10911809" cy="18288"/>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19" y="1883664"/>
            <a:ext cx="2331720" cy="219456"/>
          </a:xfrm>
          <a:prstGeom prst="rect">
            <a:avLst/>
          </a:prstGeom>
          <a:noFill/>
        </p:spPr>
        <p:txBody>
          <a:bodyPr wrap="square" lIns="0" rIns="0" tIns="0" bIns="0" anchor="t">
            <a:spAutoFit/>
          </a:bodyPr>
          <a:lstStyle/>
          <a:p>
            <a:pPr algn="l">
              <a:lnSpc>
                <a:spcPct val="120000"/>
              </a:lnSpc>
            </a:pPr>
            <a:r>
              <a:rPr sz="940" b="1" i="0" spc="140">
                <a:solidFill>
                  <a:srgbClr val="FFC20E"/>
                </a:solidFill>
                <a:latin typeface="Arial"/>
              </a:rPr>
              <a:t>SPONSOR</a:t>
            </a:r>
          </a:p>
        </p:txBody>
      </p:sp>
      <p:sp>
        <p:nvSpPr>
          <p:cNvPr id="11" name="TextBox 10"/>
          <p:cNvSpPr txBox="1"/>
          <p:nvPr/>
        </p:nvSpPr>
        <p:spPr>
          <a:xfrm>
            <a:off x="3200400" y="1883664"/>
            <a:ext cx="2606040" cy="219456"/>
          </a:xfrm>
          <a:prstGeom prst="rect">
            <a:avLst/>
          </a:prstGeom>
          <a:noFill/>
        </p:spPr>
        <p:txBody>
          <a:bodyPr wrap="square" lIns="0" rIns="0" tIns="0" bIns="0" anchor="t">
            <a:spAutoFit/>
          </a:bodyPr>
          <a:lstStyle/>
          <a:p>
            <a:pPr algn="l">
              <a:lnSpc>
                <a:spcPct val="120000"/>
              </a:lnSpc>
            </a:pPr>
            <a:r>
              <a:rPr sz="940" b="1" i="0" spc="140">
                <a:solidFill>
                  <a:srgbClr val="FFC20E"/>
                </a:solidFill>
                <a:latin typeface="Arial"/>
              </a:rPr>
              <a:t>KIT POSITION</a:t>
            </a:r>
          </a:p>
        </p:txBody>
      </p:sp>
      <p:sp>
        <p:nvSpPr>
          <p:cNvPr id="12" name="TextBox 11"/>
          <p:cNvSpPr txBox="1"/>
          <p:nvPr/>
        </p:nvSpPr>
        <p:spPr>
          <a:xfrm>
            <a:off x="5413248" y="1883664"/>
            <a:ext cx="1170432" cy="219456"/>
          </a:xfrm>
          <a:prstGeom prst="rect">
            <a:avLst/>
          </a:prstGeom>
          <a:noFill/>
        </p:spPr>
        <p:txBody>
          <a:bodyPr wrap="square" lIns="0" rIns="0" tIns="0" bIns="0" anchor="t">
            <a:spAutoFit/>
          </a:bodyPr>
          <a:lstStyle/>
          <a:p>
            <a:pPr algn="r">
              <a:lnSpc>
                <a:spcPct val="120000"/>
              </a:lnSpc>
            </a:pPr>
            <a:r>
              <a:rPr sz="940" b="1" i="0" spc="140">
                <a:solidFill>
                  <a:srgbClr val="FFC20E"/>
                </a:solidFill>
                <a:latin typeface="Arial"/>
              </a:rPr>
              <a:t>PRICE %</a:t>
            </a:r>
          </a:p>
        </p:txBody>
      </p:sp>
      <p:sp>
        <p:nvSpPr>
          <p:cNvPr id="13" name="TextBox 12"/>
          <p:cNvSpPr txBox="1"/>
          <p:nvPr/>
        </p:nvSpPr>
        <p:spPr>
          <a:xfrm>
            <a:off x="6830568" y="1883664"/>
            <a:ext cx="1170432" cy="219456"/>
          </a:xfrm>
          <a:prstGeom prst="rect">
            <a:avLst/>
          </a:prstGeom>
          <a:noFill/>
        </p:spPr>
        <p:txBody>
          <a:bodyPr wrap="square" lIns="0" rIns="0" tIns="0" bIns="0" anchor="t">
            <a:spAutoFit/>
          </a:bodyPr>
          <a:lstStyle/>
          <a:p>
            <a:pPr algn="r">
              <a:lnSpc>
                <a:spcPct val="120000"/>
              </a:lnSpc>
            </a:pPr>
            <a:r>
              <a:rPr sz="940" b="1" i="0" spc="140">
                <a:solidFill>
                  <a:srgbClr val="FFC20E"/>
                </a:solidFill>
                <a:latin typeface="Arial"/>
              </a:rPr>
              <a:t>MATCH 1</a:t>
            </a:r>
          </a:p>
        </p:txBody>
      </p:sp>
      <p:sp>
        <p:nvSpPr>
          <p:cNvPr id="14" name="TextBox 13"/>
          <p:cNvSpPr txBox="1"/>
          <p:nvPr/>
        </p:nvSpPr>
        <p:spPr>
          <a:xfrm>
            <a:off x="8247888" y="1883664"/>
            <a:ext cx="1170432" cy="219456"/>
          </a:xfrm>
          <a:prstGeom prst="rect">
            <a:avLst/>
          </a:prstGeom>
          <a:noFill/>
        </p:spPr>
        <p:txBody>
          <a:bodyPr wrap="square" lIns="0" rIns="0" tIns="0" bIns="0" anchor="t">
            <a:spAutoFit/>
          </a:bodyPr>
          <a:lstStyle/>
          <a:p>
            <a:pPr algn="r">
              <a:lnSpc>
                <a:spcPct val="120000"/>
              </a:lnSpc>
            </a:pPr>
            <a:r>
              <a:rPr sz="940" b="1" i="0" spc="140">
                <a:solidFill>
                  <a:srgbClr val="FFC20E"/>
                </a:solidFill>
                <a:latin typeface="Arial"/>
              </a:rPr>
              <a:t>MATCH 2</a:t>
            </a:r>
          </a:p>
        </p:txBody>
      </p:sp>
      <p:sp>
        <p:nvSpPr>
          <p:cNvPr id="15" name="TextBox 14"/>
          <p:cNvSpPr txBox="1"/>
          <p:nvPr/>
        </p:nvSpPr>
        <p:spPr>
          <a:xfrm>
            <a:off x="9573768" y="1883664"/>
            <a:ext cx="1170432" cy="219456"/>
          </a:xfrm>
          <a:prstGeom prst="rect">
            <a:avLst/>
          </a:prstGeom>
          <a:noFill/>
        </p:spPr>
        <p:txBody>
          <a:bodyPr wrap="square" lIns="0" rIns="0" tIns="0" bIns="0" anchor="t">
            <a:spAutoFit/>
          </a:bodyPr>
          <a:lstStyle/>
          <a:p>
            <a:pPr algn="r">
              <a:lnSpc>
                <a:spcPct val="120000"/>
              </a:lnSpc>
            </a:pPr>
            <a:r>
              <a:rPr sz="940" b="1" i="0" spc="140">
                <a:solidFill>
                  <a:srgbClr val="FFC20E"/>
                </a:solidFill>
                <a:latin typeface="Arial"/>
              </a:rPr>
              <a:t>CAMERA %</a:t>
            </a:r>
          </a:p>
        </p:txBody>
      </p:sp>
      <p:sp>
        <p:nvSpPr>
          <p:cNvPr id="16" name="TextBox 15"/>
          <p:cNvSpPr txBox="1"/>
          <p:nvPr/>
        </p:nvSpPr>
        <p:spPr>
          <a:xfrm>
            <a:off x="10442448" y="1883664"/>
            <a:ext cx="1170432" cy="219456"/>
          </a:xfrm>
          <a:prstGeom prst="rect">
            <a:avLst/>
          </a:prstGeom>
          <a:noFill/>
        </p:spPr>
        <p:txBody>
          <a:bodyPr wrap="square" lIns="0" rIns="0" tIns="0" bIns="0" anchor="t">
            <a:spAutoFit/>
          </a:bodyPr>
          <a:lstStyle/>
          <a:p>
            <a:pPr algn="r">
              <a:lnSpc>
                <a:spcPct val="120000"/>
              </a:lnSpc>
            </a:pPr>
            <a:r>
              <a:rPr sz="940" b="1" i="0" spc="140">
                <a:solidFill>
                  <a:srgbClr val="FFC20E"/>
                </a:solidFill>
                <a:latin typeface="Arial"/>
              </a:rPr>
              <a:t>GAP PP</a:t>
            </a:r>
          </a:p>
        </p:txBody>
      </p:sp>
      <p:sp>
        <p:nvSpPr>
          <p:cNvPr id="17" name="Rectangle 16"/>
          <p:cNvSpPr/>
          <p:nvPr/>
        </p:nvSpPr>
        <p:spPr>
          <a:xfrm>
            <a:off x="640080" y="2318004"/>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31519" y="2359152"/>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KLG</a:t>
            </a:r>
          </a:p>
        </p:txBody>
      </p:sp>
      <p:sp>
        <p:nvSpPr>
          <p:cNvPr id="19" name="TextBox 18"/>
          <p:cNvSpPr txBox="1"/>
          <p:nvPr/>
        </p:nvSpPr>
        <p:spPr>
          <a:xfrm>
            <a:off x="3200400" y="2359152"/>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Top Back Shorts</a:t>
            </a:r>
          </a:p>
        </p:txBody>
      </p:sp>
      <p:sp>
        <p:nvSpPr>
          <p:cNvPr id="20" name="TextBox 19"/>
          <p:cNvSpPr txBox="1"/>
          <p:nvPr/>
        </p:nvSpPr>
        <p:spPr>
          <a:xfrm>
            <a:off x="5413248" y="2359152"/>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5</a:t>
            </a:r>
          </a:p>
        </p:txBody>
      </p:sp>
      <p:sp>
        <p:nvSpPr>
          <p:cNvPr id="21" name="TextBox 20"/>
          <p:cNvSpPr txBox="1"/>
          <p:nvPr/>
        </p:nvSpPr>
        <p:spPr>
          <a:xfrm>
            <a:off x="6830568" y="2359152"/>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24.73</a:t>
            </a:r>
          </a:p>
        </p:txBody>
      </p:sp>
      <p:sp>
        <p:nvSpPr>
          <p:cNvPr id="22" name="TextBox 21"/>
          <p:cNvSpPr txBox="1"/>
          <p:nvPr/>
        </p:nvSpPr>
        <p:spPr>
          <a:xfrm>
            <a:off x="8247888" y="2359152"/>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21.82</a:t>
            </a:r>
          </a:p>
        </p:txBody>
      </p:sp>
      <p:sp>
        <p:nvSpPr>
          <p:cNvPr id="23" name="TextBox 22"/>
          <p:cNvSpPr txBox="1"/>
          <p:nvPr/>
        </p:nvSpPr>
        <p:spPr>
          <a:xfrm>
            <a:off x="9573768" y="2359152"/>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23.27</a:t>
            </a:r>
          </a:p>
        </p:txBody>
      </p:sp>
      <p:sp>
        <p:nvSpPr>
          <p:cNvPr id="24" name="TextBox 23"/>
          <p:cNvSpPr txBox="1"/>
          <p:nvPr/>
        </p:nvSpPr>
        <p:spPr>
          <a:xfrm>
            <a:off x="10442448" y="2359152"/>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+18.27</a:t>
            </a:r>
          </a:p>
        </p:txBody>
      </p:sp>
      <p:sp>
        <p:nvSpPr>
          <p:cNvPr id="25" name="TextBox 24"/>
          <p:cNvSpPr txBox="1"/>
          <p:nvPr/>
        </p:nvSpPr>
        <p:spPr>
          <a:xfrm>
            <a:off x="731519" y="2604211"/>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Bartercard</a:t>
            </a:r>
          </a:p>
        </p:txBody>
      </p:sp>
      <p:sp>
        <p:nvSpPr>
          <p:cNvPr id="26" name="TextBox 25"/>
          <p:cNvSpPr txBox="1"/>
          <p:nvPr/>
        </p:nvSpPr>
        <p:spPr>
          <a:xfrm>
            <a:off x="3200400" y="2604211"/>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Sleeve 3</a:t>
            </a:r>
          </a:p>
        </p:txBody>
      </p:sp>
      <p:sp>
        <p:nvSpPr>
          <p:cNvPr id="27" name="TextBox 26"/>
          <p:cNvSpPr txBox="1"/>
          <p:nvPr/>
        </p:nvSpPr>
        <p:spPr>
          <a:xfrm>
            <a:off x="5413248" y="2604211"/>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4</a:t>
            </a:r>
          </a:p>
        </p:txBody>
      </p:sp>
      <p:sp>
        <p:nvSpPr>
          <p:cNvPr id="28" name="TextBox 27"/>
          <p:cNvSpPr txBox="1"/>
          <p:nvPr/>
        </p:nvSpPr>
        <p:spPr>
          <a:xfrm>
            <a:off x="6830568" y="2604211"/>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12.72</a:t>
            </a:r>
          </a:p>
        </p:txBody>
      </p:sp>
      <p:sp>
        <p:nvSpPr>
          <p:cNvPr id="29" name="TextBox 28"/>
          <p:cNvSpPr txBox="1"/>
          <p:nvPr/>
        </p:nvSpPr>
        <p:spPr>
          <a:xfrm>
            <a:off x="8247888" y="2604211"/>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14.38</a:t>
            </a:r>
          </a:p>
        </p:txBody>
      </p:sp>
      <p:sp>
        <p:nvSpPr>
          <p:cNvPr id="30" name="TextBox 29"/>
          <p:cNvSpPr txBox="1"/>
          <p:nvPr/>
        </p:nvSpPr>
        <p:spPr>
          <a:xfrm>
            <a:off x="9573768" y="2604211"/>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13.55</a:t>
            </a:r>
          </a:p>
        </p:txBody>
      </p:sp>
      <p:sp>
        <p:nvSpPr>
          <p:cNvPr id="31" name="TextBox 30"/>
          <p:cNvSpPr txBox="1"/>
          <p:nvPr/>
        </p:nvSpPr>
        <p:spPr>
          <a:xfrm>
            <a:off x="10442448" y="2604211"/>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+9.55</a:t>
            </a:r>
          </a:p>
        </p:txBody>
      </p:sp>
      <p:sp>
        <p:nvSpPr>
          <p:cNvPr id="32" name="Rectangle 31"/>
          <p:cNvSpPr/>
          <p:nvPr/>
        </p:nvSpPr>
        <p:spPr>
          <a:xfrm>
            <a:off x="640080" y="2808122"/>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31519" y="2849270"/>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Top Notch</a:t>
            </a:r>
          </a:p>
        </p:txBody>
      </p:sp>
      <p:sp>
        <p:nvSpPr>
          <p:cNvPr id="34" name="TextBox 33"/>
          <p:cNvSpPr txBox="1"/>
          <p:nvPr/>
        </p:nvSpPr>
        <p:spPr>
          <a:xfrm>
            <a:off x="3200400" y="2849270"/>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Main Sponsor</a:t>
            </a:r>
          </a:p>
        </p:txBody>
      </p:sp>
      <p:sp>
        <p:nvSpPr>
          <p:cNvPr id="35" name="TextBox 34"/>
          <p:cNvSpPr txBox="1"/>
          <p:nvPr/>
        </p:nvSpPr>
        <p:spPr>
          <a:xfrm>
            <a:off x="5413248" y="2849270"/>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26</a:t>
            </a:r>
          </a:p>
        </p:txBody>
      </p:sp>
      <p:sp>
        <p:nvSpPr>
          <p:cNvPr id="36" name="TextBox 35"/>
          <p:cNvSpPr txBox="1"/>
          <p:nvPr/>
        </p:nvSpPr>
        <p:spPr>
          <a:xfrm>
            <a:off x="6830568" y="2849270"/>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9.95</a:t>
            </a:r>
          </a:p>
        </p:txBody>
      </p:sp>
      <p:sp>
        <p:nvSpPr>
          <p:cNvPr id="37" name="TextBox 36"/>
          <p:cNvSpPr txBox="1"/>
          <p:nvPr/>
        </p:nvSpPr>
        <p:spPr>
          <a:xfrm>
            <a:off x="8247888" y="2849270"/>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12.71</a:t>
            </a:r>
          </a:p>
        </p:txBody>
      </p:sp>
      <p:sp>
        <p:nvSpPr>
          <p:cNvPr id="38" name="TextBox 37"/>
          <p:cNvSpPr txBox="1"/>
          <p:nvPr/>
        </p:nvSpPr>
        <p:spPr>
          <a:xfrm>
            <a:off x="9573768" y="2849270"/>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11.33</a:t>
            </a:r>
          </a:p>
        </p:txBody>
      </p:sp>
      <p:sp>
        <p:nvSpPr>
          <p:cNvPr id="39" name="TextBox 38"/>
          <p:cNvSpPr txBox="1"/>
          <p:nvPr/>
        </p:nvSpPr>
        <p:spPr>
          <a:xfrm>
            <a:off x="10442448" y="2849270"/>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-14.67</a:t>
            </a:r>
          </a:p>
        </p:txBody>
      </p:sp>
      <p:sp>
        <p:nvSpPr>
          <p:cNvPr id="40" name="TextBox 39"/>
          <p:cNvSpPr txBox="1"/>
          <p:nvPr/>
        </p:nvSpPr>
        <p:spPr>
          <a:xfrm>
            <a:off x="731519" y="3094329"/>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Cedar Court Hotels</a:t>
            </a:r>
          </a:p>
        </p:txBody>
      </p:sp>
      <p:sp>
        <p:nvSpPr>
          <p:cNvPr id="41" name="TextBox 40"/>
          <p:cNvSpPr txBox="1"/>
          <p:nvPr/>
        </p:nvSpPr>
        <p:spPr>
          <a:xfrm>
            <a:off x="3200400" y="3094329"/>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Shorts Front</a:t>
            </a:r>
          </a:p>
        </p:txBody>
      </p:sp>
      <p:sp>
        <p:nvSpPr>
          <p:cNvPr id="42" name="TextBox 41"/>
          <p:cNvSpPr txBox="1"/>
          <p:nvPr/>
        </p:nvSpPr>
        <p:spPr>
          <a:xfrm>
            <a:off x="5413248" y="3094329"/>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3</a:t>
            </a:r>
          </a:p>
        </p:txBody>
      </p:sp>
      <p:sp>
        <p:nvSpPr>
          <p:cNvPr id="43" name="TextBox 42"/>
          <p:cNvSpPr txBox="1"/>
          <p:nvPr/>
        </p:nvSpPr>
        <p:spPr>
          <a:xfrm>
            <a:off x="6830568" y="3094329"/>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6.87</a:t>
            </a:r>
          </a:p>
        </p:txBody>
      </p:sp>
      <p:sp>
        <p:nvSpPr>
          <p:cNvPr id="44" name="TextBox 43"/>
          <p:cNvSpPr txBox="1"/>
          <p:nvPr/>
        </p:nvSpPr>
        <p:spPr>
          <a:xfrm>
            <a:off x="8247888" y="3094329"/>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7.86</a:t>
            </a:r>
          </a:p>
        </p:txBody>
      </p:sp>
      <p:sp>
        <p:nvSpPr>
          <p:cNvPr id="45" name="TextBox 44"/>
          <p:cNvSpPr txBox="1"/>
          <p:nvPr/>
        </p:nvSpPr>
        <p:spPr>
          <a:xfrm>
            <a:off x="9573768" y="3094329"/>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7.37</a:t>
            </a:r>
          </a:p>
        </p:txBody>
      </p:sp>
      <p:sp>
        <p:nvSpPr>
          <p:cNvPr id="46" name="TextBox 45"/>
          <p:cNvSpPr txBox="1"/>
          <p:nvPr/>
        </p:nvSpPr>
        <p:spPr>
          <a:xfrm>
            <a:off x="10442448" y="3094329"/>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+4.37</a:t>
            </a:r>
          </a:p>
        </p:txBody>
      </p:sp>
      <p:sp>
        <p:nvSpPr>
          <p:cNvPr id="47" name="Rectangle 46"/>
          <p:cNvSpPr/>
          <p:nvPr/>
        </p:nvSpPr>
        <p:spPr>
          <a:xfrm>
            <a:off x="640080" y="3298240"/>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731519" y="3339388"/>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ASC Group</a:t>
            </a:r>
          </a:p>
        </p:txBody>
      </p:sp>
      <p:sp>
        <p:nvSpPr>
          <p:cNvPr id="49" name="TextBox 48"/>
          <p:cNvSpPr txBox="1"/>
          <p:nvPr/>
        </p:nvSpPr>
        <p:spPr>
          <a:xfrm>
            <a:off x="3200400" y="3339388"/>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Bottom Back</a:t>
            </a:r>
          </a:p>
        </p:txBody>
      </p:sp>
      <p:sp>
        <p:nvSpPr>
          <p:cNvPr id="50" name="TextBox 49"/>
          <p:cNvSpPr txBox="1"/>
          <p:nvPr/>
        </p:nvSpPr>
        <p:spPr>
          <a:xfrm>
            <a:off x="5413248" y="3339388"/>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3</a:t>
            </a:r>
          </a:p>
        </p:txBody>
      </p:sp>
      <p:sp>
        <p:nvSpPr>
          <p:cNvPr id="51" name="TextBox 50"/>
          <p:cNvSpPr txBox="1"/>
          <p:nvPr/>
        </p:nvSpPr>
        <p:spPr>
          <a:xfrm>
            <a:off x="6830568" y="3339388"/>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8.07</a:t>
            </a:r>
          </a:p>
        </p:txBody>
      </p:sp>
      <p:sp>
        <p:nvSpPr>
          <p:cNvPr id="52" name="TextBox 51"/>
          <p:cNvSpPr txBox="1"/>
          <p:nvPr/>
        </p:nvSpPr>
        <p:spPr>
          <a:xfrm>
            <a:off x="8247888" y="3339388"/>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6.48</a:t>
            </a:r>
          </a:p>
        </p:txBody>
      </p:sp>
      <p:sp>
        <p:nvSpPr>
          <p:cNvPr id="53" name="TextBox 52"/>
          <p:cNvSpPr txBox="1"/>
          <p:nvPr/>
        </p:nvSpPr>
        <p:spPr>
          <a:xfrm>
            <a:off x="9573768" y="3339388"/>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7.28</a:t>
            </a:r>
          </a:p>
        </p:txBody>
      </p:sp>
      <p:sp>
        <p:nvSpPr>
          <p:cNvPr id="54" name="TextBox 53"/>
          <p:cNvSpPr txBox="1"/>
          <p:nvPr/>
        </p:nvSpPr>
        <p:spPr>
          <a:xfrm>
            <a:off x="10442448" y="3339388"/>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+4.28</a:t>
            </a:r>
          </a:p>
        </p:txBody>
      </p:sp>
      <p:sp>
        <p:nvSpPr>
          <p:cNvPr id="55" name="TextBox 54"/>
          <p:cNvSpPr txBox="1"/>
          <p:nvPr/>
        </p:nvSpPr>
        <p:spPr>
          <a:xfrm>
            <a:off x="731519" y="3584448"/>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Paints &amp; Lacquers</a:t>
            </a:r>
          </a:p>
        </p:txBody>
      </p:sp>
      <p:sp>
        <p:nvSpPr>
          <p:cNvPr id="56" name="TextBox 55"/>
          <p:cNvSpPr txBox="1"/>
          <p:nvPr/>
        </p:nvSpPr>
        <p:spPr>
          <a:xfrm>
            <a:off x="3200400" y="3584448"/>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Shorts Back 2</a:t>
            </a:r>
          </a:p>
        </p:txBody>
      </p:sp>
      <p:sp>
        <p:nvSpPr>
          <p:cNvPr id="57" name="TextBox 56"/>
          <p:cNvSpPr txBox="1"/>
          <p:nvPr/>
        </p:nvSpPr>
        <p:spPr>
          <a:xfrm>
            <a:off x="5413248" y="3584448"/>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3</a:t>
            </a:r>
          </a:p>
        </p:txBody>
      </p:sp>
      <p:sp>
        <p:nvSpPr>
          <p:cNvPr id="58" name="TextBox 57"/>
          <p:cNvSpPr txBox="1"/>
          <p:nvPr/>
        </p:nvSpPr>
        <p:spPr>
          <a:xfrm>
            <a:off x="6830568" y="3584448"/>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6.83</a:t>
            </a:r>
          </a:p>
        </p:txBody>
      </p:sp>
      <p:sp>
        <p:nvSpPr>
          <p:cNvPr id="59" name="TextBox 58"/>
          <p:cNvSpPr txBox="1"/>
          <p:nvPr/>
        </p:nvSpPr>
        <p:spPr>
          <a:xfrm>
            <a:off x="8247888" y="3584448"/>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6.25</a:t>
            </a:r>
          </a:p>
        </p:txBody>
      </p:sp>
      <p:sp>
        <p:nvSpPr>
          <p:cNvPr id="60" name="TextBox 59"/>
          <p:cNvSpPr txBox="1"/>
          <p:nvPr/>
        </p:nvSpPr>
        <p:spPr>
          <a:xfrm>
            <a:off x="9573768" y="3584448"/>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6.54</a:t>
            </a:r>
          </a:p>
        </p:txBody>
      </p:sp>
      <p:sp>
        <p:nvSpPr>
          <p:cNvPr id="61" name="TextBox 60"/>
          <p:cNvSpPr txBox="1"/>
          <p:nvPr/>
        </p:nvSpPr>
        <p:spPr>
          <a:xfrm>
            <a:off x="10442448" y="3584448"/>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+3.54</a:t>
            </a:r>
          </a:p>
        </p:txBody>
      </p:sp>
      <p:sp>
        <p:nvSpPr>
          <p:cNvPr id="62" name="Rectangle 61"/>
          <p:cNvSpPr/>
          <p:nvPr/>
        </p:nvSpPr>
        <p:spPr>
          <a:xfrm>
            <a:off x="640080" y="3788359"/>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731519" y="3829507"/>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Chadwick &amp; Lawrence</a:t>
            </a:r>
          </a:p>
        </p:txBody>
      </p:sp>
      <p:sp>
        <p:nvSpPr>
          <p:cNvPr id="64" name="TextBox 63"/>
          <p:cNvSpPr txBox="1"/>
          <p:nvPr/>
        </p:nvSpPr>
        <p:spPr>
          <a:xfrm>
            <a:off x="3200400" y="3829507"/>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Sleeve 1</a:t>
            </a:r>
          </a:p>
        </p:txBody>
      </p:sp>
      <p:sp>
        <p:nvSpPr>
          <p:cNvPr id="65" name="TextBox 64"/>
          <p:cNvSpPr txBox="1"/>
          <p:nvPr/>
        </p:nvSpPr>
        <p:spPr>
          <a:xfrm>
            <a:off x="5413248" y="3829507"/>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4</a:t>
            </a:r>
          </a:p>
        </p:txBody>
      </p:sp>
      <p:sp>
        <p:nvSpPr>
          <p:cNvPr id="66" name="TextBox 65"/>
          <p:cNvSpPr txBox="1"/>
          <p:nvPr/>
        </p:nvSpPr>
        <p:spPr>
          <a:xfrm>
            <a:off x="6830568" y="3829507"/>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5.85</a:t>
            </a:r>
          </a:p>
        </p:txBody>
      </p:sp>
      <p:sp>
        <p:nvSpPr>
          <p:cNvPr id="67" name="TextBox 66"/>
          <p:cNvSpPr txBox="1"/>
          <p:nvPr/>
        </p:nvSpPr>
        <p:spPr>
          <a:xfrm>
            <a:off x="8247888" y="3829507"/>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5.90</a:t>
            </a:r>
          </a:p>
        </p:txBody>
      </p:sp>
      <p:sp>
        <p:nvSpPr>
          <p:cNvPr id="68" name="TextBox 67"/>
          <p:cNvSpPr txBox="1"/>
          <p:nvPr/>
        </p:nvSpPr>
        <p:spPr>
          <a:xfrm>
            <a:off x="9573768" y="3829507"/>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5.88</a:t>
            </a:r>
          </a:p>
        </p:txBody>
      </p:sp>
      <p:sp>
        <p:nvSpPr>
          <p:cNvPr id="69" name="TextBox 68"/>
          <p:cNvSpPr txBox="1"/>
          <p:nvPr/>
        </p:nvSpPr>
        <p:spPr>
          <a:xfrm>
            <a:off x="10442448" y="3829507"/>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+1.88</a:t>
            </a:r>
          </a:p>
        </p:txBody>
      </p:sp>
      <p:sp>
        <p:nvSpPr>
          <p:cNvPr id="70" name="TextBox 69"/>
          <p:cNvSpPr txBox="1"/>
          <p:nvPr/>
        </p:nvSpPr>
        <p:spPr>
          <a:xfrm>
            <a:off x="731519" y="4074566"/>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AON</a:t>
            </a:r>
          </a:p>
        </p:txBody>
      </p:sp>
      <p:sp>
        <p:nvSpPr>
          <p:cNvPr id="71" name="TextBox 70"/>
          <p:cNvSpPr txBox="1"/>
          <p:nvPr/>
        </p:nvSpPr>
        <p:spPr>
          <a:xfrm>
            <a:off x="3200400" y="4074566"/>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Shorts Back 1</a:t>
            </a:r>
          </a:p>
        </p:txBody>
      </p:sp>
      <p:sp>
        <p:nvSpPr>
          <p:cNvPr id="72" name="TextBox 71"/>
          <p:cNvSpPr txBox="1"/>
          <p:nvPr/>
        </p:nvSpPr>
        <p:spPr>
          <a:xfrm>
            <a:off x="5413248" y="4074566"/>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3</a:t>
            </a:r>
          </a:p>
        </p:txBody>
      </p:sp>
      <p:sp>
        <p:nvSpPr>
          <p:cNvPr id="73" name="TextBox 72"/>
          <p:cNvSpPr txBox="1"/>
          <p:nvPr/>
        </p:nvSpPr>
        <p:spPr>
          <a:xfrm>
            <a:off x="6830568" y="4074566"/>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6.42</a:t>
            </a:r>
          </a:p>
        </p:txBody>
      </p:sp>
      <p:sp>
        <p:nvSpPr>
          <p:cNvPr id="74" name="TextBox 73"/>
          <p:cNvSpPr txBox="1"/>
          <p:nvPr/>
        </p:nvSpPr>
        <p:spPr>
          <a:xfrm>
            <a:off x="8247888" y="4074566"/>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5.32</a:t>
            </a:r>
          </a:p>
        </p:txBody>
      </p:sp>
      <p:sp>
        <p:nvSpPr>
          <p:cNvPr id="75" name="TextBox 74"/>
          <p:cNvSpPr txBox="1"/>
          <p:nvPr/>
        </p:nvSpPr>
        <p:spPr>
          <a:xfrm>
            <a:off x="9573768" y="4074566"/>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5.87</a:t>
            </a:r>
          </a:p>
        </p:txBody>
      </p:sp>
      <p:sp>
        <p:nvSpPr>
          <p:cNvPr id="76" name="TextBox 75"/>
          <p:cNvSpPr txBox="1"/>
          <p:nvPr/>
        </p:nvSpPr>
        <p:spPr>
          <a:xfrm>
            <a:off x="10442448" y="4074566"/>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+2.87</a:t>
            </a:r>
          </a:p>
        </p:txBody>
      </p:sp>
      <p:sp>
        <p:nvSpPr>
          <p:cNvPr id="77" name="Rectangle 76"/>
          <p:cNvSpPr/>
          <p:nvPr/>
        </p:nvSpPr>
        <p:spPr>
          <a:xfrm>
            <a:off x="640080" y="4278477"/>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731519" y="4319625"/>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MNA Cladding</a:t>
            </a:r>
          </a:p>
        </p:txBody>
      </p:sp>
      <p:sp>
        <p:nvSpPr>
          <p:cNvPr id="79" name="TextBox 78"/>
          <p:cNvSpPr txBox="1"/>
          <p:nvPr/>
        </p:nvSpPr>
        <p:spPr>
          <a:xfrm>
            <a:off x="3200400" y="4319625"/>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Collar Bone</a:t>
            </a:r>
          </a:p>
        </p:txBody>
      </p:sp>
      <p:sp>
        <p:nvSpPr>
          <p:cNvPr id="80" name="TextBox 79"/>
          <p:cNvSpPr txBox="1"/>
          <p:nvPr/>
        </p:nvSpPr>
        <p:spPr>
          <a:xfrm>
            <a:off x="5413248" y="4319625"/>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8</a:t>
            </a:r>
          </a:p>
        </p:txBody>
      </p:sp>
      <p:sp>
        <p:nvSpPr>
          <p:cNvPr id="81" name="TextBox 80"/>
          <p:cNvSpPr txBox="1"/>
          <p:nvPr/>
        </p:nvSpPr>
        <p:spPr>
          <a:xfrm>
            <a:off x="6830568" y="4319625"/>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3.25</a:t>
            </a:r>
          </a:p>
        </p:txBody>
      </p:sp>
      <p:sp>
        <p:nvSpPr>
          <p:cNvPr id="82" name="TextBox 81"/>
          <p:cNvSpPr txBox="1"/>
          <p:nvPr/>
        </p:nvSpPr>
        <p:spPr>
          <a:xfrm>
            <a:off x="8247888" y="4319625"/>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3.38</a:t>
            </a:r>
          </a:p>
        </p:txBody>
      </p:sp>
      <p:sp>
        <p:nvSpPr>
          <p:cNvPr id="83" name="TextBox 82"/>
          <p:cNvSpPr txBox="1"/>
          <p:nvPr/>
        </p:nvSpPr>
        <p:spPr>
          <a:xfrm>
            <a:off x="9573768" y="4319625"/>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3.31</a:t>
            </a:r>
          </a:p>
        </p:txBody>
      </p:sp>
      <p:sp>
        <p:nvSpPr>
          <p:cNvPr id="84" name="TextBox 83"/>
          <p:cNvSpPr txBox="1"/>
          <p:nvPr/>
        </p:nvSpPr>
        <p:spPr>
          <a:xfrm>
            <a:off x="10442448" y="4319625"/>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-4.69</a:t>
            </a:r>
          </a:p>
        </p:txBody>
      </p:sp>
      <p:sp>
        <p:nvSpPr>
          <p:cNvPr id="85" name="TextBox 84"/>
          <p:cNvSpPr txBox="1"/>
          <p:nvPr/>
        </p:nvSpPr>
        <p:spPr>
          <a:xfrm>
            <a:off x="731519" y="4564684"/>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Ellgren</a:t>
            </a:r>
          </a:p>
        </p:txBody>
      </p:sp>
      <p:sp>
        <p:nvSpPr>
          <p:cNvPr id="86" name="TextBox 85"/>
          <p:cNvSpPr txBox="1"/>
          <p:nvPr/>
        </p:nvSpPr>
        <p:spPr>
          <a:xfrm>
            <a:off x="3200400" y="4564684"/>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Socks front</a:t>
            </a:r>
          </a:p>
        </p:txBody>
      </p:sp>
      <p:sp>
        <p:nvSpPr>
          <p:cNvPr id="87" name="TextBox 86"/>
          <p:cNvSpPr txBox="1"/>
          <p:nvPr/>
        </p:nvSpPr>
        <p:spPr>
          <a:xfrm>
            <a:off x="5413248" y="4564684"/>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1</a:t>
            </a:r>
          </a:p>
        </p:txBody>
      </p:sp>
      <p:sp>
        <p:nvSpPr>
          <p:cNvPr id="88" name="TextBox 87"/>
          <p:cNvSpPr txBox="1"/>
          <p:nvPr/>
        </p:nvSpPr>
        <p:spPr>
          <a:xfrm>
            <a:off x="6830568" y="4564684"/>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2.82</a:t>
            </a:r>
          </a:p>
        </p:txBody>
      </p:sp>
      <p:sp>
        <p:nvSpPr>
          <p:cNvPr id="89" name="TextBox 88"/>
          <p:cNvSpPr txBox="1"/>
          <p:nvPr/>
        </p:nvSpPr>
        <p:spPr>
          <a:xfrm>
            <a:off x="8247888" y="4564684"/>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2.22</a:t>
            </a:r>
          </a:p>
        </p:txBody>
      </p:sp>
      <p:sp>
        <p:nvSpPr>
          <p:cNvPr id="90" name="TextBox 89"/>
          <p:cNvSpPr txBox="1"/>
          <p:nvPr/>
        </p:nvSpPr>
        <p:spPr>
          <a:xfrm>
            <a:off x="9573768" y="4564684"/>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2.52</a:t>
            </a:r>
          </a:p>
        </p:txBody>
      </p:sp>
      <p:sp>
        <p:nvSpPr>
          <p:cNvPr id="91" name="TextBox 90"/>
          <p:cNvSpPr txBox="1"/>
          <p:nvPr/>
        </p:nvSpPr>
        <p:spPr>
          <a:xfrm>
            <a:off x="10442448" y="4564684"/>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+1.52</a:t>
            </a:r>
          </a:p>
        </p:txBody>
      </p:sp>
      <p:sp>
        <p:nvSpPr>
          <p:cNvPr id="92" name="Rectangle 91"/>
          <p:cNvSpPr/>
          <p:nvPr/>
        </p:nvSpPr>
        <p:spPr>
          <a:xfrm>
            <a:off x="640080" y="4768596"/>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731519" y="4809744"/>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EM Workwear</a:t>
            </a:r>
          </a:p>
        </p:txBody>
      </p:sp>
      <p:sp>
        <p:nvSpPr>
          <p:cNvPr id="94" name="TextBox 93"/>
          <p:cNvSpPr txBox="1"/>
          <p:nvPr/>
        </p:nvSpPr>
        <p:spPr>
          <a:xfrm>
            <a:off x="3200400" y="4809744"/>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Socks back</a:t>
            </a:r>
          </a:p>
        </p:txBody>
      </p:sp>
      <p:sp>
        <p:nvSpPr>
          <p:cNvPr id="95" name="TextBox 94"/>
          <p:cNvSpPr txBox="1"/>
          <p:nvPr/>
        </p:nvSpPr>
        <p:spPr>
          <a:xfrm>
            <a:off x="5413248" y="4809744"/>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1</a:t>
            </a:r>
          </a:p>
        </p:txBody>
      </p:sp>
      <p:sp>
        <p:nvSpPr>
          <p:cNvPr id="96" name="TextBox 95"/>
          <p:cNvSpPr txBox="1"/>
          <p:nvPr/>
        </p:nvSpPr>
        <p:spPr>
          <a:xfrm>
            <a:off x="6830568" y="4809744"/>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2.68</a:t>
            </a:r>
          </a:p>
        </p:txBody>
      </p:sp>
      <p:sp>
        <p:nvSpPr>
          <p:cNvPr id="97" name="TextBox 96"/>
          <p:cNvSpPr txBox="1"/>
          <p:nvPr/>
        </p:nvSpPr>
        <p:spPr>
          <a:xfrm>
            <a:off x="8247888" y="4809744"/>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2.05</a:t>
            </a:r>
          </a:p>
        </p:txBody>
      </p:sp>
      <p:sp>
        <p:nvSpPr>
          <p:cNvPr id="98" name="TextBox 97"/>
          <p:cNvSpPr txBox="1"/>
          <p:nvPr/>
        </p:nvSpPr>
        <p:spPr>
          <a:xfrm>
            <a:off x="9573768" y="4809744"/>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2.37</a:t>
            </a:r>
          </a:p>
        </p:txBody>
      </p:sp>
      <p:sp>
        <p:nvSpPr>
          <p:cNvPr id="99" name="TextBox 98"/>
          <p:cNvSpPr txBox="1"/>
          <p:nvPr/>
        </p:nvSpPr>
        <p:spPr>
          <a:xfrm>
            <a:off x="10442448" y="4809744"/>
            <a:ext cx="1170432" cy="219456"/>
          </a:xfrm>
          <a:prstGeom prst="rect">
            <a:avLst/>
          </a:prstGeom>
          <a:noFill/>
        </p:spPr>
        <p:txBody>
          <a:bodyPr wrap="square" lIns="0" rIns="0" tIns="0" bIns="0" anchor="t">
            <a:spAutoFit/>
          </a:bodyPr>
          <a:lstStyle/>
          <a:p>
            <a:pPr algn="r">
              <a:lnSpc>
                <a:spcPct val="120000"/>
              </a:lnSpc>
            </a:pPr>
            <a:r>
              <a:rPr sz="1019" b="1" i="0">
                <a:solidFill>
                  <a:srgbClr val="25C787"/>
                </a:solidFill>
                <a:latin typeface="Arial"/>
              </a:rPr>
              <a:t>+1.37</a:t>
            </a:r>
          </a:p>
        </p:txBody>
      </p:sp>
      <p:sp>
        <p:nvSpPr>
          <p:cNvPr id="100" name="TextBox 99"/>
          <p:cNvSpPr txBox="1"/>
          <p:nvPr/>
        </p:nvSpPr>
        <p:spPr>
          <a:xfrm>
            <a:off x="731519" y="5054803"/>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ATM Hospitality</a:t>
            </a:r>
          </a:p>
        </p:txBody>
      </p:sp>
      <p:sp>
        <p:nvSpPr>
          <p:cNvPr id="101" name="TextBox 100"/>
          <p:cNvSpPr txBox="1"/>
          <p:nvPr/>
        </p:nvSpPr>
        <p:spPr>
          <a:xfrm>
            <a:off x="3200400" y="5054803"/>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Sleeve 2</a:t>
            </a:r>
          </a:p>
        </p:txBody>
      </p:sp>
      <p:sp>
        <p:nvSpPr>
          <p:cNvPr id="102" name="TextBox 101"/>
          <p:cNvSpPr txBox="1"/>
          <p:nvPr/>
        </p:nvSpPr>
        <p:spPr>
          <a:xfrm>
            <a:off x="5413248" y="5054803"/>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11</a:t>
            </a:r>
          </a:p>
        </p:txBody>
      </p:sp>
      <p:sp>
        <p:nvSpPr>
          <p:cNvPr id="103" name="TextBox 102"/>
          <p:cNvSpPr txBox="1"/>
          <p:nvPr/>
        </p:nvSpPr>
        <p:spPr>
          <a:xfrm>
            <a:off x="6830568" y="5054803"/>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1.80</a:t>
            </a:r>
          </a:p>
        </p:txBody>
      </p:sp>
      <p:sp>
        <p:nvSpPr>
          <p:cNvPr id="104" name="TextBox 103"/>
          <p:cNvSpPr txBox="1"/>
          <p:nvPr/>
        </p:nvSpPr>
        <p:spPr>
          <a:xfrm>
            <a:off x="8247888" y="5054803"/>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2.53</a:t>
            </a:r>
          </a:p>
        </p:txBody>
      </p:sp>
      <p:sp>
        <p:nvSpPr>
          <p:cNvPr id="105" name="TextBox 104"/>
          <p:cNvSpPr txBox="1"/>
          <p:nvPr/>
        </p:nvSpPr>
        <p:spPr>
          <a:xfrm>
            <a:off x="9573768" y="5054803"/>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2.17</a:t>
            </a:r>
          </a:p>
        </p:txBody>
      </p:sp>
      <p:sp>
        <p:nvSpPr>
          <p:cNvPr id="106" name="TextBox 105"/>
          <p:cNvSpPr txBox="1"/>
          <p:nvPr/>
        </p:nvSpPr>
        <p:spPr>
          <a:xfrm>
            <a:off x="10442448" y="5054803"/>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-8.84</a:t>
            </a:r>
          </a:p>
        </p:txBody>
      </p:sp>
      <p:sp>
        <p:nvSpPr>
          <p:cNvPr id="107" name="Rectangle 106"/>
          <p:cNvSpPr/>
          <p:nvPr/>
        </p:nvSpPr>
        <p:spPr>
          <a:xfrm>
            <a:off x="640080" y="5258714"/>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731519" y="5299862"/>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MNA Support Services</a:t>
            </a:r>
          </a:p>
        </p:txBody>
      </p:sp>
      <p:sp>
        <p:nvSpPr>
          <p:cNvPr id="109" name="TextBox 108"/>
          <p:cNvSpPr txBox="1"/>
          <p:nvPr/>
        </p:nvSpPr>
        <p:spPr>
          <a:xfrm>
            <a:off x="3200400" y="5299862"/>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Collar Back</a:t>
            </a:r>
          </a:p>
        </p:txBody>
      </p:sp>
      <p:sp>
        <p:nvSpPr>
          <p:cNvPr id="110" name="TextBox 109"/>
          <p:cNvSpPr txBox="1"/>
          <p:nvPr/>
        </p:nvSpPr>
        <p:spPr>
          <a:xfrm>
            <a:off x="5413248" y="5299862"/>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8</a:t>
            </a:r>
          </a:p>
        </p:txBody>
      </p:sp>
      <p:sp>
        <p:nvSpPr>
          <p:cNvPr id="111" name="TextBox 110"/>
          <p:cNvSpPr txBox="1"/>
          <p:nvPr/>
        </p:nvSpPr>
        <p:spPr>
          <a:xfrm>
            <a:off x="6830568" y="5299862"/>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2.08</a:t>
            </a:r>
          </a:p>
        </p:txBody>
      </p:sp>
      <p:sp>
        <p:nvSpPr>
          <p:cNvPr id="112" name="TextBox 111"/>
          <p:cNvSpPr txBox="1"/>
          <p:nvPr/>
        </p:nvSpPr>
        <p:spPr>
          <a:xfrm>
            <a:off x="8247888" y="5299862"/>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2.23</a:t>
            </a:r>
          </a:p>
        </p:txBody>
      </p:sp>
      <p:sp>
        <p:nvSpPr>
          <p:cNvPr id="113" name="TextBox 112"/>
          <p:cNvSpPr txBox="1"/>
          <p:nvPr/>
        </p:nvSpPr>
        <p:spPr>
          <a:xfrm>
            <a:off x="9573768" y="5299862"/>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2.16</a:t>
            </a:r>
          </a:p>
        </p:txBody>
      </p:sp>
      <p:sp>
        <p:nvSpPr>
          <p:cNvPr id="114" name="TextBox 113"/>
          <p:cNvSpPr txBox="1"/>
          <p:nvPr/>
        </p:nvSpPr>
        <p:spPr>
          <a:xfrm>
            <a:off x="10442448" y="5299862"/>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-5.84</a:t>
            </a:r>
          </a:p>
        </p:txBody>
      </p:sp>
      <p:sp>
        <p:nvSpPr>
          <p:cNvPr id="115" name="TextBox 114"/>
          <p:cNvSpPr txBox="1"/>
          <p:nvPr/>
        </p:nvSpPr>
        <p:spPr>
          <a:xfrm>
            <a:off x="731519" y="5544921"/>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MCP</a:t>
            </a:r>
          </a:p>
        </p:txBody>
      </p:sp>
      <p:sp>
        <p:nvSpPr>
          <p:cNvPr id="116" name="TextBox 115"/>
          <p:cNvSpPr txBox="1"/>
          <p:nvPr/>
        </p:nvSpPr>
        <p:spPr>
          <a:xfrm>
            <a:off x="3200400" y="5544921"/>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Top Back</a:t>
            </a:r>
          </a:p>
        </p:txBody>
      </p:sp>
      <p:sp>
        <p:nvSpPr>
          <p:cNvPr id="117" name="TextBox 116"/>
          <p:cNvSpPr txBox="1"/>
          <p:nvPr/>
        </p:nvSpPr>
        <p:spPr>
          <a:xfrm>
            <a:off x="5413248" y="5544921"/>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5</a:t>
            </a:r>
          </a:p>
        </p:txBody>
      </p:sp>
      <p:sp>
        <p:nvSpPr>
          <p:cNvPr id="118" name="TextBox 117"/>
          <p:cNvSpPr txBox="1"/>
          <p:nvPr/>
        </p:nvSpPr>
        <p:spPr>
          <a:xfrm>
            <a:off x="6830568" y="5544921"/>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2.08</a:t>
            </a:r>
          </a:p>
        </p:txBody>
      </p:sp>
      <p:sp>
        <p:nvSpPr>
          <p:cNvPr id="119" name="TextBox 118"/>
          <p:cNvSpPr txBox="1"/>
          <p:nvPr/>
        </p:nvSpPr>
        <p:spPr>
          <a:xfrm>
            <a:off x="8247888" y="5544921"/>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2.23</a:t>
            </a:r>
          </a:p>
        </p:txBody>
      </p:sp>
      <p:sp>
        <p:nvSpPr>
          <p:cNvPr id="120" name="TextBox 119"/>
          <p:cNvSpPr txBox="1"/>
          <p:nvPr/>
        </p:nvSpPr>
        <p:spPr>
          <a:xfrm>
            <a:off x="9573768" y="5544921"/>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2.16</a:t>
            </a:r>
          </a:p>
        </p:txBody>
      </p:sp>
      <p:sp>
        <p:nvSpPr>
          <p:cNvPr id="121" name="TextBox 120"/>
          <p:cNvSpPr txBox="1"/>
          <p:nvPr/>
        </p:nvSpPr>
        <p:spPr>
          <a:xfrm>
            <a:off x="10442448" y="5544921"/>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-2.84</a:t>
            </a:r>
          </a:p>
        </p:txBody>
      </p:sp>
      <p:sp>
        <p:nvSpPr>
          <p:cNvPr id="122" name="Rectangle 121"/>
          <p:cNvSpPr/>
          <p:nvPr/>
        </p:nvSpPr>
        <p:spPr>
          <a:xfrm>
            <a:off x="640080" y="5748832"/>
            <a:ext cx="10911809" cy="245059"/>
          </a:xfrm>
          <a:prstGeom prst="rect">
            <a:avLst/>
          </a:prstGeom>
          <a:solidFill>
            <a:srgbClr val="121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extBox 122"/>
          <p:cNvSpPr txBox="1"/>
          <p:nvPr/>
        </p:nvSpPr>
        <p:spPr>
          <a:xfrm>
            <a:off x="731519" y="5789980"/>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Fairway</a:t>
            </a:r>
          </a:p>
        </p:txBody>
      </p:sp>
      <p:sp>
        <p:nvSpPr>
          <p:cNvPr id="124" name="TextBox 123"/>
          <p:cNvSpPr txBox="1"/>
          <p:nvPr/>
        </p:nvSpPr>
        <p:spPr>
          <a:xfrm>
            <a:off x="3200400" y="5789980"/>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Nape Neck</a:t>
            </a:r>
          </a:p>
        </p:txBody>
      </p:sp>
      <p:sp>
        <p:nvSpPr>
          <p:cNvPr id="125" name="TextBox 124"/>
          <p:cNvSpPr txBox="1"/>
          <p:nvPr/>
        </p:nvSpPr>
        <p:spPr>
          <a:xfrm>
            <a:off x="5413248" y="5789980"/>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3</a:t>
            </a:r>
          </a:p>
        </p:txBody>
      </p:sp>
      <p:sp>
        <p:nvSpPr>
          <p:cNvPr id="126" name="TextBox 125"/>
          <p:cNvSpPr txBox="1"/>
          <p:nvPr/>
        </p:nvSpPr>
        <p:spPr>
          <a:xfrm>
            <a:off x="6830568" y="5789980"/>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2.08</a:t>
            </a:r>
          </a:p>
        </p:txBody>
      </p:sp>
      <p:sp>
        <p:nvSpPr>
          <p:cNvPr id="127" name="TextBox 126"/>
          <p:cNvSpPr txBox="1"/>
          <p:nvPr/>
        </p:nvSpPr>
        <p:spPr>
          <a:xfrm>
            <a:off x="8247888" y="5789980"/>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2.23</a:t>
            </a:r>
          </a:p>
        </p:txBody>
      </p:sp>
      <p:sp>
        <p:nvSpPr>
          <p:cNvPr id="128" name="TextBox 127"/>
          <p:cNvSpPr txBox="1"/>
          <p:nvPr/>
        </p:nvSpPr>
        <p:spPr>
          <a:xfrm>
            <a:off x="9573768" y="5789980"/>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2.16</a:t>
            </a:r>
          </a:p>
        </p:txBody>
      </p:sp>
      <p:sp>
        <p:nvSpPr>
          <p:cNvPr id="129" name="TextBox 128"/>
          <p:cNvSpPr txBox="1"/>
          <p:nvPr/>
        </p:nvSpPr>
        <p:spPr>
          <a:xfrm>
            <a:off x="10442448" y="5789980"/>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-0.84</a:t>
            </a:r>
          </a:p>
        </p:txBody>
      </p:sp>
      <p:sp>
        <p:nvSpPr>
          <p:cNvPr id="130" name="TextBox 129"/>
          <p:cNvSpPr txBox="1"/>
          <p:nvPr/>
        </p:nvSpPr>
        <p:spPr>
          <a:xfrm>
            <a:off x="731519" y="6035040"/>
            <a:ext cx="2331720" cy="219456"/>
          </a:xfrm>
          <a:prstGeom prst="rect">
            <a:avLst/>
          </a:prstGeom>
          <a:noFill/>
        </p:spPr>
        <p:txBody>
          <a:bodyPr wrap="square" lIns="0" rIns="0" tIns="0" bIns="0" anchor="t">
            <a:spAutoFit/>
          </a:bodyPr>
          <a:lstStyle/>
          <a:p>
            <a:pPr algn="l">
              <a:lnSpc>
                <a:spcPct val="120000"/>
              </a:lnSpc>
            </a:pPr>
            <a:r>
              <a:rPr sz="1019" b="1" i="0">
                <a:solidFill>
                  <a:srgbClr val="FFFFFF"/>
                </a:solidFill>
                <a:latin typeface="Arial"/>
              </a:rPr>
              <a:t>Romantica</a:t>
            </a:r>
          </a:p>
        </p:txBody>
      </p:sp>
      <p:sp>
        <p:nvSpPr>
          <p:cNvPr id="131" name="TextBox 130"/>
          <p:cNvSpPr txBox="1"/>
          <p:nvPr/>
        </p:nvSpPr>
        <p:spPr>
          <a:xfrm>
            <a:off x="3200400" y="6035040"/>
            <a:ext cx="2606040" cy="219456"/>
          </a:xfrm>
          <a:prstGeom prst="rect">
            <a:avLst/>
          </a:prstGeom>
          <a:noFill/>
        </p:spPr>
        <p:txBody>
          <a:bodyPr wrap="square" lIns="0" rIns="0" tIns="0" bIns="0" anchor="t">
            <a:spAutoFit/>
          </a:bodyPr>
          <a:lstStyle/>
          <a:p>
            <a:pPr algn="l">
              <a:lnSpc>
                <a:spcPct val="120000"/>
              </a:lnSpc>
            </a:pPr>
            <a:r>
              <a:rPr sz="1019" b="0" i="0">
                <a:solidFill>
                  <a:srgbClr val="8695AC"/>
                </a:solidFill>
                <a:latin typeface="Arial"/>
              </a:rPr>
              <a:t>Chest (opp Badge)</a:t>
            </a:r>
          </a:p>
        </p:txBody>
      </p:sp>
      <p:sp>
        <p:nvSpPr>
          <p:cNvPr id="132" name="TextBox 131"/>
          <p:cNvSpPr txBox="1"/>
          <p:nvPr/>
        </p:nvSpPr>
        <p:spPr>
          <a:xfrm>
            <a:off x="5413248" y="6035040"/>
            <a:ext cx="1170432" cy="219456"/>
          </a:xfrm>
          <a:prstGeom prst="rect">
            <a:avLst/>
          </a:prstGeom>
          <a:noFill/>
        </p:spPr>
        <p:txBody>
          <a:bodyPr wrap="square" lIns="0" rIns="0" tIns="0" bIns="0" anchor="t">
            <a:spAutoFit/>
          </a:bodyPr>
          <a:lstStyle/>
          <a:p>
            <a:pPr algn="r">
              <a:lnSpc>
                <a:spcPct val="120000"/>
              </a:lnSpc>
            </a:pPr>
            <a:r>
              <a:rPr sz="1019" b="0" i="0">
                <a:solidFill>
                  <a:srgbClr val="8695AC"/>
                </a:solidFill>
                <a:latin typeface="Arial"/>
              </a:rPr>
              <a:t>7</a:t>
            </a:r>
          </a:p>
        </p:txBody>
      </p:sp>
      <p:sp>
        <p:nvSpPr>
          <p:cNvPr id="133" name="TextBox 132"/>
          <p:cNvSpPr txBox="1"/>
          <p:nvPr/>
        </p:nvSpPr>
        <p:spPr>
          <a:xfrm>
            <a:off x="6830568" y="6035040"/>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1.77</a:t>
            </a:r>
          </a:p>
        </p:txBody>
      </p:sp>
      <p:sp>
        <p:nvSpPr>
          <p:cNvPr id="134" name="TextBox 133"/>
          <p:cNvSpPr txBox="1"/>
          <p:nvPr/>
        </p:nvSpPr>
        <p:spPr>
          <a:xfrm>
            <a:off x="8247888" y="6035040"/>
            <a:ext cx="1170432" cy="219456"/>
          </a:xfrm>
          <a:prstGeom prst="rect">
            <a:avLst/>
          </a:prstGeom>
          <a:noFill/>
        </p:spPr>
        <p:txBody>
          <a:bodyPr wrap="square" lIns="0" rIns="0" tIns="0" bIns="0" anchor="t">
            <a:spAutoFit/>
          </a:bodyPr>
          <a:lstStyle/>
          <a:p>
            <a:pPr algn="r">
              <a:lnSpc>
                <a:spcPct val="120000"/>
              </a:lnSpc>
            </a:pPr>
            <a:r>
              <a:rPr sz="1019" b="0" i="0">
                <a:solidFill>
                  <a:srgbClr val="DCE4EF"/>
                </a:solidFill>
                <a:latin typeface="Arial"/>
              </a:rPr>
              <a:t>2.41</a:t>
            </a:r>
          </a:p>
        </p:txBody>
      </p:sp>
      <p:sp>
        <p:nvSpPr>
          <p:cNvPr id="135" name="TextBox 134"/>
          <p:cNvSpPr txBox="1"/>
          <p:nvPr/>
        </p:nvSpPr>
        <p:spPr>
          <a:xfrm>
            <a:off x="9573768" y="6035040"/>
            <a:ext cx="1170432" cy="219456"/>
          </a:xfrm>
          <a:prstGeom prst="rect">
            <a:avLst/>
          </a:prstGeom>
          <a:noFill/>
        </p:spPr>
        <p:txBody>
          <a:bodyPr wrap="square" lIns="0" rIns="0" tIns="0" bIns="0" anchor="t">
            <a:spAutoFit/>
          </a:bodyPr>
          <a:lstStyle/>
          <a:p>
            <a:pPr algn="r">
              <a:lnSpc>
                <a:spcPct val="120000"/>
              </a:lnSpc>
            </a:pPr>
            <a:r>
              <a:rPr sz="1019" b="1" i="0">
                <a:solidFill>
                  <a:srgbClr val="FFFFFF"/>
                </a:solidFill>
                <a:latin typeface="Arial"/>
              </a:rPr>
              <a:t>2.09</a:t>
            </a:r>
          </a:p>
        </p:txBody>
      </p:sp>
      <p:sp>
        <p:nvSpPr>
          <p:cNvPr id="136" name="TextBox 135"/>
          <p:cNvSpPr txBox="1"/>
          <p:nvPr/>
        </p:nvSpPr>
        <p:spPr>
          <a:xfrm>
            <a:off x="10442448" y="6035040"/>
            <a:ext cx="1170432" cy="219456"/>
          </a:xfrm>
          <a:prstGeom prst="rect">
            <a:avLst/>
          </a:prstGeom>
          <a:noFill/>
        </p:spPr>
        <p:txBody>
          <a:bodyPr wrap="square" lIns="0" rIns="0" tIns="0" bIns="0" anchor="t">
            <a:spAutoFit/>
          </a:bodyPr>
          <a:lstStyle/>
          <a:p>
            <a:pPr algn="r">
              <a:lnSpc>
                <a:spcPct val="120000"/>
              </a:lnSpc>
            </a:pPr>
            <a:r>
              <a:rPr sz="1019" b="1" i="0">
                <a:solidFill>
                  <a:srgbClr val="E4002B"/>
                </a:solidFill>
                <a:latin typeface="Arial"/>
              </a:rPr>
              <a:t>-4.91</a:t>
            </a:r>
          </a:p>
        </p:txBody>
      </p:sp>
      <p:sp>
        <p:nvSpPr>
          <p:cNvPr id="137" name="TextBox 136"/>
          <p:cNvSpPr txBox="1"/>
          <p:nvPr/>
        </p:nvSpPr>
        <p:spPr>
          <a:xfrm>
            <a:off x="640080" y="6437376"/>
            <a:ext cx="10180289" cy="274320"/>
          </a:xfrm>
          <a:prstGeom prst="rect">
            <a:avLst/>
          </a:prstGeom>
          <a:noFill/>
        </p:spPr>
        <p:txBody>
          <a:bodyPr wrap="square" lIns="0" rIns="0" tIns="0" bIns="0" anchor="t">
            <a:spAutoFit/>
          </a:bodyPr>
          <a:lstStyle/>
          <a:p>
            <a:pPr algn="l">
              <a:lnSpc>
                <a:spcPct val="125000"/>
              </a:lnSpc>
            </a:pPr>
            <a:r>
              <a:rPr sz="840" b="0" i="0">
                <a:solidFill>
                  <a:srgbClr val="56657C"/>
                </a:solidFill>
                <a:latin typeface="Arial"/>
              </a:rPr>
              <a:t>Two complete Bradford Bulls broadcasts, home kit 2025/26, analysed at 2 frames per second. “What the club charges” is the current management allocation (totals 95%); LogoLens totals 100%.</a:t>
            </a:r>
          </a:p>
        </p:txBody>
      </p:sp>
      <p:sp>
        <p:nvSpPr>
          <p:cNvPr id="138" name="TextBox 137"/>
          <p:cNvSpPr txBox="1"/>
          <p:nvPr/>
        </p:nvSpPr>
        <p:spPr>
          <a:xfrm>
            <a:off x="11003249" y="6437376"/>
            <a:ext cx="548640" cy="219456"/>
          </a:xfrm>
          <a:prstGeom prst="rect">
            <a:avLst/>
          </a:prstGeom>
          <a:noFill/>
        </p:spPr>
        <p:txBody>
          <a:bodyPr wrap="square" lIns="0" rIns="0" tIns="0" bIns="0" anchor="t">
            <a:spAutoFit/>
          </a:bodyPr>
          <a:lstStyle/>
          <a:p>
            <a:pPr algn="r">
              <a:lnSpc>
                <a:spcPct val="120000"/>
              </a:lnSpc>
            </a:pPr>
            <a:r>
              <a:rPr sz="1050" b="1" i="0">
                <a:solidFill>
                  <a:srgbClr val="56657C"/>
                </a:solidFill>
                <a:latin typeface="Arial"/>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