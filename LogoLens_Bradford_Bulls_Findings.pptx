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naming the one question this whole project answers: when a sponsor pays for a place on the shirt, how much broadcast exposure do they actually get, and does the club's price list match it? Say that everything you are about to show comes from two complete Bradford Bulls matches, measured automatically, not from a sample of highlights.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land hard. Three messages: (1) the shorts are the most visible real estate on the kit and the cheapest; (2) the chest carries the price but not the exposure; (3) the measurement repeats across matches, so this is a real pattern, not a one-off reading. Stress that none of this says the club is wrong — chest sponsorship carries value beyond broadcast. It says the broadcast component is now measurable and can be put on the table.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short. The two points that matter to a club audience: we watched the whole match, not the highlights, and the system only counts logos on Bradford players — opponent kit and pitch-side boards are filtered out. The frame on screen is real system output, so you can point at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of this slide is credibility. Anyone can count frames. What makes this defensible is that a logo tucked in a corner at 40 pixels does not count the same as one filling the centre of a close-up. Mention the last line: because the factors are stored separately, the club can ask 'what if we don't care about position?' and get an answer in seconds rather than a re-run.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chart top to bottom. Grey ring = what the club charges for that asset as a share of the shirt. Red dot = what LogoLens measured. The length of the line is the disagreement. The single most striking row is the top one: KLG on the back of the shorts is the most-seen mark on the kit and one of the cheapest. The second is Top Notch — a quarter of the price, an eighth of the visibility.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commercial slide. Two things to be careful about when you say them out loud. First, a positive gap is not automatically a price rise — it is a renewal argument and a packaging opportunity. Second, a negative gap is not automatically a price cut: the main sponsor buys hoardings, hospitality and brand association that this system does not measure. What changed is that the broadcast slice of that bundle now has a number attached to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people will photograph. Let it breathe. The marker on each position is measured visibility divided by the club's price share: above 1.0 means the camera gives it more than the price list does. Point at the back of the shorts (4.7×) and then at the collar (0.3×) — that contrast is the whole argument in one image.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Zone slide for front torso. Give the headline ratio first, then let the bar chart do the detail. The evidence crop on the right is a real detection from the footage — use it if anyone asks whether the system is really reading the mark or just guessing from position.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Zone slide for back / neck. Give the headline ratio first, then let the bar chart do the detail. The evidence crop on the right is a real detection from the footage — use it if anyone asks whether the system is really reading the mark or just guessing from position.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Zone slide for sleeves. Give the headline ratio first, then let the bar chart do the detail. The evidence crop on the right is a real detection from the footage — use it if anyone asks whether the system is really reading the mark or just guessing from position.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Zone slide for shorts. Give the headline ratio first, then let the bar chart do the detail. The evidence crop on the right is a real detection from the footage — use it if anyone asks whether the system is really reading the mark or just guessing from position.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what the heat is and what it is not. It is screen-space: where on the television picture the logos appeared. It is not pitch position and it is not player running data. The commercial read is simple — the camera lives around the contact area, and the kit real estate that sits in the contact area is the shorts and lower back.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the left clip first and narrate it: boxes appear, brand names and confidence scores are on screen, and notice that the opponent in dark kit is greyed out — their sponsors never enter Bradford's numbers. Then the right clip: this is how the system knows a mark is on the shorts rather than the shirt. If a clip does not autoplay on the venue machine, the files sit beside the deck in the artifacts folder.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honest points make this slide trustworthy rather than salesy. One: the same model scores 0.998 when tested on matches it has already seen and 0.933 on new ones — we report the harder number. Two: four sponsor classes have very few test examples, and removing them moves the headline from 0.933 to 0.917, which we also report. Wide-shot recall of 0.500 means exposure during wide play is under-counted, so today's visibility figures are conservative.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pre-empts the obvious challenge: 'you only watched two games.' The answer is that the two games agree with each other very closely, which means the measurement is repeatable — and then be the first to say that two matches is a pilot, not a season. That honesty is what makes the recommendation on the next slides credible.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rush this slide — volunteering the weaknesses is what earns you the right to the recommendations. The single most important sentence: because the system misses logos in wide play rather than inventing them, the exposure numbers are conservative. If anything, the gaps you have just seen are understated.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commercial argument here. The one line to repeat: this does not replace commercial judgement, it gives that judgement something to point at. If a sponsor asks why their sleeve costs what it costs, there is now an answer with a number on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the sequence, not on the technology. The club does one thing first — confirm the inventory map — and everything else follows from it. Offer to run the next fixture as soon as the footage is available.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Leave-behind slide. Everything on it is reproducible from the two match reports. Offer to send the underlying Excel exports.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2.jpg"/><Relationship Id="rId5" Type="http://schemas.microsoft.com/office/2007/relationships/media" Target="../media/media2.mp4"/><Relationship Id="rId6" Type="http://schemas.openxmlformats.org/officeDocument/2006/relationships/video" Target="../media/media2.mp4"/><Relationship Id="rId7" Type="http://schemas.openxmlformats.org/officeDocument/2006/relationships/image" Target="../media/image16.jpg"/><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image" Target="../media/image21.jpg"/><Relationship Id="rId4" Type="http://schemas.openxmlformats.org/officeDocument/2006/relationships/image" Target="../media/image22.jpg"/><Relationship Id="rId5" Type="http://schemas.openxmlformats.org/officeDocument/2006/relationships/image" Target="../media/image23.jpg"/><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409" cy="6949440"/>
          </a:xfrm>
          <a:prstGeom prst="rect">
            <a:avLst/>
          </a:prstGeom>
          <a:solidFill>
            <a:srgbClr val="0D1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hero.jpg"/>
          <p:cNvPicPr>
            <a:picLocks noChangeAspect="1"/>
          </p:cNvPicPr>
          <p:nvPr/>
        </p:nvPicPr>
        <p:blipFill>
          <a:blip r:embed="rId2"/>
          <a:srcRect l="0" r="0"/>
          <a:stretch>
            <a:fillRect/>
          </a:stretch>
        </p:blipFill>
        <p:spPr>
          <a:xfrm>
            <a:off x="0" y="0"/>
            <a:ext cx="12191969" cy="6858000"/>
          </a:xfrm>
          <a:prstGeom prst="rect">
            <a:avLst/>
          </a:prstGeom>
        </p:spPr>
      </p:pic>
      <p:sp>
        <p:nvSpPr>
          <p:cNvPr id="4" name="Rectangle 3"/>
          <p:cNvSpPr/>
          <p:nvPr/>
        </p:nvSpPr>
        <p:spPr>
          <a:xfrm>
            <a:off x="0" y="0"/>
            <a:ext cx="12191969" cy="50292"/>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7071342" y="0"/>
            <a:ext cx="2682233" cy="50292"/>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481328"/>
            <a:ext cx="11058113" cy="274320"/>
          </a:xfrm>
          <a:prstGeom prst="rect">
            <a:avLst/>
          </a:prstGeom>
          <a:noFill/>
        </p:spPr>
        <p:txBody>
          <a:bodyPr wrap="square" lIns="0" rIns="0" tIns="0" bIns="0" anchor="t">
            <a:spAutoFit/>
          </a:bodyPr>
          <a:lstStyle/>
          <a:p>
            <a:pPr algn="l">
              <a:lnSpc>
                <a:spcPct val="115000"/>
              </a:lnSpc>
            </a:pPr>
            <a:r>
              <a:rPr sz="1250" b="1" i="0" spc="220">
                <a:solidFill>
                  <a:srgbClr val="FFC20E"/>
                </a:solidFill>
                <a:latin typeface="Arial"/>
              </a:rPr>
              <a:t>BRADFORD BULLS  ·  SPONSORSHIP VISIBILITY REVIEW</a:t>
            </a:r>
          </a:p>
        </p:txBody>
      </p:sp>
      <p:sp>
        <p:nvSpPr>
          <p:cNvPr id="7" name="TextBox 6"/>
          <p:cNvSpPr txBox="1"/>
          <p:nvPr/>
        </p:nvSpPr>
        <p:spPr>
          <a:xfrm>
            <a:off x="566928" y="1938528"/>
            <a:ext cx="8595360" cy="1737360"/>
          </a:xfrm>
          <a:prstGeom prst="rect">
            <a:avLst/>
          </a:prstGeom>
          <a:noFill/>
        </p:spPr>
        <p:txBody>
          <a:bodyPr wrap="square" lIns="0" rIns="0" tIns="0" bIns="0" anchor="t">
            <a:spAutoFit/>
          </a:bodyPr>
          <a:lstStyle/>
          <a:p>
            <a:pPr algn="l">
              <a:lnSpc>
                <a:spcPct val="102000"/>
              </a:lnSpc>
            </a:pPr>
            <a:r>
              <a:rPr sz="5300" b="1" i="0">
                <a:solidFill>
                  <a:srgbClr val="FFFFFF"/>
                </a:solidFill>
                <a:latin typeface="Arial"/>
              </a:rPr>
              <a:t>What the shirt is</a:t>
            </a:r>
          </a:p>
          <a:p>
            <a:pPr algn="l">
              <a:lnSpc>
                <a:spcPct val="102000"/>
              </a:lnSpc>
            </a:pPr>
            <a:r>
              <a:rPr sz="5300" b="1" i="0">
                <a:solidFill>
                  <a:srgbClr val="FFFFFF"/>
                </a:solidFill>
                <a:latin typeface="Arial"/>
              </a:rPr>
              <a:t>actually worth on screen</a:t>
            </a:r>
          </a:p>
        </p:txBody>
      </p:sp>
      <p:sp>
        <p:nvSpPr>
          <p:cNvPr id="8" name="TextBox 7"/>
          <p:cNvSpPr txBox="1"/>
          <p:nvPr/>
        </p:nvSpPr>
        <p:spPr>
          <a:xfrm>
            <a:off x="566928" y="3913632"/>
            <a:ext cx="7406640" cy="822960"/>
          </a:xfrm>
          <a:prstGeom prst="rect">
            <a:avLst/>
          </a:prstGeom>
          <a:noFill/>
        </p:spPr>
        <p:txBody>
          <a:bodyPr wrap="square" lIns="0" rIns="0" tIns="0" bIns="0" anchor="t">
            <a:spAutoFit/>
          </a:bodyPr>
          <a:lstStyle/>
          <a:p>
            <a:pPr algn="l">
              <a:lnSpc>
                <a:spcPct val="142000"/>
              </a:lnSpc>
            </a:pPr>
            <a:r>
              <a:rPr sz="1550" b="0" i="0">
                <a:solidFill>
                  <a:srgbClr val="E7ECF4"/>
                </a:solidFill>
                <a:latin typeface="Arial"/>
              </a:rPr>
              <a:t>LogoLens measures every sponsor mark, frame by frame, across two complete broadcasts — then puts that evidence next to the club's own pricing.</a:t>
            </a:r>
          </a:p>
        </p:txBody>
      </p:sp>
      <p:sp>
        <p:nvSpPr>
          <p:cNvPr id="9" name="Rounded Rectangle 8"/>
          <p:cNvSpPr/>
          <p:nvPr/>
        </p:nvSpPr>
        <p:spPr>
          <a:xfrm>
            <a:off x="566928" y="5047488"/>
            <a:ext cx="2587752" cy="932688"/>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5047488"/>
            <a:ext cx="2587752" cy="45720"/>
          </a:xfrm>
          <a:prstGeom prst="rect">
            <a:avLst/>
          </a:prstGeom>
          <a:solidFill>
            <a:srgbClr val="4AA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86384" y="5248656"/>
            <a:ext cx="2221992" cy="201168"/>
          </a:xfrm>
          <a:prstGeom prst="rect">
            <a:avLst/>
          </a:prstGeom>
          <a:noFill/>
        </p:spPr>
        <p:txBody>
          <a:bodyPr wrap="square" lIns="0" rIns="0" tIns="0" bIns="0" anchor="t">
            <a:spAutoFit/>
          </a:bodyPr>
          <a:lstStyle/>
          <a:p>
            <a:pPr algn="l">
              <a:lnSpc>
                <a:spcPct val="115000"/>
              </a:lnSpc>
            </a:pPr>
            <a:r>
              <a:rPr sz="950" b="1" i="0" spc="160">
                <a:solidFill>
                  <a:srgbClr val="4AA8E8"/>
                </a:solidFill>
                <a:latin typeface="Arial"/>
              </a:rPr>
              <a:t>MEASURE</a:t>
            </a:r>
          </a:p>
        </p:txBody>
      </p:sp>
      <p:sp>
        <p:nvSpPr>
          <p:cNvPr id="12" name="TextBox 11"/>
          <p:cNvSpPr txBox="1"/>
          <p:nvPr/>
        </p:nvSpPr>
        <p:spPr>
          <a:xfrm>
            <a:off x="786384" y="5504688"/>
            <a:ext cx="2221992" cy="274320"/>
          </a:xfrm>
          <a:prstGeom prst="rect">
            <a:avLst/>
          </a:prstGeom>
          <a:noFill/>
        </p:spPr>
        <p:txBody>
          <a:bodyPr wrap="square" lIns="0" rIns="0" tIns="0" bIns="0" anchor="t">
            <a:spAutoFit/>
          </a:bodyPr>
          <a:lstStyle/>
          <a:p>
            <a:pPr algn="l">
              <a:lnSpc>
                <a:spcPct val="115000"/>
              </a:lnSpc>
            </a:pPr>
            <a:r>
              <a:rPr sz="1250" b="1" i="0">
                <a:solidFill>
                  <a:srgbClr val="FFFFFF"/>
                </a:solidFill>
                <a:latin typeface="Arial"/>
              </a:rPr>
              <a:t>Visibility per asset</a:t>
            </a:r>
          </a:p>
        </p:txBody>
      </p:sp>
      <p:sp>
        <p:nvSpPr>
          <p:cNvPr id="13" name="Rounded Rectangle 12"/>
          <p:cNvSpPr/>
          <p:nvPr/>
        </p:nvSpPr>
        <p:spPr>
          <a:xfrm>
            <a:off x="3337560" y="5047488"/>
            <a:ext cx="2587752" cy="932688"/>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3337560" y="5047488"/>
            <a:ext cx="2587752" cy="4572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57016" y="5248656"/>
            <a:ext cx="2221992" cy="201168"/>
          </a:xfrm>
          <a:prstGeom prst="rect">
            <a:avLst/>
          </a:prstGeom>
          <a:noFill/>
        </p:spPr>
        <p:txBody>
          <a:bodyPr wrap="square" lIns="0" rIns="0" tIns="0" bIns="0" anchor="t">
            <a:spAutoFit/>
          </a:bodyPr>
          <a:lstStyle/>
          <a:p>
            <a:pPr algn="l">
              <a:lnSpc>
                <a:spcPct val="115000"/>
              </a:lnSpc>
            </a:pPr>
            <a:r>
              <a:rPr sz="950" b="1" i="0" spc="160">
                <a:solidFill>
                  <a:srgbClr val="FFC20E"/>
                </a:solidFill>
                <a:latin typeface="Arial"/>
              </a:rPr>
              <a:t>BENCHMARK</a:t>
            </a:r>
          </a:p>
        </p:txBody>
      </p:sp>
      <p:sp>
        <p:nvSpPr>
          <p:cNvPr id="16" name="TextBox 15"/>
          <p:cNvSpPr txBox="1"/>
          <p:nvPr/>
        </p:nvSpPr>
        <p:spPr>
          <a:xfrm>
            <a:off x="3557016" y="5504688"/>
            <a:ext cx="2221992" cy="274320"/>
          </a:xfrm>
          <a:prstGeom prst="rect">
            <a:avLst/>
          </a:prstGeom>
          <a:noFill/>
        </p:spPr>
        <p:txBody>
          <a:bodyPr wrap="square" lIns="0" rIns="0" tIns="0" bIns="0" anchor="t">
            <a:spAutoFit/>
          </a:bodyPr>
          <a:lstStyle/>
          <a:p>
            <a:pPr algn="l">
              <a:lnSpc>
                <a:spcPct val="115000"/>
              </a:lnSpc>
            </a:pPr>
            <a:r>
              <a:rPr sz="1250" b="1" i="0">
                <a:solidFill>
                  <a:srgbClr val="FFFFFF"/>
                </a:solidFill>
                <a:latin typeface="Arial"/>
              </a:rPr>
              <a:t>Against club pricing</a:t>
            </a:r>
          </a:p>
        </p:txBody>
      </p:sp>
      <p:sp>
        <p:nvSpPr>
          <p:cNvPr id="17" name="Rounded Rectangle 16"/>
          <p:cNvSpPr/>
          <p:nvPr/>
        </p:nvSpPr>
        <p:spPr>
          <a:xfrm>
            <a:off x="6108192" y="5047488"/>
            <a:ext cx="2587752" cy="932688"/>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108192" y="5047488"/>
            <a:ext cx="2587752" cy="4572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327648" y="5248656"/>
            <a:ext cx="2221992" cy="201168"/>
          </a:xfrm>
          <a:prstGeom prst="rect">
            <a:avLst/>
          </a:prstGeom>
          <a:noFill/>
        </p:spPr>
        <p:txBody>
          <a:bodyPr wrap="square" lIns="0" rIns="0" tIns="0" bIns="0" anchor="t">
            <a:spAutoFit/>
          </a:bodyPr>
          <a:lstStyle/>
          <a:p>
            <a:pPr algn="l">
              <a:lnSpc>
                <a:spcPct val="115000"/>
              </a:lnSpc>
            </a:pPr>
            <a:r>
              <a:rPr sz="950" b="1" i="0" spc="160">
                <a:solidFill>
                  <a:srgbClr val="E4002B"/>
                </a:solidFill>
                <a:latin typeface="Arial"/>
              </a:rPr>
              <a:t>REVIEW</a:t>
            </a:r>
          </a:p>
        </p:txBody>
      </p:sp>
      <p:sp>
        <p:nvSpPr>
          <p:cNvPr id="20" name="TextBox 19"/>
          <p:cNvSpPr txBox="1"/>
          <p:nvPr/>
        </p:nvSpPr>
        <p:spPr>
          <a:xfrm>
            <a:off x="6327648" y="5504688"/>
            <a:ext cx="2221992" cy="274320"/>
          </a:xfrm>
          <a:prstGeom prst="rect">
            <a:avLst/>
          </a:prstGeom>
          <a:noFill/>
        </p:spPr>
        <p:txBody>
          <a:bodyPr wrap="square" lIns="0" rIns="0" tIns="0" bIns="0" anchor="t">
            <a:spAutoFit/>
          </a:bodyPr>
          <a:lstStyle/>
          <a:p>
            <a:pPr algn="l">
              <a:lnSpc>
                <a:spcPct val="115000"/>
              </a:lnSpc>
            </a:pPr>
            <a:r>
              <a:rPr sz="1250" b="1" i="0">
                <a:solidFill>
                  <a:srgbClr val="FFFFFF"/>
                </a:solidFill>
                <a:latin typeface="Arial"/>
              </a:rPr>
              <a:t>Find the real gaps</a:t>
            </a:r>
          </a:p>
        </p:txBody>
      </p:sp>
      <p:sp>
        <p:nvSpPr>
          <p:cNvPr id="21" name="Rounded Rectangle 20"/>
          <p:cNvSpPr/>
          <p:nvPr/>
        </p:nvSpPr>
        <p:spPr>
          <a:xfrm>
            <a:off x="8878824" y="5047488"/>
            <a:ext cx="2587752" cy="932688"/>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8878824" y="5047488"/>
            <a:ext cx="2587752" cy="45720"/>
          </a:xfrm>
          <a:prstGeom prst="rect">
            <a:avLst/>
          </a:prstGeom>
          <a:solidFill>
            <a:srgbClr val="2EC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098280" y="5248656"/>
            <a:ext cx="2221992" cy="201168"/>
          </a:xfrm>
          <a:prstGeom prst="rect">
            <a:avLst/>
          </a:prstGeom>
          <a:noFill/>
        </p:spPr>
        <p:txBody>
          <a:bodyPr wrap="square" lIns="0" rIns="0" tIns="0" bIns="0" anchor="t">
            <a:spAutoFit/>
          </a:bodyPr>
          <a:lstStyle/>
          <a:p>
            <a:pPr algn="l">
              <a:lnSpc>
                <a:spcPct val="115000"/>
              </a:lnSpc>
            </a:pPr>
            <a:r>
              <a:rPr sz="950" b="1" i="0" spc="160">
                <a:solidFill>
                  <a:srgbClr val="2ECC8F"/>
                </a:solidFill>
                <a:latin typeface="Arial"/>
              </a:rPr>
              <a:t>DECIDE</a:t>
            </a:r>
          </a:p>
        </p:txBody>
      </p:sp>
      <p:sp>
        <p:nvSpPr>
          <p:cNvPr id="24" name="TextBox 23"/>
          <p:cNvSpPr txBox="1"/>
          <p:nvPr/>
        </p:nvSpPr>
        <p:spPr>
          <a:xfrm>
            <a:off x="9098280" y="5504688"/>
            <a:ext cx="2221992" cy="274320"/>
          </a:xfrm>
          <a:prstGeom prst="rect">
            <a:avLst/>
          </a:prstGeom>
          <a:noFill/>
        </p:spPr>
        <p:txBody>
          <a:bodyPr wrap="square" lIns="0" rIns="0" tIns="0" bIns="0" anchor="t">
            <a:spAutoFit/>
          </a:bodyPr>
          <a:lstStyle/>
          <a:p>
            <a:pPr algn="l">
              <a:lnSpc>
                <a:spcPct val="115000"/>
              </a:lnSpc>
            </a:pPr>
            <a:r>
              <a:rPr sz="1250" b="1" i="0">
                <a:solidFill>
                  <a:srgbClr val="FFFFFF"/>
                </a:solidFill>
                <a:latin typeface="Arial"/>
              </a:rPr>
              <a:t>Price with evidence</a:t>
            </a:r>
          </a:p>
        </p:txBody>
      </p:sp>
      <p:sp>
        <p:nvSpPr>
          <p:cNvPr id="25" name="TextBox 24"/>
          <p:cNvSpPr txBox="1"/>
          <p:nvPr/>
        </p:nvSpPr>
        <p:spPr>
          <a:xfrm>
            <a:off x="566928" y="6291072"/>
            <a:ext cx="11058113" cy="274320"/>
          </a:xfrm>
          <a:prstGeom prst="rect">
            <a:avLst/>
          </a:prstGeom>
          <a:noFill/>
        </p:spPr>
        <p:txBody>
          <a:bodyPr wrap="square" lIns="0" rIns="0" tIns="0" bIns="0" anchor="t">
            <a:spAutoFit/>
          </a:bodyPr>
          <a:lstStyle/>
          <a:p>
            <a:pPr algn="l">
              <a:lnSpc>
                <a:spcPct val="115000"/>
              </a:lnSpc>
            </a:pPr>
            <a:r>
              <a:rPr sz="1000" b="0" i="0">
                <a:solidFill>
                  <a:srgbClr val="5E6C82"/>
                </a:solidFill>
                <a:latin typeface="Arial"/>
              </a:rPr>
              <a:t>MSc dissertation project  ·  LogoLens computer-vision system  ·  Findings presentation</a:t>
            </a:r>
          </a:p>
        </p:txBody>
      </p:sp>
      <p:sp>
        <p:nvSpPr>
          <p:cNvPr id="26" name="TextBox 25"/>
          <p:cNvSpPr txBox="1"/>
          <p:nvPr/>
        </p:nvSpPr>
        <p:spPr>
          <a:xfrm>
            <a:off x="10984961" y="6382512"/>
            <a:ext cx="640080" cy="237744"/>
          </a:xfrm>
          <a:prstGeom prst="rect">
            <a:avLst/>
          </a:prstGeom>
          <a:noFill/>
        </p:spPr>
        <p:txBody>
          <a:bodyPr wrap="square" lIns="0" rIns="0" tIns="0" bIns="0" anchor="t">
            <a:spAutoFit/>
          </a:bodyPr>
          <a:lstStyle/>
          <a:p>
            <a:pPr algn="r">
              <a:lnSpc>
                <a:spcPct val="115000"/>
              </a:lnSpc>
            </a:pPr>
            <a:r>
              <a:rPr sz="1000" b="0" i="0">
                <a:solidFill>
                  <a:srgbClr val="5E6C82"/>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409" cy="6949440"/>
          </a:xfrm>
          <a:prstGeom prst="rect">
            <a:avLst/>
          </a:prstGeom>
          <a:solidFill>
            <a:srgbClr val="0D1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7071342" cy="50292"/>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071342" y="0"/>
            <a:ext cx="2682233" cy="50292"/>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753575" y="0"/>
            <a:ext cx="2438393" cy="50292"/>
          </a:xfrm>
          <a:prstGeom prst="rect">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402336"/>
            <a:ext cx="11058113" cy="237744"/>
          </a:xfrm>
          <a:prstGeom prst="rect">
            <a:avLst/>
          </a:prstGeom>
          <a:noFill/>
        </p:spPr>
        <p:txBody>
          <a:bodyPr wrap="square" lIns="0" rIns="0" tIns="0" bIns="0" anchor="t">
            <a:spAutoFit/>
          </a:bodyPr>
          <a:lstStyle/>
          <a:p>
            <a:pPr algn="l">
              <a:lnSpc>
                <a:spcPct val="115000"/>
              </a:lnSpc>
            </a:pPr>
            <a:r>
              <a:rPr sz="1050" b="1" i="0" spc="180">
                <a:solidFill>
                  <a:srgbClr val="FFC20E"/>
                </a:solidFill>
                <a:latin typeface="Arial"/>
              </a:rPr>
              <a:t>THE BOTTOM LINE</a:t>
            </a:r>
          </a:p>
        </p:txBody>
      </p:sp>
      <p:sp>
        <p:nvSpPr>
          <p:cNvPr id="7" name="TextBox 6"/>
          <p:cNvSpPr txBox="1"/>
          <p:nvPr/>
        </p:nvSpPr>
        <p:spPr>
          <a:xfrm>
            <a:off x="566928" y="676656"/>
            <a:ext cx="11058113" cy="566928"/>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Three findings the club can act on</a:t>
            </a:r>
          </a:p>
        </p:txBody>
      </p:sp>
      <p:sp>
        <p:nvSpPr>
          <p:cNvPr id="8" name="TextBox 7"/>
          <p:cNvSpPr txBox="1"/>
          <p:nvPr/>
        </p:nvSpPr>
        <p:spPr>
          <a:xfrm>
            <a:off x="566928" y="1280160"/>
            <a:ext cx="9509977" cy="274320"/>
          </a:xfrm>
          <a:prstGeom prst="rect">
            <a:avLst/>
          </a:prstGeom>
          <a:noFill/>
        </p:spPr>
        <p:txBody>
          <a:bodyPr wrap="square" lIns="0" rIns="0" tIns="0" bIns="0" anchor="t">
            <a:spAutoFit/>
          </a:bodyPr>
          <a:lstStyle/>
          <a:p>
            <a:pPr algn="l">
              <a:lnSpc>
                <a:spcPct val="120000"/>
              </a:lnSpc>
            </a:pPr>
            <a:r>
              <a:rPr sz="1300" b="0" i="0">
                <a:solidFill>
                  <a:srgbClr val="8D9AB0"/>
                </a:solidFill>
                <a:latin typeface="Arial"/>
              </a:rPr>
              <a:t>Measured broadcast visibility is stable and repeatable — but it does not line up with how the shirt is currently priced.</a:t>
            </a:r>
          </a:p>
        </p:txBody>
      </p:sp>
      <p:sp>
        <p:nvSpPr>
          <p:cNvPr id="9" name="Rounded Rectangle 8"/>
          <p:cNvSpPr/>
          <p:nvPr/>
        </p:nvSpPr>
        <p:spPr>
          <a:xfrm>
            <a:off x="566928" y="1847088"/>
            <a:ext cx="2613652" cy="2212848"/>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847088"/>
            <a:ext cx="2613652" cy="50292"/>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60" y="2121408"/>
            <a:ext cx="2156452" cy="219456"/>
          </a:xfrm>
          <a:prstGeom prst="rect">
            <a:avLst/>
          </a:prstGeom>
          <a:noFill/>
        </p:spPr>
        <p:txBody>
          <a:bodyPr wrap="square" lIns="0" rIns="0" tIns="0" bIns="0" anchor="t">
            <a:spAutoFit/>
          </a:bodyPr>
          <a:lstStyle/>
          <a:p>
            <a:pPr algn="l">
              <a:lnSpc>
                <a:spcPct val="115000"/>
              </a:lnSpc>
            </a:pPr>
            <a:r>
              <a:rPr sz="950" b="1" i="0" spc="140">
                <a:solidFill>
                  <a:srgbClr val="8D9AB0"/>
                </a:solidFill>
                <a:latin typeface="Arial"/>
              </a:rPr>
              <a:t>SHORTS</a:t>
            </a:r>
          </a:p>
        </p:txBody>
      </p:sp>
      <p:sp>
        <p:nvSpPr>
          <p:cNvPr id="12" name="TextBox 11"/>
          <p:cNvSpPr txBox="1"/>
          <p:nvPr/>
        </p:nvSpPr>
        <p:spPr>
          <a:xfrm>
            <a:off x="822960" y="2395728"/>
            <a:ext cx="2156452" cy="658368"/>
          </a:xfrm>
          <a:prstGeom prst="rect">
            <a:avLst/>
          </a:prstGeom>
          <a:noFill/>
        </p:spPr>
        <p:txBody>
          <a:bodyPr wrap="square" lIns="0" rIns="0" tIns="0" bIns="0" anchor="t">
            <a:spAutoFit/>
          </a:bodyPr>
          <a:lstStyle/>
          <a:p>
            <a:pPr algn="l">
              <a:lnSpc>
                <a:spcPct val="95000"/>
              </a:lnSpc>
            </a:pPr>
            <a:r>
              <a:rPr sz="4200" b="1" i="0">
                <a:solidFill>
                  <a:srgbClr val="FFFFFF"/>
                </a:solidFill>
                <a:latin typeface="Arial"/>
              </a:rPr>
              <a:t>3.07×</a:t>
            </a:r>
          </a:p>
        </p:txBody>
      </p:sp>
      <p:sp>
        <p:nvSpPr>
          <p:cNvPr id="13" name="TextBox 12"/>
          <p:cNvSpPr txBox="1"/>
          <p:nvPr/>
        </p:nvSpPr>
        <p:spPr>
          <a:xfrm>
            <a:off x="822960" y="3310127"/>
            <a:ext cx="2156452" cy="603504"/>
          </a:xfrm>
          <a:prstGeom prst="rect">
            <a:avLst/>
          </a:prstGeom>
          <a:noFill/>
        </p:spPr>
        <p:txBody>
          <a:bodyPr wrap="square" lIns="0" rIns="0" tIns="0" bIns="0" anchor="t">
            <a:spAutoFit/>
          </a:bodyPr>
          <a:lstStyle/>
          <a:p>
            <a:pPr algn="l">
              <a:lnSpc>
                <a:spcPct val="122000"/>
              </a:lnSpc>
            </a:pPr>
            <a:r>
              <a:rPr sz="1050" b="0" i="0">
                <a:solidFill>
                  <a:srgbClr val="E7ECF4"/>
                </a:solidFill>
                <a:latin typeface="Arial"/>
              </a:rPr>
              <a:t>43.1% of measured visibility sits on the shorts. They are priced at 14%.</a:t>
            </a:r>
          </a:p>
        </p:txBody>
      </p:sp>
      <p:sp>
        <p:nvSpPr>
          <p:cNvPr id="14" name="Rounded Rectangle 13"/>
          <p:cNvSpPr/>
          <p:nvPr/>
        </p:nvSpPr>
        <p:spPr>
          <a:xfrm>
            <a:off x="3381748" y="1847088"/>
            <a:ext cx="2613652" cy="2212848"/>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3381748" y="1847088"/>
            <a:ext cx="2613652" cy="50292"/>
          </a:xfrm>
          <a:prstGeom prst="rect">
            <a:avLst/>
          </a:prstGeom>
          <a:solidFill>
            <a:srgbClr val="4AA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637780" y="2121408"/>
            <a:ext cx="2156452" cy="219456"/>
          </a:xfrm>
          <a:prstGeom prst="rect">
            <a:avLst/>
          </a:prstGeom>
          <a:noFill/>
        </p:spPr>
        <p:txBody>
          <a:bodyPr wrap="square" lIns="0" rIns="0" tIns="0" bIns="0" anchor="t">
            <a:spAutoFit/>
          </a:bodyPr>
          <a:lstStyle/>
          <a:p>
            <a:pPr algn="l">
              <a:lnSpc>
                <a:spcPct val="115000"/>
              </a:lnSpc>
            </a:pPr>
            <a:r>
              <a:rPr sz="950" b="1" i="0" spc="140">
                <a:solidFill>
                  <a:srgbClr val="8D9AB0"/>
                </a:solidFill>
                <a:latin typeface="Arial"/>
              </a:rPr>
              <a:t>FRONT TORSO</a:t>
            </a:r>
          </a:p>
        </p:txBody>
      </p:sp>
      <p:sp>
        <p:nvSpPr>
          <p:cNvPr id="17" name="TextBox 16"/>
          <p:cNvSpPr txBox="1"/>
          <p:nvPr/>
        </p:nvSpPr>
        <p:spPr>
          <a:xfrm>
            <a:off x="3637780" y="2395728"/>
            <a:ext cx="2156452" cy="658368"/>
          </a:xfrm>
          <a:prstGeom prst="rect">
            <a:avLst/>
          </a:prstGeom>
          <a:noFill/>
        </p:spPr>
        <p:txBody>
          <a:bodyPr wrap="square" lIns="0" rIns="0" tIns="0" bIns="0" anchor="t">
            <a:spAutoFit/>
          </a:bodyPr>
          <a:lstStyle/>
          <a:p>
            <a:pPr algn="l">
              <a:lnSpc>
                <a:spcPct val="95000"/>
              </a:lnSpc>
            </a:pPr>
            <a:r>
              <a:rPr sz="4200" b="1" i="0">
                <a:solidFill>
                  <a:srgbClr val="FFFFFF"/>
                </a:solidFill>
                <a:latin typeface="Arial"/>
              </a:rPr>
              <a:t>0.41×</a:t>
            </a:r>
          </a:p>
        </p:txBody>
      </p:sp>
      <p:sp>
        <p:nvSpPr>
          <p:cNvPr id="18" name="TextBox 17"/>
          <p:cNvSpPr txBox="1"/>
          <p:nvPr/>
        </p:nvSpPr>
        <p:spPr>
          <a:xfrm>
            <a:off x="3637780" y="3310127"/>
            <a:ext cx="2156452" cy="603504"/>
          </a:xfrm>
          <a:prstGeom prst="rect">
            <a:avLst/>
          </a:prstGeom>
          <a:noFill/>
        </p:spPr>
        <p:txBody>
          <a:bodyPr wrap="square" lIns="0" rIns="0" tIns="0" bIns="0" anchor="t">
            <a:spAutoFit/>
          </a:bodyPr>
          <a:lstStyle/>
          <a:p>
            <a:pPr algn="l">
              <a:lnSpc>
                <a:spcPct val="122000"/>
              </a:lnSpc>
            </a:pPr>
            <a:r>
              <a:rPr sz="1050" b="0" i="0">
                <a:solidFill>
                  <a:srgbClr val="E7ECF4"/>
                </a:solidFill>
                <a:latin typeface="Arial"/>
              </a:rPr>
              <a:t>The chest block carries 41% of the price but 16.7% of measured visibility.</a:t>
            </a:r>
          </a:p>
        </p:txBody>
      </p:sp>
      <p:sp>
        <p:nvSpPr>
          <p:cNvPr id="19" name="Rounded Rectangle 18"/>
          <p:cNvSpPr/>
          <p:nvPr/>
        </p:nvSpPr>
        <p:spPr>
          <a:xfrm>
            <a:off x="6196568" y="1847088"/>
            <a:ext cx="2613652" cy="2212848"/>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196568" y="1847088"/>
            <a:ext cx="2613652" cy="50292"/>
          </a:xfrm>
          <a:prstGeom prst="rect">
            <a:avLst/>
          </a:prstGeom>
          <a:solidFill>
            <a:srgbClr val="2EC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52600" y="2121408"/>
            <a:ext cx="2156452" cy="219456"/>
          </a:xfrm>
          <a:prstGeom prst="rect">
            <a:avLst/>
          </a:prstGeom>
          <a:noFill/>
        </p:spPr>
        <p:txBody>
          <a:bodyPr wrap="square" lIns="0" rIns="0" tIns="0" bIns="0" anchor="t">
            <a:spAutoFit/>
          </a:bodyPr>
          <a:lstStyle/>
          <a:p>
            <a:pPr algn="l">
              <a:lnSpc>
                <a:spcPct val="115000"/>
              </a:lnSpc>
            </a:pPr>
            <a:r>
              <a:rPr sz="950" b="1" i="0" spc="140">
                <a:solidFill>
                  <a:srgbClr val="8D9AB0"/>
                </a:solidFill>
                <a:latin typeface="Arial"/>
              </a:rPr>
              <a:t>REPEATABILITY</a:t>
            </a:r>
          </a:p>
        </p:txBody>
      </p:sp>
      <p:sp>
        <p:nvSpPr>
          <p:cNvPr id="22" name="TextBox 21"/>
          <p:cNvSpPr txBox="1"/>
          <p:nvPr/>
        </p:nvSpPr>
        <p:spPr>
          <a:xfrm>
            <a:off x="6452600" y="2395728"/>
            <a:ext cx="2156452" cy="658368"/>
          </a:xfrm>
          <a:prstGeom prst="rect">
            <a:avLst/>
          </a:prstGeom>
          <a:noFill/>
        </p:spPr>
        <p:txBody>
          <a:bodyPr wrap="square" lIns="0" rIns="0" tIns="0" bIns="0" anchor="t">
            <a:spAutoFit/>
          </a:bodyPr>
          <a:lstStyle/>
          <a:p>
            <a:pPr algn="l">
              <a:lnSpc>
                <a:spcPct val="95000"/>
              </a:lnSpc>
            </a:pPr>
            <a:r>
              <a:rPr sz="4200" b="1" i="0">
                <a:solidFill>
                  <a:srgbClr val="FFFFFF"/>
                </a:solidFill>
                <a:latin typeface="Arial"/>
              </a:rPr>
              <a:t>ρ 0.846</a:t>
            </a:r>
          </a:p>
        </p:txBody>
      </p:sp>
      <p:sp>
        <p:nvSpPr>
          <p:cNvPr id="23" name="TextBox 22"/>
          <p:cNvSpPr txBox="1"/>
          <p:nvPr/>
        </p:nvSpPr>
        <p:spPr>
          <a:xfrm>
            <a:off x="6452600" y="3310127"/>
            <a:ext cx="2156452" cy="603504"/>
          </a:xfrm>
          <a:prstGeom prst="rect">
            <a:avLst/>
          </a:prstGeom>
          <a:noFill/>
        </p:spPr>
        <p:txBody>
          <a:bodyPr wrap="square" lIns="0" rIns="0" tIns="0" bIns="0" anchor="t">
            <a:spAutoFit/>
          </a:bodyPr>
          <a:lstStyle/>
          <a:p>
            <a:pPr algn="l">
              <a:lnSpc>
                <a:spcPct val="122000"/>
              </a:lnSpc>
            </a:pPr>
            <a:r>
              <a:rPr sz="1050" b="0" i="0">
                <a:solidFill>
                  <a:srgbClr val="E7ECF4"/>
                </a:solidFill>
                <a:latin typeface="Arial"/>
              </a:rPr>
              <a:t>Asset ordering barely moved between the two matches. Mean shift: 0.93 pp.</a:t>
            </a:r>
          </a:p>
        </p:txBody>
      </p:sp>
      <p:sp>
        <p:nvSpPr>
          <p:cNvPr id="24" name="Rounded Rectangle 23"/>
          <p:cNvSpPr/>
          <p:nvPr/>
        </p:nvSpPr>
        <p:spPr>
          <a:xfrm>
            <a:off x="9011389" y="1847088"/>
            <a:ext cx="2613652" cy="2212848"/>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9011389" y="1847088"/>
            <a:ext cx="2613652" cy="50292"/>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67421" y="2121408"/>
            <a:ext cx="2156452" cy="219456"/>
          </a:xfrm>
          <a:prstGeom prst="rect">
            <a:avLst/>
          </a:prstGeom>
          <a:noFill/>
        </p:spPr>
        <p:txBody>
          <a:bodyPr wrap="square" lIns="0" rIns="0" tIns="0" bIns="0" anchor="t">
            <a:spAutoFit/>
          </a:bodyPr>
          <a:lstStyle/>
          <a:p>
            <a:pPr algn="l">
              <a:lnSpc>
                <a:spcPct val="115000"/>
              </a:lnSpc>
            </a:pPr>
            <a:r>
              <a:rPr sz="950" b="1" i="0" spc="140">
                <a:solidFill>
                  <a:srgbClr val="8D9AB0"/>
                </a:solidFill>
                <a:latin typeface="Arial"/>
              </a:rPr>
              <a:t>ALIGNMENT</a:t>
            </a:r>
          </a:p>
        </p:txBody>
      </p:sp>
      <p:sp>
        <p:nvSpPr>
          <p:cNvPr id="27" name="TextBox 26"/>
          <p:cNvSpPr txBox="1"/>
          <p:nvPr/>
        </p:nvSpPr>
        <p:spPr>
          <a:xfrm>
            <a:off x="9267421" y="2395728"/>
            <a:ext cx="2156452" cy="658368"/>
          </a:xfrm>
          <a:prstGeom prst="rect">
            <a:avLst/>
          </a:prstGeom>
          <a:noFill/>
        </p:spPr>
        <p:txBody>
          <a:bodyPr wrap="square" lIns="0" rIns="0" tIns="0" bIns="0" anchor="t">
            <a:spAutoFit/>
          </a:bodyPr>
          <a:lstStyle/>
          <a:p>
            <a:pPr algn="l">
              <a:lnSpc>
                <a:spcPct val="95000"/>
              </a:lnSpc>
            </a:pPr>
            <a:r>
              <a:rPr sz="4200" b="1" i="0">
                <a:solidFill>
                  <a:srgbClr val="FFFFFF"/>
                </a:solidFill>
                <a:latin typeface="Arial"/>
              </a:rPr>
              <a:t>0 / 16</a:t>
            </a:r>
          </a:p>
        </p:txBody>
      </p:sp>
      <p:sp>
        <p:nvSpPr>
          <p:cNvPr id="28" name="TextBox 27"/>
          <p:cNvSpPr txBox="1"/>
          <p:nvPr/>
        </p:nvSpPr>
        <p:spPr>
          <a:xfrm>
            <a:off x="9267421" y="3310127"/>
            <a:ext cx="2156452" cy="603504"/>
          </a:xfrm>
          <a:prstGeom prst="rect">
            <a:avLst/>
          </a:prstGeom>
          <a:noFill/>
        </p:spPr>
        <p:txBody>
          <a:bodyPr wrap="square" lIns="0" rIns="0" tIns="0" bIns="0" anchor="t">
            <a:spAutoFit/>
          </a:bodyPr>
          <a:lstStyle/>
          <a:p>
            <a:pPr algn="l">
              <a:lnSpc>
                <a:spcPct val="122000"/>
              </a:lnSpc>
            </a:pPr>
            <a:r>
              <a:rPr sz="1050" b="0" i="0">
                <a:solidFill>
                  <a:srgbClr val="E7ECF4"/>
                </a:solidFill>
                <a:latin typeface="Arial"/>
              </a:rPr>
              <a:t>No asset's price matches its measured visibility. 9 sit above, 7 below.</a:t>
            </a:r>
          </a:p>
        </p:txBody>
      </p:sp>
      <p:sp>
        <p:nvSpPr>
          <p:cNvPr id="29" name="Rounded Rectangle 28"/>
          <p:cNvSpPr/>
          <p:nvPr/>
        </p:nvSpPr>
        <p:spPr>
          <a:xfrm>
            <a:off x="566928" y="4443984"/>
            <a:ext cx="50292" cy="274320"/>
          </a:xfrm>
          <a:prstGeom prst="roundRect">
            <a:avLst>
              <a:gd name="adj" fmla="val 50000"/>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04672" y="4407408"/>
            <a:ext cx="10692353" cy="457200"/>
          </a:xfrm>
          <a:prstGeom prst="rect">
            <a:avLst/>
          </a:prstGeom>
          <a:noFill/>
        </p:spPr>
        <p:txBody>
          <a:bodyPr wrap="square" lIns="0" rIns="0" tIns="0" bIns="0" anchor="t">
            <a:spAutoFit/>
          </a:bodyPr>
          <a:lstStyle/>
          <a:p>
            <a:pPr algn="l">
              <a:lnSpc>
                <a:spcPct val="118000"/>
              </a:lnSpc>
            </a:pPr>
            <a:r>
              <a:rPr sz="1900" b="1" i="0">
                <a:solidFill>
                  <a:srgbClr val="FFFFFF"/>
                </a:solidFill>
                <a:latin typeface="Arial"/>
              </a:rPr>
              <a:t>The system is consistent. The price list is the part that moves.</a:t>
            </a:r>
          </a:p>
        </p:txBody>
      </p:sp>
      <p:sp>
        <p:nvSpPr>
          <p:cNvPr id="31" name="TextBox 30"/>
          <p:cNvSpPr txBox="1"/>
          <p:nvPr/>
        </p:nvSpPr>
        <p:spPr>
          <a:xfrm>
            <a:off x="804672" y="4937760"/>
            <a:ext cx="10509473" cy="1005840"/>
          </a:xfrm>
          <a:prstGeom prst="rect">
            <a:avLst/>
          </a:prstGeom>
          <a:noFill/>
        </p:spPr>
        <p:txBody>
          <a:bodyPr wrap="square" lIns="0" rIns="0" tIns="0" bIns="0" anchor="t">
            <a:spAutoFit/>
          </a:bodyPr>
          <a:lstStyle/>
          <a:p>
            <a:pPr algn="l">
              <a:lnSpc>
                <a:spcPct val="144000"/>
              </a:lnSpc>
            </a:pPr>
            <a:r>
              <a:rPr sz="1300" b="0" i="0">
                <a:solidFill>
                  <a:srgbClr val="E7ECF4"/>
                </a:solidFill>
                <a:latin typeface="Arial"/>
              </a:rPr>
              <a:t>Across both matches LogoLens ranked the same three assets at the top — KLG, Bartercard and Top Notch. That stability is what makes the mismatch with the current allocation worth a conversation: it is not measurement noise, it is a structural difference between where the club places value and where the camera actually spends its time.</a:t>
            </a:r>
          </a:p>
        </p:txBody>
      </p:sp>
      <p:sp>
        <p:nvSpPr>
          <p:cNvPr id="32" name="TextBox 31"/>
          <p:cNvSpPr txBox="1"/>
          <p:nvPr/>
        </p:nvSpPr>
        <p:spPr>
          <a:xfrm>
            <a:off x="566928" y="6382512"/>
            <a:ext cx="10509473" cy="274320"/>
          </a:xfrm>
          <a:prstGeom prst="rect">
            <a:avLst/>
          </a:prstGeom>
          <a:noFill/>
        </p:spPr>
        <p:txBody>
          <a:bodyPr wrap="square" lIns="0" rIns="0" tIns="0" bIns="0" anchor="t">
            <a:spAutoFit/>
          </a:bodyPr>
          <a:lstStyle/>
          <a:p>
            <a:pPr algn="l">
              <a:lnSpc>
                <a:spcPct val="125000"/>
              </a:lnSpc>
            </a:pPr>
            <a:r>
              <a:rPr sz="860" b="0" i="0">
                <a:solidFill>
                  <a:srgbClr val="5E6C82"/>
                </a:solidFill>
                <a:latin typeface="Arial"/>
              </a:rPr>
              <a:t>Source: LogoLens full-match analysis of two complete Bradford Bulls broadcasts (home kit 2025/26), sampled at 2 frames per second. Club allocation = current management percentage; it totals 95%, LogoLens totals 100%.</a:t>
            </a:r>
          </a:p>
        </p:txBody>
      </p:sp>
      <p:sp>
        <p:nvSpPr>
          <p:cNvPr id="33" name="TextBox 32"/>
          <p:cNvSpPr txBox="1"/>
          <p:nvPr/>
        </p:nvSpPr>
        <p:spPr>
          <a:xfrm>
            <a:off x="10984961" y="6382512"/>
            <a:ext cx="640080" cy="237744"/>
          </a:xfrm>
          <a:prstGeom prst="rect">
            <a:avLst/>
          </a:prstGeom>
          <a:noFill/>
        </p:spPr>
        <p:txBody>
          <a:bodyPr wrap="square" lIns="0" rIns="0" tIns="0" bIns="0" anchor="t">
            <a:spAutoFit/>
          </a:bodyPr>
          <a:lstStyle/>
          <a:p>
            <a:pPr algn="r">
              <a:lnSpc>
                <a:spcPct val="115000"/>
              </a:lnSpc>
            </a:pPr>
            <a:r>
              <a:rPr sz="1000" b="0" i="0">
                <a:solidFill>
                  <a:srgbClr val="5E6C8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409" cy="6949440"/>
          </a:xfrm>
          <a:prstGeom prst="rect">
            <a:avLst/>
          </a:prstGeom>
          <a:solidFill>
            <a:srgbClr val="0D1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7071342" cy="50292"/>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071342" y="0"/>
            <a:ext cx="2682233" cy="50292"/>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753575" y="0"/>
            <a:ext cx="2438393" cy="50292"/>
          </a:xfrm>
          <a:prstGeom prst="rect">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402336"/>
            <a:ext cx="11058113" cy="237744"/>
          </a:xfrm>
          <a:prstGeom prst="rect">
            <a:avLst/>
          </a:prstGeom>
          <a:noFill/>
        </p:spPr>
        <p:txBody>
          <a:bodyPr wrap="square" lIns="0" rIns="0" tIns="0" bIns="0" anchor="t">
            <a:spAutoFit/>
          </a:bodyPr>
          <a:lstStyle/>
          <a:p>
            <a:pPr algn="l">
              <a:lnSpc>
                <a:spcPct val="115000"/>
              </a:lnSpc>
            </a:pPr>
            <a:r>
              <a:rPr sz="1050" b="1" i="0" spc="180">
                <a:solidFill>
                  <a:srgbClr val="FFC20E"/>
                </a:solidFill>
                <a:latin typeface="Arial"/>
              </a:rPr>
              <a:t>EVIDENCE BASE</a:t>
            </a:r>
          </a:p>
        </p:txBody>
      </p:sp>
      <p:sp>
        <p:nvSpPr>
          <p:cNvPr id="7" name="TextBox 6"/>
          <p:cNvSpPr txBox="1"/>
          <p:nvPr/>
        </p:nvSpPr>
        <p:spPr>
          <a:xfrm>
            <a:off x="566928" y="676656"/>
            <a:ext cx="11058113" cy="566928"/>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What was measured, and how</a:t>
            </a:r>
          </a:p>
        </p:txBody>
      </p:sp>
      <p:sp>
        <p:nvSpPr>
          <p:cNvPr id="8" name="TextBox 7"/>
          <p:cNvSpPr txBox="1"/>
          <p:nvPr/>
        </p:nvSpPr>
        <p:spPr>
          <a:xfrm>
            <a:off x="566928" y="1280160"/>
            <a:ext cx="9509977" cy="274320"/>
          </a:xfrm>
          <a:prstGeom prst="rect">
            <a:avLst/>
          </a:prstGeom>
          <a:noFill/>
        </p:spPr>
        <p:txBody>
          <a:bodyPr wrap="square" lIns="0" rIns="0" tIns="0" bIns="0" anchor="t">
            <a:spAutoFit/>
          </a:bodyPr>
          <a:lstStyle/>
          <a:p>
            <a:pPr algn="l">
              <a:lnSpc>
                <a:spcPct val="120000"/>
              </a:lnSpc>
            </a:pPr>
            <a:r>
              <a:rPr sz="1300" b="0" i="0">
                <a:solidFill>
                  <a:srgbClr val="8D9AB0"/>
                </a:solidFill>
                <a:latin typeface="Arial"/>
              </a:rPr>
              <a:t>Every number in this deck traces back to a frame, a timestamp and a detection.</a:t>
            </a:r>
          </a:p>
        </p:txBody>
      </p:sp>
      <p:pic>
        <p:nvPicPr>
          <p:cNvPr id="9" name="Picture 8" descr="fr_teamsplit.jpg"/>
          <p:cNvPicPr>
            <a:picLocks noChangeAspect="1"/>
          </p:cNvPicPr>
          <p:nvPr/>
        </p:nvPicPr>
        <p:blipFill>
          <a:blip r:embed="rId2"/>
          <a:srcRect t="26" b="26"/>
          <a:stretch>
            <a:fillRect/>
          </a:stretch>
        </p:blipFill>
        <p:spPr>
          <a:xfrm>
            <a:off x="566928" y="1847088"/>
            <a:ext cx="5806440" cy="3264408"/>
          </a:xfrm>
          <a:prstGeom prst="rect">
            <a:avLst/>
          </a:prstGeom>
        </p:spPr>
      </p:pic>
      <p:sp>
        <p:nvSpPr>
          <p:cNvPr id="10" name="Rectangle 9"/>
          <p:cNvSpPr/>
          <p:nvPr/>
        </p:nvSpPr>
        <p:spPr>
          <a:xfrm>
            <a:off x="566928" y="1847088"/>
            <a:ext cx="5806440" cy="3264408"/>
          </a:xfrm>
          <a:prstGeom prst="rect">
            <a:avLst/>
          </a:prstGeom>
          <a:noFill/>
          <a:ln w="15240">
            <a:solidFill>
              <a:srgbClr val="2C384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66928" y="5193792"/>
            <a:ext cx="5806440" cy="457200"/>
          </a:xfrm>
          <a:prstGeom prst="rect">
            <a:avLst/>
          </a:prstGeom>
          <a:noFill/>
        </p:spPr>
        <p:txBody>
          <a:bodyPr wrap="square" lIns="0" rIns="0" tIns="0" bIns="0" anchor="t">
            <a:spAutoFit/>
          </a:bodyPr>
          <a:lstStyle/>
          <a:p>
            <a:pPr algn="l">
              <a:lnSpc>
                <a:spcPct val="130000"/>
              </a:lnSpc>
            </a:pPr>
            <a:r>
              <a:rPr sz="1019" b="0" i="0">
                <a:solidFill>
                  <a:srgbClr val="8D9AB0"/>
                </a:solidFill>
                <a:latin typeface="Arial"/>
              </a:rPr>
              <a:t>Actual system output: Bradford players kept (amber), opponents and officials discarded (grey), each sponsor mark boxed with its confidence score.</a:t>
            </a:r>
          </a:p>
        </p:txBody>
      </p:sp>
      <p:sp>
        <p:nvSpPr>
          <p:cNvPr id="12" name="Rounded Rectangle 11"/>
          <p:cNvSpPr/>
          <p:nvPr/>
        </p:nvSpPr>
        <p:spPr>
          <a:xfrm>
            <a:off x="6711696" y="1847088"/>
            <a:ext cx="4913345" cy="694944"/>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711696" y="1938528"/>
            <a:ext cx="50292" cy="51206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986016" y="1993392"/>
            <a:ext cx="1417320" cy="411480"/>
          </a:xfrm>
          <a:prstGeom prst="rect">
            <a:avLst/>
          </a:prstGeom>
          <a:noFill/>
        </p:spPr>
        <p:txBody>
          <a:bodyPr wrap="square" lIns="0" rIns="0" tIns="0" bIns="0" anchor="t">
            <a:spAutoFit/>
          </a:bodyPr>
          <a:lstStyle/>
          <a:p>
            <a:pPr algn="l">
              <a:lnSpc>
                <a:spcPct val="115000"/>
              </a:lnSpc>
            </a:pPr>
            <a:r>
              <a:rPr sz="2200" b="1" i="0">
                <a:solidFill>
                  <a:srgbClr val="FFFFFF"/>
                </a:solidFill>
                <a:latin typeface="Arial"/>
              </a:rPr>
              <a:t>2</a:t>
            </a:r>
          </a:p>
        </p:txBody>
      </p:sp>
      <p:sp>
        <p:nvSpPr>
          <p:cNvPr id="15" name="TextBox 14"/>
          <p:cNvSpPr txBox="1"/>
          <p:nvPr/>
        </p:nvSpPr>
        <p:spPr>
          <a:xfrm>
            <a:off x="8540496" y="2039112"/>
            <a:ext cx="2810225" cy="411480"/>
          </a:xfrm>
          <a:prstGeom prst="rect">
            <a:avLst/>
          </a:prstGeom>
          <a:noFill/>
        </p:spPr>
        <p:txBody>
          <a:bodyPr wrap="square" lIns="0" rIns="0" tIns="0" bIns="0" anchor="ctr">
            <a:spAutoFit/>
          </a:bodyPr>
          <a:lstStyle/>
          <a:p>
            <a:pPr algn="l">
              <a:lnSpc>
                <a:spcPct val="122000"/>
              </a:lnSpc>
            </a:pPr>
            <a:r>
              <a:rPr sz="1160" b="0" i="0">
                <a:solidFill>
                  <a:srgbClr val="E7ECF4"/>
                </a:solidFill>
                <a:latin typeface="Arial"/>
              </a:rPr>
              <a:t>complete match broadcasts — no highlight sampling</a:t>
            </a:r>
          </a:p>
        </p:txBody>
      </p:sp>
      <p:sp>
        <p:nvSpPr>
          <p:cNvPr id="16" name="Rounded Rectangle 15"/>
          <p:cNvSpPr/>
          <p:nvPr/>
        </p:nvSpPr>
        <p:spPr>
          <a:xfrm>
            <a:off x="6711696" y="2670048"/>
            <a:ext cx="4913345" cy="694944"/>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711696" y="2761488"/>
            <a:ext cx="50292" cy="51206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86016" y="2816352"/>
            <a:ext cx="1417320" cy="411480"/>
          </a:xfrm>
          <a:prstGeom prst="rect">
            <a:avLst/>
          </a:prstGeom>
          <a:noFill/>
        </p:spPr>
        <p:txBody>
          <a:bodyPr wrap="square" lIns="0" rIns="0" tIns="0" bIns="0" anchor="t">
            <a:spAutoFit/>
          </a:bodyPr>
          <a:lstStyle/>
          <a:p>
            <a:pPr algn="l">
              <a:lnSpc>
                <a:spcPct val="115000"/>
              </a:lnSpc>
            </a:pPr>
            <a:r>
              <a:rPr sz="2200" b="1" i="0">
                <a:solidFill>
                  <a:srgbClr val="FFFFFF"/>
                </a:solidFill>
                <a:latin typeface="Arial"/>
              </a:rPr>
              <a:t>16</a:t>
            </a:r>
          </a:p>
        </p:txBody>
      </p:sp>
      <p:sp>
        <p:nvSpPr>
          <p:cNvPr id="19" name="TextBox 18"/>
          <p:cNvSpPr txBox="1"/>
          <p:nvPr/>
        </p:nvSpPr>
        <p:spPr>
          <a:xfrm>
            <a:off x="8540496" y="2862072"/>
            <a:ext cx="2810225" cy="411480"/>
          </a:xfrm>
          <a:prstGeom prst="rect">
            <a:avLst/>
          </a:prstGeom>
          <a:noFill/>
        </p:spPr>
        <p:txBody>
          <a:bodyPr wrap="square" lIns="0" rIns="0" tIns="0" bIns="0" anchor="ctr">
            <a:spAutoFit/>
          </a:bodyPr>
          <a:lstStyle/>
          <a:p>
            <a:pPr algn="l">
              <a:lnSpc>
                <a:spcPct val="122000"/>
              </a:lnSpc>
            </a:pPr>
            <a:r>
              <a:rPr sz="1160" b="0" i="0">
                <a:solidFill>
                  <a:srgbClr val="E7ECF4"/>
                </a:solidFill>
                <a:latin typeface="Arial"/>
              </a:rPr>
              <a:t>sponsor assets on the 2025/26 home kit</a:t>
            </a:r>
          </a:p>
        </p:txBody>
      </p:sp>
      <p:sp>
        <p:nvSpPr>
          <p:cNvPr id="20" name="Rounded Rectangle 19"/>
          <p:cNvSpPr/>
          <p:nvPr/>
        </p:nvSpPr>
        <p:spPr>
          <a:xfrm>
            <a:off x="6711696" y="3493008"/>
            <a:ext cx="4913345" cy="694944"/>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711696" y="3584448"/>
            <a:ext cx="50292" cy="51206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86016" y="3639312"/>
            <a:ext cx="1417320" cy="411480"/>
          </a:xfrm>
          <a:prstGeom prst="rect">
            <a:avLst/>
          </a:prstGeom>
          <a:noFill/>
        </p:spPr>
        <p:txBody>
          <a:bodyPr wrap="square" lIns="0" rIns="0" tIns="0" bIns="0" anchor="t">
            <a:spAutoFit/>
          </a:bodyPr>
          <a:lstStyle/>
          <a:p>
            <a:pPr algn="l">
              <a:lnSpc>
                <a:spcPct val="115000"/>
              </a:lnSpc>
            </a:pPr>
            <a:r>
              <a:rPr sz="2200" b="1" i="0">
                <a:solidFill>
                  <a:srgbClr val="FFFFFF"/>
                </a:solidFill>
                <a:latin typeface="Arial"/>
              </a:rPr>
              <a:t>2 fps</a:t>
            </a:r>
          </a:p>
        </p:txBody>
      </p:sp>
      <p:sp>
        <p:nvSpPr>
          <p:cNvPr id="23" name="TextBox 22"/>
          <p:cNvSpPr txBox="1"/>
          <p:nvPr/>
        </p:nvSpPr>
        <p:spPr>
          <a:xfrm>
            <a:off x="8540496" y="3685032"/>
            <a:ext cx="2810225" cy="411480"/>
          </a:xfrm>
          <a:prstGeom prst="rect">
            <a:avLst/>
          </a:prstGeom>
          <a:noFill/>
        </p:spPr>
        <p:txBody>
          <a:bodyPr wrap="square" lIns="0" rIns="0" tIns="0" bIns="0" anchor="ctr">
            <a:spAutoFit/>
          </a:bodyPr>
          <a:lstStyle/>
          <a:p>
            <a:pPr algn="l">
              <a:lnSpc>
                <a:spcPct val="122000"/>
              </a:lnSpc>
            </a:pPr>
            <a:r>
              <a:rPr sz="1160" b="0" i="0">
                <a:solidFill>
                  <a:srgbClr val="E7ECF4"/>
                </a:solidFill>
                <a:latin typeface="Arial"/>
              </a:rPr>
              <a:t>analysis rate across the full 80 minutes</a:t>
            </a:r>
          </a:p>
        </p:txBody>
      </p:sp>
      <p:sp>
        <p:nvSpPr>
          <p:cNvPr id="24" name="Rounded Rectangle 23"/>
          <p:cNvSpPr/>
          <p:nvPr/>
        </p:nvSpPr>
        <p:spPr>
          <a:xfrm>
            <a:off x="6711696" y="4315968"/>
            <a:ext cx="4913345" cy="694944"/>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711696" y="4407408"/>
            <a:ext cx="50292" cy="512064"/>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986016" y="4462272"/>
            <a:ext cx="1417320" cy="411480"/>
          </a:xfrm>
          <a:prstGeom prst="rect">
            <a:avLst/>
          </a:prstGeom>
          <a:noFill/>
        </p:spPr>
        <p:txBody>
          <a:bodyPr wrap="square" lIns="0" rIns="0" tIns="0" bIns="0" anchor="t">
            <a:spAutoFit/>
          </a:bodyPr>
          <a:lstStyle/>
          <a:p>
            <a:pPr algn="l">
              <a:lnSpc>
                <a:spcPct val="115000"/>
              </a:lnSpc>
            </a:pPr>
            <a:r>
              <a:rPr sz="2200" b="1" i="0">
                <a:solidFill>
                  <a:srgbClr val="FFFFFF"/>
                </a:solidFill>
                <a:latin typeface="Arial"/>
              </a:rPr>
              <a:t>0.933</a:t>
            </a:r>
          </a:p>
        </p:txBody>
      </p:sp>
      <p:sp>
        <p:nvSpPr>
          <p:cNvPr id="27" name="TextBox 26"/>
          <p:cNvSpPr txBox="1"/>
          <p:nvPr/>
        </p:nvSpPr>
        <p:spPr>
          <a:xfrm>
            <a:off x="8540496" y="4507992"/>
            <a:ext cx="2810225" cy="411480"/>
          </a:xfrm>
          <a:prstGeom prst="rect">
            <a:avLst/>
          </a:prstGeom>
          <a:noFill/>
        </p:spPr>
        <p:txBody>
          <a:bodyPr wrap="square" lIns="0" rIns="0" tIns="0" bIns="0" anchor="ctr">
            <a:spAutoFit/>
          </a:bodyPr>
          <a:lstStyle/>
          <a:p>
            <a:pPr algn="l">
              <a:lnSpc>
                <a:spcPct val="122000"/>
              </a:lnSpc>
            </a:pPr>
            <a:r>
              <a:rPr sz="1160" b="0" i="0">
                <a:solidFill>
                  <a:srgbClr val="E7ECF4"/>
                </a:solidFill>
                <a:latin typeface="Arial"/>
              </a:rPr>
              <a:t>detector mAP@0.50 on three unseen matches</a:t>
            </a:r>
          </a:p>
        </p:txBody>
      </p:sp>
      <p:sp>
        <p:nvSpPr>
          <p:cNvPr id="28" name="Rounded Rectangle 27"/>
          <p:cNvSpPr/>
          <p:nvPr/>
        </p:nvSpPr>
        <p:spPr>
          <a:xfrm>
            <a:off x="566928" y="5577840"/>
            <a:ext cx="1736338" cy="658368"/>
          </a:xfrm>
          <a:prstGeom prst="roundRect">
            <a:avLst>
              <a:gd name="adj" fmla="val 3500"/>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31520" y="5687568"/>
            <a:ext cx="365760" cy="182880"/>
          </a:xfrm>
          <a:prstGeom prst="rect">
            <a:avLst/>
          </a:prstGeom>
          <a:noFill/>
        </p:spPr>
        <p:txBody>
          <a:bodyPr wrap="square" lIns="0" rIns="0" tIns="0" bIns="0" anchor="t">
            <a:spAutoFit/>
          </a:bodyPr>
          <a:lstStyle/>
          <a:p>
            <a:pPr algn="l">
              <a:lnSpc>
                <a:spcPct val="115000"/>
              </a:lnSpc>
            </a:pPr>
            <a:r>
              <a:rPr sz="1000" b="1" i="0">
                <a:solidFill>
                  <a:srgbClr val="FFC20E"/>
                </a:solidFill>
                <a:latin typeface="Arial"/>
              </a:rPr>
              <a:t>1</a:t>
            </a:r>
          </a:p>
        </p:txBody>
      </p:sp>
      <p:sp>
        <p:nvSpPr>
          <p:cNvPr id="30" name="TextBox 29"/>
          <p:cNvSpPr txBox="1"/>
          <p:nvPr/>
        </p:nvSpPr>
        <p:spPr>
          <a:xfrm>
            <a:off x="731520" y="5888736"/>
            <a:ext cx="1407154" cy="256032"/>
          </a:xfrm>
          <a:prstGeom prst="rect">
            <a:avLst/>
          </a:prstGeom>
          <a:noFill/>
        </p:spPr>
        <p:txBody>
          <a:bodyPr wrap="square" lIns="0" rIns="0" tIns="0" bIns="0" anchor="t">
            <a:spAutoFit/>
          </a:bodyPr>
          <a:lstStyle/>
          <a:p>
            <a:pPr algn="l">
              <a:lnSpc>
                <a:spcPct val="112000"/>
              </a:lnSpc>
            </a:pPr>
            <a:r>
              <a:rPr sz="1060" b="1" i="0">
                <a:solidFill>
                  <a:srgbClr val="FFFFFF"/>
                </a:solidFill>
                <a:latin typeface="Arial"/>
              </a:rPr>
              <a:t>Detect the mark</a:t>
            </a:r>
          </a:p>
        </p:txBody>
      </p:sp>
      <p:sp>
        <p:nvSpPr>
          <p:cNvPr id="31" name="Rounded Rectangle 30"/>
          <p:cNvSpPr/>
          <p:nvPr/>
        </p:nvSpPr>
        <p:spPr>
          <a:xfrm>
            <a:off x="2431282" y="5577840"/>
            <a:ext cx="1736338" cy="658368"/>
          </a:xfrm>
          <a:prstGeom prst="roundRect">
            <a:avLst>
              <a:gd name="adj" fmla="val 3500"/>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2595874" y="5687568"/>
            <a:ext cx="365760" cy="182880"/>
          </a:xfrm>
          <a:prstGeom prst="rect">
            <a:avLst/>
          </a:prstGeom>
          <a:noFill/>
        </p:spPr>
        <p:txBody>
          <a:bodyPr wrap="square" lIns="0" rIns="0" tIns="0" bIns="0" anchor="t">
            <a:spAutoFit/>
          </a:bodyPr>
          <a:lstStyle/>
          <a:p>
            <a:pPr algn="l">
              <a:lnSpc>
                <a:spcPct val="115000"/>
              </a:lnSpc>
            </a:pPr>
            <a:r>
              <a:rPr sz="1000" b="1" i="0">
                <a:solidFill>
                  <a:srgbClr val="FFC20E"/>
                </a:solidFill>
                <a:latin typeface="Arial"/>
              </a:rPr>
              <a:t>2</a:t>
            </a:r>
          </a:p>
        </p:txBody>
      </p:sp>
      <p:sp>
        <p:nvSpPr>
          <p:cNvPr id="33" name="TextBox 32"/>
          <p:cNvSpPr txBox="1"/>
          <p:nvPr/>
        </p:nvSpPr>
        <p:spPr>
          <a:xfrm>
            <a:off x="2595874" y="5888736"/>
            <a:ext cx="1407154" cy="256032"/>
          </a:xfrm>
          <a:prstGeom prst="rect">
            <a:avLst/>
          </a:prstGeom>
          <a:noFill/>
        </p:spPr>
        <p:txBody>
          <a:bodyPr wrap="square" lIns="0" rIns="0" tIns="0" bIns="0" anchor="t">
            <a:spAutoFit/>
          </a:bodyPr>
          <a:lstStyle/>
          <a:p>
            <a:pPr algn="l">
              <a:lnSpc>
                <a:spcPct val="112000"/>
              </a:lnSpc>
            </a:pPr>
            <a:r>
              <a:rPr sz="1060" b="1" i="0">
                <a:solidFill>
                  <a:srgbClr val="FFFFFF"/>
                </a:solidFill>
                <a:latin typeface="Arial"/>
              </a:rPr>
              <a:t>Track it over time</a:t>
            </a:r>
          </a:p>
        </p:txBody>
      </p:sp>
      <p:sp>
        <p:nvSpPr>
          <p:cNvPr id="34" name="Rounded Rectangle 33"/>
          <p:cNvSpPr/>
          <p:nvPr/>
        </p:nvSpPr>
        <p:spPr>
          <a:xfrm>
            <a:off x="4295637" y="5577840"/>
            <a:ext cx="1736338" cy="658368"/>
          </a:xfrm>
          <a:prstGeom prst="roundRect">
            <a:avLst>
              <a:gd name="adj" fmla="val 3500"/>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460229" y="5687568"/>
            <a:ext cx="365760" cy="182880"/>
          </a:xfrm>
          <a:prstGeom prst="rect">
            <a:avLst/>
          </a:prstGeom>
          <a:noFill/>
        </p:spPr>
        <p:txBody>
          <a:bodyPr wrap="square" lIns="0" rIns="0" tIns="0" bIns="0" anchor="t">
            <a:spAutoFit/>
          </a:bodyPr>
          <a:lstStyle/>
          <a:p>
            <a:pPr algn="l">
              <a:lnSpc>
                <a:spcPct val="115000"/>
              </a:lnSpc>
            </a:pPr>
            <a:r>
              <a:rPr sz="1000" b="1" i="0">
                <a:solidFill>
                  <a:srgbClr val="FFC20E"/>
                </a:solidFill>
                <a:latin typeface="Arial"/>
              </a:rPr>
              <a:t>3</a:t>
            </a:r>
          </a:p>
        </p:txBody>
      </p:sp>
      <p:sp>
        <p:nvSpPr>
          <p:cNvPr id="36" name="TextBox 35"/>
          <p:cNvSpPr txBox="1"/>
          <p:nvPr/>
        </p:nvSpPr>
        <p:spPr>
          <a:xfrm>
            <a:off x="4460229" y="5888736"/>
            <a:ext cx="1407154" cy="256032"/>
          </a:xfrm>
          <a:prstGeom prst="rect">
            <a:avLst/>
          </a:prstGeom>
          <a:noFill/>
        </p:spPr>
        <p:txBody>
          <a:bodyPr wrap="square" lIns="0" rIns="0" tIns="0" bIns="0" anchor="t">
            <a:spAutoFit/>
          </a:bodyPr>
          <a:lstStyle/>
          <a:p>
            <a:pPr algn="l">
              <a:lnSpc>
                <a:spcPct val="112000"/>
              </a:lnSpc>
            </a:pPr>
            <a:r>
              <a:rPr sz="1060" b="1" i="0">
                <a:solidFill>
                  <a:srgbClr val="FFFFFF"/>
                </a:solidFill>
                <a:latin typeface="Arial"/>
              </a:rPr>
              <a:t>Keep only Bradford players</a:t>
            </a:r>
          </a:p>
        </p:txBody>
      </p:sp>
      <p:sp>
        <p:nvSpPr>
          <p:cNvPr id="37" name="Rounded Rectangle 36"/>
          <p:cNvSpPr/>
          <p:nvPr/>
        </p:nvSpPr>
        <p:spPr>
          <a:xfrm>
            <a:off x="6159992" y="5577840"/>
            <a:ext cx="1736338" cy="658368"/>
          </a:xfrm>
          <a:prstGeom prst="roundRect">
            <a:avLst>
              <a:gd name="adj" fmla="val 3500"/>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324584" y="5687568"/>
            <a:ext cx="365760" cy="182880"/>
          </a:xfrm>
          <a:prstGeom prst="rect">
            <a:avLst/>
          </a:prstGeom>
          <a:noFill/>
        </p:spPr>
        <p:txBody>
          <a:bodyPr wrap="square" lIns="0" rIns="0" tIns="0" bIns="0" anchor="t">
            <a:spAutoFit/>
          </a:bodyPr>
          <a:lstStyle/>
          <a:p>
            <a:pPr algn="l">
              <a:lnSpc>
                <a:spcPct val="115000"/>
              </a:lnSpc>
            </a:pPr>
            <a:r>
              <a:rPr sz="1000" b="1" i="0">
                <a:solidFill>
                  <a:srgbClr val="FFC20E"/>
                </a:solidFill>
                <a:latin typeface="Arial"/>
              </a:rPr>
              <a:t>4</a:t>
            </a:r>
          </a:p>
        </p:txBody>
      </p:sp>
      <p:sp>
        <p:nvSpPr>
          <p:cNvPr id="39" name="TextBox 38"/>
          <p:cNvSpPr txBox="1"/>
          <p:nvPr/>
        </p:nvSpPr>
        <p:spPr>
          <a:xfrm>
            <a:off x="6324584" y="5888736"/>
            <a:ext cx="1407154" cy="256032"/>
          </a:xfrm>
          <a:prstGeom prst="rect">
            <a:avLst/>
          </a:prstGeom>
          <a:noFill/>
        </p:spPr>
        <p:txBody>
          <a:bodyPr wrap="square" lIns="0" rIns="0" tIns="0" bIns="0" anchor="t">
            <a:spAutoFit/>
          </a:bodyPr>
          <a:lstStyle/>
          <a:p>
            <a:pPr algn="l">
              <a:lnSpc>
                <a:spcPct val="112000"/>
              </a:lnSpc>
            </a:pPr>
            <a:r>
              <a:rPr sz="1060" b="1" i="0">
                <a:solidFill>
                  <a:srgbClr val="FFFFFF"/>
                </a:solidFill>
                <a:latin typeface="Arial"/>
              </a:rPr>
              <a:t>Place it on the body</a:t>
            </a:r>
          </a:p>
        </p:txBody>
      </p:sp>
      <p:sp>
        <p:nvSpPr>
          <p:cNvPr id="40" name="Rounded Rectangle 39"/>
          <p:cNvSpPr/>
          <p:nvPr/>
        </p:nvSpPr>
        <p:spPr>
          <a:xfrm>
            <a:off x="8024347" y="5577840"/>
            <a:ext cx="1736338" cy="658368"/>
          </a:xfrm>
          <a:prstGeom prst="roundRect">
            <a:avLst>
              <a:gd name="adj" fmla="val 3500"/>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8188939" y="5687568"/>
            <a:ext cx="365760" cy="182880"/>
          </a:xfrm>
          <a:prstGeom prst="rect">
            <a:avLst/>
          </a:prstGeom>
          <a:noFill/>
        </p:spPr>
        <p:txBody>
          <a:bodyPr wrap="square" lIns="0" rIns="0" tIns="0" bIns="0" anchor="t">
            <a:spAutoFit/>
          </a:bodyPr>
          <a:lstStyle/>
          <a:p>
            <a:pPr algn="l">
              <a:lnSpc>
                <a:spcPct val="115000"/>
              </a:lnSpc>
            </a:pPr>
            <a:r>
              <a:rPr sz="1000" b="1" i="0">
                <a:solidFill>
                  <a:srgbClr val="FFC20E"/>
                </a:solidFill>
                <a:latin typeface="Arial"/>
              </a:rPr>
              <a:t>5</a:t>
            </a:r>
          </a:p>
        </p:txBody>
      </p:sp>
      <p:sp>
        <p:nvSpPr>
          <p:cNvPr id="42" name="TextBox 41"/>
          <p:cNvSpPr txBox="1"/>
          <p:nvPr/>
        </p:nvSpPr>
        <p:spPr>
          <a:xfrm>
            <a:off x="8188939" y="5888736"/>
            <a:ext cx="1407154" cy="256032"/>
          </a:xfrm>
          <a:prstGeom prst="rect">
            <a:avLst/>
          </a:prstGeom>
          <a:noFill/>
        </p:spPr>
        <p:txBody>
          <a:bodyPr wrap="square" lIns="0" rIns="0" tIns="0" bIns="0" anchor="t">
            <a:spAutoFit/>
          </a:bodyPr>
          <a:lstStyle/>
          <a:p>
            <a:pPr algn="l">
              <a:lnSpc>
                <a:spcPct val="112000"/>
              </a:lnSpc>
            </a:pPr>
            <a:r>
              <a:rPr sz="1060" b="1" i="0">
                <a:solidFill>
                  <a:srgbClr val="FFFFFF"/>
                </a:solidFill>
                <a:latin typeface="Arial"/>
              </a:rPr>
              <a:t>Score its visibility</a:t>
            </a:r>
          </a:p>
        </p:txBody>
      </p:sp>
      <p:sp>
        <p:nvSpPr>
          <p:cNvPr id="43" name="Rounded Rectangle 42"/>
          <p:cNvSpPr/>
          <p:nvPr/>
        </p:nvSpPr>
        <p:spPr>
          <a:xfrm>
            <a:off x="9888702" y="5577840"/>
            <a:ext cx="1736338" cy="658368"/>
          </a:xfrm>
          <a:prstGeom prst="roundRect">
            <a:avLst>
              <a:gd name="adj" fmla="val 3500"/>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53294" y="5687568"/>
            <a:ext cx="365760" cy="182880"/>
          </a:xfrm>
          <a:prstGeom prst="rect">
            <a:avLst/>
          </a:prstGeom>
          <a:noFill/>
        </p:spPr>
        <p:txBody>
          <a:bodyPr wrap="square" lIns="0" rIns="0" tIns="0" bIns="0" anchor="t">
            <a:spAutoFit/>
          </a:bodyPr>
          <a:lstStyle/>
          <a:p>
            <a:pPr algn="l">
              <a:lnSpc>
                <a:spcPct val="115000"/>
              </a:lnSpc>
            </a:pPr>
            <a:r>
              <a:rPr sz="1000" b="1" i="0">
                <a:solidFill>
                  <a:srgbClr val="FFC20E"/>
                </a:solidFill>
                <a:latin typeface="Arial"/>
              </a:rPr>
              <a:t>6</a:t>
            </a:r>
          </a:p>
        </p:txBody>
      </p:sp>
      <p:sp>
        <p:nvSpPr>
          <p:cNvPr id="45" name="TextBox 44"/>
          <p:cNvSpPr txBox="1"/>
          <p:nvPr/>
        </p:nvSpPr>
        <p:spPr>
          <a:xfrm>
            <a:off x="10053294" y="5888736"/>
            <a:ext cx="1407154" cy="256032"/>
          </a:xfrm>
          <a:prstGeom prst="rect">
            <a:avLst/>
          </a:prstGeom>
          <a:noFill/>
        </p:spPr>
        <p:txBody>
          <a:bodyPr wrap="square" lIns="0" rIns="0" tIns="0" bIns="0" anchor="t">
            <a:spAutoFit/>
          </a:bodyPr>
          <a:lstStyle/>
          <a:p>
            <a:pPr algn="l">
              <a:lnSpc>
                <a:spcPct val="112000"/>
              </a:lnSpc>
            </a:pPr>
            <a:r>
              <a:rPr sz="1060" b="1" i="0">
                <a:solidFill>
                  <a:srgbClr val="FFFFFF"/>
                </a:solidFill>
                <a:latin typeface="Arial"/>
              </a:rPr>
              <a:t>Aggregate to a % share</a:t>
            </a:r>
          </a:p>
        </p:txBody>
      </p:sp>
      <p:sp>
        <p:nvSpPr>
          <p:cNvPr id="46" name="TextBox 45"/>
          <p:cNvSpPr txBox="1"/>
          <p:nvPr/>
        </p:nvSpPr>
        <p:spPr>
          <a:xfrm>
            <a:off x="10984961" y="6382512"/>
            <a:ext cx="640080" cy="237744"/>
          </a:xfrm>
          <a:prstGeom prst="rect">
            <a:avLst/>
          </a:prstGeom>
          <a:noFill/>
        </p:spPr>
        <p:txBody>
          <a:bodyPr wrap="square" lIns="0" rIns="0" tIns="0" bIns="0" anchor="t">
            <a:spAutoFit/>
          </a:bodyPr>
          <a:lstStyle/>
          <a:p>
            <a:pPr algn="r">
              <a:lnSpc>
                <a:spcPct val="115000"/>
              </a:lnSpc>
            </a:pPr>
            <a:r>
              <a:rPr sz="1000" b="0" i="0">
                <a:solidFill>
                  <a:srgbClr val="5E6C8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409" cy="6949440"/>
          </a:xfrm>
          <a:prstGeom prst="rect">
            <a:avLst/>
          </a:prstGeom>
          <a:solidFill>
            <a:srgbClr val="0D1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7071342" cy="50292"/>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071342" y="0"/>
            <a:ext cx="2682233" cy="50292"/>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753575" y="0"/>
            <a:ext cx="2438393" cy="50292"/>
          </a:xfrm>
          <a:prstGeom prst="rect">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402336"/>
            <a:ext cx="11058113" cy="237744"/>
          </a:xfrm>
          <a:prstGeom prst="rect">
            <a:avLst/>
          </a:prstGeom>
          <a:noFill/>
        </p:spPr>
        <p:txBody>
          <a:bodyPr wrap="square" lIns="0" rIns="0" tIns="0" bIns="0" anchor="t">
            <a:spAutoFit/>
          </a:bodyPr>
          <a:lstStyle/>
          <a:p>
            <a:pPr algn="l">
              <a:lnSpc>
                <a:spcPct val="115000"/>
              </a:lnSpc>
            </a:pPr>
            <a:r>
              <a:rPr sz="1050" b="1" i="0" spc="180">
                <a:solidFill>
                  <a:srgbClr val="FFC20E"/>
                </a:solidFill>
                <a:latin typeface="Arial"/>
              </a:rPr>
              <a:t>HOW A LOGO IS SCORED</a:t>
            </a:r>
          </a:p>
        </p:txBody>
      </p:sp>
      <p:sp>
        <p:nvSpPr>
          <p:cNvPr id="7" name="TextBox 6"/>
          <p:cNvSpPr txBox="1"/>
          <p:nvPr/>
        </p:nvSpPr>
        <p:spPr>
          <a:xfrm>
            <a:off x="566928" y="676656"/>
            <a:ext cx="11058113" cy="566928"/>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Six things measured on every appearance</a:t>
            </a:r>
          </a:p>
        </p:txBody>
      </p:sp>
      <p:sp>
        <p:nvSpPr>
          <p:cNvPr id="8" name="TextBox 7"/>
          <p:cNvSpPr txBox="1"/>
          <p:nvPr/>
        </p:nvSpPr>
        <p:spPr>
          <a:xfrm>
            <a:off x="566928" y="1280160"/>
            <a:ext cx="9509977" cy="274320"/>
          </a:xfrm>
          <a:prstGeom prst="rect">
            <a:avLst/>
          </a:prstGeom>
          <a:noFill/>
        </p:spPr>
        <p:txBody>
          <a:bodyPr wrap="square" lIns="0" rIns="0" tIns="0" bIns="0" anchor="t">
            <a:spAutoFit/>
          </a:bodyPr>
          <a:lstStyle/>
          <a:p>
            <a:pPr algn="l">
              <a:lnSpc>
                <a:spcPct val="120000"/>
              </a:lnSpc>
            </a:pPr>
            <a:r>
              <a:rPr sz="1300" b="0" i="0">
                <a:solidFill>
                  <a:srgbClr val="8D9AB0"/>
                </a:solidFill>
                <a:latin typeface="Arial"/>
              </a:rPr>
              <a:t>A logo is not simply present or absent. Each appearance is weighted by how well it could actually be seen.</a:t>
            </a:r>
          </a:p>
        </p:txBody>
      </p:sp>
      <p:sp>
        <p:nvSpPr>
          <p:cNvPr id="9" name="Rounded Rectangle 8"/>
          <p:cNvSpPr/>
          <p:nvPr/>
        </p:nvSpPr>
        <p:spPr>
          <a:xfrm>
            <a:off x="566928" y="1847088"/>
            <a:ext cx="3551925" cy="1335024"/>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847088"/>
            <a:ext cx="3551925" cy="4572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60" y="2084832"/>
            <a:ext cx="3094725" cy="274320"/>
          </a:xfrm>
          <a:prstGeom prst="rect">
            <a:avLst/>
          </a:prstGeom>
          <a:noFill/>
        </p:spPr>
        <p:txBody>
          <a:bodyPr wrap="square" lIns="0" rIns="0" tIns="0" bIns="0" anchor="t">
            <a:spAutoFit/>
          </a:bodyPr>
          <a:lstStyle/>
          <a:p>
            <a:pPr algn="l">
              <a:lnSpc>
                <a:spcPct val="115000"/>
              </a:lnSpc>
            </a:pPr>
            <a:r>
              <a:rPr sz="1700" b="1" i="0">
                <a:solidFill>
                  <a:srgbClr val="FFFFFF"/>
                </a:solidFill>
                <a:latin typeface="Arial"/>
              </a:rPr>
              <a:t>Size</a:t>
            </a:r>
          </a:p>
        </p:txBody>
      </p:sp>
      <p:sp>
        <p:nvSpPr>
          <p:cNvPr id="12" name="TextBox 11"/>
          <p:cNvSpPr txBox="1"/>
          <p:nvPr/>
        </p:nvSpPr>
        <p:spPr>
          <a:xfrm>
            <a:off x="822960" y="2414016"/>
            <a:ext cx="3094725" cy="274320"/>
          </a:xfrm>
          <a:prstGeom prst="rect">
            <a:avLst/>
          </a:prstGeom>
          <a:noFill/>
        </p:spPr>
        <p:txBody>
          <a:bodyPr wrap="square" lIns="0" rIns="0" tIns="0" bIns="0" anchor="t">
            <a:spAutoFit/>
          </a:bodyPr>
          <a:lstStyle/>
          <a:p>
            <a:pPr algn="l">
              <a:lnSpc>
                <a:spcPct val="125000"/>
              </a:lnSpc>
            </a:pPr>
            <a:r>
              <a:rPr sz="1180" b="0" i="0">
                <a:solidFill>
                  <a:srgbClr val="E7ECF4"/>
                </a:solidFill>
                <a:latin typeface="Arial"/>
              </a:rPr>
              <a:t>How much of the screen the mark fills.</a:t>
            </a:r>
          </a:p>
        </p:txBody>
      </p:sp>
      <p:sp>
        <p:nvSpPr>
          <p:cNvPr id="13" name="TextBox 12"/>
          <p:cNvSpPr txBox="1"/>
          <p:nvPr/>
        </p:nvSpPr>
        <p:spPr>
          <a:xfrm>
            <a:off x="822960" y="2761488"/>
            <a:ext cx="3094725" cy="384048"/>
          </a:xfrm>
          <a:prstGeom prst="rect">
            <a:avLst/>
          </a:prstGeom>
          <a:noFill/>
        </p:spPr>
        <p:txBody>
          <a:bodyPr wrap="square" lIns="0" rIns="0" tIns="0" bIns="0" anchor="t">
            <a:spAutoFit/>
          </a:bodyPr>
          <a:lstStyle/>
          <a:p>
            <a:pPr algn="l">
              <a:lnSpc>
                <a:spcPct val="128000"/>
              </a:lnSpc>
            </a:pPr>
            <a:r>
              <a:rPr sz="1000" b="0" i="0">
                <a:solidFill>
                  <a:srgbClr val="8D9AB0"/>
                </a:solidFill>
                <a:latin typeface="Arial"/>
              </a:rPr>
              <a:t>Square-rooted, so one huge close-up cannot dominate the season.</a:t>
            </a:r>
          </a:p>
        </p:txBody>
      </p:sp>
      <p:sp>
        <p:nvSpPr>
          <p:cNvPr id="14" name="Rounded Rectangle 13"/>
          <p:cNvSpPr/>
          <p:nvPr/>
        </p:nvSpPr>
        <p:spPr>
          <a:xfrm>
            <a:off x="4320021" y="1847088"/>
            <a:ext cx="3551925" cy="1335024"/>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320021" y="1847088"/>
            <a:ext cx="3551925" cy="4572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76053" y="2084832"/>
            <a:ext cx="3094725" cy="274320"/>
          </a:xfrm>
          <a:prstGeom prst="rect">
            <a:avLst/>
          </a:prstGeom>
          <a:noFill/>
        </p:spPr>
        <p:txBody>
          <a:bodyPr wrap="square" lIns="0" rIns="0" tIns="0" bIns="0" anchor="t">
            <a:spAutoFit/>
          </a:bodyPr>
          <a:lstStyle/>
          <a:p>
            <a:pPr algn="l">
              <a:lnSpc>
                <a:spcPct val="115000"/>
              </a:lnSpc>
            </a:pPr>
            <a:r>
              <a:rPr sz="1700" b="1" i="0">
                <a:solidFill>
                  <a:srgbClr val="FFFFFF"/>
                </a:solidFill>
                <a:latin typeface="Arial"/>
              </a:rPr>
              <a:t>Position</a:t>
            </a:r>
          </a:p>
        </p:txBody>
      </p:sp>
      <p:sp>
        <p:nvSpPr>
          <p:cNvPr id="17" name="TextBox 16"/>
          <p:cNvSpPr txBox="1"/>
          <p:nvPr/>
        </p:nvSpPr>
        <p:spPr>
          <a:xfrm>
            <a:off x="4576053" y="2414016"/>
            <a:ext cx="3094725" cy="274320"/>
          </a:xfrm>
          <a:prstGeom prst="rect">
            <a:avLst/>
          </a:prstGeom>
          <a:noFill/>
        </p:spPr>
        <p:txBody>
          <a:bodyPr wrap="square" lIns="0" rIns="0" tIns="0" bIns="0" anchor="t">
            <a:spAutoFit/>
          </a:bodyPr>
          <a:lstStyle/>
          <a:p>
            <a:pPr algn="l">
              <a:lnSpc>
                <a:spcPct val="125000"/>
              </a:lnSpc>
            </a:pPr>
            <a:r>
              <a:rPr sz="1180" b="0" i="0">
                <a:solidFill>
                  <a:srgbClr val="E7ECF4"/>
                </a:solidFill>
                <a:latin typeface="Arial"/>
              </a:rPr>
              <a:t>How close to the centre of frame it sits.</a:t>
            </a:r>
          </a:p>
        </p:txBody>
      </p:sp>
      <p:sp>
        <p:nvSpPr>
          <p:cNvPr id="18" name="TextBox 17"/>
          <p:cNvSpPr txBox="1"/>
          <p:nvPr/>
        </p:nvSpPr>
        <p:spPr>
          <a:xfrm>
            <a:off x="4576053" y="2761488"/>
            <a:ext cx="3094725" cy="384048"/>
          </a:xfrm>
          <a:prstGeom prst="rect">
            <a:avLst/>
          </a:prstGeom>
          <a:noFill/>
        </p:spPr>
        <p:txBody>
          <a:bodyPr wrap="square" lIns="0" rIns="0" tIns="0" bIns="0" anchor="t">
            <a:spAutoFit/>
          </a:bodyPr>
          <a:lstStyle/>
          <a:p>
            <a:pPr algn="l">
              <a:lnSpc>
                <a:spcPct val="128000"/>
              </a:lnSpc>
            </a:pPr>
            <a:r>
              <a:rPr sz="1000" b="0" i="0">
                <a:solidFill>
                  <a:srgbClr val="8D9AB0"/>
                </a:solidFill>
                <a:latin typeface="Arial"/>
              </a:rPr>
              <a:t>Centre of screen scores ~1.0; far corners drop to ~0.1.</a:t>
            </a:r>
          </a:p>
        </p:txBody>
      </p:sp>
      <p:sp>
        <p:nvSpPr>
          <p:cNvPr id="19" name="Rounded Rectangle 18"/>
          <p:cNvSpPr/>
          <p:nvPr/>
        </p:nvSpPr>
        <p:spPr>
          <a:xfrm>
            <a:off x="8073115" y="1847088"/>
            <a:ext cx="3551925" cy="1335024"/>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073115" y="1847088"/>
            <a:ext cx="3551925" cy="45720"/>
          </a:xfrm>
          <a:prstGeom prst="rect">
            <a:avLst/>
          </a:prstGeom>
          <a:solidFill>
            <a:srgbClr val="4AA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29147" y="2084832"/>
            <a:ext cx="3094725" cy="274320"/>
          </a:xfrm>
          <a:prstGeom prst="rect">
            <a:avLst/>
          </a:prstGeom>
          <a:noFill/>
        </p:spPr>
        <p:txBody>
          <a:bodyPr wrap="square" lIns="0" rIns="0" tIns="0" bIns="0" anchor="t">
            <a:spAutoFit/>
          </a:bodyPr>
          <a:lstStyle/>
          <a:p>
            <a:pPr algn="l">
              <a:lnSpc>
                <a:spcPct val="115000"/>
              </a:lnSpc>
            </a:pPr>
            <a:r>
              <a:rPr sz="1700" b="1" i="0">
                <a:solidFill>
                  <a:srgbClr val="FFFFFF"/>
                </a:solidFill>
                <a:latin typeface="Arial"/>
              </a:rPr>
              <a:t>Clarity</a:t>
            </a:r>
          </a:p>
        </p:txBody>
      </p:sp>
      <p:sp>
        <p:nvSpPr>
          <p:cNvPr id="22" name="TextBox 21"/>
          <p:cNvSpPr txBox="1"/>
          <p:nvPr/>
        </p:nvSpPr>
        <p:spPr>
          <a:xfrm>
            <a:off x="8329147" y="2414016"/>
            <a:ext cx="3094725" cy="274320"/>
          </a:xfrm>
          <a:prstGeom prst="rect">
            <a:avLst/>
          </a:prstGeom>
          <a:noFill/>
        </p:spPr>
        <p:txBody>
          <a:bodyPr wrap="square" lIns="0" rIns="0" tIns="0" bIns="0" anchor="t">
            <a:spAutoFit/>
          </a:bodyPr>
          <a:lstStyle/>
          <a:p>
            <a:pPr algn="l">
              <a:lnSpc>
                <a:spcPct val="125000"/>
              </a:lnSpc>
            </a:pPr>
            <a:r>
              <a:rPr sz="1180" b="0" i="0">
                <a:solidFill>
                  <a:srgbClr val="E7ECF4"/>
                </a:solidFill>
                <a:latin typeface="Arial"/>
              </a:rPr>
              <a:t>How confidently the model can read it.</a:t>
            </a:r>
          </a:p>
        </p:txBody>
      </p:sp>
      <p:sp>
        <p:nvSpPr>
          <p:cNvPr id="23" name="TextBox 22"/>
          <p:cNvSpPr txBox="1"/>
          <p:nvPr/>
        </p:nvSpPr>
        <p:spPr>
          <a:xfrm>
            <a:off x="8329147" y="2761488"/>
            <a:ext cx="3094725" cy="384048"/>
          </a:xfrm>
          <a:prstGeom prst="rect">
            <a:avLst/>
          </a:prstGeom>
          <a:noFill/>
        </p:spPr>
        <p:txBody>
          <a:bodyPr wrap="square" lIns="0" rIns="0" tIns="0" bIns="0" anchor="t">
            <a:spAutoFit/>
          </a:bodyPr>
          <a:lstStyle/>
          <a:p>
            <a:pPr algn="l">
              <a:lnSpc>
                <a:spcPct val="128000"/>
              </a:lnSpc>
            </a:pPr>
            <a:r>
              <a:rPr sz="1000" b="0" i="0">
                <a:solidFill>
                  <a:srgbClr val="8D9AB0"/>
                </a:solidFill>
                <a:latin typeface="Arial"/>
              </a:rPr>
              <a:t>Blurred, shadowed or folded marks score lower.</a:t>
            </a:r>
          </a:p>
        </p:txBody>
      </p:sp>
      <p:sp>
        <p:nvSpPr>
          <p:cNvPr id="24" name="Rounded Rectangle 23"/>
          <p:cNvSpPr/>
          <p:nvPr/>
        </p:nvSpPr>
        <p:spPr>
          <a:xfrm>
            <a:off x="566928" y="3364991"/>
            <a:ext cx="3551925" cy="1335024"/>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66928" y="3364991"/>
            <a:ext cx="3551925" cy="45720"/>
          </a:xfrm>
          <a:prstGeom prst="rect">
            <a:avLst/>
          </a:prstGeom>
          <a:solidFill>
            <a:srgbClr val="9B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22960" y="3602735"/>
            <a:ext cx="3094725" cy="274320"/>
          </a:xfrm>
          <a:prstGeom prst="rect">
            <a:avLst/>
          </a:prstGeom>
          <a:noFill/>
        </p:spPr>
        <p:txBody>
          <a:bodyPr wrap="square" lIns="0" rIns="0" tIns="0" bIns="0" anchor="t">
            <a:spAutoFit/>
          </a:bodyPr>
          <a:lstStyle/>
          <a:p>
            <a:pPr algn="l">
              <a:lnSpc>
                <a:spcPct val="115000"/>
              </a:lnSpc>
            </a:pPr>
            <a:r>
              <a:rPr sz="1700" b="1" i="0">
                <a:solidFill>
                  <a:srgbClr val="FFFFFF"/>
                </a:solidFill>
                <a:latin typeface="Arial"/>
              </a:rPr>
              <a:t>Orientation</a:t>
            </a:r>
          </a:p>
        </p:txBody>
      </p:sp>
      <p:sp>
        <p:nvSpPr>
          <p:cNvPr id="27" name="TextBox 26"/>
          <p:cNvSpPr txBox="1"/>
          <p:nvPr/>
        </p:nvSpPr>
        <p:spPr>
          <a:xfrm>
            <a:off x="822960" y="3931920"/>
            <a:ext cx="3094725" cy="274320"/>
          </a:xfrm>
          <a:prstGeom prst="rect">
            <a:avLst/>
          </a:prstGeom>
          <a:noFill/>
        </p:spPr>
        <p:txBody>
          <a:bodyPr wrap="square" lIns="0" rIns="0" tIns="0" bIns="0" anchor="t">
            <a:spAutoFit/>
          </a:bodyPr>
          <a:lstStyle/>
          <a:p>
            <a:pPr algn="l">
              <a:lnSpc>
                <a:spcPct val="125000"/>
              </a:lnSpc>
            </a:pPr>
            <a:r>
              <a:rPr sz="1180" b="0" i="0">
                <a:solidFill>
                  <a:srgbClr val="E7ECF4"/>
                </a:solidFill>
                <a:latin typeface="Arial"/>
              </a:rPr>
              <a:t>How square-on the mark is to camera.</a:t>
            </a:r>
          </a:p>
        </p:txBody>
      </p:sp>
      <p:sp>
        <p:nvSpPr>
          <p:cNvPr id="28" name="TextBox 27"/>
          <p:cNvSpPr txBox="1"/>
          <p:nvPr/>
        </p:nvSpPr>
        <p:spPr>
          <a:xfrm>
            <a:off x="822960" y="4279392"/>
            <a:ext cx="3094725" cy="384048"/>
          </a:xfrm>
          <a:prstGeom prst="rect">
            <a:avLst/>
          </a:prstGeom>
          <a:noFill/>
        </p:spPr>
        <p:txBody>
          <a:bodyPr wrap="square" lIns="0" rIns="0" tIns="0" bIns="0" anchor="t">
            <a:spAutoFit/>
          </a:bodyPr>
          <a:lstStyle/>
          <a:p>
            <a:pPr algn="l">
              <a:lnSpc>
                <a:spcPct val="128000"/>
              </a:lnSpc>
            </a:pPr>
            <a:r>
              <a:rPr sz="1000" b="0" i="0">
                <a:solidFill>
                  <a:srgbClr val="8D9AB0"/>
                </a:solidFill>
                <a:latin typeface="Arial"/>
              </a:rPr>
              <a:t>Corrects for marks stretched by an oblique camera angle.</a:t>
            </a:r>
          </a:p>
        </p:txBody>
      </p:sp>
      <p:sp>
        <p:nvSpPr>
          <p:cNvPr id="29" name="Rounded Rectangle 28"/>
          <p:cNvSpPr/>
          <p:nvPr/>
        </p:nvSpPr>
        <p:spPr>
          <a:xfrm>
            <a:off x="4320021" y="3364991"/>
            <a:ext cx="3551925" cy="1335024"/>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4320021" y="3364991"/>
            <a:ext cx="3551925" cy="45720"/>
          </a:xfrm>
          <a:prstGeom prst="rect">
            <a:avLst/>
          </a:prstGeom>
          <a:solidFill>
            <a:srgbClr val="2EC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576053" y="3602735"/>
            <a:ext cx="3094725" cy="274320"/>
          </a:xfrm>
          <a:prstGeom prst="rect">
            <a:avLst/>
          </a:prstGeom>
          <a:noFill/>
        </p:spPr>
        <p:txBody>
          <a:bodyPr wrap="square" lIns="0" rIns="0" tIns="0" bIns="0" anchor="t">
            <a:spAutoFit/>
          </a:bodyPr>
          <a:lstStyle/>
          <a:p>
            <a:pPr algn="l">
              <a:lnSpc>
                <a:spcPct val="115000"/>
              </a:lnSpc>
            </a:pPr>
            <a:r>
              <a:rPr sz="1700" b="1" i="0">
                <a:solidFill>
                  <a:srgbClr val="FFFFFF"/>
                </a:solidFill>
                <a:latin typeface="Arial"/>
              </a:rPr>
              <a:t>Duration</a:t>
            </a:r>
          </a:p>
        </p:txBody>
      </p:sp>
      <p:sp>
        <p:nvSpPr>
          <p:cNvPr id="32" name="TextBox 31"/>
          <p:cNvSpPr txBox="1"/>
          <p:nvPr/>
        </p:nvSpPr>
        <p:spPr>
          <a:xfrm>
            <a:off x="4576053" y="3931920"/>
            <a:ext cx="3094725" cy="274320"/>
          </a:xfrm>
          <a:prstGeom prst="rect">
            <a:avLst/>
          </a:prstGeom>
          <a:noFill/>
        </p:spPr>
        <p:txBody>
          <a:bodyPr wrap="square" lIns="0" rIns="0" tIns="0" bIns="0" anchor="t">
            <a:spAutoFit/>
          </a:bodyPr>
          <a:lstStyle/>
          <a:p>
            <a:pPr algn="l">
              <a:lnSpc>
                <a:spcPct val="125000"/>
              </a:lnSpc>
            </a:pPr>
            <a:r>
              <a:rPr sz="1180" b="0" i="0">
                <a:solidFill>
                  <a:srgbClr val="E7ECF4"/>
                </a:solidFill>
                <a:latin typeface="Arial"/>
              </a:rPr>
              <a:t>How long a continuous appearance lasts.</a:t>
            </a:r>
          </a:p>
        </p:txBody>
      </p:sp>
      <p:sp>
        <p:nvSpPr>
          <p:cNvPr id="33" name="TextBox 32"/>
          <p:cNvSpPr txBox="1"/>
          <p:nvPr/>
        </p:nvSpPr>
        <p:spPr>
          <a:xfrm>
            <a:off x="4576053" y="4279392"/>
            <a:ext cx="3094725" cy="384048"/>
          </a:xfrm>
          <a:prstGeom prst="rect">
            <a:avLst/>
          </a:prstGeom>
          <a:noFill/>
        </p:spPr>
        <p:txBody>
          <a:bodyPr wrap="square" lIns="0" rIns="0" tIns="0" bIns="0" anchor="t">
            <a:spAutoFit/>
          </a:bodyPr>
          <a:lstStyle/>
          <a:p>
            <a:pPr algn="l">
              <a:lnSpc>
                <a:spcPct val="128000"/>
              </a:lnSpc>
            </a:pPr>
            <a:r>
              <a:rPr sz="1000" b="0" i="0">
                <a:solidFill>
                  <a:srgbClr val="8D9AB0"/>
                </a:solidFill>
                <a:latin typeface="Arial"/>
              </a:rPr>
              <a:t>Under 1s counts half; over 5s counts 1.2× — sustained exposure is worth more.</a:t>
            </a:r>
          </a:p>
        </p:txBody>
      </p:sp>
      <p:sp>
        <p:nvSpPr>
          <p:cNvPr id="34" name="Rounded Rectangle 33"/>
          <p:cNvSpPr/>
          <p:nvPr/>
        </p:nvSpPr>
        <p:spPr>
          <a:xfrm>
            <a:off x="8073115" y="3364991"/>
            <a:ext cx="3551925" cy="1335024"/>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8073115" y="3364991"/>
            <a:ext cx="3551925" cy="4572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329147" y="3602735"/>
            <a:ext cx="3094725" cy="274320"/>
          </a:xfrm>
          <a:prstGeom prst="rect">
            <a:avLst/>
          </a:prstGeom>
          <a:noFill/>
        </p:spPr>
        <p:txBody>
          <a:bodyPr wrap="square" lIns="0" rIns="0" tIns="0" bIns="0" anchor="t">
            <a:spAutoFit/>
          </a:bodyPr>
          <a:lstStyle/>
          <a:p>
            <a:pPr algn="l">
              <a:lnSpc>
                <a:spcPct val="115000"/>
              </a:lnSpc>
            </a:pPr>
            <a:r>
              <a:rPr sz="1700" b="1" i="0">
                <a:solidFill>
                  <a:srgbClr val="FFFFFF"/>
                </a:solidFill>
                <a:latin typeface="Arial"/>
              </a:rPr>
              <a:t>Frequency</a:t>
            </a:r>
          </a:p>
        </p:txBody>
      </p:sp>
      <p:sp>
        <p:nvSpPr>
          <p:cNvPr id="37" name="TextBox 36"/>
          <p:cNvSpPr txBox="1"/>
          <p:nvPr/>
        </p:nvSpPr>
        <p:spPr>
          <a:xfrm>
            <a:off x="8329147" y="3931920"/>
            <a:ext cx="3094725" cy="274320"/>
          </a:xfrm>
          <a:prstGeom prst="rect">
            <a:avLst/>
          </a:prstGeom>
          <a:noFill/>
        </p:spPr>
        <p:txBody>
          <a:bodyPr wrap="square" lIns="0" rIns="0" tIns="0" bIns="0" anchor="t">
            <a:spAutoFit/>
          </a:bodyPr>
          <a:lstStyle/>
          <a:p>
            <a:pPr algn="l">
              <a:lnSpc>
                <a:spcPct val="125000"/>
              </a:lnSpc>
            </a:pPr>
            <a:r>
              <a:rPr sz="1180" b="0" i="0">
                <a:solidFill>
                  <a:srgbClr val="E7ECF4"/>
                </a:solidFill>
                <a:latin typeface="Arial"/>
              </a:rPr>
              <a:t>How many separate times it appears.</a:t>
            </a:r>
          </a:p>
        </p:txBody>
      </p:sp>
      <p:sp>
        <p:nvSpPr>
          <p:cNvPr id="38" name="TextBox 37"/>
          <p:cNvSpPr txBox="1"/>
          <p:nvPr/>
        </p:nvSpPr>
        <p:spPr>
          <a:xfrm>
            <a:off x="8329147" y="4279392"/>
            <a:ext cx="3094725" cy="384048"/>
          </a:xfrm>
          <a:prstGeom prst="rect">
            <a:avLst/>
          </a:prstGeom>
          <a:noFill/>
        </p:spPr>
        <p:txBody>
          <a:bodyPr wrap="square" lIns="0" rIns="0" tIns="0" bIns="0" anchor="t">
            <a:spAutoFit/>
          </a:bodyPr>
          <a:lstStyle/>
          <a:p>
            <a:pPr algn="l">
              <a:lnSpc>
                <a:spcPct val="128000"/>
              </a:lnSpc>
            </a:pPr>
            <a:r>
              <a:rPr sz="1000" b="0" i="0">
                <a:solidFill>
                  <a:srgbClr val="8D9AB0"/>
                </a:solidFill>
                <a:latin typeface="Arial"/>
              </a:rPr>
              <a:t>Segments are counted separately, so repeat exposure accumulates.</a:t>
            </a:r>
          </a:p>
        </p:txBody>
      </p:sp>
      <p:sp>
        <p:nvSpPr>
          <p:cNvPr id="39" name="Rounded Rectangle 38"/>
          <p:cNvSpPr/>
          <p:nvPr/>
        </p:nvSpPr>
        <p:spPr>
          <a:xfrm>
            <a:off x="566928" y="4974336"/>
            <a:ext cx="11058113" cy="932688"/>
          </a:xfrm>
          <a:prstGeom prst="roundRect">
            <a:avLst>
              <a:gd name="adj" fmla="val 3500"/>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59536" y="5138928"/>
            <a:ext cx="10509473" cy="256032"/>
          </a:xfrm>
          <a:prstGeom prst="rect">
            <a:avLst/>
          </a:prstGeom>
          <a:noFill/>
        </p:spPr>
        <p:txBody>
          <a:bodyPr wrap="square" lIns="0" rIns="0" tIns="0" bIns="0" anchor="t">
            <a:spAutoFit/>
          </a:bodyPr>
          <a:lstStyle/>
          <a:p>
            <a:pPr algn="l">
              <a:lnSpc>
                <a:spcPct val="115000"/>
              </a:lnSpc>
            </a:pPr>
            <a:r>
              <a:rPr sz="1420" b="1" i="0">
                <a:solidFill>
                  <a:srgbClr val="FFFFFF"/>
                </a:solidFill>
                <a:latin typeface="Arial"/>
              </a:rPr>
              <a:t>Visibility of one appearance  =  Size  ×  Position  ×  Clarity  ×  Orientation  ×  Duration weight  ×  seconds on screen</a:t>
            </a:r>
          </a:p>
        </p:txBody>
      </p:sp>
      <p:sp>
        <p:nvSpPr>
          <p:cNvPr id="41" name="TextBox 40"/>
          <p:cNvSpPr txBox="1"/>
          <p:nvPr/>
        </p:nvSpPr>
        <p:spPr>
          <a:xfrm>
            <a:off x="859536" y="5468112"/>
            <a:ext cx="10509473" cy="274320"/>
          </a:xfrm>
          <a:prstGeom prst="rect">
            <a:avLst/>
          </a:prstGeom>
          <a:noFill/>
        </p:spPr>
        <p:txBody>
          <a:bodyPr wrap="square" lIns="0" rIns="0" tIns="0" bIns="0" anchor="t">
            <a:spAutoFit/>
          </a:bodyPr>
          <a:lstStyle/>
          <a:p>
            <a:pPr algn="l">
              <a:lnSpc>
                <a:spcPct val="130000"/>
              </a:lnSpc>
            </a:pPr>
            <a:r>
              <a:rPr sz="1060" b="0" i="0">
                <a:solidFill>
                  <a:srgbClr val="8D9AB0"/>
                </a:solidFill>
                <a:latin typeface="Arial"/>
              </a:rPr>
              <a:t>An asset's percentage is its share of the total quality-weighted exposure across the whole match. The individual factors are stored per detection, so any one of them can be switched off and the percentages recalculate instantly.</a:t>
            </a:r>
          </a:p>
        </p:txBody>
      </p:sp>
      <p:sp>
        <p:nvSpPr>
          <p:cNvPr id="42" name="TextBox 41"/>
          <p:cNvSpPr txBox="1"/>
          <p:nvPr/>
        </p:nvSpPr>
        <p:spPr>
          <a:xfrm>
            <a:off x="10984961" y="6382512"/>
            <a:ext cx="640080" cy="237744"/>
          </a:xfrm>
          <a:prstGeom prst="rect">
            <a:avLst/>
          </a:prstGeom>
          <a:noFill/>
        </p:spPr>
        <p:txBody>
          <a:bodyPr wrap="square" lIns="0" rIns="0" tIns="0" bIns="0" anchor="t">
            <a:spAutoFit/>
          </a:bodyPr>
          <a:lstStyle/>
          <a:p>
            <a:pPr algn="r">
              <a:lnSpc>
                <a:spcPct val="115000"/>
              </a:lnSpc>
            </a:pPr>
            <a:r>
              <a:rPr sz="1000" b="0" i="0">
                <a:solidFill>
                  <a:srgbClr val="5E6C8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409" cy="6949440"/>
          </a:xfrm>
          <a:prstGeom prst="rect">
            <a:avLst/>
          </a:prstGeom>
          <a:solidFill>
            <a:srgbClr val="0D1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7071342" cy="50292"/>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071342" y="0"/>
            <a:ext cx="2682233" cy="50292"/>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753575" y="0"/>
            <a:ext cx="2438393" cy="50292"/>
          </a:xfrm>
          <a:prstGeom prst="rect">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402336"/>
            <a:ext cx="11058113" cy="237744"/>
          </a:xfrm>
          <a:prstGeom prst="rect">
            <a:avLst/>
          </a:prstGeom>
          <a:noFill/>
        </p:spPr>
        <p:txBody>
          <a:bodyPr wrap="square" lIns="0" rIns="0" tIns="0" bIns="0" anchor="t">
            <a:spAutoFit/>
          </a:bodyPr>
          <a:lstStyle/>
          <a:p>
            <a:pPr algn="l">
              <a:lnSpc>
                <a:spcPct val="115000"/>
              </a:lnSpc>
            </a:pPr>
            <a:r>
              <a:rPr sz="1050" b="1" i="0" spc="180">
                <a:solidFill>
                  <a:srgbClr val="FFC20E"/>
                </a:solidFill>
                <a:latin typeface="Arial"/>
              </a:rPr>
              <a:t>HEADLINE COMPARISON</a:t>
            </a:r>
          </a:p>
        </p:txBody>
      </p:sp>
      <p:sp>
        <p:nvSpPr>
          <p:cNvPr id="7" name="TextBox 6"/>
          <p:cNvSpPr txBox="1"/>
          <p:nvPr/>
        </p:nvSpPr>
        <p:spPr>
          <a:xfrm>
            <a:off x="566928" y="676656"/>
            <a:ext cx="11058113" cy="566928"/>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Measured visibility against club allocation</a:t>
            </a:r>
          </a:p>
        </p:txBody>
      </p:sp>
      <p:sp>
        <p:nvSpPr>
          <p:cNvPr id="8" name="TextBox 7"/>
          <p:cNvSpPr txBox="1"/>
          <p:nvPr/>
        </p:nvSpPr>
        <p:spPr>
          <a:xfrm>
            <a:off x="566928" y="1280160"/>
            <a:ext cx="9509977" cy="274320"/>
          </a:xfrm>
          <a:prstGeom prst="rect">
            <a:avLst/>
          </a:prstGeom>
          <a:noFill/>
        </p:spPr>
        <p:txBody>
          <a:bodyPr wrap="square" lIns="0" rIns="0" tIns="0" bIns="0" anchor="t">
            <a:spAutoFit/>
          </a:bodyPr>
          <a:lstStyle/>
          <a:p>
            <a:pPr algn="l">
              <a:lnSpc>
                <a:spcPct val="120000"/>
              </a:lnSpc>
            </a:pPr>
            <a:r>
              <a:rPr sz="1300" b="0" i="0">
                <a:solidFill>
                  <a:srgbClr val="8D9AB0"/>
                </a:solidFill>
                <a:latin typeface="Arial"/>
              </a:rPr>
              <a:t>All 16 shirt assets, ranked by how much broadcast exposure they actually received across the two matches.</a:t>
            </a:r>
          </a:p>
        </p:txBody>
      </p:sp>
      <p:pic>
        <p:nvPicPr>
          <p:cNvPr id="9" name="Picture 8" descr="c1_dumbbell.png"/>
          <p:cNvPicPr>
            <a:picLocks noChangeAspect="1"/>
          </p:cNvPicPr>
          <p:nvPr/>
        </p:nvPicPr>
        <p:blipFill>
          <a:blip r:embed="rId2"/>
          <a:stretch>
            <a:fillRect/>
          </a:stretch>
        </p:blipFill>
        <p:spPr>
          <a:xfrm>
            <a:off x="475488" y="1700784"/>
            <a:ext cx="8183879" cy="4297256"/>
          </a:xfrm>
          <a:prstGeom prst="rect">
            <a:avLst/>
          </a:prstGeom>
        </p:spPr>
      </p:pic>
      <p:sp>
        <p:nvSpPr>
          <p:cNvPr id="10" name="Rounded Rectangle 9"/>
          <p:cNvSpPr/>
          <p:nvPr/>
        </p:nvSpPr>
        <p:spPr>
          <a:xfrm>
            <a:off x="8887968" y="1755648"/>
            <a:ext cx="2737073" cy="1874519"/>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887968" y="1755648"/>
            <a:ext cx="2737073" cy="45720"/>
          </a:xfrm>
          <a:prstGeom prst="rect">
            <a:avLst/>
          </a:prstGeom>
          <a:solidFill>
            <a:srgbClr val="2EC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25712" y="1975104"/>
            <a:ext cx="2926080" cy="237744"/>
          </a:xfrm>
          <a:prstGeom prst="rect">
            <a:avLst/>
          </a:prstGeom>
          <a:noFill/>
        </p:spPr>
        <p:txBody>
          <a:bodyPr wrap="square" lIns="0" rIns="0" tIns="0" bIns="0" anchor="t">
            <a:spAutoFit/>
          </a:bodyPr>
          <a:lstStyle/>
          <a:p>
            <a:pPr algn="l">
              <a:lnSpc>
                <a:spcPct val="115000"/>
              </a:lnSpc>
            </a:pPr>
            <a:r>
              <a:rPr sz="1000" b="1" i="0" spc="140">
                <a:solidFill>
                  <a:srgbClr val="2ECC8F"/>
                </a:solidFill>
                <a:latin typeface="Arial"/>
              </a:rPr>
              <a:t>MEASURED ABOVE PRICE</a:t>
            </a:r>
          </a:p>
        </p:txBody>
      </p:sp>
      <p:sp>
        <p:nvSpPr>
          <p:cNvPr id="13" name="TextBox 12"/>
          <p:cNvSpPr txBox="1"/>
          <p:nvPr/>
        </p:nvSpPr>
        <p:spPr>
          <a:xfrm>
            <a:off x="9125712" y="2286000"/>
            <a:ext cx="2926080" cy="1188720"/>
          </a:xfrm>
          <a:prstGeom prst="rect">
            <a:avLst/>
          </a:prstGeom>
          <a:noFill/>
        </p:spPr>
        <p:txBody>
          <a:bodyPr wrap="square" lIns="0" rIns="0" tIns="0" bIns="0" anchor="t">
            <a:spAutoFit/>
          </a:bodyPr>
          <a:lstStyle/>
          <a:p>
            <a:pPr algn="l">
              <a:lnSpc>
                <a:spcPct val="134000"/>
              </a:lnSpc>
            </a:pPr>
            <a:r>
              <a:rPr sz="1200" b="0" i="0">
                <a:solidFill>
                  <a:srgbClr val="E7ECF4"/>
                </a:solidFill>
                <a:latin typeface="Arial"/>
              </a:rPr>
              <a:t>KLG, Bartercard and the whole shorts block deliver far more screen time than their share of the price suggests.</a:t>
            </a:r>
          </a:p>
        </p:txBody>
      </p:sp>
      <p:sp>
        <p:nvSpPr>
          <p:cNvPr id="14" name="Rounded Rectangle 13"/>
          <p:cNvSpPr/>
          <p:nvPr/>
        </p:nvSpPr>
        <p:spPr>
          <a:xfrm>
            <a:off x="8887968" y="3785615"/>
            <a:ext cx="2737073" cy="1874519"/>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8887968" y="3785615"/>
            <a:ext cx="2737073" cy="45720"/>
          </a:xfrm>
          <a:prstGeom prst="rect">
            <a:avLst/>
          </a:prstGeom>
          <a:solidFill>
            <a:srgbClr val="4AA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25712" y="4005072"/>
            <a:ext cx="2926080" cy="237744"/>
          </a:xfrm>
          <a:prstGeom prst="rect">
            <a:avLst/>
          </a:prstGeom>
          <a:noFill/>
        </p:spPr>
        <p:txBody>
          <a:bodyPr wrap="square" lIns="0" rIns="0" tIns="0" bIns="0" anchor="t">
            <a:spAutoFit/>
          </a:bodyPr>
          <a:lstStyle/>
          <a:p>
            <a:pPr algn="l">
              <a:lnSpc>
                <a:spcPct val="115000"/>
              </a:lnSpc>
            </a:pPr>
            <a:r>
              <a:rPr sz="1000" b="1" i="0" spc="140">
                <a:solidFill>
                  <a:srgbClr val="4AA8E8"/>
                </a:solidFill>
                <a:latin typeface="Arial"/>
              </a:rPr>
              <a:t>PRICE ABOVE MEASURED</a:t>
            </a:r>
          </a:p>
        </p:txBody>
      </p:sp>
      <p:sp>
        <p:nvSpPr>
          <p:cNvPr id="17" name="TextBox 16"/>
          <p:cNvSpPr txBox="1"/>
          <p:nvPr/>
        </p:nvSpPr>
        <p:spPr>
          <a:xfrm>
            <a:off x="9125712" y="4315968"/>
            <a:ext cx="2926080" cy="1188720"/>
          </a:xfrm>
          <a:prstGeom prst="rect">
            <a:avLst/>
          </a:prstGeom>
          <a:noFill/>
        </p:spPr>
        <p:txBody>
          <a:bodyPr wrap="square" lIns="0" rIns="0" tIns="0" bIns="0" anchor="t">
            <a:spAutoFit/>
          </a:bodyPr>
          <a:lstStyle/>
          <a:p>
            <a:pPr algn="l">
              <a:lnSpc>
                <a:spcPct val="134000"/>
              </a:lnSpc>
            </a:pPr>
            <a:r>
              <a:rPr sz="1200" b="0" i="0">
                <a:solidFill>
                  <a:srgbClr val="E7ECF4"/>
                </a:solidFill>
                <a:latin typeface="Arial"/>
              </a:rPr>
              <a:t>Top Notch, ATM Hospitality and the collar marks carry a premium that broadcast visibility alone does not explain.</a:t>
            </a:r>
          </a:p>
        </p:txBody>
      </p:sp>
      <p:sp>
        <p:nvSpPr>
          <p:cNvPr id="18" name="TextBox 17"/>
          <p:cNvSpPr txBox="1"/>
          <p:nvPr/>
        </p:nvSpPr>
        <p:spPr>
          <a:xfrm>
            <a:off x="566928" y="6382512"/>
            <a:ext cx="10509473" cy="274320"/>
          </a:xfrm>
          <a:prstGeom prst="rect">
            <a:avLst/>
          </a:prstGeom>
          <a:noFill/>
        </p:spPr>
        <p:txBody>
          <a:bodyPr wrap="square" lIns="0" rIns="0" tIns="0" bIns="0" anchor="t">
            <a:spAutoFit/>
          </a:bodyPr>
          <a:lstStyle/>
          <a:p>
            <a:pPr algn="l">
              <a:lnSpc>
                <a:spcPct val="125000"/>
              </a:lnSpc>
            </a:pPr>
            <a:r>
              <a:rPr sz="860" b="0" i="0">
                <a:solidFill>
                  <a:srgbClr val="5E6C82"/>
                </a:solidFill>
                <a:latin typeface="Arial"/>
              </a:rPr>
              <a:t>Source: LogoLens full-match analysis of two complete Bradford Bulls broadcasts (home kit 2025/26), sampled at 2 frames per second. Club allocation = current management percentage; it totals 95%, LogoLens totals 100%.</a:t>
            </a:r>
          </a:p>
        </p:txBody>
      </p:sp>
      <p:sp>
        <p:nvSpPr>
          <p:cNvPr id="19" name="TextBox 18"/>
          <p:cNvSpPr txBox="1"/>
          <p:nvPr/>
        </p:nvSpPr>
        <p:spPr>
          <a:xfrm>
            <a:off x="10984961" y="6382512"/>
            <a:ext cx="640080" cy="237744"/>
          </a:xfrm>
          <a:prstGeom prst="rect">
            <a:avLst/>
          </a:prstGeom>
          <a:noFill/>
        </p:spPr>
        <p:txBody>
          <a:bodyPr wrap="square" lIns="0" rIns="0" tIns="0" bIns="0" anchor="t">
            <a:spAutoFit/>
          </a:bodyPr>
          <a:lstStyle/>
          <a:p>
            <a:pPr algn="r">
              <a:lnSpc>
                <a:spcPct val="115000"/>
              </a:lnSpc>
            </a:pPr>
            <a:r>
              <a:rPr sz="1000" b="0" i="0">
                <a:solidFill>
                  <a:srgbClr val="5E6C8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409" cy="6949440"/>
          </a:xfrm>
          <a:prstGeom prst="rect">
            <a:avLst/>
          </a:prstGeom>
          <a:solidFill>
            <a:srgbClr val="0D1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7071342" cy="50292"/>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071342" y="0"/>
            <a:ext cx="2682233" cy="50292"/>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753575" y="0"/>
            <a:ext cx="2438393" cy="50292"/>
          </a:xfrm>
          <a:prstGeom prst="rect">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402336"/>
            <a:ext cx="11058113" cy="237744"/>
          </a:xfrm>
          <a:prstGeom prst="rect">
            <a:avLst/>
          </a:prstGeom>
          <a:noFill/>
        </p:spPr>
        <p:txBody>
          <a:bodyPr wrap="square" lIns="0" rIns="0" tIns="0" bIns="0" anchor="t">
            <a:spAutoFit/>
          </a:bodyPr>
          <a:lstStyle/>
          <a:p>
            <a:pPr algn="l">
              <a:lnSpc>
                <a:spcPct val="115000"/>
              </a:lnSpc>
            </a:pPr>
            <a:r>
              <a:rPr sz="1050" b="1" i="0" spc="180">
                <a:solidFill>
                  <a:srgbClr val="FFC20E"/>
                </a:solidFill>
                <a:latin typeface="Arial"/>
              </a:rPr>
              <a:t>WHERE THE MONEY SITS</a:t>
            </a:r>
          </a:p>
        </p:txBody>
      </p:sp>
      <p:sp>
        <p:nvSpPr>
          <p:cNvPr id="7" name="TextBox 6"/>
          <p:cNvSpPr txBox="1"/>
          <p:nvPr/>
        </p:nvSpPr>
        <p:spPr>
          <a:xfrm>
            <a:off x="566928" y="676656"/>
            <a:ext cx="11058113" cy="566928"/>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The size of each gap, in percentage points</a:t>
            </a:r>
          </a:p>
        </p:txBody>
      </p:sp>
      <p:sp>
        <p:nvSpPr>
          <p:cNvPr id="8" name="TextBox 7"/>
          <p:cNvSpPr txBox="1"/>
          <p:nvPr/>
        </p:nvSpPr>
        <p:spPr>
          <a:xfrm>
            <a:off x="566928" y="1280160"/>
            <a:ext cx="9509977" cy="274320"/>
          </a:xfrm>
          <a:prstGeom prst="rect">
            <a:avLst/>
          </a:prstGeom>
          <a:noFill/>
        </p:spPr>
        <p:txBody>
          <a:bodyPr wrap="square" lIns="0" rIns="0" tIns="0" bIns="0" anchor="t">
            <a:spAutoFit/>
          </a:bodyPr>
          <a:lstStyle/>
          <a:p>
            <a:pPr algn="l">
              <a:lnSpc>
                <a:spcPct val="120000"/>
              </a:lnSpc>
            </a:pPr>
            <a:r>
              <a:rPr sz="1300" b="0" i="0">
                <a:solidFill>
                  <a:srgbClr val="8D9AB0"/>
                </a:solidFill>
                <a:latin typeface="Arial"/>
              </a:rPr>
              <a:t>Positive = the asset delivers more broadcast visibility than its price implies.</a:t>
            </a:r>
          </a:p>
        </p:txBody>
      </p:sp>
      <p:pic>
        <p:nvPicPr>
          <p:cNvPr id="9" name="Picture 8" descr="c2_gaps.png"/>
          <p:cNvPicPr>
            <a:picLocks noChangeAspect="1"/>
          </p:cNvPicPr>
          <p:nvPr/>
        </p:nvPicPr>
        <p:blipFill>
          <a:blip r:embed="rId2"/>
          <a:stretch>
            <a:fillRect/>
          </a:stretch>
        </p:blipFill>
        <p:spPr>
          <a:xfrm>
            <a:off x="521207" y="1719072"/>
            <a:ext cx="5074920" cy="4197382"/>
          </a:xfrm>
          <a:prstGeom prst="rect">
            <a:avLst/>
          </a:prstGeom>
        </p:spPr>
      </p:pic>
      <p:sp>
        <p:nvSpPr>
          <p:cNvPr id="10" name="Rounded Rectangle 9"/>
          <p:cNvSpPr/>
          <p:nvPr/>
        </p:nvSpPr>
        <p:spPr>
          <a:xfrm>
            <a:off x="5779008" y="1773936"/>
            <a:ext cx="5846033" cy="987552"/>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779008" y="1865376"/>
            <a:ext cx="50292" cy="804672"/>
          </a:xfrm>
          <a:prstGeom prst="rect">
            <a:avLst/>
          </a:prstGeom>
          <a:solidFill>
            <a:srgbClr val="2EC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035040" y="1901952"/>
            <a:ext cx="3931920" cy="219456"/>
          </a:xfrm>
          <a:prstGeom prst="rect">
            <a:avLst/>
          </a:prstGeom>
          <a:noFill/>
        </p:spPr>
        <p:txBody>
          <a:bodyPr wrap="square" lIns="0" rIns="0" tIns="0" bIns="0" anchor="t">
            <a:spAutoFit/>
          </a:bodyPr>
          <a:lstStyle/>
          <a:p>
            <a:pPr algn="l">
              <a:lnSpc>
                <a:spcPct val="115000"/>
              </a:lnSpc>
            </a:pPr>
            <a:r>
              <a:rPr sz="1100" b="1" i="0">
                <a:solidFill>
                  <a:srgbClr val="8D9AB0"/>
                </a:solidFill>
                <a:latin typeface="Arial"/>
              </a:rPr>
              <a:t>KLG  ·  Top back of shorts</a:t>
            </a:r>
          </a:p>
        </p:txBody>
      </p:sp>
      <p:sp>
        <p:nvSpPr>
          <p:cNvPr id="13" name="TextBox 12"/>
          <p:cNvSpPr txBox="1"/>
          <p:nvPr/>
        </p:nvSpPr>
        <p:spPr>
          <a:xfrm>
            <a:off x="6035040" y="2157984"/>
            <a:ext cx="1645920" cy="365760"/>
          </a:xfrm>
          <a:prstGeom prst="rect">
            <a:avLst/>
          </a:prstGeom>
          <a:noFill/>
        </p:spPr>
        <p:txBody>
          <a:bodyPr wrap="square" lIns="0" rIns="0" tIns="0" bIns="0" anchor="t">
            <a:spAutoFit/>
          </a:bodyPr>
          <a:lstStyle/>
          <a:p>
            <a:pPr algn="l">
              <a:lnSpc>
                <a:spcPct val="115000"/>
              </a:lnSpc>
            </a:pPr>
            <a:r>
              <a:rPr sz="2300" b="1" i="0">
                <a:solidFill>
                  <a:srgbClr val="2ECC8F"/>
                </a:solidFill>
                <a:latin typeface="Arial"/>
              </a:rPr>
              <a:t>+18.3 pp</a:t>
            </a:r>
          </a:p>
        </p:txBody>
      </p:sp>
      <p:sp>
        <p:nvSpPr>
          <p:cNvPr id="14" name="TextBox 13"/>
          <p:cNvSpPr txBox="1"/>
          <p:nvPr/>
        </p:nvSpPr>
        <p:spPr>
          <a:xfrm>
            <a:off x="7790688" y="2139696"/>
            <a:ext cx="3560033" cy="566928"/>
          </a:xfrm>
          <a:prstGeom prst="rect">
            <a:avLst/>
          </a:prstGeom>
          <a:noFill/>
        </p:spPr>
        <p:txBody>
          <a:bodyPr wrap="square" lIns="0" rIns="0" tIns="0" bIns="0" anchor="t">
            <a:spAutoFit/>
          </a:bodyPr>
          <a:lstStyle/>
          <a:p>
            <a:pPr algn="l">
              <a:lnSpc>
                <a:spcPct val="126000"/>
              </a:lnSpc>
            </a:pPr>
            <a:r>
              <a:rPr sz="1040" b="0" i="0">
                <a:solidFill>
                  <a:srgbClr val="E7ECF4"/>
                </a:solidFill>
                <a:latin typeface="Arial"/>
              </a:rPr>
              <a:t>23.3% of measured visibility, 5% of the price. The single largest commercial gap on the kit.</a:t>
            </a:r>
          </a:p>
        </p:txBody>
      </p:sp>
      <p:sp>
        <p:nvSpPr>
          <p:cNvPr id="15" name="Rounded Rectangle 14"/>
          <p:cNvSpPr/>
          <p:nvPr/>
        </p:nvSpPr>
        <p:spPr>
          <a:xfrm>
            <a:off x="5779008" y="2889504"/>
            <a:ext cx="5846033" cy="987552"/>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779008" y="2980944"/>
            <a:ext cx="50292" cy="804672"/>
          </a:xfrm>
          <a:prstGeom prst="rect">
            <a:avLst/>
          </a:prstGeom>
          <a:solidFill>
            <a:srgbClr val="2EC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035040" y="3017520"/>
            <a:ext cx="3931920" cy="219456"/>
          </a:xfrm>
          <a:prstGeom prst="rect">
            <a:avLst/>
          </a:prstGeom>
          <a:noFill/>
        </p:spPr>
        <p:txBody>
          <a:bodyPr wrap="square" lIns="0" rIns="0" tIns="0" bIns="0" anchor="t">
            <a:spAutoFit/>
          </a:bodyPr>
          <a:lstStyle/>
          <a:p>
            <a:pPr algn="l">
              <a:lnSpc>
                <a:spcPct val="115000"/>
              </a:lnSpc>
            </a:pPr>
            <a:r>
              <a:rPr sz="1100" b="1" i="0">
                <a:solidFill>
                  <a:srgbClr val="8D9AB0"/>
                </a:solidFill>
                <a:latin typeface="Arial"/>
              </a:rPr>
              <a:t>Bartercard  ·  Sleeve 3</a:t>
            </a:r>
          </a:p>
        </p:txBody>
      </p:sp>
      <p:sp>
        <p:nvSpPr>
          <p:cNvPr id="18" name="TextBox 17"/>
          <p:cNvSpPr txBox="1"/>
          <p:nvPr/>
        </p:nvSpPr>
        <p:spPr>
          <a:xfrm>
            <a:off x="6035040" y="3273552"/>
            <a:ext cx="1645920" cy="365760"/>
          </a:xfrm>
          <a:prstGeom prst="rect">
            <a:avLst/>
          </a:prstGeom>
          <a:noFill/>
        </p:spPr>
        <p:txBody>
          <a:bodyPr wrap="square" lIns="0" rIns="0" tIns="0" bIns="0" anchor="t">
            <a:spAutoFit/>
          </a:bodyPr>
          <a:lstStyle/>
          <a:p>
            <a:pPr algn="l">
              <a:lnSpc>
                <a:spcPct val="115000"/>
              </a:lnSpc>
            </a:pPr>
            <a:r>
              <a:rPr sz="2300" b="1" i="0">
                <a:solidFill>
                  <a:srgbClr val="2ECC8F"/>
                </a:solidFill>
                <a:latin typeface="Arial"/>
              </a:rPr>
              <a:t>+9.6 pp</a:t>
            </a:r>
          </a:p>
        </p:txBody>
      </p:sp>
      <p:sp>
        <p:nvSpPr>
          <p:cNvPr id="19" name="TextBox 18"/>
          <p:cNvSpPr txBox="1"/>
          <p:nvPr/>
        </p:nvSpPr>
        <p:spPr>
          <a:xfrm>
            <a:off x="7790688" y="3255264"/>
            <a:ext cx="3560033" cy="566928"/>
          </a:xfrm>
          <a:prstGeom prst="rect">
            <a:avLst/>
          </a:prstGeom>
          <a:noFill/>
        </p:spPr>
        <p:txBody>
          <a:bodyPr wrap="square" lIns="0" rIns="0" tIns="0" bIns="0" anchor="t">
            <a:spAutoFit/>
          </a:bodyPr>
          <a:lstStyle/>
          <a:p>
            <a:pPr algn="l">
              <a:lnSpc>
                <a:spcPct val="126000"/>
              </a:lnSpc>
            </a:pPr>
            <a:r>
              <a:rPr sz="1040" b="0" i="0">
                <a:solidFill>
                  <a:srgbClr val="E7ECF4"/>
                </a:solidFill>
                <a:latin typeface="Arial"/>
              </a:rPr>
              <a:t>13.6% measured against 4% priced — the sleeve that sits toward camera in contact.</a:t>
            </a:r>
          </a:p>
        </p:txBody>
      </p:sp>
      <p:sp>
        <p:nvSpPr>
          <p:cNvPr id="20" name="Rounded Rectangle 19"/>
          <p:cNvSpPr/>
          <p:nvPr/>
        </p:nvSpPr>
        <p:spPr>
          <a:xfrm>
            <a:off x="5779008" y="4005072"/>
            <a:ext cx="5846033" cy="987552"/>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779008" y="4096511"/>
            <a:ext cx="50292" cy="804672"/>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035040" y="4133087"/>
            <a:ext cx="3931920" cy="219456"/>
          </a:xfrm>
          <a:prstGeom prst="rect">
            <a:avLst/>
          </a:prstGeom>
          <a:noFill/>
        </p:spPr>
        <p:txBody>
          <a:bodyPr wrap="square" lIns="0" rIns="0" tIns="0" bIns="0" anchor="t">
            <a:spAutoFit/>
          </a:bodyPr>
          <a:lstStyle/>
          <a:p>
            <a:pPr algn="l">
              <a:lnSpc>
                <a:spcPct val="115000"/>
              </a:lnSpc>
            </a:pPr>
            <a:r>
              <a:rPr sz="1100" b="1" i="0">
                <a:solidFill>
                  <a:srgbClr val="8D9AB0"/>
                </a:solidFill>
                <a:latin typeface="Arial"/>
              </a:rPr>
              <a:t>Top Notch  ·  Main sponsor</a:t>
            </a:r>
          </a:p>
        </p:txBody>
      </p:sp>
      <p:sp>
        <p:nvSpPr>
          <p:cNvPr id="23" name="TextBox 22"/>
          <p:cNvSpPr txBox="1"/>
          <p:nvPr/>
        </p:nvSpPr>
        <p:spPr>
          <a:xfrm>
            <a:off x="6035040" y="4389120"/>
            <a:ext cx="1645920" cy="365760"/>
          </a:xfrm>
          <a:prstGeom prst="rect">
            <a:avLst/>
          </a:prstGeom>
          <a:noFill/>
        </p:spPr>
        <p:txBody>
          <a:bodyPr wrap="square" lIns="0" rIns="0" tIns="0" bIns="0" anchor="t">
            <a:spAutoFit/>
          </a:bodyPr>
          <a:lstStyle/>
          <a:p>
            <a:pPr algn="l">
              <a:lnSpc>
                <a:spcPct val="115000"/>
              </a:lnSpc>
            </a:pPr>
            <a:r>
              <a:rPr sz="2300" b="1" i="0">
                <a:solidFill>
                  <a:srgbClr val="E4002B"/>
                </a:solidFill>
                <a:latin typeface="Arial"/>
              </a:rPr>
              <a:t>−14.7 pp</a:t>
            </a:r>
          </a:p>
        </p:txBody>
      </p:sp>
      <p:sp>
        <p:nvSpPr>
          <p:cNvPr id="24" name="TextBox 23"/>
          <p:cNvSpPr txBox="1"/>
          <p:nvPr/>
        </p:nvSpPr>
        <p:spPr>
          <a:xfrm>
            <a:off x="7790688" y="4370832"/>
            <a:ext cx="3560033" cy="566928"/>
          </a:xfrm>
          <a:prstGeom prst="rect">
            <a:avLst/>
          </a:prstGeom>
          <a:noFill/>
        </p:spPr>
        <p:txBody>
          <a:bodyPr wrap="square" lIns="0" rIns="0" tIns="0" bIns="0" anchor="t">
            <a:spAutoFit/>
          </a:bodyPr>
          <a:lstStyle/>
          <a:p>
            <a:pPr algn="l">
              <a:lnSpc>
                <a:spcPct val="126000"/>
              </a:lnSpc>
            </a:pPr>
            <a:r>
              <a:rPr sz="1040" b="0" i="0">
                <a:solidFill>
                  <a:srgbClr val="E7ECF4"/>
                </a:solidFill>
                <a:latin typeface="Arial"/>
              </a:rPr>
              <a:t>26% of the price, 11.3% of measured visibility. The premium needs a non-broadcast justification.</a:t>
            </a:r>
          </a:p>
        </p:txBody>
      </p:sp>
      <p:sp>
        <p:nvSpPr>
          <p:cNvPr id="25" name="Rounded Rectangle 24"/>
          <p:cNvSpPr/>
          <p:nvPr/>
        </p:nvSpPr>
        <p:spPr>
          <a:xfrm>
            <a:off x="5779008" y="5120640"/>
            <a:ext cx="5846033" cy="987552"/>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5779008" y="5212079"/>
            <a:ext cx="50292" cy="804672"/>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035040" y="5248655"/>
            <a:ext cx="3931920" cy="219456"/>
          </a:xfrm>
          <a:prstGeom prst="rect">
            <a:avLst/>
          </a:prstGeom>
          <a:noFill/>
        </p:spPr>
        <p:txBody>
          <a:bodyPr wrap="square" lIns="0" rIns="0" tIns="0" bIns="0" anchor="t">
            <a:spAutoFit/>
          </a:bodyPr>
          <a:lstStyle/>
          <a:p>
            <a:pPr algn="l">
              <a:lnSpc>
                <a:spcPct val="115000"/>
              </a:lnSpc>
            </a:pPr>
            <a:r>
              <a:rPr sz="1100" b="1" i="0">
                <a:solidFill>
                  <a:srgbClr val="8D9AB0"/>
                </a:solidFill>
                <a:latin typeface="Arial"/>
              </a:rPr>
              <a:t>ATM Hospitality  ·  Sleeve 2</a:t>
            </a:r>
          </a:p>
        </p:txBody>
      </p:sp>
      <p:sp>
        <p:nvSpPr>
          <p:cNvPr id="28" name="TextBox 27"/>
          <p:cNvSpPr txBox="1"/>
          <p:nvPr/>
        </p:nvSpPr>
        <p:spPr>
          <a:xfrm>
            <a:off x="6035040" y="5504688"/>
            <a:ext cx="1645920" cy="365760"/>
          </a:xfrm>
          <a:prstGeom prst="rect">
            <a:avLst/>
          </a:prstGeom>
          <a:noFill/>
        </p:spPr>
        <p:txBody>
          <a:bodyPr wrap="square" lIns="0" rIns="0" tIns="0" bIns="0" anchor="t">
            <a:spAutoFit/>
          </a:bodyPr>
          <a:lstStyle/>
          <a:p>
            <a:pPr algn="l">
              <a:lnSpc>
                <a:spcPct val="115000"/>
              </a:lnSpc>
            </a:pPr>
            <a:r>
              <a:rPr sz="2300" b="1" i="0">
                <a:solidFill>
                  <a:srgbClr val="E4002B"/>
                </a:solidFill>
                <a:latin typeface="Arial"/>
              </a:rPr>
              <a:t>−8.8 pp</a:t>
            </a:r>
          </a:p>
        </p:txBody>
      </p:sp>
      <p:sp>
        <p:nvSpPr>
          <p:cNvPr id="29" name="TextBox 28"/>
          <p:cNvSpPr txBox="1"/>
          <p:nvPr/>
        </p:nvSpPr>
        <p:spPr>
          <a:xfrm>
            <a:off x="7790688" y="5486400"/>
            <a:ext cx="3560033" cy="566928"/>
          </a:xfrm>
          <a:prstGeom prst="rect">
            <a:avLst/>
          </a:prstGeom>
          <a:noFill/>
        </p:spPr>
        <p:txBody>
          <a:bodyPr wrap="square" lIns="0" rIns="0" tIns="0" bIns="0" anchor="t">
            <a:spAutoFit/>
          </a:bodyPr>
          <a:lstStyle/>
          <a:p>
            <a:pPr algn="l">
              <a:lnSpc>
                <a:spcPct val="126000"/>
              </a:lnSpc>
            </a:pPr>
            <a:r>
              <a:rPr sz="1040" b="0" i="0">
                <a:solidFill>
                  <a:srgbClr val="E7ECF4"/>
                </a:solidFill>
                <a:latin typeface="Arial"/>
              </a:rPr>
              <a:t>11% priced, 2.2% measured. The far sleeve is rarely toward camera.</a:t>
            </a:r>
          </a:p>
        </p:txBody>
      </p:sp>
      <p:sp>
        <p:nvSpPr>
          <p:cNvPr id="30" name="TextBox 29"/>
          <p:cNvSpPr txBox="1"/>
          <p:nvPr/>
        </p:nvSpPr>
        <p:spPr>
          <a:xfrm>
            <a:off x="566928" y="6382512"/>
            <a:ext cx="10509473" cy="274320"/>
          </a:xfrm>
          <a:prstGeom prst="rect">
            <a:avLst/>
          </a:prstGeom>
          <a:noFill/>
        </p:spPr>
        <p:txBody>
          <a:bodyPr wrap="square" lIns="0" rIns="0" tIns="0" bIns="0" anchor="t">
            <a:spAutoFit/>
          </a:bodyPr>
          <a:lstStyle/>
          <a:p>
            <a:pPr algn="l">
              <a:lnSpc>
                <a:spcPct val="125000"/>
              </a:lnSpc>
            </a:pPr>
            <a:r>
              <a:rPr sz="860" b="0" i="0">
                <a:solidFill>
                  <a:srgbClr val="5E6C82"/>
                </a:solidFill>
                <a:latin typeface="Arial"/>
              </a:rPr>
              <a:t>Source: LogoLens full-match analysis of two complete Bradford Bulls broadcasts (home kit 2025/26), sampled at 2 frames per second. Club allocation = current management percentage; it totals 95%, LogoLens totals 100%.</a:t>
            </a:r>
          </a:p>
        </p:txBody>
      </p:sp>
      <p:sp>
        <p:nvSpPr>
          <p:cNvPr id="31" name="TextBox 30"/>
          <p:cNvSpPr txBox="1"/>
          <p:nvPr/>
        </p:nvSpPr>
        <p:spPr>
          <a:xfrm>
            <a:off x="10984961" y="6382512"/>
            <a:ext cx="640080" cy="237744"/>
          </a:xfrm>
          <a:prstGeom prst="rect">
            <a:avLst/>
          </a:prstGeom>
          <a:noFill/>
        </p:spPr>
        <p:txBody>
          <a:bodyPr wrap="square" lIns="0" rIns="0" tIns="0" bIns="0" anchor="t">
            <a:spAutoFit/>
          </a:bodyPr>
          <a:lstStyle/>
          <a:p>
            <a:pPr algn="r">
              <a:lnSpc>
                <a:spcPct val="115000"/>
              </a:lnSpc>
            </a:pPr>
            <a:r>
              <a:rPr sz="1000" b="0" i="0">
                <a:solidFill>
                  <a:srgbClr val="5E6C8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409" cy="6949440"/>
          </a:xfrm>
          <a:prstGeom prst="rect">
            <a:avLst/>
          </a:prstGeom>
          <a:solidFill>
            <a:srgbClr val="0D1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7071342" cy="50292"/>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071342" y="0"/>
            <a:ext cx="2682233" cy="50292"/>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753575" y="0"/>
            <a:ext cx="2438393" cy="50292"/>
          </a:xfrm>
          <a:prstGeom prst="rect">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402336"/>
            <a:ext cx="11058113" cy="237744"/>
          </a:xfrm>
          <a:prstGeom prst="rect">
            <a:avLst/>
          </a:prstGeom>
          <a:noFill/>
        </p:spPr>
        <p:txBody>
          <a:bodyPr wrap="square" lIns="0" rIns="0" tIns="0" bIns="0" anchor="t">
            <a:spAutoFit/>
          </a:bodyPr>
          <a:lstStyle/>
          <a:p>
            <a:pPr algn="l">
              <a:lnSpc>
                <a:spcPct val="115000"/>
              </a:lnSpc>
            </a:pPr>
            <a:r>
              <a:rPr sz="1050" b="1" i="0" spc="180">
                <a:solidFill>
                  <a:srgbClr val="FFC20E"/>
                </a:solidFill>
                <a:latin typeface="Arial"/>
              </a:rPr>
              <a:t>THE SAME PICTURE ON THE KIT</a:t>
            </a:r>
          </a:p>
        </p:txBody>
      </p:sp>
      <p:sp>
        <p:nvSpPr>
          <p:cNvPr id="7" name="TextBox 6"/>
          <p:cNvSpPr txBox="1"/>
          <p:nvPr/>
        </p:nvSpPr>
        <p:spPr>
          <a:xfrm>
            <a:off x="566928" y="676656"/>
            <a:ext cx="11058113" cy="566928"/>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Measured visibility ÷ club allocation, by position</a:t>
            </a:r>
          </a:p>
        </p:txBody>
      </p:sp>
      <p:pic>
        <p:nvPicPr>
          <p:cNvPr id="8" name="Picture 7" descr="kit_map.jpg"/>
          <p:cNvPicPr>
            <a:picLocks noChangeAspect="1"/>
          </p:cNvPicPr>
          <p:nvPr/>
        </p:nvPicPr>
        <p:blipFill>
          <a:blip r:embed="rId2"/>
          <a:srcRect l="2285" r="2285"/>
          <a:stretch>
            <a:fillRect/>
          </a:stretch>
        </p:blipFill>
        <p:spPr>
          <a:xfrm>
            <a:off x="4023360" y="1316736"/>
            <a:ext cx="7626096" cy="4956048"/>
          </a:xfrm>
          <a:prstGeom prst="rect">
            <a:avLst/>
          </a:prstGeom>
        </p:spPr>
      </p:pic>
      <p:sp>
        <p:nvSpPr>
          <p:cNvPr id="9" name="TextBox 8"/>
          <p:cNvSpPr txBox="1"/>
          <p:nvPr/>
        </p:nvSpPr>
        <p:spPr>
          <a:xfrm>
            <a:off x="566928" y="1481328"/>
            <a:ext cx="3200400" cy="237744"/>
          </a:xfrm>
          <a:prstGeom prst="rect">
            <a:avLst/>
          </a:prstGeom>
          <a:noFill/>
        </p:spPr>
        <p:txBody>
          <a:bodyPr wrap="square" lIns="0" rIns="0" tIns="0" bIns="0" anchor="t">
            <a:spAutoFit/>
          </a:bodyPr>
          <a:lstStyle/>
          <a:p>
            <a:pPr algn="l">
              <a:lnSpc>
                <a:spcPct val="115000"/>
              </a:lnSpc>
            </a:pPr>
            <a:r>
              <a:rPr sz="1000" b="1" i="0" spc="140">
                <a:solidFill>
                  <a:srgbClr val="8D9AB0"/>
                </a:solidFill>
                <a:latin typeface="Arial"/>
              </a:rPr>
              <a:t>READING THE MAP</a:t>
            </a:r>
          </a:p>
        </p:txBody>
      </p:sp>
      <p:sp>
        <p:nvSpPr>
          <p:cNvPr id="10" name="Rounded Rectangle 9"/>
          <p:cNvSpPr/>
          <p:nvPr/>
        </p:nvSpPr>
        <p:spPr>
          <a:xfrm>
            <a:off x="566928" y="1865376"/>
            <a:ext cx="182880" cy="182880"/>
          </a:xfrm>
          <a:prstGeom prst="roundRect">
            <a:avLst>
              <a:gd name="adj" fmla="val 50000"/>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77824" y="1810512"/>
            <a:ext cx="1051560" cy="219456"/>
          </a:xfrm>
          <a:prstGeom prst="rect">
            <a:avLst/>
          </a:prstGeom>
          <a:noFill/>
        </p:spPr>
        <p:txBody>
          <a:bodyPr wrap="square" lIns="0" rIns="0" tIns="0" bIns="0" anchor="t">
            <a:spAutoFit/>
          </a:bodyPr>
          <a:lstStyle/>
          <a:p>
            <a:pPr algn="l">
              <a:lnSpc>
                <a:spcPct val="115000"/>
              </a:lnSpc>
            </a:pPr>
            <a:r>
              <a:rPr sz="1150" b="1" i="0">
                <a:solidFill>
                  <a:srgbClr val="FFFFFF"/>
                </a:solidFill>
                <a:latin typeface="Arial"/>
              </a:rPr>
              <a:t>≥ 3.0×</a:t>
            </a:r>
          </a:p>
        </p:txBody>
      </p:sp>
      <p:sp>
        <p:nvSpPr>
          <p:cNvPr id="12" name="TextBox 11"/>
          <p:cNvSpPr txBox="1"/>
          <p:nvPr/>
        </p:nvSpPr>
        <p:spPr>
          <a:xfrm>
            <a:off x="1956816" y="1819656"/>
            <a:ext cx="2011680" cy="365760"/>
          </a:xfrm>
          <a:prstGeom prst="rect">
            <a:avLst/>
          </a:prstGeom>
          <a:noFill/>
        </p:spPr>
        <p:txBody>
          <a:bodyPr wrap="square" lIns="0" rIns="0" tIns="0" bIns="0" anchor="t">
            <a:spAutoFit/>
          </a:bodyPr>
          <a:lstStyle/>
          <a:p>
            <a:pPr algn="l">
              <a:lnSpc>
                <a:spcPct val="120000"/>
              </a:lnSpc>
            </a:pPr>
            <a:r>
              <a:rPr sz="1000" b="0" i="0">
                <a:solidFill>
                  <a:srgbClr val="8D9AB0"/>
                </a:solidFill>
                <a:latin typeface="Arial"/>
              </a:rPr>
              <a:t>Far more seen than priced</a:t>
            </a:r>
          </a:p>
        </p:txBody>
      </p:sp>
      <p:sp>
        <p:nvSpPr>
          <p:cNvPr id="13" name="Rounded Rectangle 12"/>
          <p:cNvSpPr/>
          <p:nvPr/>
        </p:nvSpPr>
        <p:spPr>
          <a:xfrm>
            <a:off x="566928" y="2340864"/>
            <a:ext cx="182880" cy="182880"/>
          </a:xfrm>
          <a:prstGeom prst="roundRect">
            <a:avLst>
              <a:gd name="adj" fmla="val 50000"/>
            </a:avLst>
          </a:prstGeom>
          <a:solidFill>
            <a:srgbClr val="F57C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77824" y="2286000"/>
            <a:ext cx="1051560" cy="219456"/>
          </a:xfrm>
          <a:prstGeom prst="rect">
            <a:avLst/>
          </a:prstGeom>
          <a:noFill/>
        </p:spPr>
        <p:txBody>
          <a:bodyPr wrap="square" lIns="0" rIns="0" tIns="0" bIns="0" anchor="t">
            <a:spAutoFit/>
          </a:bodyPr>
          <a:lstStyle/>
          <a:p>
            <a:pPr algn="l">
              <a:lnSpc>
                <a:spcPct val="115000"/>
              </a:lnSpc>
            </a:pPr>
            <a:r>
              <a:rPr sz="1150" b="1" i="0">
                <a:solidFill>
                  <a:srgbClr val="FFFFFF"/>
                </a:solidFill>
                <a:latin typeface="Arial"/>
              </a:rPr>
              <a:t>1.8 – 3.0×</a:t>
            </a:r>
          </a:p>
        </p:txBody>
      </p:sp>
      <p:sp>
        <p:nvSpPr>
          <p:cNvPr id="15" name="TextBox 14"/>
          <p:cNvSpPr txBox="1"/>
          <p:nvPr/>
        </p:nvSpPr>
        <p:spPr>
          <a:xfrm>
            <a:off x="1956816" y="2295144"/>
            <a:ext cx="2011680" cy="365760"/>
          </a:xfrm>
          <a:prstGeom prst="rect">
            <a:avLst/>
          </a:prstGeom>
          <a:noFill/>
        </p:spPr>
        <p:txBody>
          <a:bodyPr wrap="square" lIns="0" rIns="0" tIns="0" bIns="0" anchor="t">
            <a:spAutoFit/>
          </a:bodyPr>
          <a:lstStyle/>
          <a:p>
            <a:pPr algn="l">
              <a:lnSpc>
                <a:spcPct val="120000"/>
              </a:lnSpc>
            </a:pPr>
            <a:r>
              <a:rPr sz="1000" b="0" i="0">
                <a:solidFill>
                  <a:srgbClr val="8D9AB0"/>
                </a:solidFill>
                <a:latin typeface="Arial"/>
              </a:rPr>
              <a:t>Materially under-priced</a:t>
            </a:r>
          </a:p>
        </p:txBody>
      </p:sp>
      <p:sp>
        <p:nvSpPr>
          <p:cNvPr id="16" name="Rounded Rectangle 15"/>
          <p:cNvSpPr/>
          <p:nvPr/>
        </p:nvSpPr>
        <p:spPr>
          <a:xfrm>
            <a:off x="566928" y="2816352"/>
            <a:ext cx="182880" cy="182880"/>
          </a:xfrm>
          <a:prstGeom prst="roundRect">
            <a:avLst>
              <a:gd name="adj" fmla="val 50000"/>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77824" y="2761488"/>
            <a:ext cx="1051560" cy="219456"/>
          </a:xfrm>
          <a:prstGeom prst="rect">
            <a:avLst/>
          </a:prstGeom>
          <a:noFill/>
        </p:spPr>
        <p:txBody>
          <a:bodyPr wrap="square" lIns="0" rIns="0" tIns="0" bIns="0" anchor="t">
            <a:spAutoFit/>
          </a:bodyPr>
          <a:lstStyle/>
          <a:p>
            <a:pPr algn="l">
              <a:lnSpc>
                <a:spcPct val="115000"/>
              </a:lnSpc>
            </a:pPr>
            <a:r>
              <a:rPr sz="1150" b="1" i="0">
                <a:solidFill>
                  <a:srgbClr val="FFFFFF"/>
                </a:solidFill>
                <a:latin typeface="Arial"/>
              </a:rPr>
              <a:t>1.15 – 1.8×</a:t>
            </a:r>
          </a:p>
        </p:txBody>
      </p:sp>
      <p:sp>
        <p:nvSpPr>
          <p:cNvPr id="18" name="TextBox 17"/>
          <p:cNvSpPr txBox="1"/>
          <p:nvPr/>
        </p:nvSpPr>
        <p:spPr>
          <a:xfrm>
            <a:off x="1956816" y="2770632"/>
            <a:ext cx="2011680" cy="365760"/>
          </a:xfrm>
          <a:prstGeom prst="rect">
            <a:avLst/>
          </a:prstGeom>
          <a:noFill/>
        </p:spPr>
        <p:txBody>
          <a:bodyPr wrap="square" lIns="0" rIns="0" tIns="0" bIns="0" anchor="t">
            <a:spAutoFit/>
          </a:bodyPr>
          <a:lstStyle/>
          <a:p>
            <a:pPr algn="l">
              <a:lnSpc>
                <a:spcPct val="120000"/>
              </a:lnSpc>
            </a:pPr>
            <a:r>
              <a:rPr sz="1000" b="0" i="0">
                <a:solidFill>
                  <a:srgbClr val="8D9AB0"/>
                </a:solidFill>
                <a:latin typeface="Arial"/>
              </a:rPr>
              <a:t>Modestly under-priced</a:t>
            </a:r>
          </a:p>
        </p:txBody>
      </p:sp>
      <p:sp>
        <p:nvSpPr>
          <p:cNvPr id="19" name="Rounded Rectangle 18"/>
          <p:cNvSpPr/>
          <p:nvPr/>
        </p:nvSpPr>
        <p:spPr>
          <a:xfrm>
            <a:off x="566928" y="3291840"/>
            <a:ext cx="182880" cy="182880"/>
          </a:xfrm>
          <a:prstGeom prst="roundRect">
            <a:avLst>
              <a:gd name="adj" fmla="val 50000"/>
            </a:avLst>
          </a:prstGeom>
          <a:solidFill>
            <a:srgbClr val="2EC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77824" y="3236976"/>
            <a:ext cx="1051560" cy="219456"/>
          </a:xfrm>
          <a:prstGeom prst="rect">
            <a:avLst/>
          </a:prstGeom>
          <a:noFill/>
        </p:spPr>
        <p:txBody>
          <a:bodyPr wrap="square" lIns="0" rIns="0" tIns="0" bIns="0" anchor="t">
            <a:spAutoFit/>
          </a:bodyPr>
          <a:lstStyle/>
          <a:p>
            <a:pPr algn="l">
              <a:lnSpc>
                <a:spcPct val="115000"/>
              </a:lnSpc>
            </a:pPr>
            <a:r>
              <a:rPr sz="1150" b="1" i="0">
                <a:solidFill>
                  <a:srgbClr val="FFFFFF"/>
                </a:solidFill>
                <a:latin typeface="Arial"/>
              </a:rPr>
              <a:t>0.85 – 1.15×</a:t>
            </a:r>
          </a:p>
        </p:txBody>
      </p:sp>
      <p:sp>
        <p:nvSpPr>
          <p:cNvPr id="21" name="TextBox 20"/>
          <p:cNvSpPr txBox="1"/>
          <p:nvPr/>
        </p:nvSpPr>
        <p:spPr>
          <a:xfrm>
            <a:off x="1956816" y="3246120"/>
            <a:ext cx="2011680" cy="365760"/>
          </a:xfrm>
          <a:prstGeom prst="rect">
            <a:avLst/>
          </a:prstGeom>
          <a:noFill/>
        </p:spPr>
        <p:txBody>
          <a:bodyPr wrap="square" lIns="0" rIns="0" tIns="0" bIns="0" anchor="t">
            <a:spAutoFit/>
          </a:bodyPr>
          <a:lstStyle/>
          <a:p>
            <a:pPr algn="l">
              <a:lnSpc>
                <a:spcPct val="120000"/>
              </a:lnSpc>
            </a:pPr>
            <a:r>
              <a:rPr sz="1000" b="0" i="0">
                <a:solidFill>
                  <a:srgbClr val="8D9AB0"/>
                </a:solidFill>
                <a:latin typeface="Arial"/>
              </a:rPr>
              <a:t>In line</a:t>
            </a:r>
          </a:p>
        </p:txBody>
      </p:sp>
      <p:sp>
        <p:nvSpPr>
          <p:cNvPr id="22" name="Rounded Rectangle 21"/>
          <p:cNvSpPr/>
          <p:nvPr/>
        </p:nvSpPr>
        <p:spPr>
          <a:xfrm>
            <a:off x="566928" y="3767328"/>
            <a:ext cx="182880" cy="182880"/>
          </a:xfrm>
          <a:prstGeom prst="roundRect">
            <a:avLst>
              <a:gd name="adj" fmla="val 50000"/>
            </a:avLst>
          </a:prstGeom>
          <a:solidFill>
            <a:srgbClr val="4AA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77824" y="3712464"/>
            <a:ext cx="1051560" cy="219456"/>
          </a:xfrm>
          <a:prstGeom prst="rect">
            <a:avLst/>
          </a:prstGeom>
          <a:noFill/>
        </p:spPr>
        <p:txBody>
          <a:bodyPr wrap="square" lIns="0" rIns="0" tIns="0" bIns="0" anchor="t">
            <a:spAutoFit/>
          </a:bodyPr>
          <a:lstStyle/>
          <a:p>
            <a:pPr algn="l">
              <a:lnSpc>
                <a:spcPct val="115000"/>
              </a:lnSpc>
            </a:pPr>
            <a:r>
              <a:rPr sz="1150" b="1" i="0">
                <a:solidFill>
                  <a:srgbClr val="FFFFFF"/>
                </a:solidFill>
                <a:latin typeface="Arial"/>
              </a:rPr>
              <a:t>&lt; 0.85×</a:t>
            </a:r>
          </a:p>
        </p:txBody>
      </p:sp>
      <p:sp>
        <p:nvSpPr>
          <p:cNvPr id="24" name="TextBox 23"/>
          <p:cNvSpPr txBox="1"/>
          <p:nvPr/>
        </p:nvSpPr>
        <p:spPr>
          <a:xfrm>
            <a:off x="1956816" y="3721608"/>
            <a:ext cx="2011680" cy="365760"/>
          </a:xfrm>
          <a:prstGeom prst="rect">
            <a:avLst/>
          </a:prstGeom>
          <a:noFill/>
        </p:spPr>
        <p:txBody>
          <a:bodyPr wrap="square" lIns="0" rIns="0" tIns="0" bIns="0" anchor="t">
            <a:spAutoFit/>
          </a:bodyPr>
          <a:lstStyle/>
          <a:p>
            <a:pPr algn="l">
              <a:lnSpc>
                <a:spcPct val="120000"/>
              </a:lnSpc>
            </a:pPr>
            <a:r>
              <a:rPr sz="1000" b="0" i="0">
                <a:solidFill>
                  <a:srgbClr val="8D9AB0"/>
                </a:solidFill>
                <a:latin typeface="Arial"/>
              </a:rPr>
              <a:t>Priced above measured visibility</a:t>
            </a:r>
          </a:p>
        </p:txBody>
      </p:sp>
      <p:sp>
        <p:nvSpPr>
          <p:cNvPr id="25" name="Rounded Rectangle 24"/>
          <p:cNvSpPr/>
          <p:nvPr/>
        </p:nvSpPr>
        <p:spPr>
          <a:xfrm>
            <a:off x="566928" y="4315968"/>
            <a:ext cx="3291840" cy="1883664"/>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566928" y="4315968"/>
            <a:ext cx="3291840" cy="4572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04672" y="4535424"/>
            <a:ext cx="2834640" cy="274320"/>
          </a:xfrm>
          <a:prstGeom prst="rect">
            <a:avLst/>
          </a:prstGeom>
          <a:noFill/>
        </p:spPr>
        <p:txBody>
          <a:bodyPr wrap="square" lIns="0" rIns="0" tIns="0" bIns="0" anchor="t">
            <a:spAutoFit/>
          </a:bodyPr>
          <a:lstStyle/>
          <a:p>
            <a:pPr algn="l">
              <a:lnSpc>
                <a:spcPct val="115000"/>
              </a:lnSpc>
            </a:pPr>
            <a:r>
              <a:rPr sz="1400" b="1" i="0">
                <a:solidFill>
                  <a:srgbClr val="FFFFFF"/>
                </a:solidFill>
                <a:latin typeface="Arial"/>
              </a:rPr>
              <a:t>The pattern is positional</a:t>
            </a:r>
          </a:p>
        </p:txBody>
      </p:sp>
      <p:sp>
        <p:nvSpPr>
          <p:cNvPr id="28" name="TextBox 27"/>
          <p:cNvSpPr txBox="1"/>
          <p:nvPr/>
        </p:nvSpPr>
        <p:spPr>
          <a:xfrm>
            <a:off x="804672" y="4882896"/>
            <a:ext cx="2834640" cy="1188720"/>
          </a:xfrm>
          <a:prstGeom prst="rect">
            <a:avLst/>
          </a:prstGeom>
          <a:noFill/>
        </p:spPr>
        <p:txBody>
          <a:bodyPr wrap="square" lIns="0" rIns="0" tIns="0" bIns="0" anchor="t">
            <a:spAutoFit/>
          </a:bodyPr>
          <a:lstStyle/>
          <a:p>
            <a:pPr algn="l">
              <a:lnSpc>
                <a:spcPct val="134000"/>
              </a:lnSpc>
            </a:pPr>
            <a:r>
              <a:rPr sz="1060" b="0" i="0">
                <a:solidFill>
                  <a:srgbClr val="E7ECF4"/>
                </a:solidFill>
                <a:latin typeface="Arial"/>
              </a:rPr>
              <a:t>Everything below the waist reads warm — the shorts and socks are seen far more than they are priced. Everything around the collar reads cold. Broadcast cameras spend their time on the contact area, not the shoulders.</a:t>
            </a:r>
          </a:p>
        </p:txBody>
      </p:sp>
      <p:sp>
        <p:nvSpPr>
          <p:cNvPr id="29" name="TextBox 28"/>
          <p:cNvSpPr txBox="1"/>
          <p:nvPr/>
        </p:nvSpPr>
        <p:spPr>
          <a:xfrm>
            <a:off x="566928" y="6382512"/>
            <a:ext cx="10509473" cy="274320"/>
          </a:xfrm>
          <a:prstGeom prst="rect">
            <a:avLst/>
          </a:prstGeom>
          <a:noFill/>
        </p:spPr>
        <p:txBody>
          <a:bodyPr wrap="square" lIns="0" rIns="0" tIns="0" bIns="0" anchor="t">
            <a:spAutoFit/>
          </a:bodyPr>
          <a:lstStyle/>
          <a:p>
            <a:pPr algn="l">
              <a:lnSpc>
                <a:spcPct val="125000"/>
              </a:lnSpc>
            </a:pPr>
            <a:r>
              <a:rPr sz="860" b="0" i="0">
                <a:solidFill>
                  <a:srgbClr val="5E6C82"/>
                </a:solidFill>
                <a:latin typeface="Arial"/>
              </a:rPr>
              <a:t>Ratio = mean LogoLens visibility share ÷ club allocation share. Kit artwork: Bradford Bulls 2025/26 home playing kit.</a:t>
            </a:r>
          </a:p>
        </p:txBody>
      </p:sp>
      <p:sp>
        <p:nvSpPr>
          <p:cNvPr id="30" name="TextBox 29"/>
          <p:cNvSpPr txBox="1"/>
          <p:nvPr/>
        </p:nvSpPr>
        <p:spPr>
          <a:xfrm>
            <a:off x="10984961" y="6382512"/>
            <a:ext cx="640080" cy="237744"/>
          </a:xfrm>
          <a:prstGeom prst="rect">
            <a:avLst/>
          </a:prstGeom>
          <a:noFill/>
        </p:spPr>
        <p:txBody>
          <a:bodyPr wrap="square" lIns="0" rIns="0" tIns="0" bIns="0" anchor="t">
            <a:spAutoFit/>
          </a:bodyPr>
          <a:lstStyle/>
          <a:p>
            <a:pPr algn="r">
              <a:lnSpc>
                <a:spcPct val="115000"/>
              </a:lnSpc>
            </a:pPr>
            <a:r>
              <a:rPr sz="1000" b="0" i="0">
                <a:solidFill>
                  <a:srgbClr val="5E6C8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409" cy="6949440"/>
          </a:xfrm>
          <a:prstGeom prst="rect">
            <a:avLst/>
          </a:prstGeom>
          <a:solidFill>
            <a:srgbClr val="0D1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7071342" cy="50292"/>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071342" y="0"/>
            <a:ext cx="2682233" cy="50292"/>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753575" y="0"/>
            <a:ext cx="2438393" cy="50292"/>
          </a:xfrm>
          <a:prstGeom prst="rect">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402336"/>
            <a:ext cx="11058113" cy="237744"/>
          </a:xfrm>
          <a:prstGeom prst="rect">
            <a:avLst/>
          </a:prstGeom>
          <a:noFill/>
        </p:spPr>
        <p:txBody>
          <a:bodyPr wrap="square" lIns="0" rIns="0" tIns="0" bIns="0" anchor="t">
            <a:spAutoFit/>
          </a:bodyPr>
          <a:lstStyle/>
          <a:p>
            <a:pPr algn="l">
              <a:lnSpc>
                <a:spcPct val="115000"/>
              </a:lnSpc>
            </a:pPr>
            <a:r>
              <a:rPr sz="1050" b="1" i="0" spc="180">
                <a:solidFill>
                  <a:srgbClr val="FFC20E"/>
                </a:solidFill>
                <a:latin typeface="Arial"/>
              </a:rPr>
              <a:t>PLACEMENT REVIEW  ·  FRONT TORSO</a:t>
            </a:r>
          </a:p>
        </p:txBody>
      </p:sp>
      <p:sp>
        <p:nvSpPr>
          <p:cNvPr id="7" name="TextBox 6"/>
          <p:cNvSpPr txBox="1"/>
          <p:nvPr/>
        </p:nvSpPr>
        <p:spPr>
          <a:xfrm>
            <a:off x="566928" y="676656"/>
            <a:ext cx="11058113" cy="566928"/>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Chest and collar: the price block</a:t>
            </a:r>
          </a:p>
        </p:txBody>
      </p:sp>
      <p:sp>
        <p:nvSpPr>
          <p:cNvPr id="8" name="TextBox 7"/>
          <p:cNvSpPr txBox="1"/>
          <p:nvPr/>
        </p:nvSpPr>
        <p:spPr>
          <a:xfrm>
            <a:off x="566928" y="1280160"/>
            <a:ext cx="9509977" cy="274320"/>
          </a:xfrm>
          <a:prstGeom prst="rect">
            <a:avLst/>
          </a:prstGeom>
          <a:noFill/>
        </p:spPr>
        <p:txBody>
          <a:bodyPr wrap="square" lIns="0" rIns="0" tIns="0" bIns="0" anchor="t">
            <a:spAutoFit/>
          </a:bodyPr>
          <a:lstStyle/>
          <a:p>
            <a:pPr algn="l">
              <a:lnSpc>
                <a:spcPct val="120000"/>
              </a:lnSpc>
            </a:pPr>
            <a:r>
              <a:rPr sz="1300" b="0" i="0">
                <a:solidFill>
                  <a:srgbClr val="8D9AB0"/>
                </a:solidFill>
                <a:latin typeface="Arial"/>
              </a:rPr>
              <a:t>Top Notch, MNA Cladding and Romantica together carry 41% of the shirt price and 16.7% of measured broadcast visibility.</a:t>
            </a:r>
          </a:p>
        </p:txBody>
      </p:sp>
      <p:pic>
        <p:nvPicPr>
          <p:cNvPr id="9" name="Picture 8" descr="c4_front.png"/>
          <p:cNvPicPr>
            <a:picLocks noChangeAspect="1"/>
          </p:cNvPicPr>
          <p:nvPr/>
        </p:nvPicPr>
        <p:blipFill>
          <a:blip r:embed="rId2"/>
          <a:stretch>
            <a:fillRect/>
          </a:stretch>
        </p:blipFill>
        <p:spPr>
          <a:xfrm>
            <a:off x="521207" y="2372010"/>
            <a:ext cx="4800600" cy="2802595"/>
          </a:xfrm>
          <a:prstGeom prst="rect">
            <a:avLst/>
          </a:prstGeom>
        </p:spPr>
      </p:pic>
      <p:pic>
        <p:nvPicPr>
          <p:cNvPr id="10" name="Picture 9" descr="ev_chest.jpg"/>
          <p:cNvPicPr>
            <a:picLocks noChangeAspect="1"/>
          </p:cNvPicPr>
          <p:nvPr/>
        </p:nvPicPr>
        <p:blipFill>
          <a:blip r:embed="rId3"/>
          <a:srcRect l="327" r="327"/>
          <a:stretch>
            <a:fillRect/>
          </a:stretch>
        </p:blipFill>
        <p:spPr>
          <a:xfrm>
            <a:off x="5541264" y="1847088"/>
            <a:ext cx="1499616" cy="1874519"/>
          </a:xfrm>
          <a:prstGeom prst="rect">
            <a:avLst/>
          </a:prstGeom>
        </p:spPr>
      </p:pic>
      <p:sp>
        <p:nvSpPr>
          <p:cNvPr id="11" name="Rectangle 10"/>
          <p:cNvSpPr/>
          <p:nvPr/>
        </p:nvSpPr>
        <p:spPr>
          <a:xfrm>
            <a:off x="5541264" y="1847088"/>
            <a:ext cx="1499616" cy="1874519"/>
          </a:xfrm>
          <a:prstGeom prst="rect">
            <a:avLst/>
          </a:prstGeom>
          <a:noFill/>
          <a:ln w="15240">
            <a:solidFill>
              <a:srgbClr val="2C384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541264" y="3447288"/>
            <a:ext cx="1499616" cy="274320"/>
          </a:xfrm>
          <a:prstGeom prst="rect">
            <a:avLst/>
          </a:prstGeom>
          <a:solidFill>
            <a:srgbClr val="080B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623560" y="3497580"/>
            <a:ext cx="1335024" cy="201168"/>
          </a:xfrm>
          <a:prstGeom prst="rect">
            <a:avLst/>
          </a:prstGeom>
          <a:noFill/>
        </p:spPr>
        <p:txBody>
          <a:bodyPr wrap="square" lIns="0" rIns="0" tIns="0" bIns="0" anchor="t">
            <a:spAutoFit/>
          </a:bodyPr>
          <a:lstStyle/>
          <a:p>
            <a:pPr algn="l">
              <a:lnSpc>
                <a:spcPct val="115000"/>
              </a:lnSpc>
            </a:pPr>
            <a:r>
              <a:rPr sz="760" b="0" i="0">
                <a:solidFill>
                  <a:srgbClr val="8D9AB0"/>
                </a:solidFill>
                <a:latin typeface="Arial"/>
              </a:rPr>
              <a:t>Detected: Top Notch, confidence 0.82</a:t>
            </a:r>
          </a:p>
        </p:txBody>
      </p:sp>
      <p:sp>
        <p:nvSpPr>
          <p:cNvPr id="14" name="Rounded Rectangle 13"/>
          <p:cNvSpPr/>
          <p:nvPr/>
        </p:nvSpPr>
        <p:spPr>
          <a:xfrm>
            <a:off x="7223760" y="1847088"/>
            <a:ext cx="4401281" cy="1874519"/>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7223760" y="1847088"/>
            <a:ext cx="4401281" cy="45720"/>
          </a:xfrm>
          <a:prstGeom prst="rect">
            <a:avLst/>
          </a:prstGeom>
          <a:solidFill>
            <a:srgbClr val="4AA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498080" y="2066543"/>
            <a:ext cx="3852641" cy="219456"/>
          </a:xfrm>
          <a:prstGeom prst="rect">
            <a:avLst/>
          </a:prstGeom>
          <a:noFill/>
        </p:spPr>
        <p:txBody>
          <a:bodyPr wrap="square" lIns="0" rIns="0" tIns="0" bIns="0" anchor="t">
            <a:spAutoFit/>
          </a:bodyPr>
          <a:lstStyle/>
          <a:p>
            <a:pPr algn="l">
              <a:lnSpc>
                <a:spcPct val="115000"/>
              </a:lnSpc>
            </a:pPr>
            <a:r>
              <a:rPr sz="950" b="1" i="0" spc="120">
                <a:solidFill>
                  <a:srgbClr val="8D9AB0"/>
                </a:solidFill>
                <a:latin typeface="Arial"/>
              </a:rPr>
              <a:t>MEASURED VISIBILITY ÷ CLUB ALLOCATION</a:t>
            </a:r>
          </a:p>
        </p:txBody>
      </p:sp>
      <p:sp>
        <p:nvSpPr>
          <p:cNvPr id="17" name="TextBox 16"/>
          <p:cNvSpPr txBox="1"/>
          <p:nvPr/>
        </p:nvSpPr>
        <p:spPr>
          <a:xfrm>
            <a:off x="7498080" y="2395728"/>
            <a:ext cx="1920240" cy="658368"/>
          </a:xfrm>
          <a:prstGeom prst="rect">
            <a:avLst/>
          </a:prstGeom>
          <a:noFill/>
        </p:spPr>
        <p:txBody>
          <a:bodyPr wrap="square" lIns="0" rIns="0" tIns="0" bIns="0" anchor="t">
            <a:spAutoFit/>
          </a:bodyPr>
          <a:lstStyle/>
          <a:p>
            <a:pPr algn="l">
              <a:lnSpc>
                <a:spcPct val="95000"/>
              </a:lnSpc>
            </a:pPr>
            <a:r>
              <a:rPr sz="4400" b="1" i="0">
                <a:solidFill>
                  <a:srgbClr val="4AA8E8"/>
                </a:solidFill>
                <a:latin typeface="Arial"/>
              </a:rPr>
              <a:t>0.41×</a:t>
            </a:r>
          </a:p>
        </p:txBody>
      </p:sp>
      <p:sp>
        <p:nvSpPr>
          <p:cNvPr id="18" name="TextBox 17"/>
          <p:cNvSpPr txBox="1"/>
          <p:nvPr/>
        </p:nvSpPr>
        <p:spPr>
          <a:xfrm>
            <a:off x="9555480" y="2450592"/>
            <a:ext cx="1795241" cy="548640"/>
          </a:xfrm>
          <a:prstGeom prst="rect">
            <a:avLst/>
          </a:prstGeom>
          <a:noFill/>
        </p:spPr>
        <p:txBody>
          <a:bodyPr wrap="square" lIns="0" rIns="0" tIns="0" bIns="0" anchor="t">
            <a:spAutoFit/>
          </a:bodyPr>
          <a:lstStyle/>
          <a:p>
            <a:pPr algn="l">
              <a:lnSpc>
                <a:spcPct val="134000"/>
              </a:lnSpc>
            </a:pPr>
            <a:r>
              <a:rPr sz="1250" b="0" i="0">
                <a:solidFill>
                  <a:srgbClr val="8D9AB0"/>
                </a:solidFill>
                <a:latin typeface="Arial"/>
              </a:rPr>
              <a:t>Club allocation</a:t>
            </a:r>
          </a:p>
          <a:p>
            <a:pPr algn="l">
              <a:lnSpc>
                <a:spcPct val="134000"/>
              </a:lnSpc>
            </a:pPr>
            <a:r>
              <a:rPr sz="1250" b="0" i="0">
                <a:solidFill>
                  <a:srgbClr val="8D9AB0"/>
                </a:solidFill>
                <a:latin typeface="Arial"/>
              </a:rPr>
              <a:t>41%</a:t>
            </a:r>
          </a:p>
        </p:txBody>
      </p:sp>
      <p:sp>
        <p:nvSpPr>
          <p:cNvPr id="19" name="TextBox 18"/>
          <p:cNvSpPr txBox="1"/>
          <p:nvPr/>
        </p:nvSpPr>
        <p:spPr>
          <a:xfrm>
            <a:off x="9555480" y="3072384"/>
            <a:ext cx="1795241" cy="548640"/>
          </a:xfrm>
          <a:prstGeom prst="rect">
            <a:avLst/>
          </a:prstGeom>
          <a:noFill/>
        </p:spPr>
        <p:txBody>
          <a:bodyPr wrap="square" lIns="0" rIns="0" tIns="0" bIns="0" anchor="t">
            <a:spAutoFit/>
          </a:bodyPr>
          <a:lstStyle/>
          <a:p>
            <a:pPr algn="l">
              <a:lnSpc>
                <a:spcPct val="134000"/>
              </a:lnSpc>
            </a:pPr>
            <a:r>
              <a:rPr sz="1250" b="1" i="0">
                <a:solidFill>
                  <a:srgbClr val="FFFFFF"/>
                </a:solidFill>
                <a:latin typeface="Arial"/>
              </a:rPr>
              <a:t>Measured visibility</a:t>
            </a:r>
          </a:p>
          <a:p>
            <a:pPr algn="l">
              <a:lnSpc>
                <a:spcPct val="134000"/>
              </a:lnSpc>
            </a:pPr>
            <a:r>
              <a:rPr sz="1250" b="1" i="0">
                <a:solidFill>
                  <a:srgbClr val="FFFFFF"/>
                </a:solidFill>
                <a:latin typeface="Arial"/>
              </a:rPr>
              <a:t>16.7%</a:t>
            </a:r>
          </a:p>
        </p:txBody>
      </p:sp>
      <p:sp>
        <p:nvSpPr>
          <p:cNvPr id="20" name="Rounded Rectangle 19"/>
          <p:cNvSpPr/>
          <p:nvPr/>
        </p:nvSpPr>
        <p:spPr>
          <a:xfrm>
            <a:off x="5541264" y="3968496"/>
            <a:ext cx="6083777" cy="1920240"/>
          </a:xfrm>
          <a:prstGeom prst="roundRect">
            <a:avLst>
              <a:gd name="adj" fmla="val 3500"/>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815584" y="4169663"/>
            <a:ext cx="5535137" cy="274320"/>
          </a:xfrm>
          <a:prstGeom prst="rect">
            <a:avLst/>
          </a:prstGeom>
          <a:noFill/>
        </p:spPr>
        <p:txBody>
          <a:bodyPr wrap="square" lIns="0" rIns="0" tIns="0" bIns="0" anchor="t">
            <a:spAutoFit/>
          </a:bodyPr>
          <a:lstStyle/>
          <a:p>
            <a:pPr algn="l">
              <a:lnSpc>
                <a:spcPct val="115000"/>
              </a:lnSpc>
            </a:pPr>
            <a:r>
              <a:rPr sz="1300" b="1" i="0">
                <a:solidFill>
                  <a:srgbClr val="FFC20E"/>
                </a:solidFill>
                <a:latin typeface="Arial"/>
              </a:rPr>
              <a:t>What this means commercially</a:t>
            </a:r>
          </a:p>
        </p:txBody>
      </p:sp>
      <p:sp>
        <p:nvSpPr>
          <p:cNvPr id="22" name="TextBox 21"/>
          <p:cNvSpPr txBox="1"/>
          <p:nvPr/>
        </p:nvSpPr>
        <p:spPr>
          <a:xfrm>
            <a:off x="5815584" y="4535424"/>
            <a:ext cx="5535137" cy="1280160"/>
          </a:xfrm>
          <a:prstGeom prst="rect">
            <a:avLst/>
          </a:prstGeom>
          <a:noFill/>
        </p:spPr>
        <p:txBody>
          <a:bodyPr wrap="square" lIns="0" rIns="0" tIns="0" bIns="0" anchor="t">
            <a:spAutoFit/>
          </a:bodyPr>
          <a:lstStyle/>
          <a:p>
            <a:pPr algn="l">
              <a:lnSpc>
                <a:spcPct val="142000"/>
              </a:lnSpc>
            </a:pPr>
            <a:r>
              <a:rPr sz="1140" b="0" i="0">
                <a:solidFill>
                  <a:srgbClr val="E7ECF4"/>
                </a:solidFill>
                <a:latin typeface="Arial"/>
              </a:rPr>
              <a:t>The main sponsor is still the most-detected single mark on the front of the shirt — it simply does not carry four times the exposure that four times the price implies. A chest position is bought for brand association and for every still photograph, programme and press image, none of which this system measures.</a:t>
            </a:r>
          </a:p>
        </p:txBody>
      </p:sp>
      <p:sp>
        <p:nvSpPr>
          <p:cNvPr id="23" name="TextBox 22"/>
          <p:cNvSpPr txBox="1"/>
          <p:nvPr/>
        </p:nvSpPr>
        <p:spPr>
          <a:xfrm>
            <a:off x="566928" y="6382512"/>
            <a:ext cx="10509473" cy="274320"/>
          </a:xfrm>
          <a:prstGeom prst="rect">
            <a:avLst/>
          </a:prstGeom>
          <a:noFill/>
        </p:spPr>
        <p:txBody>
          <a:bodyPr wrap="square" lIns="0" rIns="0" tIns="0" bIns="0" anchor="t">
            <a:spAutoFit/>
          </a:bodyPr>
          <a:lstStyle/>
          <a:p>
            <a:pPr algn="l">
              <a:lnSpc>
                <a:spcPct val="125000"/>
              </a:lnSpc>
            </a:pPr>
            <a:r>
              <a:rPr sz="860" b="0" i="0">
                <a:solidFill>
                  <a:srgbClr val="5E6C82"/>
                </a:solidFill>
                <a:latin typeface="Arial"/>
              </a:rPr>
              <a:t>Source: LogoLens full-match analysis of two complete Bradford Bulls broadcasts (home kit 2025/26), sampled at 2 frames per second. Club allocation = current management percentage; it totals 95%, LogoLens totals 100%.</a:t>
            </a:r>
          </a:p>
        </p:txBody>
      </p:sp>
      <p:sp>
        <p:nvSpPr>
          <p:cNvPr id="24" name="TextBox 23"/>
          <p:cNvSpPr txBox="1"/>
          <p:nvPr/>
        </p:nvSpPr>
        <p:spPr>
          <a:xfrm>
            <a:off x="10984961" y="6382512"/>
            <a:ext cx="640080" cy="237744"/>
          </a:xfrm>
          <a:prstGeom prst="rect">
            <a:avLst/>
          </a:prstGeom>
          <a:noFill/>
        </p:spPr>
        <p:txBody>
          <a:bodyPr wrap="square" lIns="0" rIns="0" tIns="0" bIns="0" anchor="t">
            <a:spAutoFit/>
          </a:bodyPr>
          <a:lstStyle/>
          <a:p>
            <a:pPr algn="r">
              <a:lnSpc>
                <a:spcPct val="115000"/>
              </a:lnSpc>
            </a:pPr>
            <a:r>
              <a:rPr sz="1000" b="0" i="0">
                <a:solidFill>
                  <a:srgbClr val="5E6C8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409" cy="6949440"/>
          </a:xfrm>
          <a:prstGeom prst="rect">
            <a:avLst/>
          </a:prstGeom>
          <a:solidFill>
            <a:srgbClr val="0D1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7071342" cy="50292"/>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071342" y="0"/>
            <a:ext cx="2682233" cy="50292"/>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753575" y="0"/>
            <a:ext cx="2438393" cy="50292"/>
          </a:xfrm>
          <a:prstGeom prst="rect">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402336"/>
            <a:ext cx="11058113" cy="237744"/>
          </a:xfrm>
          <a:prstGeom prst="rect">
            <a:avLst/>
          </a:prstGeom>
          <a:noFill/>
        </p:spPr>
        <p:txBody>
          <a:bodyPr wrap="square" lIns="0" rIns="0" tIns="0" bIns="0" anchor="t">
            <a:spAutoFit/>
          </a:bodyPr>
          <a:lstStyle/>
          <a:p>
            <a:pPr algn="l">
              <a:lnSpc>
                <a:spcPct val="115000"/>
              </a:lnSpc>
            </a:pPr>
            <a:r>
              <a:rPr sz="1050" b="1" i="0" spc="180">
                <a:solidFill>
                  <a:srgbClr val="FFC20E"/>
                </a:solidFill>
                <a:latin typeface="Arial"/>
              </a:rPr>
              <a:t>PLACEMENT REVIEW  ·  BACK / NECK</a:t>
            </a:r>
          </a:p>
        </p:txBody>
      </p:sp>
      <p:sp>
        <p:nvSpPr>
          <p:cNvPr id="7" name="TextBox 6"/>
          <p:cNvSpPr txBox="1"/>
          <p:nvPr/>
        </p:nvSpPr>
        <p:spPr>
          <a:xfrm>
            <a:off x="566928" y="676656"/>
            <a:ext cx="11058113" cy="566928"/>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Back and collar: broadly in proportion</a:t>
            </a:r>
          </a:p>
        </p:txBody>
      </p:sp>
      <p:sp>
        <p:nvSpPr>
          <p:cNvPr id="8" name="TextBox 7"/>
          <p:cNvSpPr txBox="1"/>
          <p:nvPr/>
        </p:nvSpPr>
        <p:spPr>
          <a:xfrm>
            <a:off x="566928" y="1280160"/>
            <a:ext cx="9509977" cy="274320"/>
          </a:xfrm>
          <a:prstGeom prst="rect">
            <a:avLst/>
          </a:prstGeom>
          <a:noFill/>
        </p:spPr>
        <p:txBody>
          <a:bodyPr wrap="square" lIns="0" rIns="0" tIns="0" bIns="0" anchor="t">
            <a:spAutoFit/>
          </a:bodyPr>
          <a:lstStyle/>
          <a:p>
            <a:pPr algn="l">
              <a:lnSpc>
                <a:spcPct val="120000"/>
              </a:lnSpc>
            </a:pPr>
            <a:r>
              <a:rPr sz="1300" b="0" i="0">
                <a:solidFill>
                  <a:srgbClr val="8D9AB0"/>
                </a:solidFill>
                <a:latin typeface="Arial"/>
              </a:rPr>
              <a:t>19% of the price against 13.7% of measured visibility — the closest match of any block, but with one important caveat.</a:t>
            </a:r>
          </a:p>
        </p:txBody>
      </p:sp>
      <p:pic>
        <p:nvPicPr>
          <p:cNvPr id="9" name="Picture 8" descr="c4_back.png"/>
          <p:cNvPicPr>
            <a:picLocks noChangeAspect="1"/>
          </p:cNvPicPr>
          <p:nvPr/>
        </p:nvPicPr>
        <p:blipFill>
          <a:blip r:embed="rId2"/>
          <a:stretch>
            <a:fillRect/>
          </a:stretch>
        </p:blipFill>
        <p:spPr>
          <a:xfrm>
            <a:off x="521207" y="2037683"/>
            <a:ext cx="4800600" cy="3180674"/>
          </a:xfrm>
          <a:prstGeom prst="rect">
            <a:avLst/>
          </a:prstGeom>
        </p:spPr>
      </p:pic>
      <p:pic>
        <p:nvPicPr>
          <p:cNvPr id="10" name="Picture 9" descr="ev_back.jpg"/>
          <p:cNvPicPr>
            <a:picLocks noChangeAspect="1"/>
          </p:cNvPicPr>
          <p:nvPr/>
        </p:nvPicPr>
        <p:blipFill>
          <a:blip r:embed="rId3"/>
          <a:srcRect t="822" b="822"/>
          <a:stretch>
            <a:fillRect/>
          </a:stretch>
        </p:blipFill>
        <p:spPr>
          <a:xfrm>
            <a:off x="5541264" y="1847088"/>
            <a:ext cx="1499616" cy="1874519"/>
          </a:xfrm>
          <a:prstGeom prst="rect">
            <a:avLst/>
          </a:prstGeom>
        </p:spPr>
      </p:pic>
      <p:sp>
        <p:nvSpPr>
          <p:cNvPr id="11" name="Rectangle 10"/>
          <p:cNvSpPr/>
          <p:nvPr/>
        </p:nvSpPr>
        <p:spPr>
          <a:xfrm>
            <a:off x="5541264" y="1847088"/>
            <a:ext cx="1499616" cy="1874519"/>
          </a:xfrm>
          <a:prstGeom prst="rect">
            <a:avLst/>
          </a:prstGeom>
          <a:noFill/>
          <a:ln w="15240">
            <a:solidFill>
              <a:srgbClr val="2C384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541264" y="3447288"/>
            <a:ext cx="1499616" cy="274320"/>
          </a:xfrm>
          <a:prstGeom prst="rect">
            <a:avLst/>
          </a:prstGeom>
          <a:solidFill>
            <a:srgbClr val="080B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623560" y="3497580"/>
            <a:ext cx="1335024" cy="201168"/>
          </a:xfrm>
          <a:prstGeom prst="rect">
            <a:avLst/>
          </a:prstGeom>
          <a:noFill/>
        </p:spPr>
        <p:txBody>
          <a:bodyPr wrap="square" lIns="0" rIns="0" tIns="0" bIns="0" anchor="t">
            <a:spAutoFit/>
          </a:bodyPr>
          <a:lstStyle/>
          <a:p>
            <a:pPr algn="l">
              <a:lnSpc>
                <a:spcPct val="115000"/>
              </a:lnSpc>
            </a:pPr>
            <a:r>
              <a:rPr sz="760" b="0" i="0">
                <a:solidFill>
                  <a:srgbClr val="8D9AB0"/>
                </a:solidFill>
                <a:latin typeface="Arial"/>
              </a:rPr>
              <a:t>Detected: MCP, confidence 0.87</a:t>
            </a:r>
          </a:p>
        </p:txBody>
      </p:sp>
      <p:sp>
        <p:nvSpPr>
          <p:cNvPr id="14" name="Rounded Rectangle 13"/>
          <p:cNvSpPr/>
          <p:nvPr/>
        </p:nvSpPr>
        <p:spPr>
          <a:xfrm>
            <a:off x="7223760" y="1847088"/>
            <a:ext cx="4401281" cy="1874519"/>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7223760" y="1847088"/>
            <a:ext cx="4401281" cy="4572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498080" y="2066543"/>
            <a:ext cx="3852641" cy="219456"/>
          </a:xfrm>
          <a:prstGeom prst="rect">
            <a:avLst/>
          </a:prstGeom>
          <a:noFill/>
        </p:spPr>
        <p:txBody>
          <a:bodyPr wrap="square" lIns="0" rIns="0" tIns="0" bIns="0" anchor="t">
            <a:spAutoFit/>
          </a:bodyPr>
          <a:lstStyle/>
          <a:p>
            <a:pPr algn="l">
              <a:lnSpc>
                <a:spcPct val="115000"/>
              </a:lnSpc>
            </a:pPr>
            <a:r>
              <a:rPr sz="950" b="1" i="0" spc="120">
                <a:solidFill>
                  <a:srgbClr val="8D9AB0"/>
                </a:solidFill>
                <a:latin typeface="Arial"/>
              </a:rPr>
              <a:t>MEASURED VISIBILITY ÷ CLUB ALLOCATION</a:t>
            </a:r>
          </a:p>
        </p:txBody>
      </p:sp>
      <p:sp>
        <p:nvSpPr>
          <p:cNvPr id="17" name="TextBox 16"/>
          <p:cNvSpPr txBox="1"/>
          <p:nvPr/>
        </p:nvSpPr>
        <p:spPr>
          <a:xfrm>
            <a:off x="7498080" y="2395728"/>
            <a:ext cx="1920240" cy="658368"/>
          </a:xfrm>
          <a:prstGeom prst="rect">
            <a:avLst/>
          </a:prstGeom>
          <a:noFill/>
        </p:spPr>
        <p:txBody>
          <a:bodyPr wrap="square" lIns="0" rIns="0" tIns="0" bIns="0" anchor="t">
            <a:spAutoFit/>
          </a:bodyPr>
          <a:lstStyle/>
          <a:p>
            <a:pPr algn="l">
              <a:lnSpc>
                <a:spcPct val="95000"/>
              </a:lnSpc>
            </a:pPr>
            <a:r>
              <a:rPr sz="4400" b="1" i="0">
                <a:solidFill>
                  <a:srgbClr val="FFC20E"/>
                </a:solidFill>
                <a:latin typeface="Arial"/>
              </a:rPr>
              <a:t>0.72×</a:t>
            </a:r>
          </a:p>
        </p:txBody>
      </p:sp>
      <p:sp>
        <p:nvSpPr>
          <p:cNvPr id="18" name="TextBox 17"/>
          <p:cNvSpPr txBox="1"/>
          <p:nvPr/>
        </p:nvSpPr>
        <p:spPr>
          <a:xfrm>
            <a:off x="9555480" y="2450592"/>
            <a:ext cx="1795241" cy="548640"/>
          </a:xfrm>
          <a:prstGeom prst="rect">
            <a:avLst/>
          </a:prstGeom>
          <a:noFill/>
        </p:spPr>
        <p:txBody>
          <a:bodyPr wrap="square" lIns="0" rIns="0" tIns="0" bIns="0" anchor="t">
            <a:spAutoFit/>
          </a:bodyPr>
          <a:lstStyle/>
          <a:p>
            <a:pPr algn="l">
              <a:lnSpc>
                <a:spcPct val="134000"/>
              </a:lnSpc>
            </a:pPr>
            <a:r>
              <a:rPr sz="1250" b="0" i="0">
                <a:solidFill>
                  <a:srgbClr val="8D9AB0"/>
                </a:solidFill>
                <a:latin typeface="Arial"/>
              </a:rPr>
              <a:t>Club allocation</a:t>
            </a:r>
          </a:p>
          <a:p>
            <a:pPr algn="l">
              <a:lnSpc>
                <a:spcPct val="134000"/>
              </a:lnSpc>
            </a:pPr>
            <a:r>
              <a:rPr sz="1250" b="0" i="0">
                <a:solidFill>
                  <a:srgbClr val="8D9AB0"/>
                </a:solidFill>
                <a:latin typeface="Arial"/>
              </a:rPr>
              <a:t>19%</a:t>
            </a:r>
          </a:p>
        </p:txBody>
      </p:sp>
      <p:sp>
        <p:nvSpPr>
          <p:cNvPr id="19" name="TextBox 18"/>
          <p:cNvSpPr txBox="1"/>
          <p:nvPr/>
        </p:nvSpPr>
        <p:spPr>
          <a:xfrm>
            <a:off x="9555480" y="3072384"/>
            <a:ext cx="1795241" cy="548640"/>
          </a:xfrm>
          <a:prstGeom prst="rect">
            <a:avLst/>
          </a:prstGeom>
          <a:noFill/>
        </p:spPr>
        <p:txBody>
          <a:bodyPr wrap="square" lIns="0" rIns="0" tIns="0" bIns="0" anchor="t">
            <a:spAutoFit/>
          </a:bodyPr>
          <a:lstStyle/>
          <a:p>
            <a:pPr algn="l">
              <a:lnSpc>
                <a:spcPct val="134000"/>
              </a:lnSpc>
            </a:pPr>
            <a:r>
              <a:rPr sz="1250" b="1" i="0">
                <a:solidFill>
                  <a:srgbClr val="FFFFFF"/>
                </a:solidFill>
                <a:latin typeface="Arial"/>
              </a:rPr>
              <a:t>Measured visibility</a:t>
            </a:r>
          </a:p>
          <a:p>
            <a:pPr algn="l">
              <a:lnSpc>
                <a:spcPct val="134000"/>
              </a:lnSpc>
            </a:pPr>
            <a:r>
              <a:rPr sz="1250" b="1" i="0">
                <a:solidFill>
                  <a:srgbClr val="FFFFFF"/>
                </a:solidFill>
                <a:latin typeface="Arial"/>
              </a:rPr>
              <a:t>13.7%</a:t>
            </a:r>
          </a:p>
        </p:txBody>
      </p:sp>
      <p:sp>
        <p:nvSpPr>
          <p:cNvPr id="20" name="Rounded Rectangle 19"/>
          <p:cNvSpPr/>
          <p:nvPr/>
        </p:nvSpPr>
        <p:spPr>
          <a:xfrm>
            <a:off x="5541264" y="3968496"/>
            <a:ext cx="6083777" cy="1920240"/>
          </a:xfrm>
          <a:prstGeom prst="roundRect">
            <a:avLst>
              <a:gd name="adj" fmla="val 3500"/>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815584" y="4169663"/>
            <a:ext cx="5535137" cy="274320"/>
          </a:xfrm>
          <a:prstGeom prst="rect">
            <a:avLst/>
          </a:prstGeom>
          <a:noFill/>
        </p:spPr>
        <p:txBody>
          <a:bodyPr wrap="square" lIns="0" rIns="0" tIns="0" bIns="0" anchor="t">
            <a:spAutoFit/>
          </a:bodyPr>
          <a:lstStyle/>
          <a:p>
            <a:pPr algn="l">
              <a:lnSpc>
                <a:spcPct val="115000"/>
              </a:lnSpc>
            </a:pPr>
            <a:r>
              <a:rPr sz="1300" b="1" i="0">
                <a:solidFill>
                  <a:srgbClr val="FFC20E"/>
                </a:solidFill>
                <a:latin typeface="Arial"/>
              </a:rPr>
              <a:t>What this means commercially</a:t>
            </a:r>
          </a:p>
        </p:txBody>
      </p:sp>
      <p:sp>
        <p:nvSpPr>
          <p:cNvPr id="22" name="TextBox 21"/>
          <p:cNvSpPr txBox="1"/>
          <p:nvPr/>
        </p:nvSpPr>
        <p:spPr>
          <a:xfrm>
            <a:off x="5815584" y="4535424"/>
            <a:ext cx="5535137" cy="1280160"/>
          </a:xfrm>
          <a:prstGeom prst="rect">
            <a:avLst/>
          </a:prstGeom>
          <a:noFill/>
        </p:spPr>
        <p:txBody>
          <a:bodyPr wrap="square" lIns="0" rIns="0" tIns="0" bIns="0" anchor="t">
            <a:spAutoFit/>
          </a:bodyPr>
          <a:lstStyle/>
          <a:p>
            <a:pPr algn="l">
              <a:lnSpc>
                <a:spcPct val="142000"/>
              </a:lnSpc>
            </a:pPr>
            <a:r>
              <a:rPr sz="1140" b="0" i="0">
                <a:solidFill>
                  <a:srgbClr val="E7ECF4"/>
                </a:solidFill>
                <a:latin typeface="Arial"/>
              </a:rPr>
              <a:t>ASC Group on the lower back performs well above its price; MCP, Fairway and the back collar sit below it. Note the caveat: three back-top positions currently share a single visibility anchor, so their individual numbers should be read as a group rather than as three independent readings.</a:t>
            </a:r>
          </a:p>
        </p:txBody>
      </p:sp>
      <p:sp>
        <p:nvSpPr>
          <p:cNvPr id="23" name="TextBox 22"/>
          <p:cNvSpPr txBox="1"/>
          <p:nvPr/>
        </p:nvSpPr>
        <p:spPr>
          <a:xfrm>
            <a:off x="566928" y="6382512"/>
            <a:ext cx="10509473" cy="274320"/>
          </a:xfrm>
          <a:prstGeom prst="rect">
            <a:avLst/>
          </a:prstGeom>
          <a:noFill/>
        </p:spPr>
        <p:txBody>
          <a:bodyPr wrap="square" lIns="0" rIns="0" tIns="0" bIns="0" anchor="t">
            <a:spAutoFit/>
          </a:bodyPr>
          <a:lstStyle/>
          <a:p>
            <a:pPr algn="l">
              <a:lnSpc>
                <a:spcPct val="125000"/>
              </a:lnSpc>
            </a:pPr>
            <a:r>
              <a:rPr sz="860" b="0" i="0">
                <a:solidFill>
                  <a:srgbClr val="5E6C82"/>
                </a:solidFill>
                <a:latin typeface="Arial"/>
              </a:rPr>
              <a:t>Source: LogoLens full-match analysis of two complete Bradford Bulls broadcasts (home kit 2025/26), sampled at 2 frames per second. Club allocation = current management percentage; it totals 95%, LogoLens totals 100%.</a:t>
            </a:r>
          </a:p>
        </p:txBody>
      </p:sp>
      <p:sp>
        <p:nvSpPr>
          <p:cNvPr id="24" name="TextBox 23"/>
          <p:cNvSpPr txBox="1"/>
          <p:nvPr/>
        </p:nvSpPr>
        <p:spPr>
          <a:xfrm>
            <a:off x="10984961" y="6382512"/>
            <a:ext cx="640080" cy="237744"/>
          </a:xfrm>
          <a:prstGeom prst="rect">
            <a:avLst/>
          </a:prstGeom>
          <a:noFill/>
        </p:spPr>
        <p:txBody>
          <a:bodyPr wrap="square" lIns="0" rIns="0" tIns="0" bIns="0" anchor="t">
            <a:spAutoFit/>
          </a:bodyPr>
          <a:lstStyle/>
          <a:p>
            <a:pPr algn="r">
              <a:lnSpc>
                <a:spcPct val="115000"/>
              </a:lnSpc>
            </a:pPr>
            <a:r>
              <a:rPr sz="1000" b="0" i="0">
                <a:solidFill>
                  <a:srgbClr val="5E6C8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409" cy="6949440"/>
          </a:xfrm>
          <a:prstGeom prst="rect">
            <a:avLst/>
          </a:prstGeom>
          <a:solidFill>
            <a:srgbClr val="0D1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7071342" cy="50292"/>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071342" y="0"/>
            <a:ext cx="2682233" cy="50292"/>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753575" y="0"/>
            <a:ext cx="2438393" cy="50292"/>
          </a:xfrm>
          <a:prstGeom prst="rect">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402336"/>
            <a:ext cx="11058113" cy="237744"/>
          </a:xfrm>
          <a:prstGeom prst="rect">
            <a:avLst/>
          </a:prstGeom>
          <a:noFill/>
        </p:spPr>
        <p:txBody>
          <a:bodyPr wrap="square" lIns="0" rIns="0" tIns="0" bIns="0" anchor="t">
            <a:spAutoFit/>
          </a:bodyPr>
          <a:lstStyle/>
          <a:p>
            <a:pPr algn="l">
              <a:lnSpc>
                <a:spcPct val="115000"/>
              </a:lnSpc>
            </a:pPr>
            <a:r>
              <a:rPr sz="1050" b="1" i="0" spc="180">
                <a:solidFill>
                  <a:srgbClr val="FFC20E"/>
                </a:solidFill>
                <a:latin typeface="Arial"/>
              </a:rPr>
              <a:t>PLACEMENT REVIEW  ·  SLEEVES</a:t>
            </a:r>
          </a:p>
        </p:txBody>
      </p:sp>
      <p:sp>
        <p:nvSpPr>
          <p:cNvPr id="7" name="TextBox 6"/>
          <p:cNvSpPr txBox="1"/>
          <p:nvPr/>
        </p:nvSpPr>
        <p:spPr>
          <a:xfrm>
            <a:off x="566928" y="676656"/>
            <a:ext cx="11058113" cy="566928"/>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Sleeves: the same price, very different exposure</a:t>
            </a:r>
          </a:p>
        </p:txBody>
      </p:sp>
      <p:sp>
        <p:nvSpPr>
          <p:cNvPr id="8" name="TextBox 7"/>
          <p:cNvSpPr txBox="1"/>
          <p:nvPr/>
        </p:nvSpPr>
        <p:spPr>
          <a:xfrm>
            <a:off x="566928" y="1280160"/>
            <a:ext cx="9509977" cy="274320"/>
          </a:xfrm>
          <a:prstGeom prst="rect">
            <a:avLst/>
          </a:prstGeom>
          <a:noFill/>
        </p:spPr>
        <p:txBody>
          <a:bodyPr wrap="square" lIns="0" rIns="0" tIns="0" bIns="0" anchor="t">
            <a:spAutoFit/>
          </a:bodyPr>
          <a:lstStyle/>
          <a:p>
            <a:pPr algn="l">
              <a:lnSpc>
                <a:spcPct val="120000"/>
              </a:lnSpc>
            </a:pPr>
            <a:r>
              <a:rPr sz="1300" b="0" i="0">
                <a:solidFill>
                  <a:srgbClr val="8D9AB0"/>
                </a:solidFill>
                <a:latin typeface="Arial"/>
              </a:rPr>
              <a:t>19% priced against 21.6% measured. The block matches — but the three sleeve positions inside it do not.</a:t>
            </a:r>
          </a:p>
        </p:txBody>
      </p:sp>
      <p:pic>
        <p:nvPicPr>
          <p:cNvPr id="9" name="Picture 8" descr="c4_sleeves.png"/>
          <p:cNvPicPr>
            <a:picLocks noChangeAspect="1"/>
          </p:cNvPicPr>
          <p:nvPr/>
        </p:nvPicPr>
        <p:blipFill>
          <a:blip r:embed="rId2"/>
          <a:stretch>
            <a:fillRect/>
          </a:stretch>
        </p:blipFill>
        <p:spPr>
          <a:xfrm>
            <a:off x="521207" y="2372010"/>
            <a:ext cx="4800600" cy="2702889"/>
          </a:xfrm>
          <a:prstGeom prst="rect">
            <a:avLst/>
          </a:prstGeom>
        </p:spPr>
      </p:pic>
      <p:pic>
        <p:nvPicPr>
          <p:cNvPr id="10" name="Picture 9" descr="ev_sleeves.jpg"/>
          <p:cNvPicPr>
            <a:picLocks noChangeAspect="1"/>
          </p:cNvPicPr>
          <p:nvPr/>
        </p:nvPicPr>
        <p:blipFill>
          <a:blip r:embed="rId3"/>
          <a:srcRect l="7778" r="7778"/>
          <a:stretch>
            <a:fillRect/>
          </a:stretch>
        </p:blipFill>
        <p:spPr>
          <a:xfrm>
            <a:off x="5541264" y="1847088"/>
            <a:ext cx="1499616" cy="1874519"/>
          </a:xfrm>
          <a:prstGeom prst="rect">
            <a:avLst/>
          </a:prstGeom>
        </p:spPr>
      </p:pic>
      <p:sp>
        <p:nvSpPr>
          <p:cNvPr id="11" name="Rectangle 10"/>
          <p:cNvSpPr/>
          <p:nvPr/>
        </p:nvSpPr>
        <p:spPr>
          <a:xfrm>
            <a:off x="5541264" y="1847088"/>
            <a:ext cx="1499616" cy="1874519"/>
          </a:xfrm>
          <a:prstGeom prst="rect">
            <a:avLst/>
          </a:prstGeom>
          <a:noFill/>
          <a:ln w="15240">
            <a:solidFill>
              <a:srgbClr val="2C384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541264" y="3447288"/>
            <a:ext cx="1499616" cy="274320"/>
          </a:xfrm>
          <a:prstGeom prst="rect">
            <a:avLst/>
          </a:prstGeom>
          <a:solidFill>
            <a:srgbClr val="080B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623560" y="3497580"/>
            <a:ext cx="1335024" cy="201168"/>
          </a:xfrm>
          <a:prstGeom prst="rect">
            <a:avLst/>
          </a:prstGeom>
          <a:noFill/>
        </p:spPr>
        <p:txBody>
          <a:bodyPr wrap="square" lIns="0" rIns="0" tIns="0" bIns="0" anchor="t">
            <a:spAutoFit/>
          </a:bodyPr>
          <a:lstStyle/>
          <a:p>
            <a:pPr algn="l">
              <a:lnSpc>
                <a:spcPct val="115000"/>
              </a:lnSpc>
            </a:pPr>
            <a:r>
              <a:rPr sz="760" b="0" i="0">
                <a:solidFill>
                  <a:srgbClr val="8D9AB0"/>
                </a:solidFill>
                <a:latin typeface="Arial"/>
              </a:rPr>
              <a:t>Detected: ATM Hospitality, confidence 0.71</a:t>
            </a:r>
          </a:p>
        </p:txBody>
      </p:sp>
      <p:sp>
        <p:nvSpPr>
          <p:cNvPr id="14" name="Rounded Rectangle 13"/>
          <p:cNvSpPr/>
          <p:nvPr/>
        </p:nvSpPr>
        <p:spPr>
          <a:xfrm>
            <a:off x="7223760" y="1847088"/>
            <a:ext cx="4401281" cy="1874519"/>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7223760" y="1847088"/>
            <a:ext cx="4401281" cy="45720"/>
          </a:xfrm>
          <a:prstGeom prst="rect">
            <a:avLst/>
          </a:prstGeom>
          <a:solidFill>
            <a:srgbClr val="2EC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498080" y="2066543"/>
            <a:ext cx="3852641" cy="219456"/>
          </a:xfrm>
          <a:prstGeom prst="rect">
            <a:avLst/>
          </a:prstGeom>
          <a:noFill/>
        </p:spPr>
        <p:txBody>
          <a:bodyPr wrap="square" lIns="0" rIns="0" tIns="0" bIns="0" anchor="t">
            <a:spAutoFit/>
          </a:bodyPr>
          <a:lstStyle/>
          <a:p>
            <a:pPr algn="l">
              <a:lnSpc>
                <a:spcPct val="115000"/>
              </a:lnSpc>
            </a:pPr>
            <a:r>
              <a:rPr sz="950" b="1" i="0" spc="120">
                <a:solidFill>
                  <a:srgbClr val="8D9AB0"/>
                </a:solidFill>
                <a:latin typeface="Arial"/>
              </a:rPr>
              <a:t>MEASURED VISIBILITY ÷ CLUB ALLOCATION</a:t>
            </a:r>
          </a:p>
        </p:txBody>
      </p:sp>
      <p:sp>
        <p:nvSpPr>
          <p:cNvPr id="17" name="TextBox 16"/>
          <p:cNvSpPr txBox="1"/>
          <p:nvPr/>
        </p:nvSpPr>
        <p:spPr>
          <a:xfrm>
            <a:off x="7498080" y="2395728"/>
            <a:ext cx="1920240" cy="658368"/>
          </a:xfrm>
          <a:prstGeom prst="rect">
            <a:avLst/>
          </a:prstGeom>
          <a:noFill/>
        </p:spPr>
        <p:txBody>
          <a:bodyPr wrap="square" lIns="0" rIns="0" tIns="0" bIns="0" anchor="t">
            <a:spAutoFit/>
          </a:bodyPr>
          <a:lstStyle/>
          <a:p>
            <a:pPr algn="l">
              <a:lnSpc>
                <a:spcPct val="95000"/>
              </a:lnSpc>
            </a:pPr>
            <a:r>
              <a:rPr sz="4400" b="1" i="0">
                <a:solidFill>
                  <a:srgbClr val="2ECC8F"/>
                </a:solidFill>
                <a:latin typeface="Arial"/>
              </a:rPr>
              <a:t>1.14×</a:t>
            </a:r>
          </a:p>
        </p:txBody>
      </p:sp>
      <p:sp>
        <p:nvSpPr>
          <p:cNvPr id="18" name="TextBox 17"/>
          <p:cNvSpPr txBox="1"/>
          <p:nvPr/>
        </p:nvSpPr>
        <p:spPr>
          <a:xfrm>
            <a:off x="9555480" y="2450592"/>
            <a:ext cx="1795241" cy="548640"/>
          </a:xfrm>
          <a:prstGeom prst="rect">
            <a:avLst/>
          </a:prstGeom>
          <a:noFill/>
        </p:spPr>
        <p:txBody>
          <a:bodyPr wrap="square" lIns="0" rIns="0" tIns="0" bIns="0" anchor="t">
            <a:spAutoFit/>
          </a:bodyPr>
          <a:lstStyle/>
          <a:p>
            <a:pPr algn="l">
              <a:lnSpc>
                <a:spcPct val="134000"/>
              </a:lnSpc>
            </a:pPr>
            <a:r>
              <a:rPr sz="1250" b="0" i="0">
                <a:solidFill>
                  <a:srgbClr val="8D9AB0"/>
                </a:solidFill>
                <a:latin typeface="Arial"/>
              </a:rPr>
              <a:t>Club allocation</a:t>
            </a:r>
          </a:p>
          <a:p>
            <a:pPr algn="l">
              <a:lnSpc>
                <a:spcPct val="134000"/>
              </a:lnSpc>
            </a:pPr>
            <a:r>
              <a:rPr sz="1250" b="0" i="0">
                <a:solidFill>
                  <a:srgbClr val="8D9AB0"/>
                </a:solidFill>
                <a:latin typeface="Arial"/>
              </a:rPr>
              <a:t>19%</a:t>
            </a:r>
          </a:p>
        </p:txBody>
      </p:sp>
      <p:sp>
        <p:nvSpPr>
          <p:cNvPr id="19" name="TextBox 18"/>
          <p:cNvSpPr txBox="1"/>
          <p:nvPr/>
        </p:nvSpPr>
        <p:spPr>
          <a:xfrm>
            <a:off x="9555480" y="3072384"/>
            <a:ext cx="1795241" cy="548640"/>
          </a:xfrm>
          <a:prstGeom prst="rect">
            <a:avLst/>
          </a:prstGeom>
          <a:noFill/>
        </p:spPr>
        <p:txBody>
          <a:bodyPr wrap="square" lIns="0" rIns="0" tIns="0" bIns="0" anchor="t">
            <a:spAutoFit/>
          </a:bodyPr>
          <a:lstStyle/>
          <a:p>
            <a:pPr algn="l">
              <a:lnSpc>
                <a:spcPct val="134000"/>
              </a:lnSpc>
            </a:pPr>
            <a:r>
              <a:rPr sz="1250" b="1" i="0">
                <a:solidFill>
                  <a:srgbClr val="FFFFFF"/>
                </a:solidFill>
                <a:latin typeface="Arial"/>
              </a:rPr>
              <a:t>Measured visibility</a:t>
            </a:r>
          </a:p>
          <a:p>
            <a:pPr algn="l">
              <a:lnSpc>
                <a:spcPct val="134000"/>
              </a:lnSpc>
            </a:pPr>
            <a:r>
              <a:rPr sz="1250" b="1" i="0">
                <a:solidFill>
                  <a:srgbClr val="FFFFFF"/>
                </a:solidFill>
                <a:latin typeface="Arial"/>
              </a:rPr>
              <a:t>21.6%</a:t>
            </a:r>
          </a:p>
        </p:txBody>
      </p:sp>
      <p:sp>
        <p:nvSpPr>
          <p:cNvPr id="20" name="Rounded Rectangle 19"/>
          <p:cNvSpPr/>
          <p:nvPr/>
        </p:nvSpPr>
        <p:spPr>
          <a:xfrm>
            <a:off x="5541264" y="3968496"/>
            <a:ext cx="6083777" cy="1920240"/>
          </a:xfrm>
          <a:prstGeom prst="roundRect">
            <a:avLst>
              <a:gd name="adj" fmla="val 3500"/>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815584" y="4169663"/>
            <a:ext cx="5535137" cy="274320"/>
          </a:xfrm>
          <a:prstGeom prst="rect">
            <a:avLst/>
          </a:prstGeom>
          <a:noFill/>
        </p:spPr>
        <p:txBody>
          <a:bodyPr wrap="square" lIns="0" rIns="0" tIns="0" bIns="0" anchor="t">
            <a:spAutoFit/>
          </a:bodyPr>
          <a:lstStyle/>
          <a:p>
            <a:pPr algn="l">
              <a:lnSpc>
                <a:spcPct val="115000"/>
              </a:lnSpc>
            </a:pPr>
            <a:r>
              <a:rPr sz="1300" b="1" i="0">
                <a:solidFill>
                  <a:srgbClr val="FFC20E"/>
                </a:solidFill>
                <a:latin typeface="Arial"/>
              </a:rPr>
              <a:t>What this means commercially</a:t>
            </a:r>
          </a:p>
        </p:txBody>
      </p:sp>
      <p:sp>
        <p:nvSpPr>
          <p:cNvPr id="22" name="TextBox 21"/>
          <p:cNvSpPr txBox="1"/>
          <p:nvPr/>
        </p:nvSpPr>
        <p:spPr>
          <a:xfrm>
            <a:off x="5815584" y="4535424"/>
            <a:ext cx="5535137" cy="1280160"/>
          </a:xfrm>
          <a:prstGeom prst="rect">
            <a:avLst/>
          </a:prstGeom>
          <a:noFill/>
        </p:spPr>
        <p:txBody>
          <a:bodyPr wrap="square" lIns="0" rIns="0" tIns="0" bIns="0" anchor="t">
            <a:spAutoFit/>
          </a:bodyPr>
          <a:lstStyle/>
          <a:p>
            <a:pPr algn="l">
              <a:lnSpc>
                <a:spcPct val="142000"/>
              </a:lnSpc>
            </a:pPr>
            <a:r>
              <a:rPr sz="1140" b="0" i="0">
                <a:solidFill>
                  <a:srgbClr val="E7ECF4"/>
                </a:solidFill>
                <a:latin typeface="Arial"/>
              </a:rPr>
              <a:t>Bartercard measures 13.6% on a 4% price; ATM Hospitality measures 2.2% on an 11% price. Two sleeve slots, a 2.75× price difference, and the cheaper one is seen six times more often. This is the clearest case in the whole analysis where the block total hides the real story.</a:t>
            </a:r>
          </a:p>
        </p:txBody>
      </p:sp>
      <p:sp>
        <p:nvSpPr>
          <p:cNvPr id="23" name="TextBox 22"/>
          <p:cNvSpPr txBox="1"/>
          <p:nvPr/>
        </p:nvSpPr>
        <p:spPr>
          <a:xfrm>
            <a:off x="566928" y="6382512"/>
            <a:ext cx="10509473" cy="274320"/>
          </a:xfrm>
          <a:prstGeom prst="rect">
            <a:avLst/>
          </a:prstGeom>
          <a:noFill/>
        </p:spPr>
        <p:txBody>
          <a:bodyPr wrap="square" lIns="0" rIns="0" tIns="0" bIns="0" anchor="t">
            <a:spAutoFit/>
          </a:bodyPr>
          <a:lstStyle/>
          <a:p>
            <a:pPr algn="l">
              <a:lnSpc>
                <a:spcPct val="125000"/>
              </a:lnSpc>
            </a:pPr>
            <a:r>
              <a:rPr sz="860" b="0" i="0">
                <a:solidFill>
                  <a:srgbClr val="5E6C82"/>
                </a:solidFill>
                <a:latin typeface="Arial"/>
              </a:rPr>
              <a:t>Source: LogoLens full-match analysis of two complete Bradford Bulls broadcasts (home kit 2025/26), sampled at 2 frames per second. Club allocation = current management percentage; it totals 95%, LogoLens totals 100%.</a:t>
            </a:r>
          </a:p>
        </p:txBody>
      </p:sp>
      <p:sp>
        <p:nvSpPr>
          <p:cNvPr id="24" name="TextBox 23"/>
          <p:cNvSpPr txBox="1"/>
          <p:nvPr/>
        </p:nvSpPr>
        <p:spPr>
          <a:xfrm>
            <a:off x="10984961" y="6382512"/>
            <a:ext cx="640080" cy="237744"/>
          </a:xfrm>
          <a:prstGeom prst="rect">
            <a:avLst/>
          </a:prstGeom>
          <a:noFill/>
        </p:spPr>
        <p:txBody>
          <a:bodyPr wrap="square" lIns="0" rIns="0" tIns="0" bIns="0" anchor="t">
            <a:spAutoFit/>
          </a:bodyPr>
          <a:lstStyle/>
          <a:p>
            <a:pPr algn="r">
              <a:lnSpc>
                <a:spcPct val="115000"/>
              </a:lnSpc>
            </a:pPr>
            <a:r>
              <a:rPr sz="1000" b="0" i="0">
                <a:solidFill>
                  <a:srgbClr val="5E6C8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409" cy="6949440"/>
          </a:xfrm>
          <a:prstGeom prst="rect">
            <a:avLst/>
          </a:prstGeom>
          <a:solidFill>
            <a:srgbClr val="0D1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7071342" cy="50292"/>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071342" y="0"/>
            <a:ext cx="2682233" cy="50292"/>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753575" y="0"/>
            <a:ext cx="2438393" cy="50292"/>
          </a:xfrm>
          <a:prstGeom prst="rect">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402336"/>
            <a:ext cx="11058113" cy="237744"/>
          </a:xfrm>
          <a:prstGeom prst="rect">
            <a:avLst/>
          </a:prstGeom>
          <a:noFill/>
        </p:spPr>
        <p:txBody>
          <a:bodyPr wrap="square" lIns="0" rIns="0" tIns="0" bIns="0" anchor="t">
            <a:spAutoFit/>
          </a:bodyPr>
          <a:lstStyle/>
          <a:p>
            <a:pPr algn="l">
              <a:lnSpc>
                <a:spcPct val="115000"/>
              </a:lnSpc>
            </a:pPr>
            <a:r>
              <a:rPr sz="1050" b="1" i="0" spc="180">
                <a:solidFill>
                  <a:srgbClr val="FFC20E"/>
                </a:solidFill>
                <a:latin typeface="Arial"/>
              </a:rPr>
              <a:t>PLACEMENT REVIEW  ·  SHORTS</a:t>
            </a:r>
          </a:p>
        </p:txBody>
      </p:sp>
      <p:sp>
        <p:nvSpPr>
          <p:cNvPr id="7" name="TextBox 6"/>
          <p:cNvSpPr txBox="1"/>
          <p:nvPr/>
        </p:nvSpPr>
        <p:spPr>
          <a:xfrm>
            <a:off x="566928" y="676656"/>
            <a:ext cx="11058113" cy="566928"/>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Shorts: the most under-priced real estate on the kit</a:t>
            </a:r>
          </a:p>
        </p:txBody>
      </p:sp>
      <p:sp>
        <p:nvSpPr>
          <p:cNvPr id="8" name="TextBox 7"/>
          <p:cNvSpPr txBox="1"/>
          <p:nvPr/>
        </p:nvSpPr>
        <p:spPr>
          <a:xfrm>
            <a:off x="566928" y="1280160"/>
            <a:ext cx="9509977" cy="274320"/>
          </a:xfrm>
          <a:prstGeom prst="rect">
            <a:avLst/>
          </a:prstGeom>
          <a:noFill/>
        </p:spPr>
        <p:txBody>
          <a:bodyPr wrap="square" lIns="0" rIns="0" tIns="0" bIns="0" anchor="t">
            <a:spAutoFit/>
          </a:bodyPr>
          <a:lstStyle/>
          <a:p>
            <a:pPr algn="l">
              <a:lnSpc>
                <a:spcPct val="120000"/>
              </a:lnSpc>
            </a:pPr>
            <a:r>
              <a:rPr sz="1300" b="0" i="0">
                <a:solidFill>
                  <a:srgbClr val="8D9AB0"/>
                </a:solidFill>
                <a:latin typeface="Arial"/>
              </a:rPr>
              <a:t>14% of the price, 43.1% of measured broadcast visibility — a 3.07× difference, and the strongest signal in the analysis.</a:t>
            </a:r>
          </a:p>
        </p:txBody>
      </p:sp>
      <p:pic>
        <p:nvPicPr>
          <p:cNvPr id="9" name="Picture 8" descr="c4_shorts.png"/>
          <p:cNvPicPr>
            <a:picLocks noChangeAspect="1"/>
          </p:cNvPicPr>
          <p:nvPr/>
        </p:nvPicPr>
        <p:blipFill>
          <a:blip r:embed="rId2"/>
          <a:stretch>
            <a:fillRect/>
          </a:stretch>
        </p:blipFill>
        <p:spPr>
          <a:xfrm>
            <a:off x="521207" y="2037683"/>
            <a:ext cx="4800600" cy="3297536"/>
          </a:xfrm>
          <a:prstGeom prst="rect">
            <a:avLst/>
          </a:prstGeom>
        </p:spPr>
      </p:pic>
      <p:pic>
        <p:nvPicPr>
          <p:cNvPr id="10" name="Picture 9" descr="ev_shorts.jpg"/>
          <p:cNvPicPr>
            <a:picLocks noChangeAspect="1"/>
          </p:cNvPicPr>
          <p:nvPr/>
        </p:nvPicPr>
        <p:blipFill>
          <a:blip r:embed="rId3"/>
          <a:srcRect l="7778" r="7778"/>
          <a:stretch>
            <a:fillRect/>
          </a:stretch>
        </p:blipFill>
        <p:spPr>
          <a:xfrm>
            <a:off x="5541264" y="1847088"/>
            <a:ext cx="1499616" cy="1874519"/>
          </a:xfrm>
          <a:prstGeom prst="rect">
            <a:avLst/>
          </a:prstGeom>
        </p:spPr>
      </p:pic>
      <p:sp>
        <p:nvSpPr>
          <p:cNvPr id="11" name="Rectangle 10"/>
          <p:cNvSpPr/>
          <p:nvPr/>
        </p:nvSpPr>
        <p:spPr>
          <a:xfrm>
            <a:off x="5541264" y="1847088"/>
            <a:ext cx="1499616" cy="1874519"/>
          </a:xfrm>
          <a:prstGeom prst="rect">
            <a:avLst/>
          </a:prstGeom>
          <a:noFill/>
          <a:ln w="15240">
            <a:solidFill>
              <a:srgbClr val="2C384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5541264" y="3447288"/>
            <a:ext cx="1499616" cy="274320"/>
          </a:xfrm>
          <a:prstGeom prst="rect">
            <a:avLst/>
          </a:prstGeom>
          <a:solidFill>
            <a:srgbClr val="080B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623560" y="3497580"/>
            <a:ext cx="1335024" cy="201168"/>
          </a:xfrm>
          <a:prstGeom prst="rect">
            <a:avLst/>
          </a:prstGeom>
          <a:noFill/>
        </p:spPr>
        <p:txBody>
          <a:bodyPr wrap="square" lIns="0" rIns="0" tIns="0" bIns="0" anchor="t">
            <a:spAutoFit/>
          </a:bodyPr>
          <a:lstStyle/>
          <a:p>
            <a:pPr algn="l">
              <a:lnSpc>
                <a:spcPct val="115000"/>
              </a:lnSpc>
            </a:pPr>
            <a:r>
              <a:rPr sz="760" b="0" i="0">
                <a:solidFill>
                  <a:srgbClr val="8D9AB0"/>
                </a:solidFill>
                <a:latin typeface="Arial"/>
              </a:rPr>
              <a:t>Detected: KLG, confidence 0.81</a:t>
            </a:r>
          </a:p>
        </p:txBody>
      </p:sp>
      <p:sp>
        <p:nvSpPr>
          <p:cNvPr id="14" name="Rounded Rectangle 13"/>
          <p:cNvSpPr/>
          <p:nvPr/>
        </p:nvSpPr>
        <p:spPr>
          <a:xfrm>
            <a:off x="7223760" y="1847088"/>
            <a:ext cx="4401281" cy="1874519"/>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7223760" y="1847088"/>
            <a:ext cx="4401281" cy="4572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498080" y="2066543"/>
            <a:ext cx="3852641" cy="219456"/>
          </a:xfrm>
          <a:prstGeom prst="rect">
            <a:avLst/>
          </a:prstGeom>
          <a:noFill/>
        </p:spPr>
        <p:txBody>
          <a:bodyPr wrap="square" lIns="0" rIns="0" tIns="0" bIns="0" anchor="t">
            <a:spAutoFit/>
          </a:bodyPr>
          <a:lstStyle/>
          <a:p>
            <a:pPr algn="l">
              <a:lnSpc>
                <a:spcPct val="115000"/>
              </a:lnSpc>
            </a:pPr>
            <a:r>
              <a:rPr sz="950" b="1" i="0" spc="120">
                <a:solidFill>
                  <a:srgbClr val="8D9AB0"/>
                </a:solidFill>
                <a:latin typeface="Arial"/>
              </a:rPr>
              <a:t>MEASURED VISIBILITY ÷ CLUB ALLOCATION</a:t>
            </a:r>
          </a:p>
        </p:txBody>
      </p:sp>
      <p:sp>
        <p:nvSpPr>
          <p:cNvPr id="17" name="TextBox 16"/>
          <p:cNvSpPr txBox="1"/>
          <p:nvPr/>
        </p:nvSpPr>
        <p:spPr>
          <a:xfrm>
            <a:off x="7498080" y="2395728"/>
            <a:ext cx="1920240" cy="658368"/>
          </a:xfrm>
          <a:prstGeom prst="rect">
            <a:avLst/>
          </a:prstGeom>
          <a:noFill/>
        </p:spPr>
        <p:txBody>
          <a:bodyPr wrap="square" lIns="0" rIns="0" tIns="0" bIns="0" anchor="t">
            <a:spAutoFit/>
          </a:bodyPr>
          <a:lstStyle/>
          <a:p>
            <a:pPr algn="l">
              <a:lnSpc>
                <a:spcPct val="95000"/>
              </a:lnSpc>
            </a:pPr>
            <a:r>
              <a:rPr sz="4400" b="1" i="0">
                <a:solidFill>
                  <a:srgbClr val="E4002B"/>
                </a:solidFill>
                <a:latin typeface="Arial"/>
              </a:rPr>
              <a:t>3.07×</a:t>
            </a:r>
          </a:p>
        </p:txBody>
      </p:sp>
      <p:sp>
        <p:nvSpPr>
          <p:cNvPr id="18" name="TextBox 17"/>
          <p:cNvSpPr txBox="1"/>
          <p:nvPr/>
        </p:nvSpPr>
        <p:spPr>
          <a:xfrm>
            <a:off x="9555480" y="2450592"/>
            <a:ext cx="1795241" cy="548640"/>
          </a:xfrm>
          <a:prstGeom prst="rect">
            <a:avLst/>
          </a:prstGeom>
          <a:noFill/>
        </p:spPr>
        <p:txBody>
          <a:bodyPr wrap="square" lIns="0" rIns="0" tIns="0" bIns="0" anchor="t">
            <a:spAutoFit/>
          </a:bodyPr>
          <a:lstStyle/>
          <a:p>
            <a:pPr algn="l">
              <a:lnSpc>
                <a:spcPct val="134000"/>
              </a:lnSpc>
            </a:pPr>
            <a:r>
              <a:rPr sz="1250" b="0" i="0">
                <a:solidFill>
                  <a:srgbClr val="8D9AB0"/>
                </a:solidFill>
                <a:latin typeface="Arial"/>
              </a:rPr>
              <a:t>Club allocation</a:t>
            </a:r>
          </a:p>
          <a:p>
            <a:pPr algn="l">
              <a:lnSpc>
                <a:spcPct val="134000"/>
              </a:lnSpc>
            </a:pPr>
            <a:r>
              <a:rPr sz="1250" b="0" i="0">
                <a:solidFill>
                  <a:srgbClr val="8D9AB0"/>
                </a:solidFill>
                <a:latin typeface="Arial"/>
              </a:rPr>
              <a:t>14%</a:t>
            </a:r>
          </a:p>
        </p:txBody>
      </p:sp>
      <p:sp>
        <p:nvSpPr>
          <p:cNvPr id="19" name="TextBox 18"/>
          <p:cNvSpPr txBox="1"/>
          <p:nvPr/>
        </p:nvSpPr>
        <p:spPr>
          <a:xfrm>
            <a:off x="9555480" y="3072384"/>
            <a:ext cx="1795241" cy="548640"/>
          </a:xfrm>
          <a:prstGeom prst="rect">
            <a:avLst/>
          </a:prstGeom>
          <a:noFill/>
        </p:spPr>
        <p:txBody>
          <a:bodyPr wrap="square" lIns="0" rIns="0" tIns="0" bIns="0" anchor="t">
            <a:spAutoFit/>
          </a:bodyPr>
          <a:lstStyle/>
          <a:p>
            <a:pPr algn="l">
              <a:lnSpc>
                <a:spcPct val="134000"/>
              </a:lnSpc>
            </a:pPr>
            <a:r>
              <a:rPr sz="1250" b="1" i="0">
                <a:solidFill>
                  <a:srgbClr val="FFFFFF"/>
                </a:solidFill>
                <a:latin typeface="Arial"/>
              </a:rPr>
              <a:t>Measured visibility</a:t>
            </a:r>
          </a:p>
          <a:p>
            <a:pPr algn="l">
              <a:lnSpc>
                <a:spcPct val="134000"/>
              </a:lnSpc>
            </a:pPr>
            <a:r>
              <a:rPr sz="1250" b="1" i="0">
                <a:solidFill>
                  <a:srgbClr val="FFFFFF"/>
                </a:solidFill>
                <a:latin typeface="Arial"/>
              </a:rPr>
              <a:t>43.1%</a:t>
            </a:r>
          </a:p>
        </p:txBody>
      </p:sp>
      <p:sp>
        <p:nvSpPr>
          <p:cNvPr id="20" name="Rounded Rectangle 19"/>
          <p:cNvSpPr/>
          <p:nvPr/>
        </p:nvSpPr>
        <p:spPr>
          <a:xfrm>
            <a:off x="5541264" y="3968496"/>
            <a:ext cx="6083777" cy="1920240"/>
          </a:xfrm>
          <a:prstGeom prst="roundRect">
            <a:avLst>
              <a:gd name="adj" fmla="val 3500"/>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815584" y="4169663"/>
            <a:ext cx="5535137" cy="274320"/>
          </a:xfrm>
          <a:prstGeom prst="rect">
            <a:avLst/>
          </a:prstGeom>
          <a:noFill/>
        </p:spPr>
        <p:txBody>
          <a:bodyPr wrap="square" lIns="0" rIns="0" tIns="0" bIns="0" anchor="t">
            <a:spAutoFit/>
          </a:bodyPr>
          <a:lstStyle/>
          <a:p>
            <a:pPr algn="l">
              <a:lnSpc>
                <a:spcPct val="115000"/>
              </a:lnSpc>
            </a:pPr>
            <a:r>
              <a:rPr sz="1300" b="1" i="0">
                <a:solidFill>
                  <a:srgbClr val="FFC20E"/>
                </a:solidFill>
                <a:latin typeface="Arial"/>
              </a:rPr>
              <a:t>What this means commercially</a:t>
            </a:r>
          </a:p>
        </p:txBody>
      </p:sp>
      <p:sp>
        <p:nvSpPr>
          <p:cNvPr id="22" name="TextBox 21"/>
          <p:cNvSpPr txBox="1"/>
          <p:nvPr/>
        </p:nvSpPr>
        <p:spPr>
          <a:xfrm>
            <a:off x="5815584" y="4535424"/>
            <a:ext cx="5535137" cy="1280160"/>
          </a:xfrm>
          <a:prstGeom prst="rect">
            <a:avLst/>
          </a:prstGeom>
          <a:noFill/>
        </p:spPr>
        <p:txBody>
          <a:bodyPr wrap="square" lIns="0" rIns="0" tIns="0" bIns="0" anchor="t">
            <a:spAutoFit/>
          </a:bodyPr>
          <a:lstStyle/>
          <a:p>
            <a:pPr algn="l">
              <a:lnSpc>
                <a:spcPct val="142000"/>
              </a:lnSpc>
            </a:pPr>
            <a:r>
              <a:rPr sz="1140" b="0" i="0">
                <a:solidFill>
                  <a:srgbClr val="E7ECF4"/>
                </a:solidFill>
                <a:latin typeface="Arial"/>
              </a:rPr>
              <a:t>Rugby league is played low. Rucks, tackles and play-the-ball sequences put the shorts squarely in the centre of the frame in close and medium camera work, which is where the broadcast spends most of its time. All four shorts positions measure above their price, and KLG on the top back is the single most-seen mark on the kit.</a:t>
            </a:r>
          </a:p>
        </p:txBody>
      </p:sp>
      <p:sp>
        <p:nvSpPr>
          <p:cNvPr id="23" name="TextBox 22"/>
          <p:cNvSpPr txBox="1"/>
          <p:nvPr/>
        </p:nvSpPr>
        <p:spPr>
          <a:xfrm>
            <a:off x="566928" y="6382512"/>
            <a:ext cx="10509473" cy="274320"/>
          </a:xfrm>
          <a:prstGeom prst="rect">
            <a:avLst/>
          </a:prstGeom>
          <a:noFill/>
        </p:spPr>
        <p:txBody>
          <a:bodyPr wrap="square" lIns="0" rIns="0" tIns="0" bIns="0" anchor="t">
            <a:spAutoFit/>
          </a:bodyPr>
          <a:lstStyle/>
          <a:p>
            <a:pPr algn="l">
              <a:lnSpc>
                <a:spcPct val="125000"/>
              </a:lnSpc>
            </a:pPr>
            <a:r>
              <a:rPr sz="860" b="0" i="0">
                <a:solidFill>
                  <a:srgbClr val="5E6C82"/>
                </a:solidFill>
                <a:latin typeface="Arial"/>
              </a:rPr>
              <a:t>Source: LogoLens full-match analysis of two complete Bradford Bulls broadcasts (home kit 2025/26), sampled at 2 frames per second. Club allocation = current management percentage; it totals 95%, LogoLens totals 100%.</a:t>
            </a:r>
          </a:p>
        </p:txBody>
      </p:sp>
      <p:sp>
        <p:nvSpPr>
          <p:cNvPr id="24" name="TextBox 23"/>
          <p:cNvSpPr txBox="1"/>
          <p:nvPr/>
        </p:nvSpPr>
        <p:spPr>
          <a:xfrm>
            <a:off x="10984961" y="6382512"/>
            <a:ext cx="640080" cy="237744"/>
          </a:xfrm>
          <a:prstGeom prst="rect">
            <a:avLst/>
          </a:prstGeom>
          <a:noFill/>
        </p:spPr>
        <p:txBody>
          <a:bodyPr wrap="square" lIns="0" rIns="0" tIns="0" bIns="0" anchor="t">
            <a:spAutoFit/>
          </a:bodyPr>
          <a:lstStyle/>
          <a:p>
            <a:pPr algn="r">
              <a:lnSpc>
                <a:spcPct val="115000"/>
              </a:lnSpc>
            </a:pPr>
            <a:r>
              <a:rPr sz="1000" b="0" i="0">
                <a:solidFill>
                  <a:srgbClr val="5E6C8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409" cy="6949440"/>
          </a:xfrm>
          <a:prstGeom prst="rect">
            <a:avLst/>
          </a:prstGeom>
          <a:solidFill>
            <a:srgbClr val="0D1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7071342" cy="50292"/>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071342" y="0"/>
            <a:ext cx="2682233" cy="50292"/>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753575" y="0"/>
            <a:ext cx="2438393" cy="50292"/>
          </a:xfrm>
          <a:prstGeom prst="rect">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402336"/>
            <a:ext cx="11058113" cy="237744"/>
          </a:xfrm>
          <a:prstGeom prst="rect">
            <a:avLst/>
          </a:prstGeom>
          <a:noFill/>
        </p:spPr>
        <p:txBody>
          <a:bodyPr wrap="square" lIns="0" rIns="0" tIns="0" bIns="0" anchor="t">
            <a:spAutoFit/>
          </a:bodyPr>
          <a:lstStyle/>
          <a:p>
            <a:pPr algn="l">
              <a:lnSpc>
                <a:spcPct val="115000"/>
              </a:lnSpc>
            </a:pPr>
            <a:r>
              <a:rPr sz="1050" b="1" i="0" spc="180">
                <a:solidFill>
                  <a:srgbClr val="FFC20E"/>
                </a:solidFill>
                <a:latin typeface="Arial"/>
              </a:rPr>
              <a:t>SCREEN-SPACE EXPOSURE</a:t>
            </a:r>
          </a:p>
        </p:txBody>
      </p:sp>
      <p:sp>
        <p:nvSpPr>
          <p:cNvPr id="7" name="TextBox 6"/>
          <p:cNvSpPr txBox="1"/>
          <p:nvPr/>
        </p:nvSpPr>
        <p:spPr>
          <a:xfrm>
            <a:off x="566928" y="676656"/>
            <a:ext cx="11058113" cy="566928"/>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Where sponsor marks actually land in frame</a:t>
            </a:r>
          </a:p>
        </p:txBody>
      </p:sp>
      <p:sp>
        <p:nvSpPr>
          <p:cNvPr id="8" name="TextBox 7"/>
          <p:cNvSpPr txBox="1"/>
          <p:nvPr/>
        </p:nvSpPr>
        <p:spPr>
          <a:xfrm>
            <a:off x="566928" y="1280160"/>
            <a:ext cx="9509977" cy="274320"/>
          </a:xfrm>
          <a:prstGeom prst="rect">
            <a:avLst/>
          </a:prstGeom>
          <a:noFill/>
        </p:spPr>
        <p:txBody>
          <a:bodyPr wrap="square" lIns="0" rIns="0" tIns="0" bIns="0" anchor="t">
            <a:spAutoFit/>
          </a:bodyPr>
          <a:lstStyle/>
          <a:p>
            <a:pPr algn="l">
              <a:lnSpc>
                <a:spcPct val="120000"/>
              </a:lnSpc>
            </a:pPr>
            <a:r>
              <a:rPr sz="1300" b="0" i="0">
                <a:solidFill>
                  <a:srgbClr val="8D9AB0"/>
                </a:solidFill>
                <a:latin typeface="Arial"/>
              </a:rPr>
              <a:t>Heat shows where retained Bradford logo detections sat on screen. Brighter means more logo-seconds in that part of the picture.</a:t>
            </a:r>
          </a:p>
        </p:txBody>
      </p:sp>
      <p:pic>
        <p:nvPicPr>
          <p:cNvPr id="9" name="Picture 8" descr="hm_tackle.jpg"/>
          <p:cNvPicPr>
            <a:picLocks noChangeAspect="1"/>
          </p:cNvPicPr>
          <p:nvPr/>
        </p:nvPicPr>
        <p:blipFill>
          <a:blip r:embed="rId2"/>
          <a:srcRect/>
          <a:stretch>
            <a:fillRect/>
          </a:stretch>
        </p:blipFill>
        <p:spPr>
          <a:xfrm>
            <a:off x="566928" y="1901952"/>
            <a:ext cx="5413248" cy="3044952"/>
          </a:xfrm>
          <a:prstGeom prst="rect">
            <a:avLst/>
          </a:prstGeom>
        </p:spPr>
      </p:pic>
      <p:sp>
        <p:nvSpPr>
          <p:cNvPr id="10" name="Rectangle 9"/>
          <p:cNvSpPr/>
          <p:nvPr/>
        </p:nvSpPr>
        <p:spPr>
          <a:xfrm>
            <a:off x="566928" y="1901952"/>
            <a:ext cx="5413248" cy="3044952"/>
          </a:xfrm>
          <a:prstGeom prst="rect">
            <a:avLst/>
          </a:prstGeom>
          <a:noFill/>
          <a:ln w="15240">
            <a:solidFill>
              <a:srgbClr val="2C384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66928" y="5084064"/>
            <a:ext cx="5413248" cy="237744"/>
          </a:xfrm>
          <a:prstGeom prst="rect">
            <a:avLst/>
          </a:prstGeom>
          <a:noFill/>
        </p:spPr>
        <p:txBody>
          <a:bodyPr wrap="square" lIns="0" rIns="0" tIns="0" bIns="0" anchor="t">
            <a:spAutoFit/>
          </a:bodyPr>
          <a:lstStyle/>
          <a:p>
            <a:pPr algn="l">
              <a:lnSpc>
                <a:spcPct val="115000"/>
              </a:lnSpc>
            </a:pPr>
            <a:r>
              <a:rPr sz="1250" b="1" i="0">
                <a:solidFill>
                  <a:srgbClr val="FFFFFF"/>
                </a:solidFill>
                <a:latin typeface="Arial"/>
              </a:rPr>
              <a:t>Close / contact passage</a:t>
            </a:r>
          </a:p>
        </p:txBody>
      </p:sp>
      <p:sp>
        <p:nvSpPr>
          <p:cNvPr id="12" name="TextBox 11"/>
          <p:cNvSpPr txBox="1"/>
          <p:nvPr/>
        </p:nvSpPr>
        <p:spPr>
          <a:xfrm>
            <a:off x="566928" y="5376672"/>
            <a:ext cx="5413248" cy="548640"/>
          </a:xfrm>
          <a:prstGeom prst="rect">
            <a:avLst/>
          </a:prstGeom>
          <a:noFill/>
        </p:spPr>
        <p:txBody>
          <a:bodyPr wrap="square" lIns="0" rIns="0" tIns="0" bIns="0" anchor="t">
            <a:spAutoFit/>
          </a:bodyPr>
          <a:lstStyle/>
          <a:p>
            <a:pPr algn="l">
              <a:lnSpc>
                <a:spcPct val="134000"/>
              </a:lnSpc>
            </a:pPr>
            <a:r>
              <a:rPr sz="1080" b="0" i="0">
                <a:solidFill>
                  <a:srgbClr val="8D9AB0"/>
                </a:solidFill>
                <a:latin typeface="Arial"/>
              </a:rPr>
              <a:t>Detections cluster around the tackle area — centre-right of frame, roughly waist height. Shorts and lower-back marks sit exactly here.</a:t>
            </a:r>
          </a:p>
        </p:txBody>
      </p:sp>
      <p:pic>
        <p:nvPicPr>
          <p:cNvPr id="13" name="Picture 12" descr="hm_wide.jpg"/>
          <p:cNvPicPr>
            <a:picLocks noChangeAspect="1"/>
          </p:cNvPicPr>
          <p:nvPr/>
        </p:nvPicPr>
        <p:blipFill>
          <a:blip r:embed="rId3"/>
          <a:srcRect/>
          <a:stretch>
            <a:fillRect/>
          </a:stretch>
        </p:blipFill>
        <p:spPr>
          <a:xfrm>
            <a:off x="6208776" y="1901952"/>
            <a:ext cx="5413248" cy="3044952"/>
          </a:xfrm>
          <a:prstGeom prst="rect">
            <a:avLst/>
          </a:prstGeom>
        </p:spPr>
      </p:pic>
      <p:sp>
        <p:nvSpPr>
          <p:cNvPr id="14" name="Rectangle 13"/>
          <p:cNvSpPr/>
          <p:nvPr/>
        </p:nvSpPr>
        <p:spPr>
          <a:xfrm>
            <a:off x="6208776" y="1901952"/>
            <a:ext cx="5413248" cy="3044952"/>
          </a:xfrm>
          <a:prstGeom prst="rect">
            <a:avLst/>
          </a:prstGeom>
          <a:noFill/>
          <a:ln w="15240">
            <a:solidFill>
              <a:srgbClr val="2C384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208776" y="5084064"/>
            <a:ext cx="5413248" cy="237744"/>
          </a:xfrm>
          <a:prstGeom prst="rect">
            <a:avLst/>
          </a:prstGeom>
          <a:noFill/>
        </p:spPr>
        <p:txBody>
          <a:bodyPr wrap="square" lIns="0" rIns="0" tIns="0" bIns="0" anchor="t">
            <a:spAutoFit/>
          </a:bodyPr>
          <a:lstStyle/>
          <a:p>
            <a:pPr algn="l">
              <a:lnSpc>
                <a:spcPct val="115000"/>
              </a:lnSpc>
            </a:pPr>
            <a:r>
              <a:rPr sz="1250" b="1" i="0">
                <a:solidFill>
                  <a:srgbClr val="FFFFFF"/>
                </a:solidFill>
                <a:latin typeface="Arial"/>
              </a:rPr>
              <a:t>Wide tactical passage</a:t>
            </a:r>
          </a:p>
        </p:txBody>
      </p:sp>
      <p:sp>
        <p:nvSpPr>
          <p:cNvPr id="16" name="TextBox 15"/>
          <p:cNvSpPr txBox="1"/>
          <p:nvPr/>
        </p:nvSpPr>
        <p:spPr>
          <a:xfrm>
            <a:off x="6208776" y="5376672"/>
            <a:ext cx="5413248" cy="548640"/>
          </a:xfrm>
          <a:prstGeom prst="rect">
            <a:avLst/>
          </a:prstGeom>
          <a:noFill/>
        </p:spPr>
        <p:txBody>
          <a:bodyPr wrap="square" lIns="0" rIns="0" tIns="0" bIns="0" anchor="t">
            <a:spAutoFit/>
          </a:bodyPr>
          <a:lstStyle/>
          <a:p>
            <a:pPr algn="l">
              <a:lnSpc>
                <a:spcPct val="134000"/>
              </a:lnSpc>
            </a:pPr>
            <a:r>
              <a:rPr sz="1080" b="0" i="0">
                <a:solidFill>
                  <a:srgbClr val="8D9AB0"/>
                </a:solidFill>
                <a:latin typeface="Arial"/>
              </a:rPr>
              <a:t>Exposure spreads and weakens. Marks drift toward the edge of frame, where the position weighting reduces their value.</a:t>
            </a:r>
          </a:p>
        </p:txBody>
      </p:sp>
      <p:sp>
        <p:nvSpPr>
          <p:cNvPr id="17" name="TextBox 16"/>
          <p:cNvSpPr txBox="1"/>
          <p:nvPr/>
        </p:nvSpPr>
        <p:spPr>
          <a:xfrm>
            <a:off x="566928" y="6382512"/>
            <a:ext cx="10509473" cy="274320"/>
          </a:xfrm>
          <a:prstGeom prst="rect">
            <a:avLst/>
          </a:prstGeom>
          <a:noFill/>
        </p:spPr>
        <p:txBody>
          <a:bodyPr wrap="square" lIns="0" rIns="0" tIns="0" bIns="0" anchor="t">
            <a:spAutoFit/>
          </a:bodyPr>
          <a:lstStyle/>
          <a:p>
            <a:pPr algn="l">
              <a:lnSpc>
                <a:spcPct val="125000"/>
              </a:lnSpc>
            </a:pPr>
            <a:r>
              <a:rPr sz="860" b="0" i="0">
                <a:solidFill>
                  <a:srgbClr val="5E6C82"/>
                </a:solidFill>
                <a:latin typeface="Arial"/>
              </a:rPr>
              <a:t>Heatmaps are relative intensity of retained logo detections in screen space, from two representative passages of the analysed footage. Not pitch coordinates.</a:t>
            </a:r>
          </a:p>
        </p:txBody>
      </p:sp>
      <p:sp>
        <p:nvSpPr>
          <p:cNvPr id="18" name="TextBox 17"/>
          <p:cNvSpPr txBox="1"/>
          <p:nvPr/>
        </p:nvSpPr>
        <p:spPr>
          <a:xfrm>
            <a:off x="10984961" y="6382512"/>
            <a:ext cx="640080" cy="237744"/>
          </a:xfrm>
          <a:prstGeom prst="rect">
            <a:avLst/>
          </a:prstGeom>
          <a:noFill/>
        </p:spPr>
        <p:txBody>
          <a:bodyPr wrap="square" lIns="0" rIns="0" tIns="0" bIns="0" anchor="t">
            <a:spAutoFit/>
          </a:bodyPr>
          <a:lstStyle/>
          <a:p>
            <a:pPr algn="r">
              <a:lnSpc>
                <a:spcPct val="115000"/>
              </a:lnSpc>
            </a:pPr>
            <a:r>
              <a:rPr sz="1000" b="0" i="0">
                <a:solidFill>
                  <a:srgbClr val="5E6C8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409" cy="6949440"/>
          </a:xfrm>
          <a:prstGeom prst="rect">
            <a:avLst/>
          </a:prstGeom>
          <a:solidFill>
            <a:srgbClr val="0D1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7071342" cy="50292"/>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071342" y="0"/>
            <a:ext cx="2682233" cy="50292"/>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753575" y="0"/>
            <a:ext cx="2438393" cy="50292"/>
          </a:xfrm>
          <a:prstGeom prst="rect">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402336"/>
            <a:ext cx="11058113" cy="237744"/>
          </a:xfrm>
          <a:prstGeom prst="rect">
            <a:avLst/>
          </a:prstGeom>
          <a:noFill/>
        </p:spPr>
        <p:txBody>
          <a:bodyPr wrap="square" lIns="0" rIns="0" tIns="0" bIns="0" anchor="t">
            <a:spAutoFit/>
          </a:bodyPr>
          <a:lstStyle/>
          <a:p>
            <a:pPr algn="l">
              <a:lnSpc>
                <a:spcPct val="115000"/>
              </a:lnSpc>
            </a:pPr>
            <a:r>
              <a:rPr sz="1050" b="1" i="0" spc="180">
                <a:solidFill>
                  <a:srgbClr val="FFC20E"/>
                </a:solidFill>
                <a:latin typeface="Arial"/>
              </a:rPr>
              <a:t>LIVE DEMONSTRATION</a:t>
            </a:r>
          </a:p>
        </p:txBody>
      </p:sp>
      <p:sp>
        <p:nvSpPr>
          <p:cNvPr id="7" name="TextBox 6"/>
          <p:cNvSpPr txBox="1"/>
          <p:nvPr/>
        </p:nvSpPr>
        <p:spPr>
          <a:xfrm>
            <a:off x="566928" y="676656"/>
            <a:ext cx="11058113" cy="566928"/>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The system working on real Bradford footage</a:t>
            </a:r>
          </a:p>
        </p:txBody>
      </p:sp>
      <p:sp>
        <p:nvSpPr>
          <p:cNvPr id="8" name="TextBox 7"/>
          <p:cNvSpPr txBox="1"/>
          <p:nvPr/>
        </p:nvSpPr>
        <p:spPr>
          <a:xfrm>
            <a:off x="566928" y="1280160"/>
            <a:ext cx="9509977" cy="274320"/>
          </a:xfrm>
          <a:prstGeom prst="rect">
            <a:avLst/>
          </a:prstGeom>
          <a:noFill/>
        </p:spPr>
        <p:txBody>
          <a:bodyPr wrap="square" lIns="0" rIns="0" tIns="0" bIns="0" anchor="t">
            <a:spAutoFit/>
          </a:bodyPr>
          <a:lstStyle/>
          <a:p>
            <a:pPr algn="l">
              <a:lnSpc>
                <a:spcPct val="120000"/>
              </a:lnSpc>
            </a:pPr>
            <a:r>
              <a:rPr sz="1300" b="0" i="0">
                <a:solidFill>
                  <a:srgbClr val="8D9AB0"/>
                </a:solidFill>
                <a:latin typeface="Arial"/>
              </a:rPr>
              <a:t>Both clips are unedited system output. Click either to play.</a:t>
            </a:r>
          </a:p>
        </p:txBody>
      </p:sp>
      <p:pic>
        <p:nvPicPr>
          <p:cNvPr id="9" name="tackle_team_split.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66928" y="1847088"/>
            <a:ext cx="5413248" cy="3044952"/>
          </a:xfrm>
          <a:prstGeom prst="rect">
            <a:avLst/>
          </a:prstGeom>
        </p:spPr>
      </p:pic>
      <p:sp>
        <p:nvSpPr>
          <p:cNvPr id="10" name="Rectangle 9"/>
          <p:cNvSpPr/>
          <p:nvPr/>
        </p:nvSpPr>
        <p:spPr>
          <a:xfrm>
            <a:off x="566928" y="1847088"/>
            <a:ext cx="5413248" cy="3044952"/>
          </a:xfrm>
          <a:prstGeom prst="rect">
            <a:avLst/>
          </a:prstGeom>
          <a:noFill/>
          <a:ln w="15240">
            <a:solidFill>
              <a:srgbClr val="2C384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66928" y="5029200"/>
            <a:ext cx="5413248" cy="237744"/>
          </a:xfrm>
          <a:prstGeom prst="rect">
            <a:avLst/>
          </a:prstGeom>
          <a:noFill/>
        </p:spPr>
        <p:txBody>
          <a:bodyPr wrap="square" lIns="0" rIns="0" tIns="0" bIns="0" anchor="t">
            <a:spAutoFit/>
          </a:bodyPr>
          <a:lstStyle/>
          <a:p>
            <a:pPr algn="l">
              <a:lnSpc>
                <a:spcPct val="115000"/>
              </a:lnSpc>
            </a:pPr>
            <a:r>
              <a:rPr sz="1300" b="1" i="0">
                <a:solidFill>
                  <a:srgbClr val="FFFFFF"/>
                </a:solidFill>
                <a:latin typeface="Arial"/>
              </a:rPr>
              <a:t>Detection and team filtering</a:t>
            </a:r>
          </a:p>
        </p:txBody>
      </p:sp>
      <p:sp>
        <p:nvSpPr>
          <p:cNvPr id="12" name="TextBox 11"/>
          <p:cNvSpPr txBox="1"/>
          <p:nvPr/>
        </p:nvSpPr>
        <p:spPr>
          <a:xfrm>
            <a:off x="566928" y="5321808"/>
            <a:ext cx="5413248" cy="731520"/>
          </a:xfrm>
          <a:prstGeom prst="rect">
            <a:avLst/>
          </a:prstGeom>
          <a:noFill/>
        </p:spPr>
        <p:txBody>
          <a:bodyPr wrap="square" lIns="0" rIns="0" tIns="0" bIns="0" anchor="t">
            <a:spAutoFit/>
          </a:bodyPr>
          <a:lstStyle/>
          <a:p>
            <a:pPr algn="l">
              <a:lnSpc>
                <a:spcPct val="134000"/>
              </a:lnSpc>
            </a:pPr>
            <a:r>
              <a:rPr sz="1080" b="0" i="0">
                <a:solidFill>
                  <a:srgbClr val="8D9AB0"/>
                </a:solidFill>
                <a:latin typeface="Arial"/>
              </a:rPr>
              <a:t>Every sponsor mark is boxed with its confidence. Bradford players are kept (amber), opponents and officials are discarded (grey), uncertain players are held back rather than guessed. Only kept detections earn exposure.</a:t>
            </a:r>
          </a:p>
        </p:txBody>
      </p:sp>
      <p:pic>
        <p:nvPicPr>
          <p:cNvPr id="13" name="tackle_body.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6208776" y="1847088"/>
            <a:ext cx="5413248" cy="3044952"/>
          </a:xfrm>
          <a:prstGeom prst="rect">
            <a:avLst/>
          </a:prstGeom>
        </p:spPr>
      </p:pic>
      <p:sp>
        <p:nvSpPr>
          <p:cNvPr id="14" name="Rectangle 13"/>
          <p:cNvSpPr/>
          <p:nvPr/>
        </p:nvSpPr>
        <p:spPr>
          <a:xfrm>
            <a:off x="6208776" y="1847088"/>
            <a:ext cx="5413248" cy="3044952"/>
          </a:xfrm>
          <a:prstGeom prst="rect">
            <a:avLst/>
          </a:prstGeom>
          <a:noFill/>
          <a:ln w="15240">
            <a:solidFill>
              <a:srgbClr val="2C384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208776" y="5029200"/>
            <a:ext cx="5413248" cy="237744"/>
          </a:xfrm>
          <a:prstGeom prst="rect">
            <a:avLst/>
          </a:prstGeom>
          <a:noFill/>
        </p:spPr>
        <p:txBody>
          <a:bodyPr wrap="square" lIns="0" rIns="0" tIns="0" bIns="0" anchor="t">
            <a:spAutoFit/>
          </a:bodyPr>
          <a:lstStyle/>
          <a:p>
            <a:pPr algn="l">
              <a:lnSpc>
                <a:spcPct val="115000"/>
              </a:lnSpc>
            </a:pPr>
            <a:r>
              <a:rPr sz="1300" b="1" i="0">
                <a:solidFill>
                  <a:srgbClr val="FFFFFF"/>
                </a:solidFill>
                <a:latin typeface="Arial"/>
              </a:rPr>
              <a:t>Body-zone attribution</a:t>
            </a:r>
          </a:p>
        </p:txBody>
      </p:sp>
      <p:sp>
        <p:nvSpPr>
          <p:cNvPr id="16" name="TextBox 15"/>
          <p:cNvSpPr txBox="1"/>
          <p:nvPr/>
        </p:nvSpPr>
        <p:spPr>
          <a:xfrm>
            <a:off x="6208776" y="5321808"/>
            <a:ext cx="5413248" cy="731520"/>
          </a:xfrm>
          <a:prstGeom prst="rect">
            <a:avLst/>
          </a:prstGeom>
          <a:noFill/>
        </p:spPr>
        <p:txBody>
          <a:bodyPr wrap="square" lIns="0" rIns="0" tIns="0" bIns="0" anchor="t">
            <a:spAutoFit/>
          </a:bodyPr>
          <a:lstStyle/>
          <a:p>
            <a:pPr algn="l">
              <a:lnSpc>
                <a:spcPct val="134000"/>
              </a:lnSpc>
            </a:pPr>
            <a:r>
              <a:rPr sz="1080" b="0" i="0">
                <a:solidFill>
                  <a:srgbClr val="8D9AB0"/>
                </a:solidFill>
                <a:latin typeface="Arial"/>
              </a:rPr>
              <a:t>Each player is broken into anatomical regions from pose keypoints, so a mark can be tied to chest, back, sleeve, shorts or socks. Grey means the system had insufficient evidence and declined to assign.</a:t>
            </a:r>
          </a:p>
        </p:txBody>
      </p:sp>
      <p:sp>
        <p:nvSpPr>
          <p:cNvPr id="17" name="TextBox 16"/>
          <p:cNvSpPr txBox="1"/>
          <p:nvPr/>
        </p:nvSpPr>
        <p:spPr>
          <a:xfrm>
            <a:off x="566928" y="6382512"/>
            <a:ext cx="10509473" cy="274320"/>
          </a:xfrm>
          <a:prstGeom prst="rect">
            <a:avLst/>
          </a:prstGeom>
          <a:noFill/>
        </p:spPr>
        <p:txBody>
          <a:bodyPr wrap="square" lIns="0" rIns="0" tIns="0" bIns="0" anchor="t">
            <a:spAutoFit/>
          </a:bodyPr>
          <a:lstStyle/>
          <a:p>
            <a:pPr algn="l">
              <a:lnSpc>
                <a:spcPct val="125000"/>
              </a:lnSpc>
            </a:pPr>
            <a:r>
              <a:rPr sz="860" b="0" i="0">
                <a:solidFill>
                  <a:srgbClr val="5E6C82"/>
                </a:solidFill>
                <a:latin typeface="Arial"/>
              </a:rPr>
              <a:t>Clips: artifacts/bradford_review/tackle_team_split.mp4 and tackle_body.mp4 — real Bradford v Hull FC footage, home kit.</a:t>
            </a:r>
          </a:p>
        </p:txBody>
      </p:sp>
      <p:sp>
        <p:nvSpPr>
          <p:cNvPr id="18" name="TextBox 17"/>
          <p:cNvSpPr txBox="1"/>
          <p:nvPr/>
        </p:nvSpPr>
        <p:spPr>
          <a:xfrm>
            <a:off x="10984961" y="6382512"/>
            <a:ext cx="640080" cy="237744"/>
          </a:xfrm>
          <a:prstGeom prst="rect">
            <a:avLst/>
          </a:prstGeom>
          <a:noFill/>
        </p:spPr>
        <p:txBody>
          <a:bodyPr wrap="square" lIns="0" rIns="0" tIns="0" bIns="0" anchor="t">
            <a:spAutoFit/>
          </a:bodyPr>
          <a:lstStyle/>
          <a:p>
            <a:pPr algn="r">
              <a:lnSpc>
                <a:spcPct val="115000"/>
              </a:lnSpc>
            </a:pPr>
            <a:r>
              <a:rPr sz="1000" b="0" i="0">
                <a:solidFill>
                  <a:srgbClr val="5E6C82"/>
                </a:solidFill>
                <a:latin typeface="Arial"/>
              </a:rPr>
              <a:t>13</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video>
              <p:cMediaNode vol="80000">
                <p:cTn id="3" fill="hold" display="0">
                  <p:stCondLst>
                    <p:cond delay="indefinite"/>
                  </p:stCondLst>
                </p:cTn>
                <p:tgtEl>
                  <p:spTgt spid="13"/>
                </p:tgtEl>
              </p:cMediaNode>
            </p:vide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409" cy="6949440"/>
          </a:xfrm>
          <a:prstGeom prst="rect">
            <a:avLst/>
          </a:prstGeom>
          <a:solidFill>
            <a:srgbClr val="0D1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7071342" cy="50292"/>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071342" y="0"/>
            <a:ext cx="2682233" cy="50292"/>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753575" y="0"/>
            <a:ext cx="2438393" cy="50292"/>
          </a:xfrm>
          <a:prstGeom prst="rect">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402336"/>
            <a:ext cx="11058113" cy="237744"/>
          </a:xfrm>
          <a:prstGeom prst="rect">
            <a:avLst/>
          </a:prstGeom>
          <a:noFill/>
        </p:spPr>
        <p:txBody>
          <a:bodyPr wrap="square" lIns="0" rIns="0" tIns="0" bIns="0" anchor="t">
            <a:spAutoFit/>
          </a:bodyPr>
          <a:lstStyle/>
          <a:p>
            <a:pPr algn="l">
              <a:lnSpc>
                <a:spcPct val="115000"/>
              </a:lnSpc>
            </a:pPr>
            <a:r>
              <a:rPr sz="1050" b="1" i="0" spc="180">
                <a:solidFill>
                  <a:srgbClr val="FFC20E"/>
                </a:solidFill>
                <a:latin typeface="Arial"/>
              </a:rPr>
              <a:t>MODEL PERFORMANCE</a:t>
            </a:r>
          </a:p>
        </p:txBody>
      </p:sp>
      <p:sp>
        <p:nvSpPr>
          <p:cNvPr id="7" name="TextBox 6"/>
          <p:cNvSpPr txBox="1"/>
          <p:nvPr/>
        </p:nvSpPr>
        <p:spPr>
          <a:xfrm>
            <a:off x="566928" y="676656"/>
            <a:ext cx="11058113" cy="566928"/>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How accurate is the detector?</a:t>
            </a:r>
          </a:p>
        </p:txBody>
      </p:sp>
      <p:sp>
        <p:nvSpPr>
          <p:cNvPr id="8" name="TextBox 7"/>
          <p:cNvSpPr txBox="1"/>
          <p:nvPr/>
        </p:nvSpPr>
        <p:spPr>
          <a:xfrm>
            <a:off x="566928" y="1280160"/>
            <a:ext cx="9509977" cy="274320"/>
          </a:xfrm>
          <a:prstGeom prst="rect">
            <a:avLst/>
          </a:prstGeom>
          <a:noFill/>
        </p:spPr>
        <p:txBody>
          <a:bodyPr wrap="square" lIns="0" rIns="0" tIns="0" bIns="0" anchor="t">
            <a:spAutoFit/>
          </a:bodyPr>
          <a:lstStyle/>
          <a:p>
            <a:pPr algn="l">
              <a:lnSpc>
                <a:spcPct val="120000"/>
              </a:lnSpc>
            </a:pPr>
            <a:r>
              <a:rPr sz="1300" b="0" i="0">
                <a:solidFill>
                  <a:srgbClr val="8D9AB0"/>
                </a:solidFill>
                <a:latin typeface="Arial"/>
              </a:rPr>
              <a:t>Measured on three complete matches the model had never seen, against hand-annotated ground truth.</a:t>
            </a:r>
          </a:p>
        </p:txBody>
      </p:sp>
      <p:pic>
        <p:nvPicPr>
          <p:cNvPr id="9" name="Picture 8" descr="c6_model.png"/>
          <p:cNvPicPr>
            <a:picLocks noChangeAspect="1"/>
          </p:cNvPicPr>
          <p:nvPr/>
        </p:nvPicPr>
        <p:blipFill>
          <a:blip r:embed="rId2"/>
          <a:stretch>
            <a:fillRect/>
          </a:stretch>
        </p:blipFill>
        <p:spPr>
          <a:xfrm>
            <a:off x="521207" y="2103120"/>
            <a:ext cx="5029200" cy="3027116"/>
          </a:xfrm>
          <a:prstGeom prst="rect">
            <a:avLst/>
          </a:prstGeom>
        </p:spPr>
      </p:pic>
      <p:sp>
        <p:nvSpPr>
          <p:cNvPr id="10" name="TextBox 9"/>
          <p:cNvSpPr txBox="1"/>
          <p:nvPr/>
        </p:nvSpPr>
        <p:spPr>
          <a:xfrm>
            <a:off x="566928" y="5120640"/>
            <a:ext cx="5029200" cy="274320"/>
          </a:xfrm>
          <a:prstGeom prst="rect">
            <a:avLst/>
          </a:prstGeom>
          <a:noFill/>
        </p:spPr>
        <p:txBody>
          <a:bodyPr wrap="square" lIns="0" rIns="0" tIns="0" bIns="0" anchor="t">
            <a:spAutoFit/>
          </a:bodyPr>
          <a:lstStyle/>
          <a:p>
            <a:pPr algn="l">
              <a:lnSpc>
                <a:spcPct val="130000"/>
              </a:lnSpc>
            </a:pPr>
            <a:r>
              <a:rPr sz="1019" b="0" i="0">
                <a:solidFill>
                  <a:srgbClr val="8D9AB0"/>
                </a:solidFill>
                <a:latin typeface="Arial"/>
              </a:rPr>
              <a:t>Detection accuracy against three unseen matches — the deployed model versus the strongest conventional baseline trained on identical data.</a:t>
            </a:r>
          </a:p>
        </p:txBody>
      </p:sp>
      <p:pic>
        <p:nvPicPr>
          <p:cNvPr id="11" name="Picture 10" descr="c7_camera.png"/>
          <p:cNvPicPr>
            <a:picLocks noChangeAspect="1"/>
          </p:cNvPicPr>
          <p:nvPr/>
        </p:nvPicPr>
        <p:blipFill>
          <a:blip r:embed="rId3"/>
          <a:stretch>
            <a:fillRect/>
          </a:stretch>
        </p:blipFill>
        <p:spPr>
          <a:xfrm>
            <a:off x="5824728" y="2103120"/>
            <a:ext cx="4160520" cy="2649334"/>
          </a:xfrm>
          <a:prstGeom prst="rect">
            <a:avLst/>
          </a:prstGeom>
        </p:spPr>
      </p:pic>
      <p:sp>
        <p:nvSpPr>
          <p:cNvPr id="12" name="TextBox 11"/>
          <p:cNvSpPr txBox="1"/>
          <p:nvPr/>
        </p:nvSpPr>
        <p:spPr>
          <a:xfrm>
            <a:off x="5824728" y="5120640"/>
            <a:ext cx="4206240" cy="457200"/>
          </a:xfrm>
          <a:prstGeom prst="rect">
            <a:avLst/>
          </a:prstGeom>
          <a:noFill/>
        </p:spPr>
        <p:txBody>
          <a:bodyPr wrap="square" lIns="0" rIns="0" tIns="0" bIns="0" anchor="t">
            <a:spAutoFit/>
          </a:bodyPr>
          <a:lstStyle/>
          <a:p>
            <a:pPr algn="l">
              <a:lnSpc>
                <a:spcPct val="130000"/>
              </a:lnSpc>
            </a:pPr>
            <a:r>
              <a:rPr sz="1019" b="0" i="0">
                <a:solidFill>
                  <a:srgbClr val="8D9AB0"/>
                </a:solidFill>
                <a:latin typeface="Arial"/>
              </a:rPr>
              <a:t>The one weakness worth declaring: on wide tactical shots the model finds only half the marks. It rarely invents them — it misses them.</a:t>
            </a:r>
          </a:p>
        </p:txBody>
      </p:sp>
      <p:sp>
        <p:nvSpPr>
          <p:cNvPr id="13" name="Rounded Rectangle 12"/>
          <p:cNvSpPr/>
          <p:nvPr/>
        </p:nvSpPr>
        <p:spPr>
          <a:xfrm>
            <a:off x="10213848" y="1920240"/>
            <a:ext cx="1411193" cy="950976"/>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0213848" y="2011680"/>
            <a:ext cx="50292" cy="768096"/>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451592" y="2066544"/>
            <a:ext cx="2011680" cy="201168"/>
          </a:xfrm>
          <a:prstGeom prst="rect">
            <a:avLst/>
          </a:prstGeom>
          <a:noFill/>
        </p:spPr>
        <p:txBody>
          <a:bodyPr wrap="square" lIns="0" rIns="0" tIns="0" bIns="0" anchor="t">
            <a:spAutoFit/>
          </a:bodyPr>
          <a:lstStyle/>
          <a:p>
            <a:pPr algn="l">
              <a:lnSpc>
                <a:spcPct val="115000"/>
              </a:lnSpc>
            </a:pPr>
            <a:r>
              <a:rPr sz="919" b="1" i="0" spc="130">
                <a:solidFill>
                  <a:srgbClr val="8D9AB0"/>
                </a:solidFill>
                <a:latin typeface="Arial"/>
              </a:rPr>
              <a:t>MAP@0.50</a:t>
            </a:r>
          </a:p>
        </p:txBody>
      </p:sp>
      <p:sp>
        <p:nvSpPr>
          <p:cNvPr id="16" name="TextBox 15"/>
          <p:cNvSpPr txBox="1"/>
          <p:nvPr/>
        </p:nvSpPr>
        <p:spPr>
          <a:xfrm>
            <a:off x="10451592" y="2304288"/>
            <a:ext cx="2011680" cy="310896"/>
          </a:xfrm>
          <a:prstGeom prst="rect">
            <a:avLst/>
          </a:prstGeom>
          <a:noFill/>
        </p:spPr>
        <p:txBody>
          <a:bodyPr wrap="square" lIns="0" rIns="0" tIns="0" bIns="0" anchor="t">
            <a:spAutoFit/>
          </a:bodyPr>
          <a:lstStyle/>
          <a:p>
            <a:pPr algn="l">
              <a:lnSpc>
                <a:spcPct val="115000"/>
              </a:lnSpc>
            </a:pPr>
            <a:r>
              <a:rPr sz="2000" b="1" i="0">
                <a:solidFill>
                  <a:srgbClr val="FFFFFF"/>
                </a:solidFill>
                <a:latin typeface="Arial"/>
              </a:rPr>
              <a:t>0.933</a:t>
            </a:r>
          </a:p>
        </p:txBody>
      </p:sp>
      <p:sp>
        <p:nvSpPr>
          <p:cNvPr id="17" name="TextBox 16"/>
          <p:cNvSpPr txBox="1"/>
          <p:nvPr/>
        </p:nvSpPr>
        <p:spPr>
          <a:xfrm>
            <a:off x="10451592" y="2615184"/>
            <a:ext cx="2011680" cy="219456"/>
          </a:xfrm>
          <a:prstGeom prst="rect">
            <a:avLst/>
          </a:prstGeom>
          <a:noFill/>
        </p:spPr>
        <p:txBody>
          <a:bodyPr wrap="square" lIns="0" rIns="0" tIns="0" bIns="0" anchor="t">
            <a:spAutoFit/>
          </a:bodyPr>
          <a:lstStyle/>
          <a:p>
            <a:pPr algn="l">
              <a:lnSpc>
                <a:spcPct val="115000"/>
              </a:lnSpc>
            </a:pPr>
            <a:r>
              <a:rPr sz="880" b="0" i="0">
                <a:solidFill>
                  <a:srgbClr val="5E6C82"/>
                </a:solidFill>
                <a:latin typeface="Arial"/>
              </a:rPr>
              <a:t>on unseen matches</a:t>
            </a:r>
          </a:p>
        </p:txBody>
      </p:sp>
      <p:sp>
        <p:nvSpPr>
          <p:cNvPr id="18" name="Rounded Rectangle 17"/>
          <p:cNvSpPr/>
          <p:nvPr/>
        </p:nvSpPr>
        <p:spPr>
          <a:xfrm>
            <a:off x="10213848" y="2999232"/>
            <a:ext cx="1411193" cy="950976"/>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213848" y="3090672"/>
            <a:ext cx="50292" cy="768096"/>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451592" y="3145536"/>
            <a:ext cx="2011680" cy="201168"/>
          </a:xfrm>
          <a:prstGeom prst="rect">
            <a:avLst/>
          </a:prstGeom>
          <a:noFill/>
        </p:spPr>
        <p:txBody>
          <a:bodyPr wrap="square" lIns="0" rIns="0" tIns="0" bIns="0" anchor="t">
            <a:spAutoFit/>
          </a:bodyPr>
          <a:lstStyle/>
          <a:p>
            <a:pPr algn="l">
              <a:lnSpc>
                <a:spcPct val="115000"/>
              </a:lnSpc>
            </a:pPr>
            <a:r>
              <a:rPr sz="919" b="1" i="0" spc="130">
                <a:solidFill>
                  <a:srgbClr val="8D9AB0"/>
                </a:solidFill>
                <a:latin typeface="Arial"/>
              </a:rPr>
              <a:t>F1 SCORE</a:t>
            </a:r>
          </a:p>
        </p:txBody>
      </p:sp>
      <p:sp>
        <p:nvSpPr>
          <p:cNvPr id="21" name="TextBox 20"/>
          <p:cNvSpPr txBox="1"/>
          <p:nvPr/>
        </p:nvSpPr>
        <p:spPr>
          <a:xfrm>
            <a:off x="10451592" y="3383280"/>
            <a:ext cx="2011680" cy="310896"/>
          </a:xfrm>
          <a:prstGeom prst="rect">
            <a:avLst/>
          </a:prstGeom>
          <a:noFill/>
        </p:spPr>
        <p:txBody>
          <a:bodyPr wrap="square" lIns="0" rIns="0" tIns="0" bIns="0" anchor="t">
            <a:spAutoFit/>
          </a:bodyPr>
          <a:lstStyle/>
          <a:p>
            <a:pPr algn="l">
              <a:lnSpc>
                <a:spcPct val="115000"/>
              </a:lnSpc>
            </a:pPr>
            <a:r>
              <a:rPr sz="2000" b="1" i="0">
                <a:solidFill>
                  <a:srgbClr val="FFFFFF"/>
                </a:solidFill>
                <a:latin typeface="Arial"/>
              </a:rPr>
              <a:t>0.898</a:t>
            </a:r>
          </a:p>
        </p:txBody>
      </p:sp>
      <p:sp>
        <p:nvSpPr>
          <p:cNvPr id="22" name="TextBox 21"/>
          <p:cNvSpPr txBox="1"/>
          <p:nvPr/>
        </p:nvSpPr>
        <p:spPr>
          <a:xfrm>
            <a:off x="10451592" y="3694176"/>
            <a:ext cx="2011680" cy="219456"/>
          </a:xfrm>
          <a:prstGeom prst="rect">
            <a:avLst/>
          </a:prstGeom>
          <a:noFill/>
        </p:spPr>
        <p:txBody>
          <a:bodyPr wrap="square" lIns="0" rIns="0" tIns="0" bIns="0" anchor="t">
            <a:spAutoFit/>
          </a:bodyPr>
          <a:lstStyle/>
          <a:p>
            <a:pPr algn="l">
              <a:lnSpc>
                <a:spcPct val="115000"/>
              </a:lnSpc>
            </a:pPr>
            <a:r>
              <a:rPr sz="880" b="0" i="0">
                <a:solidFill>
                  <a:srgbClr val="5E6C82"/>
                </a:solidFill>
                <a:latin typeface="Arial"/>
              </a:rPr>
              <a:t>at the operating point</a:t>
            </a:r>
          </a:p>
        </p:txBody>
      </p:sp>
      <p:sp>
        <p:nvSpPr>
          <p:cNvPr id="23" name="Rounded Rectangle 22"/>
          <p:cNvSpPr/>
          <p:nvPr/>
        </p:nvSpPr>
        <p:spPr>
          <a:xfrm>
            <a:off x="10213848" y="4078224"/>
            <a:ext cx="1411193" cy="950976"/>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0213848" y="4169663"/>
            <a:ext cx="50292" cy="768096"/>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451592" y="4224528"/>
            <a:ext cx="2011680" cy="201168"/>
          </a:xfrm>
          <a:prstGeom prst="rect">
            <a:avLst/>
          </a:prstGeom>
          <a:noFill/>
        </p:spPr>
        <p:txBody>
          <a:bodyPr wrap="square" lIns="0" rIns="0" tIns="0" bIns="0" anchor="t">
            <a:spAutoFit/>
          </a:bodyPr>
          <a:lstStyle/>
          <a:p>
            <a:pPr algn="l">
              <a:lnSpc>
                <a:spcPct val="115000"/>
              </a:lnSpc>
            </a:pPr>
            <a:r>
              <a:rPr sz="919" b="1" i="0" spc="130">
                <a:solidFill>
                  <a:srgbClr val="8D9AB0"/>
                </a:solidFill>
                <a:latin typeface="Arial"/>
              </a:rPr>
              <a:t>SPEED</a:t>
            </a:r>
          </a:p>
        </p:txBody>
      </p:sp>
      <p:sp>
        <p:nvSpPr>
          <p:cNvPr id="26" name="TextBox 25"/>
          <p:cNvSpPr txBox="1"/>
          <p:nvPr/>
        </p:nvSpPr>
        <p:spPr>
          <a:xfrm>
            <a:off x="10451592" y="4462272"/>
            <a:ext cx="2011680" cy="310896"/>
          </a:xfrm>
          <a:prstGeom prst="rect">
            <a:avLst/>
          </a:prstGeom>
          <a:noFill/>
        </p:spPr>
        <p:txBody>
          <a:bodyPr wrap="square" lIns="0" rIns="0" tIns="0" bIns="0" anchor="t">
            <a:spAutoFit/>
          </a:bodyPr>
          <a:lstStyle/>
          <a:p>
            <a:pPr algn="l">
              <a:lnSpc>
                <a:spcPct val="115000"/>
              </a:lnSpc>
            </a:pPr>
            <a:r>
              <a:rPr sz="2000" b="1" i="0">
                <a:solidFill>
                  <a:srgbClr val="FFFFFF"/>
                </a:solidFill>
                <a:latin typeface="Arial"/>
              </a:rPr>
              <a:t>19.8 fps</a:t>
            </a:r>
          </a:p>
        </p:txBody>
      </p:sp>
      <p:sp>
        <p:nvSpPr>
          <p:cNvPr id="27" name="TextBox 26"/>
          <p:cNvSpPr txBox="1"/>
          <p:nvPr/>
        </p:nvSpPr>
        <p:spPr>
          <a:xfrm>
            <a:off x="10451592" y="4773168"/>
            <a:ext cx="2011680" cy="219456"/>
          </a:xfrm>
          <a:prstGeom prst="rect">
            <a:avLst/>
          </a:prstGeom>
          <a:noFill/>
        </p:spPr>
        <p:txBody>
          <a:bodyPr wrap="square" lIns="0" rIns="0" tIns="0" bIns="0" anchor="t">
            <a:spAutoFit/>
          </a:bodyPr>
          <a:lstStyle/>
          <a:p>
            <a:pPr algn="l">
              <a:lnSpc>
                <a:spcPct val="115000"/>
              </a:lnSpc>
            </a:pPr>
            <a:r>
              <a:rPr sz="880" b="0" i="0">
                <a:solidFill>
                  <a:srgbClr val="5E6C82"/>
                </a:solidFill>
                <a:latin typeface="Arial"/>
              </a:rPr>
              <a:t>50 ms per frame, single GPU</a:t>
            </a:r>
          </a:p>
        </p:txBody>
      </p:sp>
      <p:sp>
        <p:nvSpPr>
          <p:cNvPr id="28" name="Rounded Rectangle 27"/>
          <p:cNvSpPr/>
          <p:nvPr/>
        </p:nvSpPr>
        <p:spPr>
          <a:xfrm>
            <a:off x="10213848" y="5157216"/>
            <a:ext cx="1411193" cy="950976"/>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10213848" y="5248656"/>
            <a:ext cx="50292" cy="768096"/>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451592" y="5303520"/>
            <a:ext cx="2011680" cy="201168"/>
          </a:xfrm>
          <a:prstGeom prst="rect">
            <a:avLst/>
          </a:prstGeom>
          <a:noFill/>
        </p:spPr>
        <p:txBody>
          <a:bodyPr wrap="square" lIns="0" rIns="0" tIns="0" bIns="0" anchor="t">
            <a:spAutoFit/>
          </a:bodyPr>
          <a:lstStyle/>
          <a:p>
            <a:pPr algn="l">
              <a:lnSpc>
                <a:spcPct val="115000"/>
              </a:lnSpc>
            </a:pPr>
            <a:r>
              <a:rPr sz="919" b="1" i="0" spc="130">
                <a:solidFill>
                  <a:srgbClr val="8D9AB0"/>
                </a:solidFill>
                <a:latin typeface="Arial"/>
              </a:rPr>
              <a:t>HONEST CHECK</a:t>
            </a:r>
          </a:p>
        </p:txBody>
      </p:sp>
      <p:sp>
        <p:nvSpPr>
          <p:cNvPr id="31" name="TextBox 30"/>
          <p:cNvSpPr txBox="1"/>
          <p:nvPr/>
        </p:nvSpPr>
        <p:spPr>
          <a:xfrm>
            <a:off x="10451592" y="5541264"/>
            <a:ext cx="2011680" cy="310896"/>
          </a:xfrm>
          <a:prstGeom prst="rect">
            <a:avLst/>
          </a:prstGeom>
          <a:noFill/>
        </p:spPr>
        <p:txBody>
          <a:bodyPr wrap="square" lIns="0" rIns="0" tIns="0" bIns="0" anchor="t">
            <a:spAutoFit/>
          </a:bodyPr>
          <a:lstStyle/>
          <a:p>
            <a:pPr algn="l">
              <a:lnSpc>
                <a:spcPct val="115000"/>
              </a:lnSpc>
            </a:pPr>
            <a:r>
              <a:rPr sz="2000" b="1" i="0">
                <a:solidFill>
                  <a:srgbClr val="FFFFFF"/>
                </a:solidFill>
                <a:latin typeface="Arial"/>
              </a:rPr>
              <a:t>0.917</a:t>
            </a:r>
          </a:p>
        </p:txBody>
      </p:sp>
      <p:sp>
        <p:nvSpPr>
          <p:cNvPr id="32" name="TextBox 31"/>
          <p:cNvSpPr txBox="1"/>
          <p:nvPr/>
        </p:nvSpPr>
        <p:spPr>
          <a:xfrm>
            <a:off x="10451592" y="5852160"/>
            <a:ext cx="2011680" cy="219456"/>
          </a:xfrm>
          <a:prstGeom prst="rect">
            <a:avLst/>
          </a:prstGeom>
          <a:noFill/>
        </p:spPr>
        <p:txBody>
          <a:bodyPr wrap="square" lIns="0" rIns="0" tIns="0" bIns="0" anchor="t">
            <a:spAutoFit/>
          </a:bodyPr>
          <a:lstStyle/>
          <a:p>
            <a:pPr algn="l">
              <a:lnSpc>
                <a:spcPct val="115000"/>
              </a:lnSpc>
            </a:pPr>
            <a:r>
              <a:rPr sz="880" b="0" i="0">
                <a:solidFill>
                  <a:srgbClr val="5E6C82"/>
                </a:solidFill>
                <a:latin typeface="Arial"/>
              </a:rPr>
              <a:t>with sparse classes removed</a:t>
            </a:r>
          </a:p>
        </p:txBody>
      </p:sp>
      <p:sp>
        <p:nvSpPr>
          <p:cNvPr id="33" name="TextBox 32"/>
          <p:cNvSpPr txBox="1"/>
          <p:nvPr/>
        </p:nvSpPr>
        <p:spPr>
          <a:xfrm>
            <a:off x="566928" y="6382512"/>
            <a:ext cx="10509473" cy="274320"/>
          </a:xfrm>
          <a:prstGeom prst="rect">
            <a:avLst/>
          </a:prstGeom>
          <a:noFill/>
        </p:spPr>
        <p:txBody>
          <a:bodyPr wrap="square" lIns="0" rIns="0" tIns="0" bIns="0" anchor="t">
            <a:spAutoFit/>
          </a:bodyPr>
          <a:lstStyle/>
          <a:p>
            <a:pPr algn="l">
              <a:lnSpc>
                <a:spcPct val="125000"/>
              </a:lnSpc>
            </a:pPr>
            <a:r>
              <a:rPr sz="860" b="0" i="0">
                <a:solidFill>
                  <a:srgbClr val="5E6C82"/>
                </a:solidFill>
                <a:latin typeface="Arial"/>
              </a:rPr>
              <a:t>Detector: RF-DETR Small at 896 px, evaluated on 61 held-out images / 165 boxes across three unseen matches. Baseline: best of three YOLO26 variants trained on the identical split.</a:t>
            </a:r>
          </a:p>
        </p:txBody>
      </p:sp>
      <p:sp>
        <p:nvSpPr>
          <p:cNvPr id="34" name="TextBox 33"/>
          <p:cNvSpPr txBox="1"/>
          <p:nvPr/>
        </p:nvSpPr>
        <p:spPr>
          <a:xfrm>
            <a:off x="10984961" y="6382512"/>
            <a:ext cx="640080" cy="237744"/>
          </a:xfrm>
          <a:prstGeom prst="rect">
            <a:avLst/>
          </a:prstGeom>
          <a:noFill/>
        </p:spPr>
        <p:txBody>
          <a:bodyPr wrap="square" lIns="0" rIns="0" tIns="0" bIns="0" anchor="t">
            <a:spAutoFit/>
          </a:bodyPr>
          <a:lstStyle/>
          <a:p>
            <a:pPr algn="r">
              <a:lnSpc>
                <a:spcPct val="115000"/>
              </a:lnSpc>
            </a:pPr>
            <a:r>
              <a:rPr sz="1000" b="0" i="0">
                <a:solidFill>
                  <a:srgbClr val="5E6C8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409" cy="6949440"/>
          </a:xfrm>
          <a:prstGeom prst="rect">
            <a:avLst/>
          </a:prstGeom>
          <a:solidFill>
            <a:srgbClr val="0D1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7071342" cy="50292"/>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071342" y="0"/>
            <a:ext cx="2682233" cy="50292"/>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753575" y="0"/>
            <a:ext cx="2438393" cy="50292"/>
          </a:xfrm>
          <a:prstGeom prst="rect">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402336"/>
            <a:ext cx="11058113" cy="237744"/>
          </a:xfrm>
          <a:prstGeom prst="rect">
            <a:avLst/>
          </a:prstGeom>
          <a:noFill/>
        </p:spPr>
        <p:txBody>
          <a:bodyPr wrap="square" lIns="0" rIns="0" tIns="0" bIns="0" anchor="t">
            <a:spAutoFit/>
          </a:bodyPr>
          <a:lstStyle/>
          <a:p>
            <a:pPr algn="l">
              <a:lnSpc>
                <a:spcPct val="115000"/>
              </a:lnSpc>
            </a:pPr>
            <a:r>
              <a:rPr sz="1050" b="1" i="0" spc="180">
                <a:solidFill>
                  <a:srgbClr val="FFC20E"/>
                </a:solidFill>
                <a:latin typeface="Arial"/>
              </a:rPr>
              <a:t>REPEATABILITY</a:t>
            </a:r>
          </a:p>
        </p:txBody>
      </p:sp>
      <p:sp>
        <p:nvSpPr>
          <p:cNvPr id="7" name="TextBox 6"/>
          <p:cNvSpPr txBox="1"/>
          <p:nvPr/>
        </p:nvSpPr>
        <p:spPr>
          <a:xfrm>
            <a:off x="566928" y="676656"/>
            <a:ext cx="11058113" cy="566928"/>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Does the answer hold from match to match?</a:t>
            </a:r>
          </a:p>
        </p:txBody>
      </p:sp>
      <p:sp>
        <p:nvSpPr>
          <p:cNvPr id="8" name="TextBox 7"/>
          <p:cNvSpPr txBox="1"/>
          <p:nvPr/>
        </p:nvSpPr>
        <p:spPr>
          <a:xfrm>
            <a:off x="566928" y="1280160"/>
            <a:ext cx="9509977" cy="274320"/>
          </a:xfrm>
          <a:prstGeom prst="rect">
            <a:avLst/>
          </a:prstGeom>
          <a:noFill/>
        </p:spPr>
        <p:txBody>
          <a:bodyPr wrap="square" lIns="0" rIns="0" tIns="0" bIns="0" anchor="t">
            <a:spAutoFit/>
          </a:bodyPr>
          <a:lstStyle/>
          <a:p>
            <a:pPr algn="l">
              <a:lnSpc>
                <a:spcPct val="120000"/>
              </a:lnSpc>
            </a:pPr>
            <a:r>
              <a:rPr sz="1300" b="0" i="0">
                <a:solidFill>
                  <a:srgbClr val="8D9AB0"/>
                </a:solidFill>
                <a:latin typeface="Arial"/>
              </a:rPr>
              <a:t>Each point is one sponsor asset. If the system were unstable, the points would scatter away from the diagonal.</a:t>
            </a:r>
          </a:p>
        </p:txBody>
      </p:sp>
      <p:pic>
        <p:nvPicPr>
          <p:cNvPr id="9" name="Picture 8" descr="c5_consistency.png"/>
          <p:cNvPicPr>
            <a:picLocks noChangeAspect="1"/>
          </p:cNvPicPr>
          <p:nvPr/>
        </p:nvPicPr>
        <p:blipFill>
          <a:blip r:embed="rId2"/>
          <a:stretch>
            <a:fillRect/>
          </a:stretch>
        </p:blipFill>
        <p:spPr>
          <a:xfrm>
            <a:off x="704088" y="1828800"/>
            <a:ext cx="4709160" cy="4244876"/>
          </a:xfrm>
          <a:prstGeom prst="rect">
            <a:avLst/>
          </a:prstGeom>
        </p:spPr>
      </p:pic>
      <p:sp>
        <p:nvSpPr>
          <p:cNvPr id="10" name="Rounded Rectangle 9"/>
          <p:cNvSpPr/>
          <p:nvPr/>
        </p:nvSpPr>
        <p:spPr>
          <a:xfrm>
            <a:off x="5824728" y="1847088"/>
            <a:ext cx="5800313" cy="987552"/>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824728" y="1938528"/>
            <a:ext cx="50292" cy="804672"/>
          </a:xfrm>
          <a:prstGeom prst="rect">
            <a:avLst/>
          </a:prstGeom>
          <a:solidFill>
            <a:srgbClr val="2EC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080760" y="2029968"/>
            <a:ext cx="5288249" cy="237744"/>
          </a:xfrm>
          <a:prstGeom prst="rect">
            <a:avLst/>
          </a:prstGeom>
          <a:noFill/>
        </p:spPr>
        <p:txBody>
          <a:bodyPr wrap="square" lIns="0" rIns="0" tIns="0" bIns="0" anchor="t">
            <a:spAutoFit/>
          </a:bodyPr>
          <a:lstStyle/>
          <a:p>
            <a:pPr algn="l">
              <a:lnSpc>
                <a:spcPct val="115000"/>
              </a:lnSpc>
            </a:pPr>
            <a:r>
              <a:rPr sz="1300" b="1" i="0">
                <a:solidFill>
                  <a:srgbClr val="FFFFFF"/>
                </a:solidFill>
                <a:latin typeface="Arial"/>
              </a:rPr>
              <a:t>Same top three, both matches</a:t>
            </a:r>
          </a:p>
        </p:txBody>
      </p:sp>
      <p:sp>
        <p:nvSpPr>
          <p:cNvPr id="13" name="TextBox 12"/>
          <p:cNvSpPr txBox="1"/>
          <p:nvPr/>
        </p:nvSpPr>
        <p:spPr>
          <a:xfrm>
            <a:off x="6080760" y="2359152"/>
            <a:ext cx="5288249" cy="420624"/>
          </a:xfrm>
          <a:prstGeom prst="rect">
            <a:avLst/>
          </a:prstGeom>
          <a:noFill/>
        </p:spPr>
        <p:txBody>
          <a:bodyPr wrap="square" lIns="0" rIns="0" tIns="0" bIns="0" anchor="t">
            <a:spAutoFit/>
          </a:bodyPr>
          <a:lstStyle/>
          <a:p>
            <a:pPr algn="l">
              <a:lnSpc>
                <a:spcPct val="130000"/>
              </a:lnSpc>
            </a:pPr>
            <a:r>
              <a:rPr sz="1100" b="0" i="0">
                <a:solidFill>
                  <a:srgbClr val="8D9AB0"/>
                </a:solidFill>
                <a:latin typeface="Arial"/>
              </a:rPr>
              <a:t>KLG, Bartercard and Top Notch held the top three measured positions in match 1 and match 2.</a:t>
            </a:r>
          </a:p>
        </p:txBody>
      </p:sp>
      <p:sp>
        <p:nvSpPr>
          <p:cNvPr id="14" name="Rounded Rectangle 13"/>
          <p:cNvSpPr/>
          <p:nvPr/>
        </p:nvSpPr>
        <p:spPr>
          <a:xfrm>
            <a:off x="5824728" y="2962656"/>
            <a:ext cx="5800313" cy="987552"/>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824728" y="3054096"/>
            <a:ext cx="50292" cy="804672"/>
          </a:xfrm>
          <a:prstGeom prst="rect">
            <a:avLst/>
          </a:prstGeom>
          <a:solidFill>
            <a:srgbClr val="2EC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080760" y="3145536"/>
            <a:ext cx="5288249" cy="237744"/>
          </a:xfrm>
          <a:prstGeom prst="rect">
            <a:avLst/>
          </a:prstGeom>
          <a:noFill/>
        </p:spPr>
        <p:txBody>
          <a:bodyPr wrap="square" lIns="0" rIns="0" tIns="0" bIns="0" anchor="t">
            <a:spAutoFit/>
          </a:bodyPr>
          <a:lstStyle/>
          <a:p>
            <a:pPr algn="l">
              <a:lnSpc>
                <a:spcPct val="115000"/>
              </a:lnSpc>
            </a:pPr>
            <a:r>
              <a:rPr sz="1300" b="1" i="0">
                <a:solidFill>
                  <a:srgbClr val="FFFFFF"/>
                </a:solidFill>
                <a:latin typeface="Arial"/>
              </a:rPr>
              <a:t>Movement is small</a:t>
            </a:r>
          </a:p>
        </p:txBody>
      </p:sp>
      <p:sp>
        <p:nvSpPr>
          <p:cNvPr id="17" name="TextBox 16"/>
          <p:cNvSpPr txBox="1"/>
          <p:nvPr/>
        </p:nvSpPr>
        <p:spPr>
          <a:xfrm>
            <a:off x="6080760" y="3474720"/>
            <a:ext cx="5288249" cy="420624"/>
          </a:xfrm>
          <a:prstGeom prst="rect">
            <a:avLst/>
          </a:prstGeom>
          <a:noFill/>
        </p:spPr>
        <p:txBody>
          <a:bodyPr wrap="square" lIns="0" rIns="0" tIns="0" bIns="0" anchor="t">
            <a:spAutoFit/>
          </a:bodyPr>
          <a:lstStyle/>
          <a:p>
            <a:pPr algn="l">
              <a:lnSpc>
                <a:spcPct val="130000"/>
              </a:lnSpc>
            </a:pPr>
            <a:r>
              <a:rPr sz="1100" b="0" i="0">
                <a:solidFill>
                  <a:srgbClr val="8D9AB0"/>
                </a:solidFill>
                <a:latin typeface="Arial"/>
              </a:rPr>
              <a:t>The average asset moved 0.93 percentage points between matches; the largest single move was 2.91 points.</a:t>
            </a:r>
          </a:p>
        </p:txBody>
      </p:sp>
      <p:sp>
        <p:nvSpPr>
          <p:cNvPr id="18" name="Rounded Rectangle 17"/>
          <p:cNvSpPr/>
          <p:nvPr/>
        </p:nvSpPr>
        <p:spPr>
          <a:xfrm>
            <a:off x="5824728" y="4078224"/>
            <a:ext cx="5800313" cy="987552"/>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824728" y="4169663"/>
            <a:ext cx="50292" cy="804672"/>
          </a:xfrm>
          <a:prstGeom prst="rect">
            <a:avLst/>
          </a:prstGeom>
          <a:solidFill>
            <a:srgbClr val="2EC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080760" y="4261104"/>
            <a:ext cx="5288249" cy="237744"/>
          </a:xfrm>
          <a:prstGeom prst="rect">
            <a:avLst/>
          </a:prstGeom>
          <a:noFill/>
        </p:spPr>
        <p:txBody>
          <a:bodyPr wrap="square" lIns="0" rIns="0" tIns="0" bIns="0" anchor="t">
            <a:spAutoFit/>
          </a:bodyPr>
          <a:lstStyle/>
          <a:p>
            <a:pPr algn="l">
              <a:lnSpc>
                <a:spcPct val="115000"/>
              </a:lnSpc>
            </a:pPr>
            <a:r>
              <a:rPr sz="1300" b="1" i="0">
                <a:solidFill>
                  <a:srgbClr val="FFFFFF"/>
                </a:solidFill>
                <a:latin typeface="Arial"/>
              </a:rPr>
              <a:t>No gap direction flipped</a:t>
            </a:r>
          </a:p>
        </p:txBody>
      </p:sp>
      <p:sp>
        <p:nvSpPr>
          <p:cNvPr id="21" name="TextBox 20"/>
          <p:cNvSpPr txBox="1"/>
          <p:nvPr/>
        </p:nvSpPr>
        <p:spPr>
          <a:xfrm>
            <a:off x="6080760" y="4590288"/>
            <a:ext cx="5288249" cy="420624"/>
          </a:xfrm>
          <a:prstGeom prst="rect">
            <a:avLst/>
          </a:prstGeom>
          <a:noFill/>
        </p:spPr>
        <p:txBody>
          <a:bodyPr wrap="square" lIns="0" rIns="0" tIns="0" bIns="0" anchor="t">
            <a:spAutoFit/>
          </a:bodyPr>
          <a:lstStyle/>
          <a:p>
            <a:pPr algn="l">
              <a:lnSpc>
                <a:spcPct val="130000"/>
              </a:lnSpc>
            </a:pPr>
            <a:r>
              <a:rPr sz="1100" b="0" i="0">
                <a:solidFill>
                  <a:srgbClr val="8D9AB0"/>
                </a:solidFill>
                <a:latin typeface="Arial"/>
              </a:rPr>
              <a:t>Every asset that measured above its price in match 1 did so again in match 2, and the same for those below.</a:t>
            </a:r>
          </a:p>
        </p:txBody>
      </p:sp>
      <p:sp>
        <p:nvSpPr>
          <p:cNvPr id="22" name="Rounded Rectangle 21"/>
          <p:cNvSpPr/>
          <p:nvPr/>
        </p:nvSpPr>
        <p:spPr>
          <a:xfrm>
            <a:off x="5824728" y="5193792"/>
            <a:ext cx="5800313" cy="987552"/>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824728" y="5285231"/>
            <a:ext cx="50292" cy="804672"/>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080760" y="5376672"/>
            <a:ext cx="5288249" cy="237744"/>
          </a:xfrm>
          <a:prstGeom prst="rect">
            <a:avLst/>
          </a:prstGeom>
          <a:noFill/>
        </p:spPr>
        <p:txBody>
          <a:bodyPr wrap="square" lIns="0" rIns="0" tIns="0" bIns="0" anchor="t">
            <a:spAutoFit/>
          </a:bodyPr>
          <a:lstStyle/>
          <a:p>
            <a:pPr algn="l">
              <a:lnSpc>
                <a:spcPct val="115000"/>
              </a:lnSpc>
            </a:pPr>
            <a:r>
              <a:rPr sz="1300" b="1" i="0">
                <a:solidFill>
                  <a:srgbClr val="FFFFFF"/>
                </a:solidFill>
                <a:latin typeface="Arial"/>
              </a:rPr>
              <a:t>But two matches is a pilot</a:t>
            </a:r>
          </a:p>
        </p:txBody>
      </p:sp>
      <p:sp>
        <p:nvSpPr>
          <p:cNvPr id="25" name="TextBox 24"/>
          <p:cNvSpPr txBox="1"/>
          <p:nvPr/>
        </p:nvSpPr>
        <p:spPr>
          <a:xfrm>
            <a:off x="6080760" y="5705856"/>
            <a:ext cx="5288249" cy="420624"/>
          </a:xfrm>
          <a:prstGeom prst="rect">
            <a:avLst/>
          </a:prstGeom>
          <a:noFill/>
        </p:spPr>
        <p:txBody>
          <a:bodyPr wrap="square" lIns="0" rIns="0" tIns="0" bIns="0" anchor="t">
            <a:spAutoFit/>
          </a:bodyPr>
          <a:lstStyle/>
          <a:p>
            <a:pPr algn="l">
              <a:lnSpc>
                <a:spcPct val="130000"/>
              </a:lnSpc>
            </a:pPr>
            <a:r>
              <a:rPr sz="1100" b="0" i="0">
                <a:solidFill>
                  <a:srgbClr val="8D9AB0"/>
                </a:solidFill>
                <a:latin typeface="Arial"/>
              </a:rPr>
              <a:t>This is strong evidence of a pattern, not season-level proof. A fuller set of fixtures should be measured before structural repricing.</a:t>
            </a:r>
          </a:p>
        </p:txBody>
      </p:sp>
      <p:sp>
        <p:nvSpPr>
          <p:cNvPr id="26" name="TextBox 25"/>
          <p:cNvSpPr txBox="1"/>
          <p:nvPr/>
        </p:nvSpPr>
        <p:spPr>
          <a:xfrm>
            <a:off x="566928" y="6382512"/>
            <a:ext cx="10509473" cy="274320"/>
          </a:xfrm>
          <a:prstGeom prst="rect">
            <a:avLst/>
          </a:prstGeom>
          <a:noFill/>
        </p:spPr>
        <p:txBody>
          <a:bodyPr wrap="square" lIns="0" rIns="0" tIns="0" bIns="0" anchor="t">
            <a:spAutoFit/>
          </a:bodyPr>
          <a:lstStyle/>
          <a:p>
            <a:pPr algn="l">
              <a:lnSpc>
                <a:spcPct val="125000"/>
              </a:lnSpc>
            </a:pPr>
            <a:r>
              <a:rPr sz="860" b="0" i="0">
                <a:solidFill>
                  <a:srgbClr val="5E6C82"/>
                </a:solidFill>
                <a:latin typeface="Arial"/>
              </a:rPr>
              <a:t>Source: LogoLens full-match analysis of two complete Bradford Bulls broadcasts (home kit 2025/26), sampled at 2 frames per second. Club allocation = current management percentage; it totals 95%, LogoLens totals 100%.</a:t>
            </a:r>
          </a:p>
        </p:txBody>
      </p:sp>
      <p:sp>
        <p:nvSpPr>
          <p:cNvPr id="27" name="TextBox 26"/>
          <p:cNvSpPr txBox="1"/>
          <p:nvPr/>
        </p:nvSpPr>
        <p:spPr>
          <a:xfrm>
            <a:off x="10984961" y="6382512"/>
            <a:ext cx="640080" cy="237744"/>
          </a:xfrm>
          <a:prstGeom prst="rect">
            <a:avLst/>
          </a:prstGeom>
          <a:noFill/>
        </p:spPr>
        <p:txBody>
          <a:bodyPr wrap="square" lIns="0" rIns="0" tIns="0" bIns="0" anchor="t">
            <a:spAutoFit/>
          </a:bodyPr>
          <a:lstStyle/>
          <a:p>
            <a:pPr algn="r">
              <a:lnSpc>
                <a:spcPct val="115000"/>
              </a:lnSpc>
            </a:pPr>
            <a:r>
              <a:rPr sz="1000" b="0" i="0">
                <a:solidFill>
                  <a:srgbClr val="5E6C8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409" cy="6949440"/>
          </a:xfrm>
          <a:prstGeom prst="rect">
            <a:avLst/>
          </a:prstGeom>
          <a:solidFill>
            <a:srgbClr val="0D1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7071342" cy="50292"/>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071342" y="0"/>
            <a:ext cx="2682233" cy="50292"/>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753575" y="0"/>
            <a:ext cx="2438393" cy="50292"/>
          </a:xfrm>
          <a:prstGeom prst="rect">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402336"/>
            <a:ext cx="11058113" cy="237744"/>
          </a:xfrm>
          <a:prstGeom prst="rect">
            <a:avLst/>
          </a:prstGeom>
          <a:noFill/>
        </p:spPr>
        <p:txBody>
          <a:bodyPr wrap="square" lIns="0" rIns="0" tIns="0" bIns="0" anchor="t">
            <a:spAutoFit/>
          </a:bodyPr>
          <a:lstStyle/>
          <a:p>
            <a:pPr algn="l">
              <a:lnSpc>
                <a:spcPct val="115000"/>
              </a:lnSpc>
            </a:pPr>
            <a:r>
              <a:rPr sz="1050" b="1" i="0" spc="180">
                <a:solidFill>
                  <a:srgbClr val="FFC20E"/>
                </a:solidFill>
                <a:latin typeface="Arial"/>
              </a:rPr>
              <a:t>LIMITATIONS</a:t>
            </a:r>
          </a:p>
        </p:txBody>
      </p:sp>
      <p:sp>
        <p:nvSpPr>
          <p:cNvPr id="7" name="TextBox 6"/>
          <p:cNvSpPr txBox="1"/>
          <p:nvPr/>
        </p:nvSpPr>
        <p:spPr>
          <a:xfrm>
            <a:off x="566928" y="676656"/>
            <a:ext cx="11058113" cy="566928"/>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Where the system struggles — and what that costs</a:t>
            </a:r>
          </a:p>
        </p:txBody>
      </p:sp>
      <p:sp>
        <p:nvSpPr>
          <p:cNvPr id="8" name="TextBox 7"/>
          <p:cNvSpPr txBox="1"/>
          <p:nvPr/>
        </p:nvSpPr>
        <p:spPr>
          <a:xfrm>
            <a:off x="566928" y="1280160"/>
            <a:ext cx="9509977" cy="274320"/>
          </a:xfrm>
          <a:prstGeom prst="rect">
            <a:avLst/>
          </a:prstGeom>
          <a:noFill/>
        </p:spPr>
        <p:txBody>
          <a:bodyPr wrap="square" lIns="0" rIns="0" tIns="0" bIns="0" anchor="t">
            <a:spAutoFit/>
          </a:bodyPr>
          <a:lstStyle/>
          <a:p>
            <a:pPr algn="l">
              <a:lnSpc>
                <a:spcPct val="120000"/>
              </a:lnSpc>
            </a:pPr>
            <a:r>
              <a:rPr sz="1300" b="0" i="0">
                <a:solidFill>
                  <a:srgbClr val="8D9AB0"/>
                </a:solidFill>
                <a:latin typeface="Arial"/>
              </a:rPr>
              <a:t>Every example below is real output from the analysed footage.</a:t>
            </a:r>
          </a:p>
        </p:txBody>
      </p:sp>
      <p:pic>
        <p:nvPicPr>
          <p:cNvPr id="9" name="Picture 8" descr="ch_occlusion.jpg"/>
          <p:cNvPicPr>
            <a:picLocks noChangeAspect="1"/>
          </p:cNvPicPr>
          <p:nvPr/>
        </p:nvPicPr>
        <p:blipFill>
          <a:blip r:embed="rId2"/>
          <a:srcRect l="1004" r="1004"/>
          <a:stretch>
            <a:fillRect/>
          </a:stretch>
        </p:blipFill>
        <p:spPr>
          <a:xfrm>
            <a:off x="566928" y="1810512"/>
            <a:ext cx="2627368" cy="1536192"/>
          </a:xfrm>
          <a:prstGeom prst="rect">
            <a:avLst/>
          </a:prstGeom>
        </p:spPr>
      </p:pic>
      <p:sp>
        <p:nvSpPr>
          <p:cNvPr id="10" name="Rectangle 9"/>
          <p:cNvSpPr/>
          <p:nvPr/>
        </p:nvSpPr>
        <p:spPr>
          <a:xfrm>
            <a:off x="566928" y="1810512"/>
            <a:ext cx="2627368" cy="1536192"/>
          </a:xfrm>
          <a:prstGeom prst="rect">
            <a:avLst/>
          </a:prstGeom>
          <a:noFill/>
          <a:ln w="12700">
            <a:solidFill>
              <a:srgbClr val="2C384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66928" y="3456432"/>
            <a:ext cx="2627368" cy="237744"/>
          </a:xfrm>
          <a:prstGeom prst="rect">
            <a:avLst/>
          </a:prstGeom>
          <a:noFill/>
        </p:spPr>
        <p:txBody>
          <a:bodyPr wrap="square" lIns="0" rIns="0" tIns="0" bIns="0" anchor="t">
            <a:spAutoFit/>
          </a:bodyPr>
          <a:lstStyle/>
          <a:p>
            <a:pPr algn="l">
              <a:lnSpc>
                <a:spcPct val="115000"/>
              </a:lnSpc>
            </a:pPr>
            <a:r>
              <a:rPr sz="1300" b="1" i="0">
                <a:solidFill>
                  <a:srgbClr val="FFFFFF"/>
                </a:solidFill>
                <a:latin typeface="Arial"/>
              </a:rPr>
              <a:t>Occlusion</a:t>
            </a:r>
          </a:p>
        </p:txBody>
      </p:sp>
      <p:sp>
        <p:nvSpPr>
          <p:cNvPr id="12" name="TextBox 11"/>
          <p:cNvSpPr txBox="1"/>
          <p:nvPr/>
        </p:nvSpPr>
        <p:spPr>
          <a:xfrm>
            <a:off x="566928" y="3749039"/>
            <a:ext cx="2627368" cy="658368"/>
          </a:xfrm>
          <a:prstGeom prst="rect">
            <a:avLst/>
          </a:prstGeom>
          <a:noFill/>
        </p:spPr>
        <p:txBody>
          <a:bodyPr wrap="square" lIns="0" rIns="0" tIns="0" bIns="0" anchor="t">
            <a:spAutoFit/>
          </a:bodyPr>
          <a:lstStyle/>
          <a:p>
            <a:pPr algn="l">
              <a:lnSpc>
                <a:spcPct val="132000"/>
              </a:lnSpc>
            </a:pPr>
            <a:r>
              <a:rPr sz="1040" b="0" i="0">
                <a:solidFill>
                  <a:srgbClr val="8D9AB0"/>
                </a:solidFill>
                <a:latin typeface="Arial"/>
              </a:rPr>
              <a:t>Players cover each other constantly. Partly hidden marks score lower or are missed entirely.</a:t>
            </a:r>
          </a:p>
        </p:txBody>
      </p:sp>
      <p:pic>
        <p:nvPicPr>
          <p:cNvPr id="13" name="Picture 12" descr="ch_blur.jpg"/>
          <p:cNvPicPr>
            <a:picLocks noChangeAspect="1"/>
          </p:cNvPicPr>
          <p:nvPr/>
        </p:nvPicPr>
        <p:blipFill>
          <a:blip r:embed="rId3"/>
          <a:srcRect l="1004" r="1004"/>
          <a:stretch>
            <a:fillRect/>
          </a:stretch>
        </p:blipFill>
        <p:spPr>
          <a:xfrm>
            <a:off x="3377176" y="1810512"/>
            <a:ext cx="2627368" cy="1536192"/>
          </a:xfrm>
          <a:prstGeom prst="rect">
            <a:avLst/>
          </a:prstGeom>
        </p:spPr>
      </p:pic>
      <p:sp>
        <p:nvSpPr>
          <p:cNvPr id="14" name="Rectangle 13"/>
          <p:cNvSpPr/>
          <p:nvPr/>
        </p:nvSpPr>
        <p:spPr>
          <a:xfrm>
            <a:off x="3377176" y="1810512"/>
            <a:ext cx="2627368" cy="1536192"/>
          </a:xfrm>
          <a:prstGeom prst="rect">
            <a:avLst/>
          </a:prstGeom>
          <a:noFill/>
          <a:ln w="12700">
            <a:solidFill>
              <a:srgbClr val="2C384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377176" y="3456432"/>
            <a:ext cx="2627368" cy="237744"/>
          </a:xfrm>
          <a:prstGeom prst="rect">
            <a:avLst/>
          </a:prstGeom>
          <a:noFill/>
        </p:spPr>
        <p:txBody>
          <a:bodyPr wrap="square" lIns="0" rIns="0" tIns="0" bIns="0" anchor="t">
            <a:spAutoFit/>
          </a:bodyPr>
          <a:lstStyle/>
          <a:p>
            <a:pPr algn="l">
              <a:lnSpc>
                <a:spcPct val="115000"/>
              </a:lnSpc>
            </a:pPr>
            <a:r>
              <a:rPr sz="1300" b="1" i="0">
                <a:solidFill>
                  <a:srgbClr val="FFFFFF"/>
                </a:solidFill>
                <a:latin typeface="Arial"/>
              </a:rPr>
              <a:t>Motion blur</a:t>
            </a:r>
          </a:p>
        </p:txBody>
      </p:sp>
      <p:sp>
        <p:nvSpPr>
          <p:cNvPr id="16" name="TextBox 15"/>
          <p:cNvSpPr txBox="1"/>
          <p:nvPr/>
        </p:nvSpPr>
        <p:spPr>
          <a:xfrm>
            <a:off x="3377176" y="3749039"/>
            <a:ext cx="2627368" cy="658368"/>
          </a:xfrm>
          <a:prstGeom prst="rect">
            <a:avLst/>
          </a:prstGeom>
          <a:noFill/>
        </p:spPr>
        <p:txBody>
          <a:bodyPr wrap="square" lIns="0" rIns="0" tIns="0" bIns="0" anchor="t">
            <a:spAutoFit/>
          </a:bodyPr>
          <a:lstStyle/>
          <a:p>
            <a:pPr algn="l">
              <a:lnSpc>
                <a:spcPct val="132000"/>
              </a:lnSpc>
            </a:pPr>
            <a:r>
              <a:rPr sz="1040" b="0" i="0">
                <a:solidFill>
                  <a:srgbClr val="8D9AB0"/>
                </a:solidFill>
                <a:latin typeface="Arial"/>
              </a:rPr>
              <a:t>Small marks on sprinting players go soft. Lower-back and sleeve logos suffer most.</a:t>
            </a:r>
          </a:p>
        </p:txBody>
      </p:sp>
      <p:pic>
        <p:nvPicPr>
          <p:cNvPr id="17" name="Picture 16" descr="ch_oblique.jpg"/>
          <p:cNvPicPr>
            <a:picLocks noChangeAspect="1"/>
          </p:cNvPicPr>
          <p:nvPr/>
        </p:nvPicPr>
        <p:blipFill>
          <a:blip r:embed="rId4"/>
          <a:srcRect l="1004" r="1004"/>
          <a:stretch>
            <a:fillRect/>
          </a:stretch>
        </p:blipFill>
        <p:spPr>
          <a:xfrm>
            <a:off x="6187424" y="1810512"/>
            <a:ext cx="2627368" cy="1536192"/>
          </a:xfrm>
          <a:prstGeom prst="rect">
            <a:avLst/>
          </a:prstGeom>
        </p:spPr>
      </p:pic>
      <p:sp>
        <p:nvSpPr>
          <p:cNvPr id="18" name="Rectangle 17"/>
          <p:cNvSpPr/>
          <p:nvPr/>
        </p:nvSpPr>
        <p:spPr>
          <a:xfrm>
            <a:off x="6187424" y="1810512"/>
            <a:ext cx="2627368" cy="1536192"/>
          </a:xfrm>
          <a:prstGeom prst="rect">
            <a:avLst/>
          </a:prstGeom>
          <a:noFill/>
          <a:ln w="12700">
            <a:solidFill>
              <a:srgbClr val="2C384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187424" y="3456432"/>
            <a:ext cx="2627368" cy="237744"/>
          </a:xfrm>
          <a:prstGeom prst="rect">
            <a:avLst/>
          </a:prstGeom>
          <a:noFill/>
        </p:spPr>
        <p:txBody>
          <a:bodyPr wrap="square" lIns="0" rIns="0" tIns="0" bIns="0" anchor="t">
            <a:spAutoFit/>
          </a:bodyPr>
          <a:lstStyle/>
          <a:p>
            <a:pPr algn="l">
              <a:lnSpc>
                <a:spcPct val="115000"/>
              </a:lnSpc>
            </a:pPr>
            <a:r>
              <a:rPr sz="1300" b="1" i="0">
                <a:solidFill>
                  <a:srgbClr val="FFFFFF"/>
                </a:solidFill>
                <a:latin typeface="Arial"/>
              </a:rPr>
              <a:t>Camera angle</a:t>
            </a:r>
          </a:p>
        </p:txBody>
      </p:sp>
      <p:sp>
        <p:nvSpPr>
          <p:cNvPr id="20" name="TextBox 19"/>
          <p:cNvSpPr txBox="1"/>
          <p:nvPr/>
        </p:nvSpPr>
        <p:spPr>
          <a:xfrm>
            <a:off x="6187424" y="3749039"/>
            <a:ext cx="2627368" cy="658368"/>
          </a:xfrm>
          <a:prstGeom prst="rect">
            <a:avLst/>
          </a:prstGeom>
          <a:noFill/>
        </p:spPr>
        <p:txBody>
          <a:bodyPr wrap="square" lIns="0" rIns="0" tIns="0" bIns="0" anchor="t">
            <a:spAutoFit/>
          </a:bodyPr>
          <a:lstStyle/>
          <a:p>
            <a:pPr algn="l">
              <a:lnSpc>
                <a:spcPct val="132000"/>
              </a:lnSpc>
            </a:pPr>
            <a:r>
              <a:rPr sz="1040" b="0" i="0">
                <a:solidFill>
                  <a:srgbClr val="8D9AB0"/>
                </a:solidFill>
                <a:latin typeface="Arial"/>
              </a:rPr>
              <a:t>An oblique view distorts the mark. The system corrects for shape but confidence still falls.</a:t>
            </a:r>
          </a:p>
        </p:txBody>
      </p:sp>
      <p:pic>
        <p:nvPicPr>
          <p:cNvPr id="21" name="Picture 20" descr="ch_crowd.jpg"/>
          <p:cNvPicPr>
            <a:picLocks noChangeAspect="1"/>
          </p:cNvPicPr>
          <p:nvPr/>
        </p:nvPicPr>
        <p:blipFill>
          <a:blip r:embed="rId5"/>
          <a:srcRect l="1004" r="1004"/>
          <a:stretch>
            <a:fillRect/>
          </a:stretch>
        </p:blipFill>
        <p:spPr>
          <a:xfrm>
            <a:off x="8997673" y="1810512"/>
            <a:ext cx="2627368" cy="1536192"/>
          </a:xfrm>
          <a:prstGeom prst="rect">
            <a:avLst/>
          </a:prstGeom>
        </p:spPr>
      </p:pic>
      <p:sp>
        <p:nvSpPr>
          <p:cNvPr id="22" name="Rectangle 21"/>
          <p:cNvSpPr/>
          <p:nvPr/>
        </p:nvSpPr>
        <p:spPr>
          <a:xfrm>
            <a:off x="8997673" y="1810512"/>
            <a:ext cx="2627368" cy="1536192"/>
          </a:xfrm>
          <a:prstGeom prst="rect">
            <a:avLst/>
          </a:prstGeom>
          <a:noFill/>
          <a:ln w="12700">
            <a:solidFill>
              <a:srgbClr val="2C384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997673" y="3456432"/>
            <a:ext cx="2627368" cy="237744"/>
          </a:xfrm>
          <a:prstGeom prst="rect">
            <a:avLst/>
          </a:prstGeom>
          <a:noFill/>
        </p:spPr>
        <p:txBody>
          <a:bodyPr wrap="square" lIns="0" rIns="0" tIns="0" bIns="0" anchor="t">
            <a:spAutoFit/>
          </a:bodyPr>
          <a:lstStyle/>
          <a:p>
            <a:pPr algn="l">
              <a:lnSpc>
                <a:spcPct val="115000"/>
              </a:lnSpc>
            </a:pPr>
            <a:r>
              <a:rPr sz="1300" b="1" i="0">
                <a:solidFill>
                  <a:srgbClr val="FFFFFF"/>
                </a:solidFill>
                <a:latin typeface="Arial"/>
              </a:rPr>
              <a:t>Crowded phases</a:t>
            </a:r>
          </a:p>
        </p:txBody>
      </p:sp>
      <p:sp>
        <p:nvSpPr>
          <p:cNvPr id="24" name="TextBox 23"/>
          <p:cNvSpPr txBox="1"/>
          <p:nvPr/>
        </p:nvSpPr>
        <p:spPr>
          <a:xfrm>
            <a:off x="8997673" y="3749039"/>
            <a:ext cx="2627368" cy="658368"/>
          </a:xfrm>
          <a:prstGeom prst="rect">
            <a:avLst/>
          </a:prstGeom>
          <a:noFill/>
        </p:spPr>
        <p:txBody>
          <a:bodyPr wrap="square" lIns="0" rIns="0" tIns="0" bIns="0" anchor="t">
            <a:spAutoFit/>
          </a:bodyPr>
          <a:lstStyle/>
          <a:p>
            <a:pPr algn="l">
              <a:lnSpc>
                <a:spcPct val="132000"/>
              </a:lnSpc>
            </a:pPr>
            <a:r>
              <a:rPr sz="1040" b="0" i="0">
                <a:solidFill>
                  <a:srgbClr val="8D9AB0"/>
                </a:solidFill>
                <a:latin typeface="Arial"/>
              </a:rPr>
              <a:t>Scrums and melees stack players. Attribution to the right player becomes harder.</a:t>
            </a:r>
          </a:p>
        </p:txBody>
      </p:sp>
      <p:sp>
        <p:nvSpPr>
          <p:cNvPr id="25" name="Rounded Rectangle 24"/>
          <p:cNvSpPr/>
          <p:nvPr/>
        </p:nvSpPr>
        <p:spPr>
          <a:xfrm>
            <a:off x="566928" y="4517136"/>
            <a:ext cx="11058113" cy="1572768"/>
          </a:xfrm>
          <a:prstGeom prst="roundRect">
            <a:avLst>
              <a:gd name="adj" fmla="val 3500"/>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59536" y="4718304"/>
            <a:ext cx="10472897" cy="256032"/>
          </a:xfrm>
          <a:prstGeom prst="rect">
            <a:avLst/>
          </a:prstGeom>
          <a:noFill/>
        </p:spPr>
        <p:txBody>
          <a:bodyPr wrap="square" lIns="0" rIns="0" tIns="0" bIns="0" anchor="t">
            <a:spAutoFit/>
          </a:bodyPr>
          <a:lstStyle/>
          <a:p>
            <a:pPr algn="l">
              <a:lnSpc>
                <a:spcPct val="115000"/>
              </a:lnSpc>
            </a:pPr>
            <a:r>
              <a:rPr sz="1300" b="1" i="0">
                <a:solidFill>
                  <a:srgbClr val="FFC20E"/>
                </a:solidFill>
                <a:latin typeface="Arial"/>
              </a:rPr>
              <a:t>What this means for the numbers</a:t>
            </a:r>
          </a:p>
        </p:txBody>
      </p:sp>
      <p:sp>
        <p:nvSpPr>
          <p:cNvPr id="27" name="TextBox 26"/>
          <p:cNvSpPr txBox="1"/>
          <p:nvPr/>
        </p:nvSpPr>
        <p:spPr>
          <a:xfrm>
            <a:off x="859536" y="5084064"/>
            <a:ext cx="5120640" cy="822960"/>
          </a:xfrm>
          <a:prstGeom prst="rect">
            <a:avLst/>
          </a:prstGeom>
          <a:noFill/>
        </p:spPr>
        <p:txBody>
          <a:bodyPr wrap="square" lIns="0" rIns="0" tIns="0" bIns="0" anchor="t">
            <a:spAutoFit/>
          </a:bodyPr>
          <a:lstStyle/>
          <a:p>
            <a:pPr algn="l">
              <a:lnSpc>
                <a:spcPct val="142000"/>
              </a:lnSpc>
            </a:pPr>
            <a:r>
              <a:rPr sz="1080" b="0" i="0">
                <a:solidFill>
                  <a:srgbClr val="E7ECF4"/>
                </a:solidFill>
                <a:latin typeface="Arial"/>
              </a:rPr>
              <a:t>•  Wide-shot recall is 0.500, so total exposure is under-counted in wide passages — the figures are conservative, not inflated.</a:t>
            </a:r>
          </a:p>
          <a:p>
            <a:pPr algn="l">
              <a:lnSpc>
                <a:spcPct val="142000"/>
              </a:lnSpc>
            </a:pPr>
            <a:r>
              <a:rPr sz="1080" b="0" i="0">
                <a:solidFill>
                  <a:srgbClr val="E7ECF4"/>
                </a:solidFill>
                <a:latin typeface="Arial"/>
              </a:rPr>
              <a:t>•  Three back-top positions share one visibility anchor, so read them as a group rather than individually.</a:t>
            </a:r>
          </a:p>
        </p:txBody>
      </p:sp>
      <p:sp>
        <p:nvSpPr>
          <p:cNvPr id="28" name="TextBox 27"/>
          <p:cNvSpPr txBox="1"/>
          <p:nvPr/>
        </p:nvSpPr>
        <p:spPr>
          <a:xfrm>
            <a:off x="6437376" y="5084064"/>
            <a:ext cx="5120640" cy="822960"/>
          </a:xfrm>
          <a:prstGeom prst="rect">
            <a:avLst/>
          </a:prstGeom>
          <a:noFill/>
        </p:spPr>
        <p:txBody>
          <a:bodyPr wrap="square" lIns="0" rIns="0" tIns="0" bIns="0" anchor="t">
            <a:spAutoFit/>
          </a:bodyPr>
          <a:lstStyle/>
          <a:p>
            <a:pPr algn="l">
              <a:lnSpc>
                <a:spcPct val="142000"/>
              </a:lnSpc>
            </a:pPr>
            <a:r>
              <a:rPr sz="1080" b="0" i="0">
                <a:solidFill>
                  <a:srgbClr val="E7ECF4"/>
                </a:solidFill>
                <a:latin typeface="Arial"/>
              </a:rPr>
              <a:t>•  LogoLens measures broadcast visibility only — not attention, recall, hospitality, exclusivity or activation value.</a:t>
            </a:r>
          </a:p>
          <a:p>
            <a:pPr algn="l">
              <a:lnSpc>
                <a:spcPct val="142000"/>
              </a:lnSpc>
            </a:pPr>
            <a:r>
              <a:rPr sz="1080" b="0" i="0">
                <a:solidFill>
                  <a:srgbClr val="E7ECF4"/>
                </a:solidFill>
                <a:latin typeface="Arial"/>
              </a:rPr>
              <a:t>•  Club allocation totals 95% and LogoLens totals 100%; rescaling to 95% changes no gap direction.</a:t>
            </a:r>
          </a:p>
        </p:txBody>
      </p:sp>
      <p:sp>
        <p:nvSpPr>
          <p:cNvPr id="29" name="TextBox 28"/>
          <p:cNvSpPr txBox="1"/>
          <p:nvPr/>
        </p:nvSpPr>
        <p:spPr>
          <a:xfrm>
            <a:off x="10984961" y="6382512"/>
            <a:ext cx="640080" cy="237744"/>
          </a:xfrm>
          <a:prstGeom prst="rect">
            <a:avLst/>
          </a:prstGeom>
          <a:noFill/>
        </p:spPr>
        <p:txBody>
          <a:bodyPr wrap="square" lIns="0" rIns="0" tIns="0" bIns="0" anchor="t">
            <a:spAutoFit/>
          </a:bodyPr>
          <a:lstStyle/>
          <a:p>
            <a:pPr algn="r">
              <a:lnSpc>
                <a:spcPct val="115000"/>
              </a:lnSpc>
            </a:pPr>
            <a:r>
              <a:rPr sz="1000" b="0" i="0">
                <a:solidFill>
                  <a:srgbClr val="5E6C8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409" cy="6949440"/>
          </a:xfrm>
          <a:prstGeom prst="rect">
            <a:avLst/>
          </a:prstGeom>
          <a:solidFill>
            <a:srgbClr val="0D1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7071342" cy="50292"/>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071342" y="0"/>
            <a:ext cx="2682233" cy="50292"/>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753575" y="0"/>
            <a:ext cx="2438393" cy="50292"/>
          </a:xfrm>
          <a:prstGeom prst="rect">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402336"/>
            <a:ext cx="11058113" cy="237744"/>
          </a:xfrm>
          <a:prstGeom prst="rect">
            <a:avLst/>
          </a:prstGeom>
          <a:noFill/>
        </p:spPr>
        <p:txBody>
          <a:bodyPr wrap="square" lIns="0" rIns="0" tIns="0" bIns="0" anchor="t">
            <a:spAutoFit/>
          </a:bodyPr>
          <a:lstStyle/>
          <a:p>
            <a:pPr algn="l">
              <a:lnSpc>
                <a:spcPct val="115000"/>
              </a:lnSpc>
            </a:pPr>
            <a:r>
              <a:rPr sz="1050" b="1" i="0" spc="180">
                <a:solidFill>
                  <a:srgbClr val="FFC20E"/>
                </a:solidFill>
                <a:latin typeface="Arial"/>
              </a:rPr>
              <a:t>PRACTICAL VALUE</a:t>
            </a:r>
          </a:p>
        </p:txBody>
      </p:sp>
      <p:sp>
        <p:nvSpPr>
          <p:cNvPr id="7" name="TextBox 6"/>
          <p:cNvSpPr txBox="1"/>
          <p:nvPr/>
        </p:nvSpPr>
        <p:spPr>
          <a:xfrm>
            <a:off x="566928" y="676656"/>
            <a:ext cx="11058113" cy="566928"/>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What Bradford Bulls can do with this</a:t>
            </a:r>
          </a:p>
        </p:txBody>
      </p:sp>
      <p:sp>
        <p:nvSpPr>
          <p:cNvPr id="8" name="TextBox 7"/>
          <p:cNvSpPr txBox="1"/>
          <p:nvPr/>
        </p:nvSpPr>
        <p:spPr>
          <a:xfrm>
            <a:off x="566928" y="1280160"/>
            <a:ext cx="9509977" cy="274320"/>
          </a:xfrm>
          <a:prstGeom prst="rect">
            <a:avLst/>
          </a:prstGeom>
          <a:noFill/>
        </p:spPr>
        <p:txBody>
          <a:bodyPr wrap="square" lIns="0" rIns="0" tIns="0" bIns="0" anchor="t">
            <a:spAutoFit/>
          </a:bodyPr>
          <a:lstStyle/>
          <a:p>
            <a:pPr algn="l">
              <a:lnSpc>
                <a:spcPct val="120000"/>
              </a:lnSpc>
            </a:pPr>
            <a:r>
              <a:rPr sz="1300" b="0" i="0">
                <a:solidFill>
                  <a:srgbClr val="8D9AB0"/>
                </a:solidFill>
                <a:latin typeface="Arial"/>
              </a:rPr>
              <a:t>The output is evidence for a commercial conversation, not an automatic price list.</a:t>
            </a:r>
          </a:p>
        </p:txBody>
      </p:sp>
      <p:sp>
        <p:nvSpPr>
          <p:cNvPr id="9" name="Rounded Rectangle 8"/>
          <p:cNvSpPr/>
          <p:nvPr/>
        </p:nvSpPr>
        <p:spPr>
          <a:xfrm>
            <a:off x="566928" y="1847088"/>
            <a:ext cx="3551925" cy="1335024"/>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847088"/>
            <a:ext cx="3551925" cy="4572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60" y="2103120"/>
            <a:ext cx="3094725" cy="274320"/>
          </a:xfrm>
          <a:prstGeom prst="rect">
            <a:avLst/>
          </a:prstGeom>
          <a:noFill/>
        </p:spPr>
        <p:txBody>
          <a:bodyPr wrap="square" lIns="0" rIns="0" tIns="0" bIns="0" anchor="t">
            <a:spAutoFit/>
          </a:bodyPr>
          <a:lstStyle/>
          <a:p>
            <a:pPr algn="l">
              <a:lnSpc>
                <a:spcPct val="115000"/>
              </a:lnSpc>
            </a:pPr>
            <a:r>
              <a:rPr sz="1450" b="1" i="0">
                <a:solidFill>
                  <a:srgbClr val="FFFFFF"/>
                </a:solidFill>
                <a:latin typeface="Arial"/>
              </a:rPr>
              <a:t>Price with evidence</a:t>
            </a:r>
          </a:p>
        </p:txBody>
      </p:sp>
      <p:sp>
        <p:nvSpPr>
          <p:cNvPr id="12" name="TextBox 11"/>
          <p:cNvSpPr txBox="1"/>
          <p:nvPr/>
        </p:nvSpPr>
        <p:spPr>
          <a:xfrm>
            <a:off x="822960" y="2487168"/>
            <a:ext cx="3094725" cy="640080"/>
          </a:xfrm>
          <a:prstGeom prst="rect">
            <a:avLst/>
          </a:prstGeom>
          <a:noFill/>
        </p:spPr>
        <p:txBody>
          <a:bodyPr wrap="square" lIns="0" rIns="0" tIns="0" bIns="0" anchor="t">
            <a:spAutoFit/>
          </a:bodyPr>
          <a:lstStyle/>
          <a:p>
            <a:pPr algn="l">
              <a:lnSpc>
                <a:spcPct val="136000"/>
              </a:lnSpc>
            </a:pPr>
            <a:r>
              <a:rPr sz="1100" b="0" i="0">
                <a:solidFill>
                  <a:srgbClr val="E7ECF4"/>
                </a:solidFill>
                <a:latin typeface="Arial"/>
              </a:rPr>
              <a:t>Bring a measured delivery figure to every renewal instead of an asserted one. The number is reproducible and traceable to timestamps.</a:t>
            </a:r>
          </a:p>
        </p:txBody>
      </p:sp>
      <p:sp>
        <p:nvSpPr>
          <p:cNvPr id="13" name="Rounded Rectangle 12"/>
          <p:cNvSpPr/>
          <p:nvPr/>
        </p:nvSpPr>
        <p:spPr>
          <a:xfrm>
            <a:off x="4320021" y="1847088"/>
            <a:ext cx="3551925" cy="1335024"/>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20021" y="1847088"/>
            <a:ext cx="3551925" cy="45720"/>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76053" y="2103120"/>
            <a:ext cx="3094725" cy="274320"/>
          </a:xfrm>
          <a:prstGeom prst="rect">
            <a:avLst/>
          </a:prstGeom>
          <a:noFill/>
        </p:spPr>
        <p:txBody>
          <a:bodyPr wrap="square" lIns="0" rIns="0" tIns="0" bIns="0" anchor="t">
            <a:spAutoFit/>
          </a:bodyPr>
          <a:lstStyle/>
          <a:p>
            <a:pPr algn="l">
              <a:lnSpc>
                <a:spcPct val="115000"/>
              </a:lnSpc>
            </a:pPr>
            <a:r>
              <a:rPr sz="1450" b="1" i="0">
                <a:solidFill>
                  <a:srgbClr val="FFFFFF"/>
                </a:solidFill>
                <a:latin typeface="Arial"/>
              </a:rPr>
              <a:t>Repackage the inventory</a:t>
            </a:r>
          </a:p>
        </p:txBody>
      </p:sp>
      <p:sp>
        <p:nvSpPr>
          <p:cNvPr id="16" name="TextBox 15"/>
          <p:cNvSpPr txBox="1"/>
          <p:nvPr/>
        </p:nvSpPr>
        <p:spPr>
          <a:xfrm>
            <a:off x="4576053" y="2487168"/>
            <a:ext cx="3094725" cy="640080"/>
          </a:xfrm>
          <a:prstGeom prst="rect">
            <a:avLst/>
          </a:prstGeom>
          <a:noFill/>
        </p:spPr>
        <p:txBody>
          <a:bodyPr wrap="square" lIns="0" rIns="0" tIns="0" bIns="0" anchor="t">
            <a:spAutoFit/>
          </a:bodyPr>
          <a:lstStyle/>
          <a:p>
            <a:pPr algn="l">
              <a:lnSpc>
                <a:spcPct val="136000"/>
              </a:lnSpc>
            </a:pPr>
            <a:r>
              <a:rPr sz="1100" b="0" i="0">
                <a:solidFill>
                  <a:srgbClr val="E7ECF4"/>
                </a:solidFill>
                <a:latin typeface="Arial"/>
              </a:rPr>
              <a:t>Shorts and lower-back positions are currently sold cheaply relative to what they deliver. They can be bundled, upgraded or re-tiered.</a:t>
            </a:r>
          </a:p>
        </p:txBody>
      </p:sp>
      <p:sp>
        <p:nvSpPr>
          <p:cNvPr id="17" name="Rounded Rectangle 16"/>
          <p:cNvSpPr/>
          <p:nvPr/>
        </p:nvSpPr>
        <p:spPr>
          <a:xfrm>
            <a:off x="8073115" y="1847088"/>
            <a:ext cx="3551925" cy="1335024"/>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8073115" y="1847088"/>
            <a:ext cx="3551925" cy="45720"/>
          </a:xfrm>
          <a:prstGeom prst="rect">
            <a:avLst/>
          </a:prstGeom>
          <a:solidFill>
            <a:srgbClr val="4AA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329147" y="2103120"/>
            <a:ext cx="3094725" cy="274320"/>
          </a:xfrm>
          <a:prstGeom prst="rect">
            <a:avLst/>
          </a:prstGeom>
          <a:noFill/>
        </p:spPr>
        <p:txBody>
          <a:bodyPr wrap="square" lIns="0" rIns="0" tIns="0" bIns="0" anchor="t">
            <a:spAutoFit/>
          </a:bodyPr>
          <a:lstStyle/>
          <a:p>
            <a:pPr algn="l">
              <a:lnSpc>
                <a:spcPct val="115000"/>
              </a:lnSpc>
            </a:pPr>
            <a:r>
              <a:rPr sz="1450" b="1" i="0">
                <a:solidFill>
                  <a:srgbClr val="FFFFFF"/>
                </a:solidFill>
                <a:latin typeface="Arial"/>
              </a:rPr>
              <a:t>Defend the premium positions</a:t>
            </a:r>
          </a:p>
        </p:txBody>
      </p:sp>
      <p:sp>
        <p:nvSpPr>
          <p:cNvPr id="20" name="TextBox 19"/>
          <p:cNvSpPr txBox="1"/>
          <p:nvPr/>
        </p:nvSpPr>
        <p:spPr>
          <a:xfrm>
            <a:off x="8329147" y="2487168"/>
            <a:ext cx="3094725" cy="640080"/>
          </a:xfrm>
          <a:prstGeom prst="rect">
            <a:avLst/>
          </a:prstGeom>
          <a:noFill/>
        </p:spPr>
        <p:txBody>
          <a:bodyPr wrap="square" lIns="0" rIns="0" tIns="0" bIns="0" anchor="t">
            <a:spAutoFit/>
          </a:bodyPr>
          <a:lstStyle/>
          <a:p>
            <a:pPr algn="l">
              <a:lnSpc>
                <a:spcPct val="136000"/>
              </a:lnSpc>
            </a:pPr>
            <a:r>
              <a:rPr sz="1100" b="0" i="0">
                <a:solidFill>
                  <a:srgbClr val="E7ECF4"/>
                </a:solidFill>
                <a:latin typeface="Arial"/>
              </a:rPr>
              <a:t>Where price sits above broadcast visibility, document the non-broadcast value — hospitality, stills, digital, association — explicitly.</a:t>
            </a:r>
          </a:p>
        </p:txBody>
      </p:sp>
      <p:sp>
        <p:nvSpPr>
          <p:cNvPr id="21" name="Rounded Rectangle 20"/>
          <p:cNvSpPr/>
          <p:nvPr/>
        </p:nvSpPr>
        <p:spPr>
          <a:xfrm>
            <a:off x="566928" y="3364991"/>
            <a:ext cx="3551925" cy="1335024"/>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66928" y="3364991"/>
            <a:ext cx="3551925" cy="45720"/>
          </a:xfrm>
          <a:prstGeom prst="rect">
            <a:avLst/>
          </a:prstGeom>
          <a:solidFill>
            <a:srgbClr val="2EC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960" y="3621024"/>
            <a:ext cx="3094725" cy="274320"/>
          </a:xfrm>
          <a:prstGeom prst="rect">
            <a:avLst/>
          </a:prstGeom>
          <a:noFill/>
        </p:spPr>
        <p:txBody>
          <a:bodyPr wrap="square" lIns="0" rIns="0" tIns="0" bIns="0" anchor="t">
            <a:spAutoFit/>
          </a:bodyPr>
          <a:lstStyle/>
          <a:p>
            <a:pPr algn="l">
              <a:lnSpc>
                <a:spcPct val="115000"/>
              </a:lnSpc>
            </a:pPr>
            <a:r>
              <a:rPr sz="1450" b="1" i="0">
                <a:solidFill>
                  <a:srgbClr val="FFFFFF"/>
                </a:solidFill>
                <a:latin typeface="Arial"/>
              </a:rPr>
              <a:t>Report to sponsors</a:t>
            </a:r>
          </a:p>
        </p:txBody>
      </p:sp>
      <p:sp>
        <p:nvSpPr>
          <p:cNvPr id="24" name="TextBox 23"/>
          <p:cNvSpPr txBox="1"/>
          <p:nvPr/>
        </p:nvSpPr>
        <p:spPr>
          <a:xfrm>
            <a:off x="822960" y="4005072"/>
            <a:ext cx="3094725" cy="640080"/>
          </a:xfrm>
          <a:prstGeom prst="rect">
            <a:avLst/>
          </a:prstGeom>
          <a:noFill/>
        </p:spPr>
        <p:txBody>
          <a:bodyPr wrap="square" lIns="0" rIns="0" tIns="0" bIns="0" anchor="t">
            <a:spAutoFit/>
          </a:bodyPr>
          <a:lstStyle/>
          <a:p>
            <a:pPr algn="l">
              <a:lnSpc>
                <a:spcPct val="136000"/>
              </a:lnSpc>
            </a:pPr>
            <a:r>
              <a:rPr sz="1100" b="0" i="0">
                <a:solidFill>
                  <a:srgbClr val="E7ECF4"/>
                </a:solidFill>
                <a:latin typeface="Arial"/>
              </a:rPr>
              <a:t>Give each partner a per-match summary of their own delivery: seconds, appearances, quality and share. That is a retention tool.</a:t>
            </a:r>
          </a:p>
        </p:txBody>
      </p:sp>
      <p:sp>
        <p:nvSpPr>
          <p:cNvPr id="25" name="Rounded Rectangle 24"/>
          <p:cNvSpPr/>
          <p:nvPr/>
        </p:nvSpPr>
        <p:spPr>
          <a:xfrm>
            <a:off x="4320021" y="3364991"/>
            <a:ext cx="3551925" cy="1335024"/>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4320021" y="3364991"/>
            <a:ext cx="3551925" cy="45720"/>
          </a:xfrm>
          <a:prstGeom prst="rect">
            <a:avLst/>
          </a:prstGeom>
          <a:solidFill>
            <a:srgbClr val="9B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576053" y="3621024"/>
            <a:ext cx="3094725" cy="274320"/>
          </a:xfrm>
          <a:prstGeom prst="rect">
            <a:avLst/>
          </a:prstGeom>
          <a:noFill/>
        </p:spPr>
        <p:txBody>
          <a:bodyPr wrap="square" lIns="0" rIns="0" tIns="0" bIns="0" anchor="t">
            <a:spAutoFit/>
          </a:bodyPr>
          <a:lstStyle/>
          <a:p>
            <a:pPr algn="l">
              <a:lnSpc>
                <a:spcPct val="115000"/>
              </a:lnSpc>
            </a:pPr>
            <a:r>
              <a:rPr sz="1450" b="1" i="0">
                <a:solidFill>
                  <a:srgbClr val="FFFFFF"/>
                </a:solidFill>
                <a:latin typeface="Arial"/>
              </a:rPr>
              <a:t>Prove the rate card</a:t>
            </a:r>
          </a:p>
        </p:txBody>
      </p:sp>
      <p:sp>
        <p:nvSpPr>
          <p:cNvPr id="28" name="TextBox 27"/>
          <p:cNvSpPr txBox="1"/>
          <p:nvPr/>
        </p:nvSpPr>
        <p:spPr>
          <a:xfrm>
            <a:off x="4576053" y="4005072"/>
            <a:ext cx="3094725" cy="640080"/>
          </a:xfrm>
          <a:prstGeom prst="rect">
            <a:avLst/>
          </a:prstGeom>
          <a:noFill/>
        </p:spPr>
        <p:txBody>
          <a:bodyPr wrap="square" lIns="0" rIns="0" tIns="0" bIns="0" anchor="t">
            <a:spAutoFit/>
          </a:bodyPr>
          <a:lstStyle/>
          <a:p>
            <a:pPr algn="l">
              <a:lnSpc>
                <a:spcPct val="136000"/>
              </a:lnSpc>
            </a:pPr>
            <a:r>
              <a:rPr sz="1100" b="0" i="0">
                <a:solidFill>
                  <a:srgbClr val="E7ECF4"/>
                </a:solidFill>
                <a:latin typeface="Arial"/>
              </a:rPr>
              <a:t>Turn the shirt from a list of positions into a measured inventory with a defensible internal logic.</a:t>
            </a:r>
          </a:p>
        </p:txBody>
      </p:sp>
      <p:sp>
        <p:nvSpPr>
          <p:cNvPr id="29" name="Rounded Rectangle 28"/>
          <p:cNvSpPr/>
          <p:nvPr/>
        </p:nvSpPr>
        <p:spPr>
          <a:xfrm>
            <a:off x="8073115" y="3364991"/>
            <a:ext cx="3551925" cy="1335024"/>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8073115" y="3364991"/>
            <a:ext cx="3551925" cy="45720"/>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329147" y="3621024"/>
            <a:ext cx="3094725" cy="274320"/>
          </a:xfrm>
          <a:prstGeom prst="rect">
            <a:avLst/>
          </a:prstGeom>
          <a:noFill/>
        </p:spPr>
        <p:txBody>
          <a:bodyPr wrap="square" lIns="0" rIns="0" tIns="0" bIns="0" anchor="t">
            <a:spAutoFit/>
          </a:bodyPr>
          <a:lstStyle/>
          <a:p>
            <a:pPr algn="l">
              <a:lnSpc>
                <a:spcPct val="115000"/>
              </a:lnSpc>
            </a:pPr>
            <a:r>
              <a:rPr sz="1450" b="1" i="0">
                <a:solidFill>
                  <a:srgbClr val="FFFFFF"/>
                </a:solidFill>
                <a:latin typeface="Arial"/>
              </a:rPr>
              <a:t>Scale to more fixtures</a:t>
            </a:r>
          </a:p>
        </p:txBody>
      </p:sp>
      <p:sp>
        <p:nvSpPr>
          <p:cNvPr id="32" name="TextBox 31"/>
          <p:cNvSpPr txBox="1"/>
          <p:nvPr/>
        </p:nvSpPr>
        <p:spPr>
          <a:xfrm>
            <a:off x="8329147" y="4005072"/>
            <a:ext cx="3094725" cy="640080"/>
          </a:xfrm>
          <a:prstGeom prst="rect">
            <a:avLst/>
          </a:prstGeom>
          <a:noFill/>
        </p:spPr>
        <p:txBody>
          <a:bodyPr wrap="square" lIns="0" rIns="0" tIns="0" bIns="0" anchor="t">
            <a:spAutoFit/>
          </a:bodyPr>
          <a:lstStyle/>
          <a:p>
            <a:pPr algn="l">
              <a:lnSpc>
                <a:spcPct val="136000"/>
              </a:lnSpc>
            </a:pPr>
            <a:r>
              <a:rPr sz="1100" b="0" i="0">
                <a:solidFill>
                  <a:srgbClr val="E7ECF4"/>
                </a:solidFill>
                <a:latin typeface="Arial"/>
              </a:rPr>
              <a:t>The same pipeline runs on any broadcast of the home kit with no extra annotation, building a season-level picture.</a:t>
            </a:r>
          </a:p>
        </p:txBody>
      </p:sp>
      <p:sp>
        <p:nvSpPr>
          <p:cNvPr id="33" name="Rounded Rectangle 32"/>
          <p:cNvSpPr/>
          <p:nvPr/>
        </p:nvSpPr>
        <p:spPr>
          <a:xfrm>
            <a:off x="566928" y="4992624"/>
            <a:ext cx="50292" cy="274320"/>
          </a:xfrm>
          <a:prstGeom prst="roundRect">
            <a:avLst>
              <a:gd name="adj" fmla="val 50000"/>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04672" y="4956048"/>
            <a:ext cx="10692353" cy="457200"/>
          </a:xfrm>
          <a:prstGeom prst="rect">
            <a:avLst/>
          </a:prstGeom>
          <a:noFill/>
        </p:spPr>
        <p:txBody>
          <a:bodyPr wrap="square" lIns="0" rIns="0" tIns="0" bIns="0" anchor="t">
            <a:spAutoFit/>
          </a:bodyPr>
          <a:lstStyle/>
          <a:p>
            <a:pPr algn="l">
              <a:lnSpc>
                <a:spcPct val="118000"/>
              </a:lnSpc>
            </a:pPr>
            <a:r>
              <a:rPr sz="1900" b="1" i="0">
                <a:solidFill>
                  <a:srgbClr val="FFFFFF"/>
                </a:solidFill>
                <a:latin typeface="Arial"/>
              </a:rPr>
              <a:t>Use it as decision evidence — not as an automatic pricing engine.</a:t>
            </a:r>
          </a:p>
        </p:txBody>
      </p:sp>
      <p:sp>
        <p:nvSpPr>
          <p:cNvPr id="35" name="TextBox 34"/>
          <p:cNvSpPr txBox="1"/>
          <p:nvPr/>
        </p:nvSpPr>
        <p:spPr>
          <a:xfrm>
            <a:off x="804672" y="5449824"/>
            <a:ext cx="10509473" cy="548640"/>
          </a:xfrm>
          <a:prstGeom prst="rect">
            <a:avLst/>
          </a:prstGeom>
          <a:noFill/>
        </p:spPr>
        <p:txBody>
          <a:bodyPr wrap="square" lIns="0" rIns="0" tIns="0" bIns="0" anchor="t">
            <a:spAutoFit/>
          </a:bodyPr>
          <a:lstStyle/>
          <a:p>
            <a:pPr algn="l">
              <a:lnSpc>
                <a:spcPct val="136000"/>
              </a:lnSpc>
            </a:pPr>
            <a:r>
              <a:rPr sz="1250" b="0" i="0">
                <a:solidFill>
                  <a:srgbClr val="8D9AB0"/>
                </a:solidFill>
                <a:latin typeface="Arial"/>
              </a:rPr>
              <a:t>The recommendation is a hybrid review: the club's commercial judgement, the LogoLens measurement, and a written rationale wherever the two differ by more than a few points.</a:t>
            </a:r>
          </a:p>
        </p:txBody>
      </p:sp>
      <p:sp>
        <p:nvSpPr>
          <p:cNvPr id="36" name="TextBox 35"/>
          <p:cNvSpPr txBox="1"/>
          <p:nvPr/>
        </p:nvSpPr>
        <p:spPr>
          <a:xfrm>
            <a:off x="10984961" y="6382512"/>
            <a:ext cx="640080" cy="237744"/>
          </a:xfrm>
          <a:prstGeom prst="rect">
            <a:avLst/>
          </a:prstGeom>
          <a:noFill/>
        </p:spPr>
        <p:txBody>
          <a:bodyPr wrap="square" lIns="0" rIns="0" tIns="0" bIns="0" anchor="t">
            <a:spAutoFit/>
          </a:bodyPr>
          <a:lstStyle/>
          <a:p>
            <a:pPr algn="r">
              <a:lnSpc>
                <a:spcPct val="115000"/>
              </a:lnSpc>
            </a:pPr>
            <a:r>
              <a:rPr sz="1000" b="0" i="0">
                <a:solidFill>
                  <a:srgbClr val="5E6C8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409" cy="6949440"/>
          </a:xfrm>
          <a:prstGeom prst="rect">
            <a:avLst/>
          </a:prstGeom>
          <a:solidFill>
            <a:srgbClr val="0D1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7071342" cy="50292"/>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071342" y="0"/>
            <a:ext cx="2682233" cy="50292"/>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753575" y="0"/>
            <a:ext cx="2438393" cy="50292"/>
          </a:xfrm>
          <a:prstGeom prst="rect">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402336"/>
            <a:ext cx="11058113" cy="237744"/>
          </a:xfrm>
          <a:prstGeom prst="rect">
            <a:avLst/>
          </a:prstGeom>
          <a:noFill/>
        </p:spPr>
        <p:txBody>
          <a:bodyPr wrap="square" lIns="0" rIns="0" tIns="0" bIns="0" anchor="t">
            <a:spAutoFit/>
          </a:bodyPr>
          <a:lstStyle/>
          <a:p>
            <a:pPr algn="l">
              <a:lnSpc>
                <a:spcPct val="115000"/>
              </a:lnSpc>
            </a:pPr>
            <a:r>
              <a:rPr sz="1050" b="1" i="0" spc="180">
                <a:solidFill>
                  <a:srgbClr val="FFC20E"/>
                </a:solidFill>
                <a:latin typeface="Arial"/>
              </a:rPr>
              <a:t>NEXT STEPS</a:t>
            </a:r>
          </a:p>
        </p:txBody>
      </p:sp>
      <p:sp>
        <p:nvSpPr>
          <p:cNvPr id="7" name="TextBox 6"/>
          <p:cNvSpPr txBox="1"/>
          <p:nvPr/>
        </p:nvSpPr>
        <p:spPr>
          <a:xfrm>
            <a:off x="566928" y="676656"/>
            <a:ext cx="11058113" cy="566928"/>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From a two-match pilot to a season-level system</a:t>
            </a:r>
          </a:p>
        </p:txBody>
      </p:sp>
      <p:sp>
        <p:nvSpPr>
          <p:cNvPr id="8" name="TextBox 7"/>
          <p:cNvSpPr txBox="1"/>
          <p:nvPr/>
        </p:nvSpPr>
        <p:spPr>
          <a:xfrm>
            <a:off x="566928" y="1280160"/>
            <a:ext cx="9509977" cy="274320"/>
          </a:xfrm>
          <a:prstGeom prst="rect">
            <a:avLst/>
          </a:prstGeom>
          <a:noFill/>
        </p:spPr>
        <p:txBody>
          <a:bodyPr wrap="square" lIns="0" rIns="0" tIns="0" bIns="0" anchor="t">
            <a:spAutoFit/>
          </a:bodyPr>
          <a:lstStyle/>
          <a:p>
            <a:pPr algn="l">
              <a:lnSpc>
                <a:spcPct val="120000"/>
              </a:lnSpc>
            </a:pPr>
            <a:r>
              <a:rPr sz="1300" b="0" i="0">
                <a:solidFill>
                  <a:srgbClr val="8D9AB0"/>
                </a:solidFill>
                <a:latin typeface="Arial"/>
              </a:rPr>
              <a:t>Four steps, in the order they should happen.</a:t>
            </a:r>
          </a:p>
        </p:txBody>
      </p:sp>
      <p:sp>
        <p:nvSpPr>
          <p:cNvPr id="9" name="Rounded Rectangle 8"/>
          <p:cNvSpPr/>
          <p:nvPr/>
        </p:nvSpPr>
        <p:spPr>
          <a:xfrm>
            <a:off x="566928" y="1847088"/>
            <a:ext cx="11058113" cy="950976"/>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38528"/>
            <a:ext cx="50292" cy="768096"/>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7" y="2103120"/>
            <a:ext cx="731520" cy="457200"/>
          </a:xfrm>
          <a:prstGeom prst="rect">
            <a:avLst/>
          </a:prstGeom>
          <a:noFill/>
        </p:spPr>
        <p:txBody>
          <a:bodyPr wrap="square" lIns="0" rIns="0" tIns="0" bIns="0" anchor="t">
            <a:spAutoFit/>
          </a:bodyPr>
          <a:lstStyle/>
          <a:p>
            <a:pPr algn="l">
              <a:lnSpc>
                <a:spcPct val="115000"/>
              </a:lnSpc>
            </a:pPr>
            <a:r>
              <a:rPr sz="2400" b="1" i="0">
                <a:solidFill>
                  <a:srgbClr val="5E6C82"/>
                </a:solidFill>
                <a:latin typeface="Arial"/>
              </a:rPr>
              <a:t>01</a:t>
            </a:r>
          </a:p>
        </p:txBody>
      </p:sp>
      <p:sp>
        <p:nvSpPr>
          <p:cNvPr id="12" name="TextBox 11"/>
          <p:cNvSpPr txBox="1"/>
          <p:nvPr/>
        </p:nvSpPr>
        <p:spPr>
          <a:xfrm>
            <a:off x="1664207" y="2029968"/>
            <a:ext cx="3840480" cy="274320"/>
          </a:xfrm>
          <a:prstGeom prst="rect">
            <a:avLst/>
          </a:prstGeom>
          <a:noFill/>
        </p:spPr>
        <p:txBody>
          <a:bodyPr wrap="square" lIns="0" rIns="0" tIns="0" bIns="0" anchor="t">
            <a:spAutoFit/>
          </a:bodyPr>
          <a:lstStyle/>
          <a:p>
            <a:pPr algn="l">
              <a:lnSpc>
                <a:spcPct val="115000"/>
              </a:lnSpc>
            </a:pPr>
            <a:r>
              <a:rPr sz="1450" b="1" i="0">
                <a:solidFill>
                  <a:srgbClr val="FFFFFF"/>
                </a:solidFill>
                <a:latin typeface="Arial"/>
              </a:rPr>
              <a:t>Confirm the inventory map</a:t>
            </a:r>
          </a:p>
        </p:txBody>
      </p:sp>
      <p:sp>
        <p:nvSpPr>
          <p:cNvPr id="13" name="TextBox 12"/>
          <p:cNvSpPr txBox="1"/>
          <p:nvPr/>
        </p:nvSpPr>
        <p:spPr>
          <a:xfrm>
            <a:off x="1664207" y="2359152"/>
            <a:ext cx="3840480" cy="274320"/>
          </a:xfrm>
          <a:prstGeom prst="rect">
            <a:avLst/>
          </a:prstGeom>
          <a:noFill/>
        </p:spPr>
        <p:txBody>
          <a:bodyPr wrap="square" lIns="0" rIns="0" tIns="0" bIns="0" anchor="t">
            <a:spAutoFit/>
          </a:bodyPr>
          <a:lstStyle/>
          <a:p>
            <a:pPr algn="l">
              <a:lnSpc>
                <a:spcPct val="115000"/>
              </a:lnSpc>
            </a:pPr>
            <a:r>
              <a:rPr sz="960" b="0" i="0">
                <a:solidFill>
                  <a:srgbClr val="FFC20E"/>
                </a:solidFill>
                <a:latin typeface="Arial"/>
              </a:rPr>
              <a:t>Club  ·  1 week</a:t>
            </a:r>
          </a:p>
        </p:txBody>
      </p:sp>
      <p:sp>
        <p:nvSpPr>
          <p:cNvPr id="14" name="TextBox 13"/>
          <p:cNvSpPr txBox="1"/>
          <p:nvPr/>
        </p:nvSpPr>
        <p:spPr>
          <a:xfrm>
            <a:off x="5779008" y="2066543"/>
            <a:ext cx="5480273" cy="603504"/>
          </a:xfrm>
          <a:prstGeom prst="rect">
            <a:avLst/>
          </a:prstGeom>
          <a:noFill/>
        </p:spPr>
        <p:txBody>
          <a:bodyPr wrap="square" lIns="0" rIns="0" tIns="0" bIns="0" anchor="t">
            <a:spAutoFit/>
          </a:bodyPr>
          <a:lstStyle/>
          <a:p>
            <a:pPr algn="l">
              <a:lnSpc>
                <a:spcPct val="134000"/>
              </a:lnSpc>
            </a:pPr>
            <a:r>
              <a:rPr sz="1140" b="0" i="0">
                <a:solidFill>
                  <a:srgbClr val="E7ECF4"/>
                </a:solidFill>
                <a:latin typeface="Arial"/>
              </a:rPr>
              <a:t>The club signs off which brand sits in which kit position, and the current price share for each. Everything downstream depends on this being right.</a:t>
            </a:r>
          </a:p>
        </p:txBody>
      </p:sp>
      <p:sp>
        <p:nvSpPr>
          <p:cNvPr id="15" name="Rounded Rectangle 14"/>
          <p:cNvSpPr/>
          <p:nvPr/>
        </p:nvSpPr>
        <p:spPr>
          <a:xfrm>
            <a:off x="566928" y="2926080"/>
            <a:ext cx="11058113" cy="950976"/>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017520"/>
            <a:ext cx="50292" cy="768096"/>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41247" y="3182112"/>
            <a:ext cx="731520" cy="457200"/>
          </a:xfrm>
          <a:prstGeom prst="rect">
            <a:avLst/>
          </a:prstGeom>
          <a:noFill/>
        </p:spPr>
        <p:txBody>
          <a:bodyPr wrap="square" lIns="0" rIns="0" tIns="0" bIns="0" anchor="t">
            <a:spAutoFit/>
          </a:bodyPr>
          <a:lstStyle/>
          <a:p>
            <a:pPr algn="l">
              <a:lnSpc>
                <a:spcPct val="115000"/>
              </a:lnSpc>
            </a:pPr>
            <a:r>
              <a:rPr sz="2400" b="1" i="0">
                <a:solidFill>
                  <a:srgbClr val="5E6C82"/>
                </a:solidFill>
                <a:latin typeface="Arial"/>
              </a:rPr>
              <a:t>02</a:t>
            </a:r>
          </a:p>
        </p:txBody>
      </p:sp>
      <p:sp>
        <p:nvSpPr>
          <p:cNvPr id="18" name="TextBox 17"/>
          <p:cNvSpPr txBox="1"/>
          <p:nvPr/>
        </p:nvSpPr>
        <p:spPr>
          <a:xfrm>
            <a:off x="1664207" y="3108960"/>
            <a:ext cx="3840480" cy="274320"/>
          </a:xfrm>
          <a:prstGeom prst="rect">
            <a:avLst/>
          </a:prstGeom>
          <a:noFill/>
        </p:spPr>
        <p:txBody>
          <a:bodyPr wrap="square" lIns="0" rIns="0" tIns="0" bIns="0" anchor="t">
            <a:spAutoFit/>
          </a:bodyPr>
          <a:lstStyle/>
          <a:p>
            <a:pPr algn="l">
              <a:lnSpc>
                <a:spcPct val="115000"/>
              </a:lnSpc>
            </a:pPr>
            <a:r>
              <a:rPr sz="1450" b="1" i="0">
                <a:solidFill>
                  <a:srgbClr val="FFFFFF"/>
                </a:solidFill>
                <a:latin typeface="Arial"/>
              </a:rPr>
              <a:t>Extend to more fixtures</a:t>
            </a:r>
          </a:p>
        </p:txBody>
      </p:sp>
      <p:sp>
        <p:nvSpPr>
          <p:cNvPr id="19" name="TextBox 18"/>
          <p:cNvSpPr txBox="1"/>
          <p:nvPr/>
        </p:nvSpPr>
        <p:spPr>
          <a:xfrm>
            <a:off x="1664207" y="3438144"/>
            <a:ext cx="3840480" cy="274320"/>
          </a:xfrm>
          <a:prstGeom prst="rect">
            <a:avLst/>
          </a:prstGeom>
          <a:noFill/>
        </p:spPr>
        <p:txBody>
          <a:bodyPr wrap="square" lIns="0" rIns="0" tIns="0" bIns="0" anchor="t">
            <a:spAutoFit/>
          </a:bodyPr>
          <a:lstStyle/>
          <a:p>
            <a:pPr algn="l">
              <a:lnSpc>
                <a:spcPct val="115000"/>
              </a:lnSpc>
            </a:pPr>
            <a:r>
              <a:rPr sz="960" b="0" i="0">
                <a:solidFill>
                  <a:srgbClr val="FFC20E"/>
                </a:solidFill>
                <a:latin typeface="Arial"/>
              </a:rPr>
              <a:t>Automated  ·  per match</a:t>
            </a:r>
          </a:p>
        </p:txBody>
      </p:sp>
      <p:sp>
        <p:nvSpPr>
          <p:cNvPr id="20" name="TextBox 19"/>
          <p:cNvSpPr txBox="1"/>
          <p:nvPr/>
        </p:nvSpPr>
        <p:spPr>
          <a:xfrm>
            <a:off x="5779008" y="3145536"/>
            <a:ext cx="5480273" cy="603504"/>
          </a:xfrm>
          <a:prstGeom prst="rect">
            <a:avLst/>
          </a:prstGeom>
          <a:noFill/>
        </p:spPr>
        <p:txBody>
          <a:bodyPr wrap="square" lIns="0" rIns="0" tIns="0" bIns="0" anchor="t">
            <a:spAutoFit/>
          </a:bodyPr>
          <a:lstStyle/>
          <a:p>
            <a:pPr algn="l">
              <a:lnSpc>
                <a:spcPct val="134000"/>
              </a:lnSpc>
            </a:pPr>
            <a:r>
              <a:rPr sz="1140" b="0" i="0">
                <a:solidFill>
                  <a:srgbClr val="E7ECF4"/>
                </a:solidFill>
                <a:latin typeface="Arial"/>
              </a:rPr>
              <a:t>Run the same pipeline over a broader set of complete home-kit broadcasts to convert a stable pilot into a season-level baseline.</a:t>
            </a:r>
          </a:p>
        </p:txBody>
      </p:sp>
      <p:sp>
        <p:nvSpPr>
          <p:cNvPr id="21" name="Rounded Rectangle 20"/>
          <p:cNvSpPr/>
          <p:nvPr/>
        </p:nvSpPr>
        <p:spPr>
          <a:xfrm>
            <a:off x="566928" y="4005072"/>
            <a:ext cx="11058113" cy="950976"/>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66928" y="4096511"/>
            <a:ext cx="50292" cy="768096"/>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41247" y="4261104"/>
            <a:ext cx="731520" cy="457200"/>
          </a:xfrm>
          <a:prstGeom prst="rect">
            <a:avLst/>
          </a:prstGeom>
          <a:noFill/>
        </p:spPr>
        <p:txBody>
          <a:bodyPr wrap="square" lIns="0" rIns="0" tIns="0" bIns="0" anchor="t">
            <a:spAutoFit/>
          </a:bodyPr>
          <a:lstStyle/>
          <a:p>
            <a:pPr algn="l">
              <a:lnSpc>
                <a:spcPct val="115000"/>
              </a:lnSpc>
            </a:pPr>
            <a:r>
              <a:rPr sz="2400" b="1" i="0">
                <a:solidFill>
                  <a:srgbClr val="5E6C82"/>
                </a:solidFill>
                <a:latin typeface="Arial"/>
              </a:rPr>
              <a:t>03</a:t>
            </a:r>
          </a:p>
        </p:txBody>
      </p:sp>
      <p:sp>
        <p:nvSpPr>
          <p:cNvPr id="24" name="TextBox 23"/>
          <p:cNvSpPr txBox="1"/>
          <p:nvPr/>
        </p:nvSpPr>
        <p:spPr>
          <a:xfrm>
            <a:off x="1664207" y="4187952"/>
            <a:ext cx="3840480" cy="274320"/>
          </a:xfrm>
          <a:prstGeom prst="rect">
            <a:avLst/>
          </a:prstGeom>
          <a:noFill/>
        </p:spPr>
        <p:txBody>
          <a:bodyPr wrap="square" lIns="0" rIns="0" tIns="0" bIns="0" anchor="t">
            <a:spAutoFit/>
          </a:bodyPr>
          <a:lstStyle/>
          <a:p>
            <a:pPr algn="l">
              <a:lnSpc>
                <a:spcPct val="115000"/>
              </a:lnSpc>
            </a:pPr>
            <a:r>
              <a:rPr sz="1450" b="1" i="0">
                <a:solidFill>
                  <a:srgbClr val="FFFFFF"/>
                </a:solidFill>
                <a:latin typeface="Arial"/>
              </a:rPr>
              <a:t>Validate against manual review</a:t>
            </a:r>
          </a:p>
        </p:txBody>
      </p:sp>
      <p:sp>
        <p:nvSpPr>
          <p:cNvPr id="25" name="TextBox 24"/>
          <p:cNvSpPr txBox="1"/>
          <p:nvPr/>
        </p:nvSpPr>
        <p:spPr>
          <a:xfrm>
            <a:off x="1664207" y="4517136"/>
            <a:ext cx="3840480" cy="274320"/>
          </a:xfrm>
          <a:prstGeom prst="rect">
            <a:avLst/>
          </a:prstGeom>
          <a:noFill/>
        </p:spPr>
        <p:txBody>
          <a:bodyPr wrap="square" lIns="0" rIns="0" tIns="0" bIns="0" anchor="t">
            <a:spAutoFit/>
          </a:bodyPr>
          <a:lstStyle/>
          <a:p>
            <a:pPr algn="l">
              <a:lnSpc>
                <a:spcPct val="115000"/>
              </a:lnSpc>
            </a:pPr>
            <a:r>
              <a:rPr sz="960" b="0" i="0">
                <a:solidFill>
                  <a:srgbClr val="FFC20E"/>
                </a:solidFill>
                <a:latin typeface="Arial"/>
              </a:rPr>
              <a:t>Joint  ·  2–3 weeks</a:t>
            </a:r>
          </a:p>
        </p:txBody>
      </p:sp>
      <p:sp>
        <p:nvSpPr>
          <p:cNvPr id="26" name="TextBox 25"/>
          <p:cNvSpPr txBox="1"/>
          <p:nvPr/>
        </p:nvSpPr>
        <p:spPr>
          <a:xfrm>
            <a:off x="5779008" y="4224528"/>
            <a:ext cx="5480273" cy="603504"/>
          </a:xfrm>
          <a:prstGeom prst="rect">
            <a:avLst/>
          </a:prstGeom>
          <a:noFill/>
        </p:spPr>
        <p:txBody>
          <a:bodyPr wrap="square" lIns="0" rIns="0" tIns="0" bIns="0" anchor="t">
            <a:spAutoFit/>
          </a:bodyPr>
          <a:lstStyle/>
          <a:p>
            <a:pPr algn="l">
              <a:lnSpc>
                <a:spcPct val="134000"/>
              </a:lnSpc>
            </a:pPr>
            <a:r>
              <a:rPr sz="1140" b="0" i="0">
                <a:solidFill>
                  <a:srgbClr val="E7ECF4"/>
                </a:solidFill>
                <a:latin typeface="Arial"/>
              </a:rPr>
              <a:t>Hand-check timing and readability on a stratified sample, and measure how much wide-shot play is being under-counted.</a:t>
            </a:r>
          </a:p>
        </p:txBody>
      </p:sp>
      <p:sp>
        <p:nvSpPr>
          <p:cNvPr id="27" name="Rounded Rectangle 26"/>
          <p:cNvSpPr/>
          <p:nvPr/>
        </p:nvSpPr>
        <p:spPr>
          <a:xfrm>
            <a:off x="566928" y="5084064"/>
            <a:ext cx="11058113" cy="950976"/>
          </a:xfrm>
          <a:prstGeom prst="roundRect">
            <a:avLst>
              <a:gd name="adj" fmla="val 3500"/>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66928" y="5175504"/>
            <a:ext cx="50292" cy="768096"/>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41247" y="5340096"/>
            <a:ext cx="731520" cy="457200"/>
          </a:xfrm>
          <a:prstGeom prst="rect">
            <a:avLst/>
          </a:prstGeom>
          <a:noFill/>
        </p:spPr>
        <p:txBody>
          <a:bodyPr wrap="square" lIns="0" rIns="0" tIns="0" bIns="0" anchor="t">
            <a:spAutoFit/>
          </a:bodyPr>
          <a:lstStyle/>
          <a:p>
            <a:pPr algn="l">
              <a:lnSpc>
                <a:spcPct val="115000"/>
              </a:lnSpc>
            </a:pPr>
            <a:r>
              <a:rPr sz="2400" b="1" i="0">
                <a:solidFill>
                  <a:srgbClr val="5E6C82"/>
                </a:solidFill>
                <a:latin typeface="Arial"/>
              </a:rPr>
              <a:t>04</a:t>
            </a:r>
          </a:p>
        </p:txBody>
      </p:sp>
      <p:sp>
        <p:nvSpPr>
          <p:cNvPr id="30" name="TextBox 29"/>
          <p:cNvSpPr txBox="1"/>
          <p:nvPr/>
        </p:nvSpPr>
        <p:spPr>
          <a:xfrm>
            <a:off x="1664207" y="5266944"/>
            <a:ext cx="3840480" cy="274320"/>
          </a:xfrm>
          <a:prstGeom prst="rect">
            <a:avLst/>
          </a:prstGeom>
          <a:noFill/>
        </p:spPr>
        <p:txBody>
          <a:bodyPr wrap="square" lIns="0" rIns="0" tIns="0" bIns="0" anchor="t">
            <a:spAutoFit/>
          </a:bodyPr>
          <a:lstStyle/>
          <a:p>
            <a:pPr algn="l">
              <a:lnSpc>
                <a:spcPct val="115000"/>
              </a:lnSpc>
            </a:pPr>
            <a:r>
              <a:rPr sz="1450" b="1" i="0">
                <a:solidFill>
                  <a:srgbClr val="FFFFFF"/>
                </a:solidFill>
                <a:latin typeface="Arial"/>
              </a:rPr>
              <a:t>Run the pricing review</a:t>
            </a:r>
          </a:p>
        </p:txBody>
      </p:sp>
      <p:sp>
        <p:nvSpPr>
          <p:cNvPr id="31" name="TextBox 30"/>
          <p:cNvSpPr txBox="1"/>
          <p:nvPr/>
        </p:nvSpPr>
        <p:spPr>
          <a:xfrm>
            <a:off x="1664207" y="5596128"/>
            <a:ext cx="3840480" cy="274320"/>
          </a:xfrm>
          <a:prstGeom prst="rect">
            <a:avLst/>
          </a:prstGeom>
          <a:noFill/>
        </p:spPr>
        <p:txBody>
          <a:bodyPr wrap="square" lIns="0" rIns="0" tIns="0" bIns="0" anchor="t">
            <a:spAutoFit/>
          </a:bodyPr>
          <a:lstStyle/>
          <a:p>
            <a:pPr algn="l">
              <a:lnSpc>
                <a:spcPct val="115000"/>
              </a:lnSpc>
            </a:pPr>
            <a:r>
              <a:rPr sz="960" b="0" i="0">
                <a:solidFill>
                  <a:srgbClr val="FFC20E"/>
                </a:solidFill>
                <a:latin typeface="Arial"/>
              </a:rPr>
              <a:t>Commercial  ·  next cycle</a:t>
            </a:r>
          </a:p>
        </p:txBody>
      </p:sp>
      <p:sp>
        <p:nvSpPr>
          <p:cNvPr id="32" name="TextBox 31"/>
          <p:cNvSpPr txBox="1"/>
          <p:nvPr/>
        </p:nvSpPr>
        <p:spPr>
          <a:xfrm>
            <a:off x="5779008" y="5303520"/>
            <a:ext cx="5480273" cy="603504"/>
          </a:xfrm>
          <a:prstGeom prst="rect">
            <a:avLst/>
          </a:prstGeom>
          <a:noFill/>
        </p:spPr>
        <p:txBody>
          <a:bodyPr wrap="square" lIns="0" rIns="0" tIns="0" bIns="0" anchor="t">
            <a:spAutoFit/>
          </a:bodyPr>
          <a:lstStyle/>
          <a:p>
            <a:pPr algn="l">
              <a:lnSpc>
                <a:spcPct val="134000"/>
              </a:lnSpc>
            </a:pPr>
            <a:r>
              <a:rPr sz="1140" b="0" i="0">
                <a:solidFill>
                  <a:srgbClr val="E7ECF4"/>
                </a:solidFill>
                <a:latin typeface="Arial"/>
              </a:rPr>
              <a:t>Take the measured delivery, the current rate card and a documented rationale into the next renewal cycle.</a:t>
            </a:r>
          </a:p>
        </p:txBody>
      </p:sp>
      <p:sp>
        <p:nvSpPr>
          <p:cNvPr id="33" name="Rounded Rectangle 32"/>
          <p:cNvSpPr/>
          <p:nvPr/>
        </p:nvSpPr>
        <p:spPr>
          <a:xfrm>
            <a:off x="566928" y="6144768"/>
            <a:ext cx="50292" cy="274320"/>
          </a:xfrm>
          <a:prstGeom prst="roundRect">
            <a:avLst>
              <a:gd name="adj" fmla="val 50000"/>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04672" y="6108192"/>
            <a:ext cx="10692353" cy="457200"/>
          </a:xfrm>
          <a:prstGeom prst="rect">
            <a:avLst/>
          </a:prstGeom>
          <a:noFill/>
        </p:spPr>
        <p:txBody>
          <a:bodyPr wrap="square" lIns="0" rIns="0" tIns="0" bIns="0" anchor="t">
            <a:spAutoFit/>
          </a:bodyPr>
          <a:lstStyle/>
          <a:p>
            <a:pPr algn="l">
              <a:lnSpc>
                <a:spcPct val="118000"/>
              </a:lnSpc>
            </a:pPr>
            <a:r>
              <a:rPr sz="1700" b="1" i="0">
                <a:solidFill>
                  <a:srgbClr val="FFFFFF"/>
                </a:solidFill>
                <a:latin typeface="Arial"/>
              </a:rPr>
              <a:t>LogoLens turns broadcast footage into asset-level sponsorship evidence.</a:t>
            </a:r>
          </a:p>
        </p:txBody>
      </p:sp>
      <p:sp>
        <p:nvSpPr>
          <p:cNvPr id="35" name="TextBox 34"/>
          <p:cNvSpPr txBox="1"/>
          <p:nvPr/>
        </p:nvSpPr>
        <p:spPr>
          <a:xfrm>
            <a:off x="10984961" y="6382512"/>
            <a:ext cx="640080" cy="237744"/>
          </a:xfrm>
          <a:prstGeom prst="rect">
            <a:avLst/>
          </a:prstGeom>
          <a:noFill/>
        </p:spPr>
        <p:txBody>
          <a:bodyPr wrap="square" lIns="0" rIns="0" tIns="0" bIns="0" anchor="t">
            <a:spAutoFit/>
          </a:bodyPr>
          <a:lstStyle/>
          <a:p>
            <a:pPr algn="r">
              <a:lnSpc>
                <a:spcPct val="115000"/>
              </a:lnSpc>
            </a:pPr>
            <a:r>
              <a:rPr sz="1000" b="0" i="0">
                <a:solidFill>
                  <a:srgbClr val="5E6C8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409" cy="6949440"/>
          </a:xfrm>
          <a:prstGeom prst="rect">
            <a:avLst/>
          </a:prstGeom>
          <a:solidFill>
            <a:srgbClr val="0D12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7071342" cy="50292"/>
          </a:xfrm>
          <a:prstGeom prst="rect">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071342" y="0"/>
            <a:ext cx="2682233" cy="50292"/>
          </a:xfrm>
          <a:prstGeom prst="rect">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753575" y="0"/>
            <a:ext cx="2438393" cy="50292"/>
          </a:xfrm>
          <a:prstGeom prst="rect">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402336"/>
            <a:ext cx="11058113" cy="237744"/>
          </a:xfrm>
          <a:prstGeom prst="rect">
            <a:avLst/>
          </a:prstGeom>
          <a:noFill/>
        </p:spPr>
        <p:txBody>
          <a:bodyPr wrap="square" lIns="0" rIns="0" tIns="0" bIns="0" anchor="t">
            <a:spAutoFit/>
          </a:bodyPr>
          <a:lstStyle/>
          <a:p>
            <a:pPr algn="l">
              <a:lnSpc>
                <a:spcPct val="115000"/>
              </a:lnSpc>
            </a:pPr>
            <a:r>
              <a:rPr sz="1050" b="1" i="0" spc="180">
                <a:solidFill>
                  <a:srgbClr val="FFC20E"/>
                </a:solidFill>
                <a:latin typeface="Arial"/>
              </a:rPr>
              <a:t>APPENDIX</a:t>
            </a:r>
          </a:p>
        </p:txBody>
      </p:sp>
      <p:sp>
        <p:nvSpPr>
          <p:cNvPr id="7" name="TextBox 6"/>
          <p:cNvSpPr txBox="1"/>
          <p:nvPr/>
        </p:nvSpPr>
        <p:spPr>
          <a:xfrm>
            <a:off x="566928" y="676656"/>
            <a:ext cx="11058113" cy="566928"/>
          </a:xfrm>
          <a:prstGeom prst="rect">
            <a:avLst/>
          </a:prstGeom>
          <a:noFill/>
        </p:spPr>
        <p:txBody>
          <a:bodyPr wrap="square" lIns="0" rIns="0" tIns="0" bIns="0" anchor="t">
            <a:spAutoFit/>
          </a:bodyPr>
          <a:lstStyle/>
          <a:p>
            <a:pPr algn="l">
              <a:lnSpc>
                <a:spcPct val="102000"/>
              </a:lnSpc>
            </a:pPr>
            <a:r>
              <a:rPr sz="3100" b="1" i="0">
                <a:solidFill>
                  <a:srgbClr val="FFFFFF"/>
                </a:solidFill>
                <a:latin typeface="Arial"/>
              </a:rPr>
              <a:t>Full 16-asset comparison</a:t>
            </a:r>
          </a:p>
        </p:txBody>
      </p:sp>
      <p:sp>
        <p:nvSpPr>
          <p:cNvPr id="8" name="TextBox 7"/>
          <p:cNvSpPr txBox="1"/>
          <p:nvPr/>
        </p:nvSpPr>
        <p:spPr>
          <a:xfrm>
            <a:off x="566928" y="1280160"/>
            <a:ext cx="9509977" cy="274320"/>
          </a:xfrm>
          <a:prstGeom prst="rect">
            <a:avLst/>
          </a:prstGeom>
          <a:noFill/>
        </p:spPr>
        <p:txBody>
          <a:bodyPr wrap="square" lIns="0" rIns="0" tIns="0" bIns="0" anchor="t">
            <a:spAutoFit/>
          </a:bodyPr>
          <a:lstStyle/>
          <a:p>
            <a:pPr algn="l">
              <a:lnSpc>
                <a:spcPct val="120000"/>
              </a:lnSpc>
            </a:pPr>
            <a:r>
              <a:rPr sz="1300" b="0" i="0">
                <a:solidFill>
                  <a:srgbClr val="8D9AB0"/>
                </a:solidFill>
                <a:latin typeface="Arial"/>
              </a:rPr>
              <a:t>Club allocation, measured visibility in each match, the mean, and the gap.</a:t>
            </a:r>
          </a:p>
        </p:txBody>
      </p:sp>
      <p:sp>
        <p:nvSpPr>
          <p:cNvPr id="9" name="Rectangle 8"/>
          <p:cNvSpPr/>
          <p:nvPr/>
        </p:nvSpPr>
        <p:spPr>
          <a:xfrm>
            <a:off x="566928" y="1828800"/>
            <a:ext cx="11058113" cy="365760"/>
          </a:xfrm>
          <a:prstGeom prst="rect">
            <a:avLst/>
          </a:prstGeom>
          <a:solidFill>
            <a:srgbClr val="1F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8096" y="1920240"/>
            <a:ext cx="2377440" cy="219456"/>
          </a:xfrm>
          <a:prstGeom prst="rect">
            <a:avLst/>
          </a:prstGeom>
          <a:noFill/>
        </p:spPr>
        <p:txBody>
          <a:bodyPr wrap="square" lIns="0" rIns="0" tIns="0" bIns="0" anchor="t">
            <a:spAutoFit/>
          </a:bodyPr>
          <a:lstStyle/>
          <a:p>
            <a:pPr algn="l">
              <a:lnSpc>
                <a:spcPct val="115000"/>
              </a:lnSpc>
            </a:pPr>
            <a:r>
              <a:rPr sz="960" b="1" i="0" spc="120">
                <a:solidFill>
                  <a:srgbClr val="FFC20E"/>
                </a:solidFill>
                <a:latin typeface="Arial"/>
              </a:rPr>
              <a:t>SPONSOR</a:t>
            </a:r>
          </a:p>
        </p:txBody>
      </p:sp>
      <p:sp>
        <p:nvSpPr>
          <p:cNvPr id="11" name="TextBox 10"/>
          <p:cNvSpPr txBox="1"/>
          <p:nvPr/>
        </p:nvSpPr>
        <p:spPr>
          <a:xfrm>
            <a:off x="3264408" y="1920240"/>
            <a:ext cx="2651760" cy="219456"/>
          </a:xfrm>
          <a:prstGeom prst="rect">
            <a:avLst/>
          </a:prstGeom>
          <a:noFill/>
        </p:spPr>
        <p:txBody>
          <a:bodyPr wrap="square" lIns="0" rIns="0" tIns="0" bIns="0" anchor="t">
            <a:spAutoFit/>
          </a:bodyPr>
          <a:lstStyle/>
          <a:p>
            <a:pPr algn="l">
              <a:lnSpc>
                <a:spcPct val="115000"/>
              </a:lnSpc>
            </a:pPr>
            <a:r>
              <a:rPr sz="960" b="1" i="0" spc="120">
                <a:solidFill>
                  <a:srgbClr val="FFC20E"/>
                </a:solidFill>
                <a:latin typeface="Arial"/>
              </a:rPr>
              <a:t>KIT POSITION</a:t>
            </a:r>
          </a:p>
        </p:txBody>
      </p:sp>
      <p:sp>
        <p:nvSpPr>
          <p:cNvPr id="12" name="TextBox 11"/>
          <p:cNvSpPr txBox="1"/>
          <p:nvPr/>
        </p:nvSpPr>
        <p:spPr>
          <a:xfrm>
            <a:off x="5367528" y="1920240"/>
            <a:ext cx="1188720" cy="219456"/>
          </a:xfrm>
          <a:prstGeom prst="rect">
            <a:avLst/>
          </a:prstGeom>
          <a:noFill/>
        </p:spPr>
        <p:txBody>
          <a:bodyPr wrap="square" lIns="0" rIns="0" tIns="0" bIns="0" anchor="t">
            <a:spAutoFit/>
          </a:bodyPr>
          <a:lstStyle/>
          <a:p>
            <a:pPr algn="r">
              <a:lnSpc>
                <a:spcPct val="115000"/>
              </a:lnSpc>
            </a:pPr>
            <a:r>
              <a:rPr sz="960" b="1" i="0" spc="120">
                <a:solidFill>
                  <a:srgbClr val="FFC20E"/>
                </a:solidFill>
                <a:latin typeface="Arial"/>
              </a:rPr>
              <a:t>CLUB %</a:t>
            </a:r>
          </a:p>
        </p:txBody>
      </p:sp>
      <p:sp>
        <p:nvSpPr>
          <p:cNvPr id="13" name="TextBox 12"/>
          <p:cNvSpPr txBox="1"/>
          <p:nvPr/>
        </p:nvSpPr>
        <p:spPr>
          <a:xfrm>
            <a:off x="6784847" y="1920240"/>
            <a:ext cx="1188720" cy="219456"/>
          </a:xfrm>
          <a:prstGeom prst="rect">
            <a:avLst/>
          </a:prstGeom>
          <a:noFill/>
        </p:spPr>
        <p:txBody>
          <a:bodyPr wrap="square" lIns="0" rIns="0" tIns="0" bIns="0" anchor="t">
            <a:spAutoFit/>
          </a:bodyPr>
          <a:lstStyle/>
          <a:p>
            <a:pPr algn="r">
              <a:lnSpc>
                <a:spcPct val="115000"/>
              </a:lnSpc>
            </a:pPr>
            <a:r>
              <a:rPr sz="960" b="1" i="0" spc="120">
                <a:solidFill>
                  <a:srgbClr val="FFC20E"/>
                </a:solidFill>
                <a:latin typeface="Arial"/>
              </a:rPr>
              <a:t>MATCH 1</a:t>
            </a:r>
          </a:p>
        </p:txBody>
      </p:sp>
      <p:sp>
        <p:nvSpPr>
          <p:cNvPr id="14" name="TextBox 13"/>
          <p:cNvSpPr txBox="1"/>
          <p:nvPr/>
        </p:nvSpPr>
        <p:spPr>
          <a:xfrm>
            <a:off x="8202167" y="1920240"/>
            <a:ext cx="1188720" cy="219456"/>
          </a:xfrm>
          <a:prstGeom prst="rect">
            <a:avLst/>
          </a:prstGeom>
          <a:noFill/>
        </p:spPr>
        <p:txBody>
          <a:bodyPr wrap="square" lIns="0" rIns="0" tIns="0" bIns="0" anchor="t">
            <a:spAutoFit/>
          </a:bodyPr>
          <a:lstStyle/>
          <a:p>
            <a:pPr algn="r">
              <a:lnSpc>
                <a:spcPct val="115000"/>
              </a:lnSpc>
            </a:pPr>
            <a:r>
              <a:rPr sz="960" b="1" i="0" spc="120">
                <a:solidFill>
                  <a:srgbClr val="FFC20E"/>
                </a:solidFill>
                <a:latin typeface="Arial"/>
              </a:rPr>
              <a:t>MATCH 2</a:t>
            </a:r>
          </a:p>
        </p:txBody>
      </p:sp>
      <p:sp>
        <p:nvSpPr>
          <p:cNvPr id="15" name="TextBox 14"/>
          <p:cNvSpPr txBox="1"/>
          <p:nvPr/>
        </p:nvSpPr>
        <p:spPr>
          <a:xfrm>
            <a:off x="9528047" y="1920240"/>
            <a:ext cx="1188720" cy="219456"/>
          </a:xfrm>
          <a:prstGeom prst="rect">
            <a:avLst/>
          </a:prstGeom>
          <a:noFill/>
        </p:spPr>
        <p:txBody>
          <a:bodyPr wrap="square" lIns="0" rIns="0" tIns="0" bIns="0" anchor="t">
            <a:spAutoFit/>
          </a:bodyPr>
          <a:lstStyle/>
          <a:p>
            <a:pPr algn="r">
              <a:lnSpc>
                <a:spcPct val="115000"/>
              </a:lnSpc>
            </a:pPr>
            <a:r>
              <a:rPr sz="960" b="1" i="0" spc="120">
                <a:solidFill>
                  <a:srgbClr val="FFC20E"/>
                </a:solidFill>
                <a:latin typeface="Arial"/>
              </a:rPr>
              <a:t>MEAN AI %</a:t>
            </a:r>
          </a:p>
        </p:txBody>
      </p:sp>
      <p:sp>
        <p:nvSpPr>
          <p:cNvPr id="16" name="TextBox 15"/>
          <p:cNvSpPr txBox="1"/>
          <p:nvPr/>
        </p:nvSpPr>
        <p:spPr>
          <a:xfrm>
            <a:off x="10396728" y="1920240"/>
            <a:ext cx="1188720" cy="219456"/>
          </a:xfrm>
          <a:prstGeom prst="rect">
            <a:avLst/>
          </a:prstGeom>
          <a:noFill/>
        </p:spPr>
        <p:txBody>
          <a:bodyPr wrap="square" lIns="0" rIns="0" tIns="0" bIns="0" anchor="t">
            <a:spAutoFit/>
          </a:bodyPr>
          <a:lstStyle/>
          <a:p>
            <a:pPr algn="r">
              <a:lnSpc>
                <a:spcPct val="115000"/>
              </a:lnSpc>
            </a:pPr>
            <a:r>
              <a:rPr sz="960" b="1" i="0" spc="120">
                <a:solidFill>
                  <a:srgbClr val="FFC20E"/>
                </a:solidFill>
                <a:latin typeface="Arial"/>
              </a:rPr>
              <a:t>GAP PP</a:t>
            </a:r>
          </a:p>
        </p:txBody>
      </p:sp>
      <p:sp>
        <p:nvSpPr>
          <p:cNvPr id="17" name="Rectangle 16"/>
          <p:cNvSpPr/>
          <p:nvPr/>
        </p:nvSpPr>
        <p:spPr>
          <a:xfrm>
            <a:off x="566928" y="2212848"/>
            <a:ext cx="11058113" cy="254203"/>
          </a:xfrm>
          <a:prstGeom prst="rect">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68096" y="2249424"/>
            <a:ext cx="2377440" cy="219456"/>
          </a:xfrm>
          <a:prstGeom prst="rect">
            <a:avLst/>
          </a:prstGeom>
          <a:noFill/>
        </p:spPr>
        <p:txBody>
          <a:bodyPr wrap="square" lIns="0" rIns="0" tIns="0" bIns="0" anchor="t">
            <a:spAutoFit/>
          </a:bodyPr>
          <a:lstStyle/>
          <a:p>
            <a:pPr algn="l">
              <a:lnSpc>
                <a:spcPct val="115000"/>
              </a:lnSpc>
            </a:pPr>
            <a:r>
              <a:rPr sz="1019" b="1" i="0">
                <a:solidFill>
                  <a:srgbClr val="FFFFFF"/>
                </a:solidFill>
                <a:latin typeface="Arial"/>
              </a:rPr>
              <a:t>KLG</a:t>
            </a:r>
          </a:p>
        </p:txBody>
      </p:sp>
      <p:sp>
        <p:nvSpPr>
          <p:cNvPr id="19" name="TextBox 18"/>
          <p:cNvSpPr txBox="1"/>
          <p:nvPr/>
        </p:nvSpPr>
        <p:spPr>
          <a:xfrm>
            <a:off x="3264408" y="2249424"/>
            <a:ext cx="2651760" cy="219456"/>
          </a:xfrm>
          <a:prstGeom prst="rect">
            <a:avLst/>
          </a:prstGeom>
          <a:noFill/>
        </p:spPr>
        <p:txBody>
          <a:bodyPr wrap="square" lIns="0" rIns="0" tIns="0" bIns="0" anchor="t">
            <a:spAutoFit/>
          </a:bodyPr>
          <a:lstStyle/>
          <a:p>
            <a:pPr algn="l">
              <a:lnSpc>
                <a:spcPct val="115000"/>
              </a:lnSpc>
            </a:pPr>
            <a:r>
              <a:rPr sz="1019" b="0" i="0">
                <a:solidFill>
                  <a:srgbClr val="8D9AB0"/>
                </a:solidFill>
                <a:latin typeface="Arial"/>
              </a:rPr>
              <a:t>Top Back Shorts</a:t>
            </a:r>
          </a:p>
        </p:txBody>
      </p:sp>
      <p:sp>
        <p:nvSpPr>
          <p:cNvPr id="20" name="TextBox 19"/>
          <p:cNvSpPr txBox="1"/>
          <p:nvPr/>
        </p:nvSpPr>
        <p:spPr>
          <a:xfrm>
            <a:off x="5367528" y="2249424"/>
            <a:ext cx="1188720" cy="219456"/>
          </a:xfrm>
          <a:prstGeom prst="rect">
            <a:avLst/>
          </a:prstGeom>
          <a:noFill/>
        </p:spPr>
        <p:txBody>
          <a:bodyPr wrap="square" lIns="0" rIns="0" tIns="0" bIns="0" anchor="t">
            <a:spAutoFit/>
          </a:bodyPr>
          <a:lstStyle/>
          <a:p>
            <a:pPr algn="r">
              <a:lnSpc>
                <a:spcPct val="115000"/>
              </a:lnSpc>
            </a:pPr>
            <a:r>
              <a:rPr sz="1019" b="0" i="0">
                <a:solidFill>
                  <a:srgbClr val="8D9AB0"/>
                </a:solidFill>
                <a:latin typeface="Arial"/>
              </a:rPr>
              <a:t>5</a:t>
            </a:r>
          </a:p>
        </p:txBody>
      </p:sp>
      <p:sp>
        <p:nvSpPr>
          <p:cNvPr id="21" name="TextBox 20"/>
          <p:cNvSpPr txBox="1"/>
          <p:nvPr/>
        </p:nvSpPr>
        <p:spPr>
          <a:xfrm>
            <a:off x="6784847" y="2249424"/>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24.73</a:t>
            </a:r>
          </a:p>
        </p:txBody>
      </p:sp>
      <p:sp>
        <p:nvSpPr>
          <p:cNvPr id="22" name="TextBox 21"/>
          <p:cNvSpPr txBox="1"/>
          <p:nvPr/>
        </p:nvSpPr>
        <p:spPr>
          <a:xfrm>
            <a:off x="8202167" y="2249424"/>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21.82</a:t>
            </a:r>
          </a:p>
        </p:txBody>
      </p:sp>
      <p:sp>
        <p:nvSpPr>
          <p:cNvPr id="23" name="TextBox 22"/>
          <p:cNvSpPr txBox="1"/>
          <p:nvPr/>
        </p:nvSpPr>
        <p:spPr>
          <a:xfrm>
            <a:off x="9528047" y="2249424"/>
            <a:ext cx="1188720" cy="219456"/>
          </a:xfrm>
          <a:prstGeom prst="rect">
            <a:avLst/>
          </a:prstGeom>
          <a:noFill/>
        </p:spPr>
        <p:txBody>
          <a:bodyPr wrap="square" lIns="0" rIns="0" tIns="0" bIns="0" anchor="t">
            <a:spAutoFit/>
          </a:bodyPr>
          <a:lstStyle/>
          <a:p>
            <a:pPr algn="r">
              <a:lnSpc>
                <a:spcPct val="115000"/>
              </a:lnSpc>
            </a:pPr>
            <a:r>
              <a:rPr sz="1019" b="1" i="0">
                <a:solidFill>
                  <a:srgbClr val="FFFFFF"/>
                </a:solidFill>
                <a:latin typeface="Arial"/>
              </a:rPr>
              <a:t>23.27</a:t>
            </a:r>
          </a:p>
        </p:txBody>
      </p:sp>
      <p:sp>
        <p:nvSpPr>
          <p:cNvPr id="24" name="TextBox 23"/>
          <p:cNvSpPr txBox="1"/>
          <p:nvPr/>
        </p:nvSpPr>
        <p:spPr>
          <a:xfrm>
            <a:off x="10396728" y="2249424"/>
            <a:ext cx="1188720" cy="219456"/>
          </a:xfrm>
          <a:prstGeom prst="rect">
            <a:avLst/>
          </a:prstGeom>
          <a:noFill/>
        </p:spPr>
        <p:txBody>
          <a:bodyPr wrap="square" lIns="0" rIns="0" tIns="0" bIns="0" anchor="t">
            <a:spAutoFit/>
          </a:bodyPr>
          <a:lstStyle/>
          <a:p>
            <a:pPr algn="r">
              <a:lnSpc>
                <a:spcPct val="115000"/>
              </a:lnSpc>
            </a:pPr>
            <a:r>
              <a:rPr sz="1019" b="1" i="0">
                <a:solidFill>
                  <a:srgbClr val="2ECC8F"/>
                </a:solidFill>
                <a:latin typeface="Arial"/>
              </a:rPr>
              <a:t>+18.27</a:t>
            </a:r>
          </a:p>
        </p:txBody>
      </p:sp>
      <p:sp>
        <p:nvSpPr>
          <p:cNvPr id="25" name="TextBox 24"/>
          <p:cNvSpPr txBox="1"/>
          <p:nvPr/>
        </p:nvSpPr>
        <p:spPr>
          <a:xfrm>
            <a:off x="768096" y="2503627"/>
            <a:ext cx="2377440" cy="219456"/>
          </a:xfrm>
          <a:prstGeom prst="rect">
            <a:avLst/>
          </a:prstGeom>
          <a:noFill/>
        </p:spPr>
        <p:txBody>
          <a:bodyPr wrap="square" lIns="0" rIns="0" tIns="0" bIns="0" anchor="t">
            <a:spAutoFit/>
          </a:bodyPr>
          <a:lstStyle/>
          <a:p>
            <a:pPr algn="l">
              <a:lnSpc>
                <a:spcPct val="115000"/>
              </a:lnSpc>
            </a:pPr>
            <a:r>
              <a:rPr sz="1019" b="1" i="0">
                <a:solidFill>
                  <a:srgbClr val="FFFFFF"/>
                </a:solidFill>
                <a:latin typeface="Arial"/>
              </a:rPr>
              <a:t>Bartercard</a:t>
            </a:r>
          </a:p>
        </p:txBody>
      </p:sp>
      <p:sp>
        <p:nvSpPr>
          <p:cNvPr id="26" name="TextBox 25"/>
          <p:cNvSpPr txBox="1"/>
          <p:nvPr/>
        </p:nvSpPr>
        <p:spPr>
          <a:xfrm>
            <a:off x="3264408" y="2503627"/>
            <a:ext cx="2651760" cy="219456"/>
          </a:xfrm>
          <a:prstGeom prst="rect">
            <a:avLst/>
          </a:prstGeom>
          <a:noFill/>
        </p:spPr>
        <p:txBody>
          <a:bodyPr wrap="square" lIns="0" rIns="0" tIns="0" bIns="0" anchor="t">
            <a:spAutoFit/>
          </a:bodyPr>
          <a:lstStyle/>
          <a:p>
            <a:pPr algn="l">
              <a:lnSpc>
                <a:spcPct val="115000"/>
              </a:lnSpc>
            </a:pPr>
            <a:r>
              <a:rPr sz="1019" b="0" i="0">
                <a:solidFill>
                  <a:srgbClr val="8D9AB0"/>
                </a:solidFill>
                <a:latin typeface="Arial"/>
              </a:rPr>
              <a:t>Sleeve 3</a:t>
            </a:r>
          </a:p>
        </p:txBody>
      </p:sp>
      <p:sp>
        <p:nvSpPr>
          <p:cNvPr id="27" name="TextBox 26"/>
          <p:cNvSpPr txBox="1"/>
          <p:nvPr/>
        </p:nvSpPr>
        <p:spPr>
          <a:xfrm>
            <a:off x="5367528" y="2503627"/>
            <a:ext cx="1188720" cy="219456"/>
          </a:xfrm>
          <a:prstGeom prst="rect">
            <a:avLst/>
          </a:prstGeom>
          <a:noFill/>
        </p:spPr>
        <p:txBody>
          <a:bodyPr wrap="square" lIns="0" rIns="0" tIns="0" bIns="0" anchor="t">
            <a:spAutoFit/>
          </a:bodyPr>
          <a:lstStyle/>
          <a:p>
            <a:pPr algn="r">
              <a:lnSpc>
                <a:spcPct val="115000"/>
              </a:lnSpc>
            </a:pPr>
            <a:r>
              <a:rPr sz="1019" b="0" i="0">
                <a:solidFill>
                  <a:srgbClr val="8D9AB0"/>
                </a:solidFill>
                <a:latin typeface="Arial"/>
              </a:rPr>
              <a:t>4</a:t>
            </a:r>
          </a:p>
        </p:txBody>
      </p:sp>
      <p:sp>
        <p:nvSpPr>
          <p:cNvPr id="28" name="TextBox 27"/>
          <p:cNvSpPr txBox="1"/>
          <p:nvPr/>
        </p:nvSpPr>
        <p:spPr>
          <a:xfrm>
            <a:off x="6784847" y="2503627"/>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12.72</a:t>
            </a:r>
          </a:p>
        </p:txBody>
      </p:sp>
      <p:sp>
        <p:nvSpPr>
          <p:cNvPr id="29" name="TextBox 28"/>
          <p:cNvSpPr txBox="1"/>
          <p:nvPr/>
        </p:nvSpPr>
        <p:spPr>
          <a:xfrm>
            <a:off x="8202167" y="2503627"/>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14.38</a:t>
            </a:r>
          </a:p>
        </p:txBody>
      </p:sp>
      <p:sp>
        <p:nvSpPr>
          <p:cNvPr id="30" name="TextBox 29"/>
          <p:cNvSpPr txBox="1"/>
          <p:nvPr/>
        </p:nvSpPr>
        <p:spPr>
          <a:xfrm>
            <a:off x="9528047" y="2503627"/>
            <a:ext cx="1188720" cy="219456"/>
          </a:xfrm>
          <a:prstGeom prst="rect">
            <a:avLst/>
          </a:prstGeom>
          <a:noFill/>
        </p:spPr>
        <p:txBody>
          <a:bodyPr wrap="square" lIns="0" rIns="0" tIns="0" bIns="0" anchor="t">
            <a:spAutoFit/>
          </a:bodyPr>
          <a:lstStyle/>
          <a:p>
            <a:pPr algn="r">
              <a:lnSpc>
                <a:spcPct val="115000"/>
              </a:lnSpc>
            </a:pPr>
            <a:r>
              <a:rPr sz="1019" b="1" i="0">
                <a:solidFill>
                  <a:srgbClr val="FFFFFF"/>
                </a:solidFill>
                <a:latin typeface="Arial"/>
              </a:rPr>
              <a:t>13.55</a:t>
            </a:r>
          </a:p>
        </p:txBody>
      </p:sp>
      <p:sp>
        <p:nvSpPr>
          <p:cNvPr id="31" name="TextBox 30"/>
          <p:cNvSpPr txBox="1"/>
          <p:nvPr/>
        </p:nvSpPr>
        <p:spPr>
          <a:xfrm>
            <a:off x="10396728" y="2503627"/>
            <a:ext cx="1188720" cy="219456"/>
          </a:xfrm>
          <a:prstGeom prst="rect">
            <a:avLst/>
          </a:prstGeom>
          <a:noFill/>
        </p:spPr>
        <p:txBody>
          <a:bodyPr wrap="square" lIns="0" rIns="0" tIns="0" bIns="0" anchor="t">
            <a:spAutoFit/>
          </a:bodyPr>
          <a:lstStyle/>
          <a:p>
            <a:pPr algn="r">
              <a:lnSpc>
                <a:spcPct val="115000"/>
              </a:lnSpc>
            </a:pPr>
            <a:r>
              <a:rPr sz="1019" b="1" i="0">
                <a:solidFill>
                  <a:srgbClr val="2ECC8F"/>
                </a:solidFill>
                <a:latin typeface="Arial"/>
              </a:rPr>
              <a:t>+9.55</a:t>
            </a:r>
          </a:p>
        </p:txBody>
      </p:sp>
      <p:sp>
        <p:nvSpPr>
          <p:cNvPr id="32" name="Rectangle 31"/>
          <p:cNvSpPr/>
          <p:nvPr/>
        </p:nvSpPr>
        <p:spPr>
          <a:xfrm>
            <a:off x="566928" y="2721254"/>
            <a:ext cx="11058113" cy="254203"/>
          </a:xfrm>
          <a:prstGeom prst="rect">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68096" y="2757830"/>
            <a:ext cx="2377440" cy="219456"/>
          </a:xfrm>
          <a:prstGeom prst="rect">
            <a:avLst/>
          </a:prstGeom>
          <a:noFill/>
        </p:spPr>
        <p:txBody>
          <a:bodyPr wrap="square" lIns="0" rIns="0" tIns="0" bIns="0" anchor="t">
            <a:spAutoFit/>
          </a:bodyPr>
          <a:lstStyle/>
          <a:p>
            <a:pPr algn="l">
              <a:lnSpc>
                <a:spcPct val="115000"/>
              </a:lnSpc>
            </a:pPr>
            <a:r>
              <a:rPr sz="1019" b="1" i="0">
                <a:solidFill>
                  <a:srgbClr val="FFFFFF"/>
                </a:solidFill>
                <a:latin typeface="Arial"/>
              </a:rPr>
              <a:t>Top Notch</a:t>
            </a:r>
          </a:p>
        </p:txBody>
      </p:sp>
      <p:sp>
        <p:nvSpPr>
          <p:cNvPr id="34" name="TextBox 33"/>
          <p:cNvSpPr txBox="1"/>
          <p:nvPr/>
        </p:nvSpPr>
        <p:spPr>
          <a:xfrm>
            <a:off x="3264408" y="2757830"/>
            <a:ext cx="2651760" cy="219456"/>
          </a:xfrm>
          <a:prstGeom prst="rect">
            <a:avLst/>
          </a:prstGeom>
          <a:noFill/>
        </p:spPr>
        <p:txBody>
          <a:bodyPr wrap="square" lIns="0" rIns="0" tIns="0" bIns="0" anchor="t">
            <a:spAutoFit/>
          </a:bodyPr>
          <a:lstStyle/>
          <a:p>
            <a:pPr algn="l">
              <a:lnSpc>
                <a:spcPct val="115000"/>
              </a:lnSpc>
            </a:pPr>
            <a:r>
              <a:rPr sz="1019" b="0" i="0">
                <a:solidFill>
                  <a:srgbClr val="8D9AB0"/>
                </a:solidFill>
                <a:latin typeface="Arial"/>
              </a:rPr>
              <a:t>Main Sponsor</a:t>
            </a:r>
          </a:p>
        </p:txBody>
      </p:sp>
      <p:sp>
        <p:nvSpPr>
          <p:cNvPr id="35" name="TextBox 34"/>
          <p:cNvSpPr txBox="1"/>
          <p:nvPr/>
        </p:nvSpPr>
        <p:spPr>
          <a:xfrm>
            <a:off x="5367528" y="2757830"/>
            <a:ext cx="1188720" cy="219456"/>
          </a:xfrm>
          <a:prstGeom prst="rect">
            <a:avLst/>
          </a:prstGeom>
          <a:noFill/>
        </p:spPr>
        <p:txBody>
          <a:bodyPr wrap="square" lIns="0" rIns="0" tIns="0" bIns="0" anchor="t">
            <a:spAutoFit/>
          </a:bodyPr>
          <a:lstStyle/>
          <a:p>
            <a:pPr algn="r">
              <a:lnSpc>
                <a:spcPct val="115000"/>
              </a:lnSpc>
            </a:pPr>
            <a:r>
              <a:rPr sz="1019" b="0" i="0">
                <a:solidFill>
                  <a:srgbClr val="8D9AB0"/>
                </a:solidFill>
                <a:latin typeface="Arial"/>
              </a:rPr>
              <a:t>26</a:t>
            </a:r>
          </a:p>
        </p:txBody>
      </p:sp>
      <p:sp>
        <p:nvSpPr>
          <p:cNvPr id="36" name="TextBox 35"/>
          <p:cNvSpPr txBox="1"/>
          <p:nvPr/>
        </p:nvSpPr>
        <p:spPr>
          <a:xfrm>
            <a:off x="6784847" y="2757830"/>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9.95</a:t>
            </a:r>
          </a:p>
        </p:txBody>
      </p:sp>
      <p:sp>
        <p:nvSpPr>
          <p:cNvPr id="37" name="TextBox 36"/>
          <p:cNvSpPr txBox="1"/>
          <p:nvPr/>
        </p:nvSpPr>
        <p:spPr>
          <a:xfrm>
            <a:off x="8202167" y="2757830"/>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12.71</a:t>
            </a:r>
          </a:p>
        </p:txBody>
      </p:sp>
      <p:sp>
        <p:nvSpPr>
          <p:cNvPr id="38" name="TextBox 37"/>
          <p:cNvSpPr txBox="1"/>
          <p:nvPr/>
        </p:nvSpPr>
        <p:spPr>
          <a:xfrm>
            <a:off x="9528047" y="2757830"/>
            <a:ext cx="1188720" cy="219456"/>
          </a:xfrm>
          <a:prstGeom prst="rect">
            <a:avLst/>
          </a:prstGeom>
          <a:noFill/>
        </p:spPr>
        <p:txBody>
          <a:bodyPr wrap="square" lIns="0" rIns="0" tIns="0" bIns="0" anchor="t">
            <a:spAutoFit/>
          </a:bodyPr>
          <a:lstStyle/>
          <a:p>
            <a:pPr algn="r">
              <a:lnSpc>
                <a:spcPct val="115000"/>
              </a:lnSpc>
            </a:pPr>
            <a:r>
              <a:rPr sz="1019" b="1" i="0">
                <a:solidFill>
                  <a:srgbClr val="FFFFFF"/>
                </a:solidFill>
                <a:latin typeface="Arial"/>
              </a:rPr>
              <a:t>11.33</a:t>
            </a:r>
          </a:p>
        </p:txBody>
      </p:sp>
      <p:sp>
        <p:nvSpPr>
          <p:cNvPr id="39" name="TextBox 38"/>
          <p:cNvSpPr txBox="1"/>
          <p:nvPr/>
        </p:nvSpPr>
        <p:spPr>
          <a:xfrm>
            <a:off x="10396728" y="2757830"/>
            <a:ext cx="1188720" cy="219456"/>
          </a:xfrm>
          <a:prstGeom prst="rect">
            <a:avLst/>
          </a:prstGeom>
          <a:noFill/>
        </p:spPr>
        <p:txBody>
          <a:bodyPr wrap="square" lIns="0" rIns="0" tIns="0" bIns="0" anchor="t">
            <a:spAutoFit/>
          </a:bodyPr>
          <a:lstStyle/>
          <a:p>
            <a:pPr algn="r">
              <a:lnSpc>
                <a:spcPct val="115000"/>
              </a:lnSpc>
            </a:pPr>
            <a:r>
              <a:rPr sz="1019" b="1" i="0">
                <a:solidFill>
                  <a:srgbClr val="E4002B"/>
                </a:solidFill>
                <a:latin typeface="Arial"/>
              </a:rPr>
              <a:t>-14.67</a:t>
            </a:r>
          </a:p>
        </p:txBody>
      </p:sp>
      <p:sp>
        <p:nvSpPr>
          <p:cNvPr id="40" name="TextBox 39"/>
          <p:cNvSpPr txBox="1"/>
          <p:nvPr/>
        </p:nvSpPr>
        <p:spPr>
          <a:xfrm>
            <a:off x="768096" y="3012033"/>
            <a:ext cx="2377440" cy="219456"/>
          </a:xfrm>
          <a:prstGeom prst="rect">
            <a:avLst/>
          </a:prstGeom>
          <a:noFill/>
        </p:spPr>
        <p:txBody>
          <a:bodyPr wrap="square" lIns="0" rIns="0" tIns="0" bIns="0" anchor="t">
            <a:spAutoFit/>
          </a:bodyPr>
          <a:lstStyle/>
          <a:p>
            <a:pPr algn="l">
              <a:lnSpc>
                <a:spcPct val="115000"/>
              </a:lnSpc>
            </a:pPr>
            <a:r>
              <a:rPr sz="1019" b="1" i="0">
                <a:solidFill>
                  <a:srgbClr val="FFFFFF"/>
                </a:solidFill>
                <a:latin typeface="Arial"/>
              </a:rPr>
              <a:t>Cedar Court Hotels</a:t>
            </a:r>
          </a:p>
        </p:txBody>
      </p:sp>
      <p:sp>
        <p:nvSpPr>
          <p:cNvPr id="41" name="TextBox 40"/>
          <p:cNvSpPr txBox="1"/>
          <p:nvPr/>
        </p:nvSpPr>
        <p:spPr>
          <a:xfrm>
            <a:off x="3264408" y="3012033"/>
            <a:ext cx="2651760" cy="219456"/>
          </a:xfrm>
          <a:prstGeom prst="rect">
            <a:avLst/>
          </a:prstGeom>
          <a:noFill/>
        </p:spPr>
        <p:txBody>
          <a:bodyPr wrap="square" lIns="0" rIns="0" tIns="0" bIns="0" anchor="t">
            <a:spAutoFit/>
          </a:bodyPr>
          <a:lstStyle/>
          <a:p>
            <a:pPr algn="l">
              <a:lnSpc>
                <a:spcPct val="115000"/>
              </a:lnSpc>
            </a:pPr>
            <a:r>
              <a:rPr sz="1019" b="0" i="0">
                <a:solidFill>
                  <a:srgbClr val="8D9AB0"/>
                </a:solidFill>
                <a:latin typeface="Arial"/>
              </a:rPr>
              <a:t>Shorts Front</a:t>
            </a:r>
          </a:p>
        </p:txBody>
      </p:sp>
      <p:sp>
        <p:nvSpPr>
          <p:cNvPr id="42" name="TextBox 41"/>
          <p:cNvSpPr txBox="1"/>
          <p:nvPr/>
        </p:nvSpPr>
        <p:spPr>
          <a:xfrm>
            <a:off x="5367528" y="3012033"/>
            <a:ext cx="1188720" cy="219456"/>
          </a:xfrm>
          <a:prstGeom prst="rect">
            <a:avLst/>
          </a:prstGeom>
          <a:noFill/>
        </p:spPr>
        <p:txBody>
          <a:bodyPr wrap="square" lIns="0" rIns="0" tIns="0" bIns="0" anchor="t">
            <a:spAutoFit/>
          </a:bodyPr>
          <a:lstStyle/>
          <a:p>
            <a:pPr algn="r">
              <a:lnSpc>
                <a:spcPct val="115000"/>
              </a:lnSpc>
            </a:pPr>
            <a:r>
              <a:rPr sz="1019" b="0" i="0">
                <a:solidFill>
                  <a:srgbClr val="8D9AB0"/>
                </a:solidFill>
                <a:latin typeface="Arial"/>
              </a:rPr>
              <a:t>3</a:t>
            </a:r>
          </a:p>
        </p:txBody>
      </p:sp>
      <p:sp>
        <p:nvSpPr>
          <p:cNvPr id="43" name="TextBox 42"/>
          <p:cNvSpPr txBox="1"/>
          <p:nvPr/>
        </p:nvSpPr>
        <p:spPr>
          <a:xfrm>
            <a:off x="6784847" y="3012033"/>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6.87</a:t>
            </a:r>
          </a:p>
        </p:txBody>
      </p:sp>
      <p:sp>
        <p:nvSpPr>
          <p:cNvPr id="44" name="TextBox 43"/>
          <p:cNvSpPr txBox="1"/>
          <p:nvPr/>
        </p:nvSpPr>
        <p:spPr>
          <a:xfrm>
            <a:off x="8202167" y="3012033"/>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7.86</a:t>
            </a:r>
          </a:p>
        </p:txBody>
      </p:sp>
      <p:sp>
        <p:nvSpPr>
          <p:cNvPr id="45" name="TextBox 44"/>
          <p:cNvSpPr txBox="1"/>
          <p:nvPr/>
        </p:nvSpPr>
        <p:spPr>
          <a:xfrm>
            <a:off x="9528047" y="3012033"/>
            <a:ext cx="1188720" cy="219456"/>
          </a:xfrm>
          <a:prstGeom prst="rect">
            <a:avLst/>
          </a:prstGeom>
          <a:noFill/>
        </p:spPr>
        <p:txBody>
          <a:bodyPr wrap="square" lIns="0" rIns="0" tIns="0" bIns="0" anchor="t">
            <a:spAutoFit/>
          </a:bodyPr>
          <a:lstStyle/>
          <a:p>
            <a:pPr algn="r">
              <a:lnSpc>
                <a:spcPct val="115000"/>
              </a:lnSpc>
            </a:pPr>
            <a:r>
              <a:rPr sz="1019" b="1" i="0">
                <a:solidFill>
                  <a:srgbClr val="FFFFFF"/>
                </a:solidFill>
                <a:latin typeface="Arial"/>
              </a:rPr>
              <a:t>7.37</a:t>
            </a:r>
          </a:p>
        </p:txBody>
      </p:sp>
      <p:sp>
        <p:nvSpPr>
          <p:cNvPr id="46" name="TextBox 45"/>
          <p:cNvSpPr txBox="1"/>
          <p:nvPr/>
        </p:nvSpPr>
        <p:spPr>
          <a:xfrm>
            <a:off x="10396728" y="3012033"/>
            <a:ext cx="1188720" cy="219456"/>
          </a:xfrm>
          <a:prstGeom prst="rect">
            <a:avLst/>
          </a:prstGeom>
          <a:noFill/>
        </p:spPr>
        <p:txBody>
          <a:bodyPr wrap="square" lIns="0" rIns="0" tIns="0" bIns="0" anchor="t">
            <a:spAutoFit/>
          </a:bodyPr>
          <a:lstStyle/>
          <a:p>
            <a:pPr algn="r">
              <a:lnSpc>
                <a:spcPct val="115000"/>
              </a:lnSpc>
            </a:pPr>
            <a:r>
              <a:rPr sz="1019" b="1" i="0">
                <a:solidFill>
                  <a:srgbClr val="2ECC8F"/>
                </a:solidFill>
                <a:latin typeface="Arial"/>
              </a:rPr>
              <a:t>+4.37</a:t>
            </a:r>
          </a:p>
        </p:txBody>
      </p:sp>
      <p:sp>
        <p:nvSpPr>
          <p:cNvPr id="47" name="Rectangle 46"/>
          <p:cNvSpPr/>
          <p:nvPr/>
        </p:nvSpPr>
        <p:spPr>
          <a:xfrm>
            <a:off x="566928" y="3229660"/>
            <a:ext cx="11058113" cy="254203"/>
          </a:xfrm>
          <a:prstGeom prst="rect">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768096" y="3266236"/>
            <a:ext cx="2377440" cy="219456"/>
          </a:xfrm>
          <a:prstGeom prst="rect">
            <a:avLst/>
          </a:prstGeom>
          <a:noFill/>
        </p:spPr>
        <p:txBody>
          <a:bodyPr wrap="square" lIns="0" rIns="0" tIns="0" bIns="0" anchor="t">
            <a:spAutoFit/>
          </a:bodyPr>
          <a:lstStyle/>
          <a:p>
            <a:pPr algn="l">
              <a:lnSpc>
                <a:spcPct val="115000"/>
              </a:lnSpc>
            </a:pPr>
            <a:r>
              <a:rPr sz="1019" b="1" i="0">
                <a:solidFill>
                  <a:srgbClr val="FFFFFF"/>
                </a:solidFill>
                <a:latin typeface="Arial"/>
              </a:rPr>
              <a:t>ASC Group</a:t>
            </a:r>
          </a:p>
        </p:txBody>
      </p:sp>
      <p:sp>
        <p:nvSpPr>
          <p:cNvPr id="49" name="TextBox 48"/>
          <p:cNvSpPr txBox="1"/>
          <p:nvPr/>
        </p:nvSpPr>
        <p:spPr>
          <a:xfrm>
            <a:off x="3264408" y="3266236"/>
            <a:ext cx="2651760" cy="219456"/>
          </a:xfrm>
          <a:prstGeom prst="rect">
            <a:avLst/>
          </a:prstGeom>
          <a:noFill/>
        </p:spPr>
        <p:txBody>
          <a:bodyPr wrap="square" lIns="0" rIns="0" tIns="0" bIns="0" anchor="t">
            <a:spAutoFit/>
          </a:bodyPr>
          <a:lstStyle/>
          <a:p>
            <a:pPr algn="l">
              <a:lnSpc>
                <a:spcPct val="115000"/>
              </a:lnSpc>
            </a:pPr>
            <a:r>
              <a:rPr sz="1019" b="0" i="0">
                <a:solidFill>
                  <a:srgbClr val="8D9AB0"/>
                </a:solidFill>
                <a:latin typeface="Arial"/>
              </a:rPr>
              <a:t>Bottom Back</a:t>
            </a:r>
          </a:p>
        </p:txBody>
      </p:sp>
      <p:sp>
        <p:nvSpPr>
          <p:cNvPr id="50" name="TextBox 49"/>
          <p:cNvSpPr txBox="1"/>
          <p:nvPr/>
        </p:nvSpPr>
        <p:spPr>
          <a:xfrm>
            <a:off x="5367528" y="3266236"/>
            <a:ext cx="1188720" cy="219456"/>
          </a:xfrm>
          <a:prstGeom prst="rect">
            <a:avLst/>
          </a:prstGeom>
          <a:noFill/>
        </p:spPr>
        <p:txBody>
          <a:bodyPr wrap="square" lIns="0" rIns="0" tIns="0" bIns="0" anchor="t">
            <a:spAutoFit/>
          </a:bodyPr>
          <a:lstStyle/>
          <a:p>
            <a:pPr algn="r">
              <a:lnSpc>
                <a:spcPct val="115000"/>
              </a:lnSpc>
            </a:pPr>
            <a:r>
              <a:rPr sz="1019" b="0" i="0">
                <a:solidFill>
                  <a:srgbClr val="8D9AB0"/>
                </a:solidFill>
                <a:latin typeface="Arial"/>
              </a:rPr>
              <a:t>3</a:t>
            </a:r>
          </a:p>
        </p:txBody>
      </p:sp>
      <p:sp>
        <p:nvSpPr>
          <p:cNvPr id="51" name="TextBox 50"/>
          <p:cNvSpPr txBox="1"/>
          <p:nvPr/>
        </p:nvSpPr>
        <p:spPr>
          <a:xfrm>
            <a:off x="6784847" y="3266236"/>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8.07</a:t>
            </a:r>
          </a:p>
        </p:txBody>
      </p:sp>
      <p:sp>
        <p:nvSpPr>
          <p:cNvPr id="52" name="TextBox 51"/>
          <p:cNvSpPr txBox="1"/>
          <p:nvPr/>
        </p:nvSpPr>
        <p:spPr>
          <a:xfrm>
            <a:off x="8202167" y="3266236"/>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6.48</a:t>
            </a:r>
          </a:p>
        </p:txBody>
      </p:sp>
      <p:sp>
        <p:nvSpPr>
          <p:cNvPr id="53" name="TextBox 52"/>
          <p:cNvSpPr txBox="1"/>
          <p:nvPr/>
        </p:nvSpPr>
        <p:spPr>
          <a:xfrm>
            <a:off x="9528047" y="3266236"/>
            <a:ext cx="1188720" cy="219456"/>
          </a:xfrm>
          <a:prstGeom prst="rect">
            <a:avLst/>
          </a:prstGeom>
          <a:noFill/>
        </p:spPr>
        <p:txBody>
          <a:bodyPr wrap="square" lIns="0" rIns="0" tIns="0" bIns="0" anchor="t">
            <a:spAutoFit/>
          </a:bodyPr>
          <a:lstStyle/>
          <a:p>
            <a:pPr algn="r">
              <a:lnSpc>
                <a:spcPct val="115000"/>
              </a:lnSpc>
            </a:pPr>
            <a:r>
              <a:rPr sz="1019" b="1" i="0">
                <a:solidFill>
                  <a:srgbClr val="FFFFFF"/>
                </a:solidFill>
                <a:latin typeface="Arial"/>
              </a:rPr>
              <a:t>7.28</a:t>
            </a:r>
          </a:p>
        </p:txBody>
      </p:sp>
      <p:sp>
        <p:nvSpPr>
          <p:cNvPr id="54" name="TextBox 53"/>
          <p:cNvSpPr txBox="1"/>
          <p:nvPr/>
        </p:nvSpPr>
        <p:spPr>
          <a:xfrm>
            <a:off x="10396728" y="3266236"/>
            <a:ext cx="1188720" cy="219456"/>
          </a:xfrm>
          <a:prstGeom prst="rect">
            <a:avLst/>
          </a:prstGeom>
          <a:noFill/>
        </p:spPr>
        <p:txBody>
          <a:bodyPr wrap="square" lIns="0" rIns="0" tIns="0" bIns="0" anchor="t">
            <a:spAutoFit/>
          </a:bodyPr>
          <a:lstStyle/>
          <a:p>
            <a:pPr algn="r">
              <a:lnSpc>
                <a:spcPct val="115000"/>
              </a:lnSpc>
            </a:pPr>
            <a:r>
              <a:rPr sz="1019" b="1" i="0">
                <a:solidFill>
                  <a:srgbClr val="2ECC8F"/>
                </a:solidFill>
                <a:latin typeface="Arial"/>
              </a:rPr>
              <a:t>+4.28</a:t>
            </a:r>
          </a:p>
        </p:txBody>
      </p:sp>
      <p:sp>
        <p:nvSpPr>
          <p:cNvPr id="55" name="TextBox 54"/>
          <p:cNvSpPr txBox="1"/>
          <p:nvPr/>
        </p:nvSpPr>
        <p:spPr>
          <a:xfrm>
            <a:off x="768096" y="3520440"/>
            <a:ext cx="2377440" cy="219456"/>
          </a:xfrm>
          <a:prstGeom prst="rect">
            <a:avLst/>
          </a:prstGeom>
          <a:noFill/>
        </p:spPr>
        <p:txBody>
          <a:bodyPr wrap="square" lIns="0" rIns="0" tIns="0" bIns="0" anchor="t">
            <a:spAutoFit/>
          </a:bodyPr>
          <a:lstStyle/>
          <a:p>
            <a:pPr algn="l">
              <a:lnSpc>
                <a:spcPct val="115000"/>
              </a:lnSpc>
            </a:pPr>
            <a:r>
              <a:rPr sz="1019" b="1" i="0">
                <a:solidFill>
                  <a:srgbClr val="FFFFFF"/>
                </a:solidFill>
                <a:latin typeface="Arial"/>
              </a:rPr>
              <a:t>Paints &amp; Lacquers</a:t>
            </a:r>
          </a:p>
        </p:txBody>
      </p:sp>
      <p:sp>
        <p:nvSpPr>
          <p:cNvPr id="56" name="TextBox 55"/>
          <p:cNvSpPr txBox="1"/>
          <p:nvPr/>
        </p:nvSpPr>
        <p:spPr>
          <a:xfrm>
            <a:off x="3264408" y="3520440"/>
            <a:ext cx="2651760" cy="219456"/>
          </a:xfrm>
          <a:prstGeom prst="rect">
            <a:avLst/>
          </a:prstGeom>
          <a:noFill/>
        </p:spPr>
        <p:txBody>
          <a:bodyPr wrap="square" lIns="0" rIns="0" tIns="0" bIns="0" anchor="t">
            <a:spAutoFit/>
          </a:bodyPr>
          <a:lstStyle/>
          <a:p>
            <a:pPr algn="l">
              <a:lnSpc>
                <a:spcPct val="115000"/>
              </a:lnSpc>
            </a:pPr>
            <a:r>
              <a:rPr sz="1019" b="0" i="0">
                <a:solidFill>
                  <a:srgbClr val="8D9AB0"/>
                </a:solidFill>
                <a:latin typeface="Arial"/>
              </a:rPr>
              <a:t>Shorts Back 2</a:t>
            </a:r>
          </a:p>
        </p:txBody>
      </p:sp>
      <p:sp>
        <p:nvSpPr>
          <p:cNvPr id="57" name="TextBox 56"/>
          <p:cNvSpPr txBox="1"/>
          <p:nvPr/>
        </p:nvSpPr>
        <p:spPr>
          <a:xfrm>
            <a:off x="5367528" y="3520440"/>
            <a:ext cx="1188720" cy="219456"/>
          </a:xfrm>
          <a:prstGeom prst="rect">
            <a:avLst/>
          </a:prstGeom>
          <a:noFill/>
        </p:spPr>
        <p:txBody>
          <a:bodyPr wrap="square" lIns="0" rIns="0" tIns="0" bIns="0" anchor="t">
            <a:spAutoFit/>
          </a:bodyPr>
          <a:lstStyle/>
          <a:p>
            <a:pPr algn="r">
              <a:lnSpc>
                <a:spcPct val="115000"/>
              </a:lnSpc>
            </a:pPr>
            <a:r>
              <a:rPr sz="1019" b="0" i="0">
                <a:solidFill>
                  <a:srgbClr val="8D9AB0"/>
                </a:solidFill>
                <a:latin typeface="Arial"/>
              </a:rPr>
              <a:t>3</a:t>
            </a:r>
          </a:p>
        </p:txBody>
      </p:sp>
      <p:sp>
        <p:nvSpPr>
          <p:cNvPr id="58" name="TextBox 57"/>
          <p:cNvSpPr txBox="1"/>
          <p:nvPr/>
        </p:nvSpPr>
        <p:spPr>
          <a:xfrm>
            <a:off x="6784847" y="3520440"/>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6.83</a:t>
            </a:r>
          </a:p>
        </p:txBody>
      </p:sp>
      <p:sp>
        <p:nvSpPr>
          <p:cNvPr id="59" name="TextBox 58"/>
          <p:cNvSpPr txBox="1"/>
          <p:nvPr/>
        </p:nvSpPr>
        <p:spPr>
          <a:xfrm>
            <a:off x="8202167" y="3520440"/>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6.25</a:t>
            </a:r>
          </a:p>
        </p:txBody>
      </p:sp>
      <p:sp>
        <p:nvSpPr>
          <p:cNvPr id="60" name="TextBox 59"/>
          <p:cNvSpPr txBox="1"/>
          <p:nvPr/>
        </p:nvSpPr>
        <p:spPr>
          <a:xfrm>
            <a:off x="9528047" y="3520440"/>
            <a:ext cx="1188720" cy="219456"/>
          </a:xfrm>
          <a:prstGeom prst="rect">
            <a:avLst/>
          </a:prstGeom>
          <a:noFill/>
        </p:spPr>
        <p:txBody>
          <a:bodyPr wrap="square" lIns="0" rIns="0" tIns="0" bIns="0" anchor="t">
            <a:spAutoFit/>
          </a:bodyPr>
          <a:lstStyle/>
          <a:p>
            <a:pPr algn="r">
              <a:lnSpc>
                <a:spcPct val="115000"/>
              </a:lnSpc>
            </a:pPr>
            <a:r>
              <a:rPr sz="1019" b="1" i="0">
                <a:solidFill>
                  <a:srgbClr val="FFFFFF"/>
                </a:solidFill>
                <a:latin typeface="Arial"/>
              </a:rPr>
              <a:t>6.54</a:t>
            </a:r>
          </a:p>
        </p:txBody>
      </p:sp>
      <p:sp>
        <p:nvSpPr>
          <p:cNvPr id="61" name="TextBox 60"/>
          <p:cNvSpPr txBox="1"/>
          <p:nvPr/>
        </p:nvSpPr>
        <p:spPr>
          <a:xfrm>
            <a:off x="10396728" y="3520440"/>
            <a:ext cx="1188720" cy="219456"/>
          </a:xfrm>
          <a:prstGeom prst="rect">
            <a:avLst/>
          </a:prstGeom>
          <a:noFill/>
        </p:spPr>
        <p:txBody>
          <a:bodyPr wrap="square" lIns="0" rIns="0" tIns="0" bIns="0" anchor="t">
            <a:spAutoFit/>
          </a:bodyPr>
          <a:lstStyle/>
          <a:p>
            <a:pPr algn="r">
              <a:lnSpc>
                <a:spcPct val="115000"/>
              </a:lnSpc>
            </a:pPr>
            <a:r>
              <a:rPr sz="1019" b="1" i="0">
                <a:solidFill>
                  <a:srgbClr val="2ECC8F"/>
                </a:solidFill>
                <a:latin typeface="Arial"/>
              </a:rPr>
              <a:t>+3.54</a:t>
            </a:r>
          </a:p>
        </p:txBody>
      </p:sp>
      <p:sp>
        <p:nvSpPr>
          <p:cNvPr id="62" name="Rectangle 61"/>
          <p:cNvSpPr/>
          <p:nvPr/>
        </p:nvSpPr>
        <p:spPr>
          <a:xfrm>
            <a:off x="566928" y="3738067"/>
            <a:ext cx="11058113" cy="254203"/>
          </a:xfrm>
          <a:prstGeom prst="rect">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768096" y="3774643"/>
            <a:ext cx="2377440" cy="219456"/>
          </a:xfrm>
          <a:prstGeom prst="rect">
            <a:avLst/>
          </a:prstGeom>
          <a:noFill/>
        </p:spPr>
        <p:txBody>
          <a:bodyPr wrap="square" lIns="0" rIns="0" tIns="0" bIns="0" anchor="t">
            <a:spAutoFit/>
          </a:bodyPr>
          <a:lstStyle/>
          <a:p>
            <a:pPr algn="l">
              <a:lnSpc>
                <a:spcPct val="115000"/>
              </a:lnSpc>
            </a:pPr>
            <a:r>
              <a:rPr sz="1019" b="1" i="0">
                <a:solidFill>
                  <a:srgbClr val="FFFFFF"/>
                </a:solidFill>
                <a:latin typeface="Arial"/>
              </a:rPr>
              <a:t>Chadwick &amp; Lawrence</a:t>
            </a:r>
          </a:p>
        </p:txBody>
      </p:sp>
      <p:sp>
        <p:nvSpPr>
          <p:cNvPr id="64" name="TextBox 63"/>
          <p:cNvSpPr txBox="1"/>
          <p:nvPr/>
        </p:nvSpPr>
        <p:spPr>
          <a:xfrm>
            <a:off x="3264408" y="3774643"/>
            <a:ext cx="2651760" cy="219456"/>
          </a:xfrm>
          <a:prstGeom prst="rect">
            <a:avLst/>
          </a:prstGeom>
          <a:noFill/>
        </p:spPr>
        <p:txBody>
          <a:bodyPr wrap="square" lIns="0" rIns="0" tIns="0" bIns="0" anchor="t">
            <a:spAutoFit/>
          </a:bodyPr>
          <a:lstStyle/>
          <a:p>
            <a:pPr algn="l">
              <a:lnSpc>
                <a:spcPct val="115000"/>
              </a:lnSpc>
            </a:pPr>
            <a:r>
              <a:rPr sz="1019" b="0" i="0">
                <a:solidFill>
                  <a:srgbClr val="8D9AB0"/>
                </a:solidFill>
                <a:latin typeface="Arial"/>
              </a:rPr>
              <a:t>Sleeve 1</a:t>
            </a:r>
          </a:p>
        </p:txBody>
      </p:sp>
      <p:sp>
        <p:nvSpPr>
          <p:cNvPr id="65" name="TextBox 64"/>
          <p:cNvSpPr txBox="1"/>
          <p:nvPr/>
        </p:nvSpPr>
        <p:spPr>
          <a:xfrm>
            <a:off x="5367528" y="3774643"/>
            <a:ext cx="1188720" cy="219456"/>
          </a:xfrm>
          <a:prstGeom prst="rect">
            <a:avLst/>
          </a:prstGeom>
          <a:noFill/>
        </p:spPr>
        <p:txBody>
          <a:bodyPr wrap="square" lIns="0" rIns="0" tIns="0" bIns="0" anchor="t">
            <a:spAutoFit/>
          </a:bodyPr>
          <a:lstStyle/>
          <a:p>
            <a:pPr algn="r">
              <a:lnSpc>
                <a:spcPct val="115000"/>
              </a:lnSpc>
            </a:pPr>
            <a:r>
              <a:rPr sz="1019" b="0" i="0">
                <a:solidFill>
                  <a:srgbClr val="8D9AB0"/>
                </a:solidFill>
                <a:latin typeface="Arial"/>
              </a:rPr>
              <a:t>4</a:t>
            </a:r>
          </a:p>
        </p:txBody>
      </p:sp>
      <p:sp>
        <p:nvSpPr>
          <p:cNvPr id="66" name="TextBox 65"/>
          <p:cNvSpPr txBox="1"/>
          <p:nvPr/>
        </p:nvSpPr>
        <p:spPr>
          <a:xfrm>
            <a:off x="6784847" y="3774643"/>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5.85</a:t>
            </a:r>
          </a:p>
        </p:txBody>
      </p:sp>
      <p:sp>
        <p:nvSpPr>
          <p:cNvPr id="67" name="TextBox 66"/>
          <p:cNvSpPr txBox="1"/>
          <p:nvPr/>
        </p:nvSpPr>
        <p:spPr>
          <a:xfrm>
            <a:off x="8202167" y="3774643"/>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5.90</a:t>
            </a:r>
          </a:p>
        </p:txBody>
      </p:sp>
      <p:sp>
        <p:nvSpPr>
          <p:cNvPr id="68" name="TextBox 67"/>
          <p:cNvSpPr txBox="1"/>
          <p:nvPr/>
        </p:nvSpPr>
        <p:spPr>
          <a:xfrm>
            <a:off x="9528047" y="3774643"/>
            <a:ext cx="1188720" cy="219456"/>
          </a:xfrm>
          <a:prstGeom prst="rect">
            <a:avLst/>
          </a:prstGeom>
          <a:noFill/>
        </p:spPr>
        <p:txBody>
          <a:bodyPr wrap="square" lIns="0" rIns="0" tIns="0" bIns="0" anchor="t">
            <a:spAutoFit/>
          </a:bodyPr>
          <a:lstStyle/>
          <a:p>
            <a:pPr algn="r">
              <a:lnSpc>
                <a:spcPct val="115000"/>
              </a:lnSpc>
            </a:pPr>
            <a:r>
              <a:rPr sz="1019" b="1" i="0">
                <a:solidFill>
                  <a:srgbClr val="FFFFFF"/>
                </a:solidFill>
                <a:latin typeface="Arial"/>
              </a:rPr>
              <a:t>5.88</a:t>
            </a:r>
          </a:p>
        </p:txBody>
      </p:sp>
      <p:sp>
        <p:nvSpPr>
          <p:cNvPr id="69" name="TextBox 68"/>
          <p:cNvSpPr txBox="1"/>
          <p:nvPr/>
        </p:nvSpPr>
        <p:spPr>
          <a:xfrm>
            <a:off x="10396728" y="3774643"/>
            <a:ext cx="1188720" cy="219456"/>
          </a:xfrm>
          <a:prstGeom prst="rect">
            <a:avLst/>
          </a:prstGeom>
          <a:noFill/>
        </p:spPr>
        <p:txBody>
          <a:bodyPr wrap="square" lIns="0" rIns="0" tIns="0" bIns="0" anchor="t">
            <a:spAutoFit/>
          </a:bodyPr>
          <a:lstStyle/>
          <a:p>
            <a:pPr algn="r">
              <a:lnSpc>
                <a:spcPct val="115000"/>
              </a:lnSpc>
            </a:pPr>
            <a:r>
              <a:rPr sz="1019" b="1" i="0">
                <a:solidFill>
                  <a:srgbClr val="2ECC8F"/>
                </a:solidFill>
                <a:latin typeface="Arial"/>
              </a:rPr>
              <a:t>+1.88</a:t>
            </a:r>
          </a:p>
        </p:txBody>
      </p:sp>
      <p:sp>
        <p:nvSpPr>
          <p:cNvPr id="70" name="TextBox 69"/>
          <p:cNvSpPr txBox="1"/>
          <p:nvPr/>
        </p:nvSpPr>
        <p:spPr>
          <a:xfrm>
            <a:off x="768096" y="4028846"/>
            <a:ext cx="2377440" cy="219456"/>
          </a:xfrm>
          <a:prstGeom prst="rect">
            <a:avLst/>
          </a:prstGeom>
          <a:noFill/>
        </p:spPr>
        <p:txBody>
          <a:bodyPr wrap="square" lIns="0" rIns="0" tIns="0" bIns="0" anchor="t">
            <a:spAutoFit/>
          </a:bodyPr>
          <a:lstStyle/>
          <a:p>
            <a:pPr algn="l">
              <a:lnSpc>
                <a:spcPct val="115000"/>
              </a:lnSpc>
            </a:pPr>
            <a:r>
              <a:rPr sz="1019" b="1" i="0">
                <a:solidFill>
                  <a:srgbClr val="FFFFFF"/>
                </a:solidFill>
                <a:latin typeface="Arial"/>
              </a:rPr>
              <a:t>AON</a:t>
            </a:r>
          </a:p>
        </p:txBody>
      </p:sp>
      <p:sp>
        <p:nvSpPr>
          <p:cNvPr id="71" name="TextBox 70"/>
          <p:cNvSpPr txBox="1"/>
          <p:nvPr/>
        </p:nvSpPr>
        <p:spPr>
          <a:xfrm>
            <a:off x="3264408" y="4028846"/>
            <a:ext cx="2651760" cy="219456"/>
          </a:xfrm>
          <a:prstGeom prst="rect">
            <a:avLst/>
          </a:prstGeom>
          <a:noFill/>
        </p:spPr>
        <p:txBody>
          <a:bodyPr wrap="square" lIns="0" rIns="0" tIns="0" bIns="0" anchor="t">
            <a:spAutoFit/>
          </a:bodyPr>
          <a:lstStyle/>
          <a:p>
            <a:pPr algn="l">
              <a:lnSpc>
                <a:spcPct val="115000"/>
              </a:lnSpc>
            </a:pPr>
            <a:r>
              <a:rPr sz="1019" b="0" i="0">
                <a:solidFill>
                  <a:srgbClr val="8D9AB0"/>
                </a:solidFill>
                <a:latin typeface="Arial"/>
              </a:rPr>
              <a:t>Shorts Back 1</a:t>
            </a:r>
          </a:p>
        </p:txBody>
      </p:sp>
      <p:sp>
        <p:nvSpPr>
          <p:cNvPr id="72" name="TextBox 71"/>
          <p:cNvSpPr txBox="1"/>
          <p:nvPr/>
        </p:nvSpPr>
        <p:spPr>
          <a:xfrm>
            <a:off x="5367528" y="4028846"/>
            <a:ext cx="1188720" cy="219456"/>
          </a:xfrm>
          <a:prstGeom prst="rect">
            <a:avLst/>
          </a:prstGeom>
          <a:noFill/>
        </p:spPr>
        <p:txBody>
          <a:bodyPr wrap="square" lIns="0" rIns="0" tIns="0" bIns="0" anchor="t">
            <a:spAutoFit/>
          </a:bodyPr>
          <a:lstStyle/>
          <a:p>
            <a:pPr algn="r">
              <a:lnSpc>
                <a:spcPct val="115000"/>
              </a:lnSpc>
            </a:pPr>
            <a:r>
              <a:rPr sz="1019" b="0" i="0">
                <a:solidFill>
                  <a:srgbClr val="8D9AB0"/>
                </a:solidFill>
                <a:latin typeface="Arial"/>
              </a:rPr>
              <a:t>3</a:t>
            </a:r>
          </a:p>
        </p:txBody>
      </p:sp>
      <p:sp>
        <p:nvSpPr>
          <p:cNvPr id="73" name="TextBox 72"/>
          <p:cNvSpPr txBox="1"/>
          <p:nvPr/>
        </p:nvSpPr>
        <p:spPr>
          <a:xfrm>
            <a:off x="6784847" y="4028846"/>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6.42</a:t>
            </a:r>
          </a:p>
        </p:txBody>
      </p:sp>
      <p:sp>
        <p:nvSpPr>
          <p:cNvPr id="74" name="TextBox 73"/>
          <p:cNvSpPr txBox="1"/>
          <p:nvPr/>
        </p:nvSpPr>
        <p:spPr>
          <a:xfrm>
            <a:off x="8202167" y="4028846"/>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5.32</a:t>
            </a:r>
          </a:p>
        </p:txBody>
      </p:sp>
      <p:sp>
        <p:nvSpPr>
          <p:cNvPr id="75" name="TextBox 74"/>
          <p:cNvSpPr txBox="1"/>
          <p:nvPr/>
        </p:nvSpPr>
        <p:spPr>
          <a:xfrm>
            <a:off x="9528047" y="4028846"/>
            <a:ext cx="1188720" cy="219456"/>
          </a:xfrm>
          <a:prstGeom prst="rect">
            <a:avLst/>
          </a:prstGeom>
          <a:noFill/>
        </p:spPr>
        <p:txBody>
          <a:bodyPr wrap="square" lIns="0" rIns="0" tIns="0" bIns="0" anchor="t">
            <a:spAutoFit/>
          </a:bodyPr>
          <a:lstStyle/>
          <a:p>
            <a:pPr algn="r">
              <a:lnSpc>
                <a:spcPct val="115000"/>
              </a:lnSpc>
            </a:pPr>
            <a:r>
              <a:rPr sz="1019" b="1" i="0">
                <a:solidFill>
                  <a:srgbClr val="FFFFFF"/>
                </a:solidFill>
                <a:latin typeface="Arial"/>
              </a:rPr>
              <a:t>5.87</a:t>
            </a:r>
          </a:p>
        </p:txBody>
      </p:sp>
      <p:sp>
        <p:nvSpPr>
          <p:cNvPr id="76" name="TextBox 75"/>
          <p:cNvSpPr txBox="1"/>
          <p:nvPr/>
        </p:nvSpPr>
        <p:spPr>
          <a:xfrm>
            <a:off x="10396728" y="4028846"/>
            <a:ext cx="1188720" cy="219456"/>
          </a:xfrm>
          <a:prstGeom prst="rect">
            <a:avLst/>
          </a:prstGeom>
          <a:noFill/>
        </p:spPr>
        <p:txBody>
          <a:bodyPr wrap="square" lIns="0" rIns="0" tIns="0" bIns="0" anchor="t">
            <a:spAutoFit/>
          </a:bodyPr>
          <a:lstStyle/>
          <a:p>
            <a:pPr algn="r">
              <a:lnSpc>
                <a:spcPct val="115000"/>
              </a:lnSpc>
            </a:pPr>
            <a:r>
              <a:rPr sz="1019" b="1" i="0">
                <a:solidFill>
                  <a:srgbClr val="2ECC8F"/>
                </a:solidFill>
                <a:latin typeface="Arial"/>
              </a:rPr>
              <a:t>+2.87</a:t>
            </a:r>
          </a:p>
        </p:txBody>
      </p:sp>
      <p:sp>
        <p:nvSpPr>
          <p:cNvPr id="77" name="Rectangle 76"/>
          <p:cNvSpPr/>
          <p:nvPr/>
        </p:nvSpPr>
        <p:spPr>
          <a:xfrm>
            <a:off x="566928" y="4246473"/>
            <a:ext cx="11058113" cy="254203"/>
          </a:xfrm>
          <a:prstGeom prst="rect">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768096" y="4283049"/>
            <a:ext cx="2377440" cy="219456"/>
          </a:xfrm>
          <a:prstGeom prst="rect">
            <a:avLst/>
          </a:prstGeom>
          <a:noFill/>
        </p:spPr>
        <p:txBody>
          <a:bodyPr wrap="square" lIns="0" rIns="0" tIns="0" bIns="0" anchor="t">
            <a:spAutoFit/>
          </a:bodyPr>
          <a:lstStyle/>
          <a:p>
            <a:pPr algn="l">
              <a:lnSpc>
                <a:spcPct val="115000"/>
              </a:lnSpc>
            </a:pPr>
            <a:r>
              <a:rPr sz="1019" b="1" i="0">
                <a:solidFill>
                  <a:srgbClr val="FFFFFF"/>
                </a:solidFill>
                <a:latin typeface="Arial"/>
              </a:rPr>
              <a:t>MNA Cladding</a:t>
            </a:r>
          </a:p>
        </p:txBody>
      </p:sp>
      <p:sp>
        <p:nvSpPr>
          <p:cNvPr id="79" name="TextBox 78"/>
          <p:cNvSpPr txBox="1"/>
          <p:nvPr/>
        </p:nvSpPr>
        <p:spPr>
          <a:xfrm>
            <a:off x="3264408" y="4283049"/>
            <a:ext cx="2651760" cy="219456"/>
          </a:xfrm>
          <a:prstGeom prst="rect">
            <a:avLst/>
          </a:prstGeom>
          <a:noFill/>
        </p:spPr>
        <p:txBody>
          <a:bodyPr wrap="square" lIns="0" rIns="0" tIns="0" bIns="0" anchor="t">
            <a:spAutoFit/>
          </a:bodyPr>
          <a:lstStyle/>
          <a:p>
            <a:pPr algn="l">
              <a:lnSpc>
                <a:spcPct val="115000"/>
              </a:lnSpc>
            </a:pPr>
            <a:r>
              <a:rPr sz="1019" b="0" i="0">
                <a:solidFill>
                  <a:srgbClr val="8D9AB0"/>
                </a:solidFill>
                <a:latin typeface="Arial"/>
              </a:rPr>
              <a:t>Collar Bone</a:t>
            </a:r>
          </a:p>
        </p:txBody>
      </p:sp>
      <p:sp>
        <p:nvSpPr>
          <p:cNvPr id="80" name="TextBox 79"/>
          <p:cNvSpPr txBox="1"/>
          <p:nvPr/>
        </p:nvSpPr>
        <p:spPr>
          <a:xfrm>
            <a:off x="5367528" y="4283049"/>
            <a:ext cx="1188720" cy="219456"/>
          </a:xfrm>
          <a:prstGeom prst="rect">
            <a:avLst/>
          </a:prstGeom>
          <a:noFill/>
        </p:spPr>
        <p:txBody>
          <a:bodyPr wrap="square" lIns="0" rIns="0" tIns="0" bIns="0" anchor="t">
            <a:spAutoFit/>
          </a:bodyPr>
          <a:lstStyle/>
          <a:p>
            <a:pPr algn="r">
              <a:lnSpc>
                <a:spcPct val="115000"/>
              </a:lnSpc>
            </a:pPr>
            <a:r>
              <a:rPr sz="1019" b="0" i="0">
                <a:solidFill>
                  <a:srgbClr val="8D9AB0"/>
                </a:solidFill>
                <a:latin typeface="Arial"/>
              </a:rPr>
              <a:t>8</a:t>
            </a:r>
          </a:p>
        </p:txBody>
      </p:sp>
      <p:sp>
        <p:nvSpPr>
          <p:cNvPr id="81" name="TextBox 80"/>
          <p:cNvSpPr txBox="1"/>
          <p:nvPr/>
        </p:nvSpPr>
        <p:spPr>
          <a:xfrm>
            <a:off x="6784847" y="4283049"/>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3.25</a:t>
            </a:r>
          </a:p>
        </p:txBody>
      </p:sp>
      <p:sp>
        <p:nvSpPr>
          <p:cNvPr id="82" name="TextBox 81"/>
          <p:cNvSpPr txBox="1"/>
          <p:nvPr/>
        </p:nvSpPr>
        <p:spPr>
          <a:xfrm>
            <a:off x="8202167" y="4283049"/>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3.38</a:t>
            </a:r>
          </a:p>
        </p:txBody>
      </p:sp>
      <p:sp>
        <p:nvSpPr>
          <p:cNvPr id="83" name="TextBox 82"/>
          <p:cNvSpPr txBox="1"/>
          <p:nvPr/>
        </p:nvSpPr>
        <p:spPr>
          <a:xfrm>
            <a:off x="9528047" y="4283049"/>
            <a:ext cx="1188720" cy="219456"/>
          </a:xfrm>
          <a:prstGeom prst="rect">
            <a:avLst/>
          </a:prstGeom>
          <a:noFill/>
        </p:spPr>
        <p:txBody>
          <a:bodyPr wrap="square" lIns="0" rIns="0" tIns="0" bIns="0" anchor="t">
            <a:spAutoFit/>
          </a:bodyPr>
          <a:lstStyle/>
          <a:p>
            <a:pPr algn="r">
              <a:lnSpc>
                <a:spcPct val="115000"/>
              </a:lnSpc>
            </a:pPr>
            <a:r>
              <a:rPr sz="1019" b="1" i="0">
                <a:solidFill>
                  <a:srgbClr val="FFFFFF"/>
                </a:solidFill>
                <a:latin typeface="Arial"/>
              </a:rPr>
              <a:t>3.31</a:t>
            </a:r>
          </a:p>
        </p:txBody>
      </p:sp>
      <p:sp>
        <p:nvSpPr>
          <p:cNvPr id="84" name="TextBox 83"/>
          <p:cNvSpPr txBox="1"/>
          <p:nvPr/>
        </p:nvSpPr>
        <p:spPr>
          <a:xfrm>
            <a:off x="10396728" y="4283049"/>
            <a:ext cx="1188720" cy="219456"/>
          </a:xfrm>
          <a:prstGeom prst="rect">
            <a:avLst/>
          </a:prstGeom>
          <a:noFill/>
        </p:spPr>
        <p:txBody>
          <a:bodyPr wrap="square" lIns="0" rIns="0" tIns="0" bIns="0" anchor="t">
            <a:spAutoFit/>
          </a:bodyPr>
          <a:lstStyle/>
          <a:p>
            <a:pPr algn="r">
              <a:lnSpc>
                <a:spcPct val="115000"/>
              </a:lnSpc>
            </a:pPr>
            <a:r>
              <a:rPr sz="1019" b="1" i="0">
                <a:solidFill>
                  <a:srgbClr val="E4002B"/>
                </a:solidFill>
                <a:latin typeface="Arial"/>
              </a:rPr>
              <a:t>-4.69</a:t>
            </a:r>
          </a:p>
        </p:txBody>
      </p:sp>
      <p:sp>
        <p:nvSpPr>
          <p:cNvPr id="85" name="TextBox 84"/>
          <p:cNvSpPr txBox="1"/>
          <p:nvPr/>
        </p:nvSpPr>
        <p:spPr>
          <a:xfrm>
            <a:off x="768096" y="4537252"/>
            <a:ext cx="2377440" cy="219456"/>
          </a:xfrm>
          <a:prstGeom prst="rect">
            <a:avLst/>
          </a:prstGeom>
          <a:noFill/>
        </p:spPr>
        <p:txBody>
          <a:bodyPr wrap="square" lIns="0" rIns="0" tIns="0" bIns="0" anchor="t">
            <a:spAutoFit/>
          </a:bodyPr>
          <a:lstStyle/>
          <a:p>
            <a:pPr algn="l">
              <a:lnSpc>
                <a:spcPct val="115000"/>
              </a:lnSpc>
            </a:pPr>
            <a:r>
              <a:rPr sz="1019" b="1" i="0">
                <a:solidFill>
                  <a:srgbClr val="FFFFFF"/>
                </a:solidFill>
                <a:latin typeface="Arial"/>
              </a:rPr>
              <a:t>Ellgren</a:t>
            </a:r>
          </a:p>
        </p:txBody>
      </p:sp>
      <p:sp>
        <p:nvSpPr>
          <p:cNvPr id="86" name="TextBox 85"/>
          <p:cNvSpPr txBox="1"/>
          <p:nvPr/>
        </p:nvSpPr>
        <p:spPr>
          <a:xfrm>
            <a:off x="3264408" y="4537252"/>
            <a:ext cx="2651760" cy="219456"/>
          </a:xfrm>
          <a:prstGeom prst="rect">
            <a:avLst/>
          </a:prstGeom>
          <a:noFill/>
        </p:spPr>
        <p:txBody>
          <a:bodyPr wrap="square" lIns="0" rIns="0" tIns="0" bIns="0" anchor="t">
            <a:spAutoFit/>
          </a:bodyPr>
          <a:lstStyle/>
          <a:p>
            <a:pPr algn="l">
              <a:lnSpc>
                <a:spcPct val="115000"/>
              </a:lnSpc>
            </a:pPr>
            <a:r>
              <a:rPr sz="1019" b="0" i="0">
                <a:solidFill>
                  <a:srgbClr val="8D9AB0"/>
                </a:solidFill>
                <a:latin typeface="Arial"/>
              </a:rPr>
              <a:t>Socks front</a:t>
            </a:r>
          </a:p>
        </p:txBody>
      </p:sp>
      <p:sp>
        <p:nvSpPr>
          <p:cNvPr id="87" name="TextBox 86"/>
          <p:cNvSpPr txBox="1"/>
          <p:nvPr/>
        </p:nvSpPr>
        <p:spPr>
          <a:xfrm>
            <a:off x="5367528" y="4537252"/>
            <a:ext cx="1188720" cy="219456"/>
          </a:xfrm>
          <a:prstGeom prst="rect">
            <a:avLst/>
          </a:prstGeom>
          <a:noFill/>
        </p:spPr>
        <p:txBody>
          <a:bodyPr wrap="square" lIns="0" rIns="0" tIns="0" bIns="0" anchor="t">
            <a:spAutoFit/>
          </a:bodyPr>
          <a:lstStyle/>
          <a:p>
            <a:pPr algn="r">
              <a:lnSpc>
                <a:spcPct val="115000"/>
              </a:lnSpc>
            </a:pPr>
            <a:r>
              <a:rPr sz="1019" b="0" i="0">
                <a:solidFill>
                  <a:srgbClr val="8D9AB0"/>
                </a:solidFill>
                <a:latin typeface="Arial"/>
              </a:rPr>
              <a:t>1</a:t>
            </a:r>
          </a:p>
        </p:txBody>
      </p:sp>
      <p:sp>
        <p:nvSpPr>
          <p:cNvPr id="88" name="TextBox 87"/>
          <p:cNvSpPr txBox="1"/>
          <p:nvPr/>
        </p:nvSpPr>
        <p:spPr>
          <a:xfrm>
            <a:off x="6784847" y="4537252"/>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2.82</a:t>
            </a:r>
          </a:p>
        </p:txBody>
      </p:sp>
      <p:sp>
        <p:nvSpPr>
          <p:cNvPr id="89" name="TextBox 88"/>
          <p:cNvSpPr txBox="1"/>
          <p:nvPr/>
        </p:nvSpPr>
        <p:spPr>
          <a:xfrm>
            <a:off x="8202167" y="4537252"/>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2.22</a:t>
            </a:r>
          </a:p>
        </p:txBody>
      </p:sp>
      <p:sp>
        <p:nvSpPr>
          <p:cNvPr id="90" name="TextBox 89"/>
          <p:cNvSpPr txBox="1"/>
          <p:nvPr/>
        </p:nvSpPr>
        <p:spPr>
          <a:xfrm>
            <a:off x="9528047" y="4537252"/>
            <a:ext cx="1188720" cy="219456"/>
          </a:xfrm>
          <a:prstGeom prst="rect">
            <a:avLst/>
          </a:prstGeom>
          <a:noFill/>
        </p:spPr>
        <p:txBody>
          <a:bodyPr wrap="square" lIns="0" rIns="0" tIns="0" bIns="0" anchor="t">
            <a:spAutoFit/>
          </a:bodyPr>
          <a:lstStyle/>
          <a:p>
            <a:pPr algn="r">
              <a:lnSpc>
                <a:spcPct val="115000"/>
              </a:lnSpc>
            </a:pPr>
            <a:r>
              <a:rPr sz="1019" b="1" i="0">
                <a:solidFill>
                  <a:srgbClr val="FFFFFF"/>
                </a:solidFill>
                <a:latin typeface="Arial"/>
              </a:rPr>
              <a:t>2.52</a:t>
            </a:r>
          </a:p>
        </p:txBody>
      </p:sp>
      <p:sp>
        <p:nvSpPr>
          <p:cNvPr id="91" name="TextBox 90"/>
          <p:cNvSpPr txBox="1"/>
          <p:nvPr/>
        </p:nvSpPr>
        <p:spPr>
          <a:xfrm>
            <a:off x="10396728" y="4537252"/>
            <a:ext cx="1188720" cy="219456"/>
          </a:xfrm>
          <a:prstGeom prst="rect">
            <a:avLst/>
          </a:prstGeom>
          <a:noFill/>
        </p:spPr>
        <p:txBody>
          <a:bodyPr wrap="square" lIns="0" rIns="0" tIns="0" bIns="0" anchor="t">
            <a:spAutoFit/>
          </a:bodyPr>
          <a:lstStyle/>
          <a:p>
            <a:pPr algn="r">
              <a:lnSpc>
                <a:spcPct val="115000"/>
              </a:lnSpc>
            </a:pPr>
            <a:r>
              <a:rPr sz="1019" b="1" i="0">
                <a:solidFill>
                  <a:srgbClr val="2ECC8F"/>
                </a:solidFill>
                <a:latin typeface="Arial"/>
              </a:rPr>
              <a:t>+1.52</a:t>
            </a:r>
          </a:p>
        </p:txBody>
      </p:sp>
      <p:sp>
        <p:nvSpPr>
          <p:cNvPr id="92" name="Rectangle 91"/>
          <p:cNvSpPr/>
          <p:nvPr/>
        </p:nvSpPr>
        <p:spPr>
          <a:xfrm>
            <a:off x="566928" y="4754880"/>
            <a:ext cx="11058113" cy="254203"/>
          </a:xfrm>
          <a:prstGeom prst="rect">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768096" y="4791456"/>
            <a:ext cx="2377440" cy="219456"/>
          </a:xfrm>
          <a:prstGeom prst="rect">
            <a:avLst/>
          </a:prstGeom>
          <a:noFill/>
        </p:spPr>
        <p:txBody>
          <a:bodyPr wrap="square" lIns="0" rIns="0" tIns="0" bIns="0" anchor="t">
            <a:spAutoFit/>
          </a:bodyPr>
          <a:lstStyle/>
          <a:p>
            <a:pPr algn="l">
              <a:lnSpc>
                <a:spcPct val="115000"/>
              </a:lnSpc>
            </a:pPr>
            <a:r>
              <a:rPr sz="1019" b="1" i="0">
                <a:solidFill>
                  <a:srgbClr val="FFFFFF"/>
                </a:solidFill>
                <a:latin typeface="Arial"/>
              </a:rPr>
              <a:t>EM Workwear</a:t>
            </a:r>
          </a:p>
        </p:txBody>
      </p:sp>
      <p:sp>
        <p:nvSpPr>
          <p:cNvPr id="94" name="TextBox 93"/>
          <p:cNvSpPr txBox="1"/>
          <p:nvPr/>
        </p:nvSpPr>
        <p:spPr>
          <a:xfrm>
            <a:off x="3264408" y="4791456"/>
            <a:ext cx="2651760" cy="219456"/>
          </a:xfrm>
          <a:prstGeom prst="rect">
            <a:avLst/>
          </a:prstGeom>
          <a:noFill/>
        </p:spPr>
        <p:txBody>
          <a:bodyPr wrap="square" lIns="0" rIns="0" tIns="0" bIns="0" anchor="t">
            <a:spAutoFit/>
          </a:bodyPr>
          <a:lstStyle/>
          <a:p>
            <a:pPr algn="l">
              <a:lnSpc>
                <a:spcPct val="115000"/>
              </a:lnSpc>
            </a:pPr>
            <a:r>
              <a:rPr sz="1019" b="0" i="0">
                <a:solidFill>
                  <a:srgbClr val="8D9AB0"/>
                </a:solidFill>
                <a:latin typeface="Arial"/>
              </a:rPr>
              <a:t>Socks back</a:t>
            </a:r>
          </a:p>
        </p:txBody>
      </p:sp>
      <p:sp>
        <p:nvSpPr>
          <p:cNvPr id="95" name="TextBox 94"/>
          <p:cNvSpPr txBox="1"/>
          <p:nvPr/>
        </p:nvSpPr>
        <p:spPr>
          <a:xfrm>
            <a:off x="5367528" y="4791456"/>
            <a:ext cx="1188720" cy="219456"/>
          </a:xfrm>
          <a:prstGeom prst="rect">
            <a:avLst/>
          </a:prstGeom>
          <a:noFill/>
        </p:spPr>
        <p:txBody>
          <a:bodyPr wrap="square" lIns="0" rIns="0" tIns="0" bIns="0" anchor="t">
            <a:spAutoFit/>
          </a:bodyPr>
          <a:lstStyle/>
          <a:p>
            <a:pPr algn="r">
              <a:lnSpc>
                <a:spcPct val="115000"/>
              </a:lnSpc>
            </a:pPr>
            <a:r>
              <a:rPr sz="1019" b="0" i="0">
                <a:solidFill>
                  <a:srgbClr val="8D9AB0"/>
                </a:solidFill>
                <a:latin typeface="Arial"/>
              </a:rPr>
              <a:t>1</a:t>
            </a:r>
          </a:p>
        </p:txBody>
      </p:sp>
      <p:sp>
        <p:nvSpPr>
          <p:cNvPr id="96" name="TextBox 95"/>
          <p:cNvSpPr txBox="1"/>
          <p:nvPr/>
        </p:nvSpPr>
        <p:spPr>
          <a:xfrm>
            <a:off x="6784847" y="4791456"/>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2.68</a:t>
            </a:r>
          </a:p>
        </p:txBody>
      </p:sp>
      <p:sp>
        <p:nvSpPr>
          <p:cNvPr id="97" name="TextBox 96"/>
          <p:cNvSpPr txBox="1"/>
          <p:nvPr/>
        </p:nvSpPr>
        <p:spPr>
          <a:xfrm>
            <a:off x="8202167" y="4791456"/>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2.05</a:t>
            </a:r>
          </a:p>
        </p:txBody>
      </p:sp>
      <p:sp>
        <p:nvSpPr>
          <p:cNvPr id="98" name="TextBox 97"/>
          <p:cNvSpPr txBox="1"/>
          <p:nvPr/>
        </p:nvSpPr>
        <p:spPr>
          <a:xfrm>
            <a:off x="9528047" y="4791456"/>
            <a:ext cx="1188720" cy="219456"/>
          </a:xfrm>
          <a:prstGeom prst="rect">
            <a:avLst/>
          </a:prstGeom>
          <a:noFill/>
        </p:spPr>
        <p:txBody>
          <a:bodyPr wrap="square" lIns="0" rIns="0" tIns="0" bIns="0" anchor="t">
            <a:spAutoFit/>
          </a:bodyPr>
          <a:lstStyle/>
          <a:p>
            <a:pPr algn="r">
              <a:lnSpc>
                <a:spcPct val="115000"/>
              </a:lnSpc>
            </a:pPr>
            <a:r>
              <a:rPr sz="1019" b="1" i="0">
                <a:solidFill>
                  <a:srgbClr val="FFFFFF"/>
                </a:solidFill>
                <a:latin typeface="Arial"/>
              </a:rPr>
              <a:t>2.37</a:t>
            </a:r>
          </a:p>
        </p:txBody>
      </p:sp>
      <p:sp>
        <p:nvSpPr>
          <p:cNvPr id="99" name="TextBox 98"/>
          <p:cNvSpPr txBox="1"/>
          <p:nvPr/>
        </p:nvSpPr>
        <p:spPr>
          <a:xfrm>
            <a:off x="10396728" y="4791456"/>
            <a:ext cx="1188720" cy="219456"/>
          </a:xfrm>
          <a:prstGeom prst="rect">
            <a:avLst/>
          </a:prstGeom>
          <a:noFill/>
        </p:spPr>
        <p:txBody>
          <a:bodyPr wrap="square" lIns="0" rIns="0" tIns="0" bIns="0" anchor="t">
            <a:spAutoFit/>
          </a:bodyPr>
          <a:lstStyle/>
          <a:p>
            <a:pPr algn="r">
              <a:lnSpc>
                <a:spcPct val="115000"/>
              </a:lnSpc>
            </a:pPr>
            <a:r>
              <a:rPr sz="1019" b="1" i="0">
                <a:solidFill>
                  <a:srgbClr val="2ECC8F"/>
                </a:solidFill>
                <a:latin typeface="Arial"/>
              </a:rPr>
              <a:t>+1.37</a:t>
            </a:r>
          </a:p>
        </p:txBody>
      </p:sp>
      <p:sp>
        <p:nvSpPr>
          <p:cNvPr id="100" name="TextBox 99"/>
          <p:cNvSpPr txBox="1"/>
          <p:nvPr/>
        </p:nvSpPr>
        <p:spPr>
          <a:xfrm>
            <a:off x="768096" y="5045659"/>
            <a:ext cx="2377440" cy="219456"/>
          </a:xfrm>
          <a:prstGeom prst="rect">
            <a:avLst/>
          </a:prstGeom>
          <a:noFill/>
        </p:spPr>
        <p:txBody>
          <a:bodyPr wrap="square" lIns="0" rIns="0" tIns="0" bIns="0" anchor="t">
            <a:spAutoFit/>
          </a:bodyPr>
          <a:lstStyle/>
          <a:p>
            <a:pPr algn="l">
              <a:lnSpc>
                <a:spcPct val="115000"/>
              </a:lnSpc>
            </a:pPr>
            <a:r>
              <a:rPr sz="1019" b="1" i="0">
                <a:solidFill>
                  <a:srgbClr val="FFFFFF"/>
                </a:solidFill>
                <a:latin typeface="Arial"/>
              </a:rPr>
              <a:t>ATM Hospitality</a:t>
            </a:r>
          </a:p>
        </p:txBody>
      </p:sp>
      <p:sp>
        <p:nvSpPr>
          <p:cNvPr id="101" name="TextBox 100"/>
          <p:cNvSpPr txBox="1"/>
          <p:nvPr/>
        </p:nvSpPr>
        <p:spPr>
          <a:xfrm>
            <a:off x="3264408" y="5045659"/>
            <a:ext cx="2651760" cy="219456"/>
          </a:xfrm>
          <a:prstGeom prst="rect">
            <a:avLst/>
          </a:prstGeom>
          <a:noFill/>
        </p:spPr>
        <p:txBody>
          <a:bodyPr wrap="square" lIns="0" rIns="0" tIns="0" bIns="0" anchor="t">
            <a:spAutoFit/>
          </a:bodyPr>
          <a:lstStyle/>
          <a:p>
            <a:pPr algn="l">
              <a:lnSpc>
                <a:spcPct val="115000"/>
              </a:lnSpc>
            </a:pPr>
            <a:r>
              <a:rPr sz="1019" b="0" i="0">
                <a:solidFill>
                  <a:srgbClr val="8D9AB0"/>
                </a:solidFill>
                <a:latin typeface="Arial"/>
              </a:rPr>
              <a:t>Sleeve 2</a:t>
            </a:r>
          </a:p>
        </p:txBody>
      </p:sp>
      <p:sp>
        <p:nvSpPr>
          <p:cNvPr id="102" name="TextBox 101"/>
          <p:cNvSpPr txBox="1"/>
          <p:nvPr/>
        </p:nvSpPr>
        <p:spPr>
          <a:xfrm>
            <a:off x="5367528" y="5045659"/>
            <a:ext cx="1188720" cy="219456"/>
          </a:xfrm>
          <a:prstGeom prst="rect">
            <a:avLst/>
          </a:prstGeom>
          <a:noFill/>
        </p:spPr>
        <p:txBody>
          <a:bodyPr wrap="square" lIns="0" rIns="0" tIns="0" bIns="0" anchor="t">
            <a:spAutoFit/>
          </a:bodyPr>
          <a:lstStyle/>
          <a:p>
            <a:pPr algn="r">
              <a:lnSpc>
                <a:spcPct val="115000"/>
              </a:lnSpc>
            </a:pPr>
            <a:r>
              <a:rPr sz="1019" b="0" i="0">
                <a:solidFill>
                  <a:srgbClr val="8D9AB0"/>
                </a:solidFill>
                <a:latin typeface="Arial"/>
              </a:rPr>
              <a:t>11</a:t>
            </a:r>
          </a:p>
        </p:txBody>
      </p:sp>
      <p:sp>
        <p:nvSpPr>
          <p:cNvPr id="103" name="TextBox 102"/>
          <p:cNvSpPr txBox="1"/>
          <p:nvPr/>
        </p:nvSpPr>
        <p:spPr>
          <a:xfrm>
            <a:off x="6784847" y="5045659"/>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1.80</a:t>
            </a:r>
          </a:p>
        </p:txBody>
      </p:sp>
      <p:sp>
        <p:nvSpPr>
          <p:cNvPr id="104" name="TextBox 103"/>
          <p:cNvSpPr txBox="1"/>
          <p:nvPr/>
        </p:nvSpPr>
        <p:spPr>
          <a:xfrm>
            <a:off x="8202167" y="5045659"/>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2.53</a:t>
            </a:r>
          </a:p>
        </p:txBody>
      </p:sp>
      <p:sp>
        <p:nvSpPr>
          <p:cNvPr id="105" name="TextBox 104"/>
          <p:cNvSpPr txBox="1"/>
          <p:nvPr/>
        </p:nvSpPr>
        <p:spPr>
          <a:xfrm>
            <a:off x="9528047" y="5045659"/>
            <a:ext cx="1188720" cy="219456"/>
          </a:xfrm>
          <a:prstGeom prst="rect">
            <a:avLst/>
          </a:prstGeom>
          <a:noFill/>
        </p:spPr>
        <p:txBody>
          <a:bodyPr wrap="square" lIns="0" rIns="0" tIns="0" bIns="0" anchor="t">
            <a:spAutoFit/>
          </a:bodyPr>
          <a:lstStyle/>
          <a:p>
            <a:pPr algn="r">
              <a:lnSpc>
                <a:spcPct val="115000"/>
              </a:lnSpc>
            </a:pPr>
            <a:r>
              <a:rPr sz="1019" b="1" i="0">
                <a:solidFill>
                  <a:srgbClr val="FFFFFF"/>
                </a:solidFill>
                <a:latin typeface="Arial"/>
              </a:rPr>
              <a:t>2.17</a:t>
            </a:r>
          </a:p>
        </p:txBody>
      </p:sp>
      <p:sp>
        <p:nvSpPr>
          <p:cNvPr id="106" name="TextBox 105"/>
          <p:cNvSpPr txBox="1"/>
          <p:nvPr/>
        </p:nvSpPr>
        <p:spPr>
          <a:xfrm>
            <a:off x="10396728" y="5045659"/>
            <a:ext cx="1188720" cy="219456"/>
          </a:xfrm>
          <a:prstGeom prst="rect">
            <a:avLst/>
          </a:prstGeom>
          <a:noFill/>
        </p:spPr>
        <p:txBody>
          <a:bodyPr wrap="square" lIns="0" rIns="0" tIns="0" bIns="0" anchor="t">
            <a:spAutoFit/>
          </a:bodyPr>
          <a:lstStyle/>
          <a:p>
            <a:pPr algn="r">
              <a:lnSpc>
                <a:spcPct val="115000"/>
              </a:lnSpc>
            </a:pPr>
            <a:r>
              <a:rPr sz="1019" b="1" i="0">
                <a:solidFill>
                  <a:srgbClr val="E4002B"/>
                </a:solidFill>
                <a:latin typeface="Arial"/>
              </a:rPr>
              <a:t>-8.84</a:t>
            </a:r>
          </a:p>
        </p:txBody>
      </p:sp>
      <p:sp>
        <p:nvSpPr>
          <p:cNvPr id="107" name="Rectangle 106"/>
          <p:cNvSpPr/>
          <p:nvPr/>
        </p:nvSpPr>
        <p:spPr>
          <a:xfrm>
            <a:off x="566928" y="5263286"/>
            <a:ext cx="11058113" cy="254203"/>
          </a:xfrm>
          <a:prstGeom prst="rect">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Box 107"/>
          <p:cNvSpPr txBox="1"/>
          <p:nvPr/>
        </p:nvSpPr>
        <p:spPr>
          <a:xfrm>
            <a:off x="768096" y="5299862"/>
            <a:ext cx="2377440" cy="219456"/>
          </a:xfrm>
          <a:prstGeom prst="rect">
            <a:avLst/>
          </a:prstGeom>
          <a:noFill/>
        </p:spPr>
        <p:txBody>
          <a:bodyPr wrap="square" lIns="0" rIns="0" tIns="0" bIns="0" anchor="t">
            <a:spAutoFit/>
          </a:bodyPr>
          <a:lstStyle/>
          <a:p>
            <a:pPr algn="l">
              <a:lnSpc>
                <a:spcPct val="115000"/>
              </a:lnSpc>
            </a:pPr>
            <a:r>
              <a:rPr sz="1019" b="1" i="0">
                <a:solidFill>
                  <a:srgbClr val="FFFFFF"/>
                </a:solidFill>
                <a:latin typeface="Arial"/>
              </a:rPr>
              <a:t>MNA Support Services</a:t>
            </a:r>
          </a:p>
        </p:txBody>
      </p:sp>
      <p:sp>
        <p:nvSpPr>
          <p:cNvPr id="109" name="TextBox 108"/>
          <p:cNvSpPr txBox="1"/>
          <p:nvPr/>
        </p:nvSpPr>
        <p:spPr>
          <a:xfrm>
            <a:off x="3264408" y="5299862"/>
            <a:ext cx="2651760" cy="219456"/>
          </a:xfrm>
          <a:prstGeom prst="rect">
            <a:avLst/>
          </a:prstGeom>
          <a:noFill/>
        </p:spPr>
        <p:txBody>
          <a:bodyPr wrap="square" lIns="0" rIns="0" tIns="0" bIns="0" anchor="t">
            <a:spAutoFit/>
          </a:bodyPr>
          <a:lstStyle/>
          <a:p>
            <a:pPr algn="l">
              <a:lnSpc>
                <a:spcPct val="115000"/>
              </a:lnSpc>
            </a:pPr>
            <a:r>
              <a:rPr sz="1019" b="0" i="0">
                <a:solidFill>
                  <a:srgbClr val="8D9AB0"/>
                </a:solidFill>
                <a:latin typeface="Arial"/>
              </a:rPr>
              <a:t>Collar Back</a:t>
            </a:r>
          </a:p>
        </p:txBody>
      </p:sp>
      <p:sp>
        <p:nvSpPr>
          <p:cNvPr id="110" name="TextBox 109"/>
          <p:cNvSpPr txBox="1"/>
          <p:nvPr/>
        </p:nvSpPr>
        <p:spPr>
          <a:xfrm>
            <a:off x="5367528" y="5299862"/>
            <a:ext cx="1188720" cy="219456"/>
          </a:xfrm>
          <a:prstGeom prst="rect">
            <a:avLst/>
          </a:prstGeom>
          <a:noFill/>
        </p:spPr>
        <p:txBody>
          <a:bodyPr wrap="square" lIns="0" rIns="0" tIns="0" bIns="0" anchor="t">
            <a:spAutoFit/>
          </a:bodyPr>
          <a:lstStyle/>
          <a:p>
            <a:pPr algn="r">
              <a:lnSpc>
                <a:spcPct val="115000"/>
              </a:lnSpc>
            </a:pPr>
            <a:r>
              <a:rPr sz="1019" b="0" i="0">
                <a:solidFill>
                  <a:srgbClr val="8D9AB0"/>
                </a:solidFill>
                <a:latin typeface="Arial"/>
              </a:rPr>
              <a:t>8</a:t>
            </a:r>
          </a:p>
        </p:txBody>
      </p:sp>
      <p:sp>
        <p:nvSpPr>
          <p:cNvPr id="111" name="TextBox 110"/>
          <p:cNvSpPr txBox="1"/>
          <p:nvPr/>
        </p:nvSpPr>
        <p:spPr>
          <a:xfrm>
            <a:off x="6784847" y="5299862"/>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2.08</a:t>
            </a:r>
          </a:p>
        </p:txBody>
      </p:sp>
      <p:sp>
        <p:nvSpPr>
          <p:cNvPr id="112" name="TextBox 111"/>
          <p:cNvSpPr txBox="1"/>
          <p:nvPr/>
        </p:nvSpPr>
        <p:spPr>
          <a:xfrm>
            <a:off x="8202167" y="5299862"/>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2.23</a:t>
            </a:r>
          </a:p>
        </p:txBody>
      </p:sp>
      <p:sp>
        <p:nvSpPr>
          <p:cNvPr id="113" name="TextBox 112"/>
          <p:cNvSpPr txBox="1"/>
          <p:nvPr/>
        </p:nvSpPr>
        <p:spPr>
          <a:xfrm>
            <a:off x="9528047" y="5299862"/>
            <a:ext cx="1188720" cy="219456"/>
          </a:xfrm>
          <a:prstGeom prst="rect">
            <a:avLst/>
          </a:prstGeom>
          <a:noFill/>
        </p:spPr>
        <p:txBody>
          <a:bodyPr wrap="square" lIns="0" rIns="0" tIns="0" bIns="0" anchor="t">
            <a:spAutoFit/>
          </a:bodyPr>
          <a:lstStyle/>
          <a:p>
            <a:pPr algn="r">
              <a:lnSpc>
                <a:spcPct val="115000"/>
              </a:lnSpc>
            </a:pPr>
            <a:r>
              <a:rPr sz="1019" b="1" i="0">
                <a:solidFill>
                  <a:srgbClr val="FFFFFF"/>
                </a:solidFill>
                <a:latin typeface="Arial"/>
              </a:rPr>
              <a:t>2.16</a:t>
            </a:r>
          </a:p>
        </p:txBody>
      </p:sp>
      <p:sp>
        <p:nvSpPr>
          <p:cNvPr id="114" name="TextBox 113"/>
          <p:cNvSpPr txBox="1"/>
          <p:nvPr/>
        </p:nvSpPr>
        <p:spPr>
          <a:xfrm>
            <a:off x="10396728" y="5299862"/>
            <a:ext cx="1188720" cy="219456"/>
          </a:xfrm>
          <a:prstGeom prst="rect">
            <a:avLst/>
          </a:prstGeom>
          <a:noFill/>
        </p:spPr>
        <p:txBody>
          <a:bodyPr wrap="square" lIns="0" rIns="0" tIns="0" bIns="0" anchor="t">
            <a:spAutoFit/>
          </a:bodyPr>
          <a:lstStyle/>
          <a:p>
            <a:pPr algn="r">
              <a:lnSpc>
                <a:spcPct val="115000"/>
              </a:lnSpc>
            </a:pPr>
            <a:r>
              <a:rPr sz="1019" b="1" i="0">
                <a:solidFill>
                  <a:srgbClr val="E4002B"/>
                </a:solidFill>
                <a:latin typeface="Arial"/>
              </a:rPr>
              <a:t>-5.84</a:t>
            </a:r>
          </a:p>
        </p:txBody>
      </p:sp>
      <p:sp>
        <p:nvSpPr>
          <p:cNvPr id="115" name="TextBox 114"/>
          <p:cNvSpPr txBox="1"/>
          <p:nvPr/>
        </p:nvSpPr>
        <p:spPr>
          <a:xfrm>
            <a:off x="768096" y="5554065"/>
            <a:ext cx="2377440" cy="219456"/>
          </a:xfrm>
          <a:prstGeom prst="rect">
            <a:avLst/>
          </a:prstGeom>
          <a:noFill/>
        </p:spPr>
        <p:txBody>
          <a:bodyPr wrap="square" lIns="0" rIns="0" tIns="0" bIns="0" anchor="t">
            <a:spAutoFit/>
          </a:bodyPr>
          <a:lstStyle/>
          <a:p>
            <a:pPr algn="l">
              <a:lnSpc>
                <a:spcPct val="115000"/>
              </a:lnSpc>
            </a:pPr>
            <a:r>
              <a:rPr sz="1019" b="1" i="0">
                <a:solidFill>
                  <a:srgbClr val="FFFFFF"/>
                </a:solidFill>
                <a:latin typeface="Arial"/>
              </a:rPr>
              <a:t>MCP</a:t>
            </a:r>
          </a:p>
        </p:txBody>
      </p:sp>
      <p:sp>
        <p:nvSpPr>
          <p:cNvPr id="116" name="TextBox 115"/>
          <p:cNvSpPr txBox="1"/>
          <p:nvPr/>
        </p:nvSpPr>
        <p:spPr>
          <a:xfrm>
            <a:off x="3264408" y="5554065"/>
            <a:ext cx="2651760" cy="219456"/>
          </a:xfrm>
          <a:prstGeom prst="rect">
            <a:avLst/>
          </a:prstGeom>
          <a:noFill/>
        </p:spPr>
        <p:txBody>
          <a:bodyPr wrap="square" lIns="0" rIns="0" tIns="0" bIns="0" anchor="t">
            <a:spAutoFit/>
          </a:bodyPr>
          <a:lstStyle/>
          <a:p>
            <a:pPr algn="l">
              <a:lnSpc>
                <a:spcPct val="115000"/>
              </a:lnSpc>
            </a:pPr>
            <a:r>
              <a:rPr sz="1019" b="0" i="0">
                <a:solidFill>
                  <a:srgbClr val="8D9AB0"/>
                </a:solidFill>
                <a:latin typeface="Arial"/>
              </a:rPr>
              <a:t>Top Back</a:t>
            </a:r>
          </a:p>
        </p:txBody>
      </p:sp>
      <p:sp>
        <p:nvSpPr>
          <p:cNvPr id="117" name="TextBox 116"/>
          <p:cNvSpPr txBox="1"/>
          <p:nvPr/>
        </p:nvSpPr>
        <p:spPr>
          <a:xfrm>
            <a:off x="5367528" y="5554065"/>
            <a:ext cx="1188720" cy="219456"/>
          </a:xfrm>
          <a:prstGeom prst="rect">
            <a:avLst/>
          </a:prstGeom>
          <a:noFill/>
        </p:spPr>
        <p:txBody>
          <a:bodyPr wrap="square" lIns="0" rIns="0" tIns="0" bIns="0" anchor="t">
            <a:spAutoFit/>
          </a:bodyPr>
          <a:lstStyle/>
          <a:p>
            <a:pPr algn="r">
              <a:lnSpc>
                <a:spcPct val="115000"/>
              </a:lnSpc>
            </a:pPr>
            <a:r>
              <a:rPr sz="1019" b="0" i="0">
                <a:solidFill>
                  <a:srgbClr val="8D9AB0"/>
                </a:solidFill>
                <a:latin typeface="Arial"/>
              </a:rPr>
              <a:t>5</a:t>
            </a:r>
          </a:p>
        </p:txBody>
      </p:sp>
      <p:sp>
        <p:nvSpPr>
          <p:cNvPr id="118" name="TextBox 117"/>
          <p:cNvSpPr txBox="1"/>
          <p:nvPr/>
        </p:nvSpPr>
        <p:spPr>
          <a:xfrm>
            <a:off x="6784847" y="5554065"/>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2.08</a:t>
            </a:r>
          </a:p>
        </p:txBody>
      </p:sp>
      <p:sp>
        <p:nvSpPr>
          <p:cNvPr id="119" name="TextBox 118"/>
          <p:cNvSpPr txBox="1"/>
          <p:nvPr/>
        </p:nvSpPr>
        <p:spPr>
          <a:xfrm>
            <a:off x="8202167" y="5554065"/>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2.23</a:t>
            </a:r>
          </a:p>
        </p:txBody>
      </p:sp>
      <p:sp>
        <p:nvSpPr>
          <p:cNvPr id="120" name="TextBox 119"/>
          <p:cNvSpPr txBox="1"/>
          <p:nvPr/>
        </p:nvSpPr>
        <p:spPr>
          <a:xfrm>
            <a:off x="9528047" y="5554065"/>
            <a:ext cx="1188720" cy="219456"/>
          </a:xfrm>
          <a:prstGeom prst="rect">
            <a:avLst/>
          </a:prstGeom>
          <a:noFill/>
        </p:spPr>
        <p:txBody>
          <a:bodyPr wrap="square" lIns="0" rIns="0" tIns="0" bIns="0" anchor="t">
            <a:spAutoFit/>
          </a:bodyPr>
          <a:lstStyle/>
          <a:p>
            <a:pPr algn="r">
              <a:lnSpc>
                <a:spcPct val="115000"/>
              </a:lnSpc>
            </a:pPr>
            <a:r>
              <a:rPr sz="1019" b="1" i="0">
                <a:solidFill>
                  <a:srgbClr val="FFFFFF"/>
                </a:solidFill>
                <a:latin typeface="Arial"/>
              </a:rPr>
              <a:t>2.16</a:t>
            </a:r>
          </a:p>
        </p:txBody>
      </p:sp>
      <p:sp>
        <p:nvSpPr>
          <p:cNvPr id="121" name="TextBox 120"/>
          <p:cNvSpPr txBox="1"/>
          <p:nvPr/>
        </p:nvSpPr>
        <p:spPr>
          <a:xfrm>
            <a:off x="10396728" y="5554065"/>
            <a:ext cx="1188720" cy="219456"/>
          </a:xfrm>
          <a:prstGeom prst="rect">
            <a:avLst/>
          </a:prstGeom>
          <a:noFill/>
        </p:spPr>
        <p:txBody>
          <a:bodyPr wrap="square" lIns="0" rIns="0" tIns="0" bIns="0" anchor="t">
            <a:spAutoFit/>
          </a:bodyPr>
          <a:lstStyle/>
          <a:p>
            <a:pPr algn="r">
              <a:lnSpc>
                <a:spcPct val="115000"/>
              </a:lnSpc>
            </a:pPr>
            <a:r>
              <a:rPr sz="1019" b="1" i="0">
                <a:solidFill>
                  <a:srgbClr val="E4002B"/>
                </a:solidFill>
                <a:latin typeface="Arial"/>
              </a:rPr>
              <a:t>-2.84</a:t>
            </a:r>
          </a:p>
        </p:txBody>
      </p:sp>
      <p:sp>
        <p:nvSpPr>
          <p:cNvPr id="122" name="Rectangle 121"/>
          <p:cNvSpPr/>
          <p:nvPr/>
        </p:nvSpPr>
        <p:spPr>
          <a:xfrm>
            <a:off x="566928" y="5771692"/>
            <a:ext cx="11058113" cy="254203"/>
          </a:xfrm>
          <a:prstGeom prst="rect">
            <a:avLst/>
          </a:prstGeom>
          <a:solidFill>
            <a:srgbClr val="161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TextBox 122"/>
          <p:cNvSpPr txBox="1"/>
          <p:nvPr/>
        </p:nvSpPr>
        <p:spPr>
          <a:xfrm>
            <a:off x="768096" y="5808268"/>
            <a:ext cx="2377440" cy="219456"/>
          </a:xfrm>
          <a:prstGeom prst="rect">
            <a:avLst/>
          </a:prstGeom>
          <a:noFill/>
        </p:spPr>
        <p:txBody>
          <a:bodyPr wrap="square" lIns="0" rIns="0" tIns="0" bIns="0" anchor="t">
            <a:spAutoFit/>
          </a:bodyPr>
          <a:lstStyle/>
          <a:p>
            <a:pPr algn="l">
              <a:lnSpc>
                <a:spcPct val="115000"/>
              </a:lnSpc>
            </a:pPr>
            <a:r>
              <a:rPr sz="1019" b="1" i="0">
                <a:solidFill>
                  <a:srgbClr val="FFFFFF"/>
                </a:solidFill>
                <a:latin typeface="Arial"/>
              </a:rPr>
              <a:t>Fairway</a:t>
            </a:r>
          </a:p>
        </p:txBody>
      </p:sp>
      <p:sp>
        <p:nvSpPr>
          <p:cNvPr id="124" name="TextBox 123"/>
          <p:cNvSpPr txBox="1"/>
          <p:nvPr/>
        </p:nvSpPr>
        <p:spPr>
          <a:xfrm>
            <a:off x="3264408" y="5808268"/>
            <a:ext cx="2651760" cy="219456"/>
          </a:xfrm>
          <a:prstGeom prst="rect">
            <a:avLst/>
          </a:prstGeom>
          <a:noFill/>
        </p:spPr>
        <p:txBody>
          <a:bodyPr wrap="square" lIns="0" rIns="0" tIns="0" bIns="0" anchor="t">
            <a:spAutoFit/>
          </a:bodyPr>
          <a:lstStyle/>
          <a:p>
            <a:pPr algn="l">
              <a:lnSpc>
                <a:spcPct val="115000"/>
              </a:lnSpc>
            </a:pPr>
            <a:r>
              <a:rPr sz="1019" b="0" i="0">
                <a:solidFill>
                  <a:srgbClr val="8D9AB0"/>
                </a:solidFill>
                <a:latin typeface="Arial"/>
              </a:rPr>
              <a:t>Nape Neck</a:t>
            </a:r>
          </a:p>
        </p:txBody>
      </p:sp>
      <p:sp>
        <p:nvSpPr>
          <p:cNvPr id="125" name="TextBox 124"/>
          <p:cNvSpPr txBox="1"/>
          <p:nvPr/>
        </p:nvSpPr>
        <p:spPr>
          <a:xfrm>
            <a:off x="5367528" y="5808268"/>
            <a:ext cx="1188720" cy="219456"/>
          </a:xfrm>
          <a:prstGeom prst="rect">
            <a:avLst/>
          </a:prstGeom>
          <a:noFill/>
        </p:spPr>
        <p:txBody>
          <a:bodyPr wrap="square" lIns="0" rIns="0" tIns="0" bIns="0" anchor="t">
            <a:spAutoFit/>
          </a:bodyPr>
          <a:lstStyle/>
          <a:p>
            <a:pPr algn="r">
              <a:lnSpc>
                <a:spcPct val="115000"/>
              </a:lnSpc>
            </a:pPr>
            <a:r>
              <a:rPr sz="1019" b="0" i="0">
                <a:solidFill>
                  <a:srgbClr val="8D9AB0"/>
                </a:solidFill>
                <a:latin typeface="Arial"/>
              </a:rPr>
              <a:t>3</a:t>
            </a:r>
          </a:p>
        </p:txBody>
      </p:sp>
      <p:sp>
        <p:nvSpPr>
          <p:cNvPr id="126" name="TextBox 125"/>
          <p:cNvSpPr txBox="1"/>
          <p:nvPr/>
        </p:nvSpPr>
        <p:spPr>
          <a:xfrm>
            <a:off x="6784847" y="5808268"/>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2.08</a:t>
            </a:r>
          </a:p>
        </p:txBody>
      </p:sp>
      <p:sp>
        <p:nvSpPr>
          <p:cNvPr id="127" name="TextBox 126"/>
          <p:cNvSpPr txBox="1"/>
          <p:nvPr/>
        </p:nvSpPr>
        <p:spPr>
          <a:xfrm>
            <a:off x="8202167" y="5808268"/>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2.23</a:t>
            </a:r>
          </a:p>
        </p:txBody>
      </p:sp>
      <p:sp>
        <p:nvSpPr>
          <p:cNvPr id="128" name="TextBox 127"/>
          <p:cNvSpPr txBox="1"/>
          <p:nvPr/>
        </p:nvSpPr>
        <p:spPr>
          <a:xfrm>
            <a:off x="9528047" y="5808268"/>
            <a:ext cx="1188720" cy="219456"/>
          </a:xfrm>
          <a:prstGeom prst="rect">
            <a:avLst/>
          </a:prstGeom>
          <a:noFill/>
        </p:spPr>
        <p:txBody>
          <a:bodyPr wrap="square" lIns="0" rIns="0" tIns="0" bIns="0" anchor="t">
            <a:spAutoFit/>
          </a:bodyPr>
          <a:lstStyle/>
          <a:p>
            <a:pPr algn="r">
              <a:lnSpc>
                <a:spcPct val="115000"/>
              </a:lnSpc>
            </a:pPr>
            <a:r>
              <a:rPr sz="1019" b="1" i="0">
                <a:solidFill>
                  <a:srgbClr val="FFFFFF"/>
                </a:solidFill>
                <a:latin typeface="Arial"/>
              </a:rPr>
              <a:t>2.16</a:t>
            </a:r>
          </a:p>
        </p:txBody>
      </p:sp>
      <p:sp>
        <p:nvSpPr>
          <p:cNvPr id="129" name="TextBox 128"/>
          <p:cNvSpPr txBox="1"/>
          <p:nvPr/>
        </p:nvSpPr>
        <p:spPr>
          <a:xfrm>
            <a:off x="10396728" y="5808268"/>
            <a:ext cx="1188720" cy="219456"/>
          </a:xfrm>
          <a:prstGeom prst="rect">
            <a:avLst/>
          </a:prstGeom>
          <a:noFill/>
        </p:spPr>
        <p:txBody>
          <a:bodyPr wrap="square" lIns="0" rIns="0" tIns="0" bIns="0" anchor="t">
            <a:spAutoFit/>
          </a:bodyPr>
          <a:lstStyle/>
          <a:p>
            <a:pPr algn="r">
              <a:lnSpc>
                <a:spcPct val="115000"/>
              </a:lnSpc>
            </a:pPr>
            <a:r>
              <a:rPr sz="1019" b="1" i="0">
                <a:solidFill>
                  <a:srgbClr val="E4002B"/>
                </a:solidFill>
                <a:latin typeface="Arial"/>
              </a:rPr>
              <a:t>-0.84</a:t>
            </a:r>
          </a:p>
        </p:txBody>
      </p:sp>
      <p:sp>
        <p:nvSpPr>
          <p:cNvPr id="130" name="TextBox 129"/>
          <p:cNvSpPr txBox="1"/>
          <p:nvPr/>
        </p:nvSpPr>
        <p:spPr>
          <a:xfrm>
            <a:off x="768096" y="6062472"/>
            <a:ext cx="2377440" cy="219456"/>
          </a:xfrm>
          <a:prstGeom prst="rect">
            <a:avLst/>
          </a:prstGeom>
          <a:noFill/>
        </p:spPr>
        <p:txBody>
          <a:bodyPr wrap="square" lIns="0" rIns="0" tIns="0" bIns="0" anchor="t">
            <a:spAutoFit/>
          </a:bodyPr>
          <a:lstStyle/>
          <a:p>
            <a:pPr algn="l">
              <a:lnSpc>
                <a:spcPct val="115000"/>
              </a:lnSpc>
            </a:pPr>
            <a:r>
              <a:rPr sz="1019" b="1" i="0">
                <a:solidFill>
                  <a:srgbClr val="FFFFFF"/>
                </a:solidFill>
                <a:latin typeface="Arial"/>
              </a:rPr>
              <a:t>Romantica</a:t>
            </a:r>
          </a:p>
        </p:txBody>
      </p:sp>
      <p:sp>
        <p:nvSpPr>
          <p:cNvPr id="131" name="TextBox 130"/>
          <p:cNvSpPr txBox="1"/>
          <p:nvPr/>
        </p:nvSpPr>
        <p:spPr>
          <a:xfrm>
            <a:off x="3264408" y="6062472"/>
            <a:ext cx="2651760" cy="219456"/>
          </a:xfrm>
          <a:prstGeom prst="rect">
            <a:avLst/>
          </a:prstGeom>
          <a:noFill/>
        </p:spPr>
        <p:txBody>
          <a:bodyPr wrap="square" lIns="0" rIns="0" tIns="0" bIns="0" anchor="t">
            <a:spAutoFit/>
          </a:bodyPr>
          <a:lstStyle/>
          <a:p>
            <a:pPr algn="l">
              <a:lnSpc>
                <a:spcPct val="115000"/>
              </a:lnSpc>
            </a:pPr>
            <a:r>
              <a:rPr sz="1019" b="0" i="0">
                <a:solidFill>
                  <a:srgbClr val="8D9AB0"/>
                </a:solidFill>
                <a:latin typeface="Arial"/>
              </a:rPr>
              <a:t>Chest (opp Badge)</a:t>
            </a:r>
          </a:p>
        </p:txBody>
      </p:sp>
      <p:sp>
        <p:nvSpPr>
          <p:cNvPr id="132" name="TextBox 131"/>
          <p:cNvSpPr txBox="1"/>
          <p:nvPr/>
        </p:nvSpPr>
        <p:spPr>
          <a:xfrm>
            <a:off x="5367528" y="6062472"/>
            <a:ext cx="1188720" cy="219456"/>
          </a:xfrm>
          <a:prstGeom prst="rect">
            <a:avLst/>
          </a:prstGeom>
          <a:noFill/>
        </p:spPr>
        <p:txBody>
          <a:bodyPr wrap="square" lIns="0" rIns="0" tIns="0" bIns="0" anchor="t">
            <a:spAutoFit/>
          </a:bodyPr>
          <a:lstStyle/>
          <a:p>
            <a:pPr algn="r">
              <a:lnSpc>
                <a:spcPct val="115000"/>
              </a:lnSpc>
            </a:pPr>
            <a:r>
              <a:rPr sz="1019" b="0" i="0">
                <a:solidFill>
                  <a:srgbClr val="8D9AB0"/>
                </a:solidFill>
                <a:latin typeface="Arial"/>
              </a:rPr>
              <a:t>7</a:t>
            </a:r>
          </a:p>
        </p:txBody>
      </p:sp>
      <p:sp>
        <p:nvSpPr>
          <p:cNvPr id="133" name="TextBox 132"/>
          <p:cNvSpPr txBox="1"/>
          <p:nvPr/>
        </p:nvSpPr>
        <p:spPr>
          <a:xfrm>
            <a:off x="6784847" y="6062472"/>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1.77</a:t>
            </a:r>
          </a:p>
        </p:txBody>
      </p:sp>
      <p:sp>
        <p:nvSpPr>
          <p:cNvPr id="134" name="TextBox 133"/>
          <p:cNvSpPr txBox="1"/>
          <p:nvPr/>
        </p:nvSpPr>
        <p:spPr>
          <a:xfrm>
            <a:off x="8202167" y="6062472"/>
            <a:ext cx="1188720" cy="219456"/>
          </a:xfrm>
          <a:prstGeom prst="rect">
            <a:avLst/>
          </a:prstGeom>
          <a:noFill/>
        </p:spPr>
        <p:txBody>
          <a:bodyPr wrap="square" lIns="0" rIns="0" tIns="0" bIns="0" anchor="t">
            <a:spAutoFit/>
          </a:bodyPr>
          <a:lstStyle/>
          <a:p>
            <a:pPr algn="r">
              <a:lnSpc>
                <a:spcPct val="115000"/>
              </a:lnSpc>
            </a:pPr>
            <a:r>
              <a:rPr sz="1019" b="0" i="0">
                <a:solidFill>
                  <a:srgbClr val="E7ECF4"/>
                </a:solidFill>
                <a:latin typeface="Arial"/>
              </a:rPr>
              <a:t>2.41</a:t>
            </a:r>
          </a:p>
        </p:txBody>
      </p:sp>
      <p:sp>
        <p:nvSpPr>
          <p:cNvPr id="135" name="TextBox 134"/>
          <p:cNvSpPr txBox="1"/>
          <p:nvPr/>
        </p:nvSpPr>
        <p:spPr>
          <a:xfrm>
            <a:off x="9528047" y="6062472"/>
            <a:ext cx="1188720" cy="219456"/>
          </a:xfrm>
          <a:prstGeom prst="rect">
            <a:avLst/>
          </a:prstGeom>
          <a:noFill/>
        </p:spPr>
        <p:txBody>
          <a:bodyPr wrap="square" lIns="0" rIns="0" tIns="0" bIns="0" anchor="t">
            <a:spAutoFit/>
          </a:bodyPr>
          <a:lstStyle/>
          <a:p>
            <a:pPr algn="r">
              <a:lnSpc>
                <a:spcPct val="115000"/>
              </a:lnSpc>
            </a:pPr>
            <a:r>
              <a:rPr sz="1019" b="1" i="0">
                <a:solidFill>
                  <a:srgbClr val="FFFFFF"/>
                </a:solidFill>
                <a:latin typeface="Arial"/>
              </a:rPr>
              <a:t>2.09</a:t>
            </a:r>
          </a:p>
        </p:txBody>
      </p:sp>
      <p:sp>
        <p:nvSpPr>
          <p:cNvPr id="136" name="TextBox 135"/>
          <p:cNvSpPr txBox="1"/>
          <p:nvPr/>
        </p:nvSpPr>
        <p:spPr>
          <a:xfrm>
            <a:off x="10396728" y="6062472"/>
            <a:ext cx="1188720" cy="219456"/>
          </a:xfrm>
          <a:prstGeom prst="rect">
            <a:avLst/>
          </a:prstGeom>
          <a:noFill/>
        </p:spPr>
        <p:txBody>
          <a:bodyPr wrap="square" lIns="0" rIns="0" tIns="0" bIns="0" anchor="t">
            <a:spAutoFit/>
          </a:bodyPr>
          <a:lstStyle/>
          <a:p>
            <a:pPr algn="r">
              <a:lnSpc>
                <a:spcPct val="115000"/>
              </a:lnSpc>
            </a:pPr>
            <a:r>
              <a:rPr sz="1019" b="1" i="0">
                <a:solidFill>
                  <a:srgbClr val="E4002B"/>
                </a:solidFill>
                <a:latin typeface="Arial"/>
              </a:rPr>
              <a:t>-4.91</a:t>
            </a:r>
          </a:p>
        </p:txBody>
      </p:sp>
      <p:sp>
        <p:nvSpPr>
          <p:cNvPr id="137" name="TextBox 136"/>
          <p:cNvSpPr txBox="1"/>
          <p:nvPr/>
        </p:nvSpPr>
        <p:spPr>
          <a:xfrm>
            <a:off x="566928" y="6382512"/>
            <a:ext cx="10509473" cy="274320"/>
          </a:xfrm>
          <a:prstGeom prst="rect">
            <a:avLst/>
          </a:prstGeom>
          <a:noFill/>
        </p:spPr>
        <p:txBody>
          <a:bodyPr wrap="square" lIns="0" rIns="0" tIns="0" bIns="0" anchor="t">
            <a:spAutoFit/>
          </a:bodyPr>
          <a:lstStyle/>
          <a:p>
            <a:pPr algn="l">
              <a:lnSpc>
                <a:spcPct val="125000"/>
              </a:lnSpc>
            </a:pPr>
            <a:r>
              <a:rPr sz="860" b="0" i="0">
                <a:solidFill>
                  <a:srgbClr val="5E6C82"/>
                </a:solidFill>
                <a:latin typeface="Arial"/>
              </a:rPr>
              <a:t>Source: LogoLens full-match analysis of two complete Bradford Bulls broadcasts (home kit 2025/26), sampled at 2 frames per second. Club allocation = current management percentage; it totals 95%, LogoLens totals 100%.</a:t>
            </a:r>
          </a:p>
        </p:txBody>
      </p:sp>
      <p:sp>
        <p:nvSpPr>
          <p:cNvPr id="138" name="TextBox 137"/>
          <p:cNvSpPr txBox="1"/>
          <p:nvPr/>
        </p:nvSpPr>
        <p:spPr>
          <a:xfrm>
            <a:off x="10984961" y="6382512"/>
            <a:ext cx="640080" cy="237744"/>
          </a:xfrm>
          <a:prstGeom prst="rect">
            <a:avLst/>
          </a:prstGeom>
          <a:noFill/>
        </p:spPr>
        <p:txBody>
          <a:bodyPr wrap="square" lIns="0" rIns="0" tIns="0" bIns="0" anchor="t">
            <a:spAutoFit/>
          </a:bodyPr>
          <a:lstStyle/>
          <a:p>
            <a:pPr algn="r">
              <a:lnSpc>
                <a:spcPct val="115000"/>
              </a:lnSpc>
            </a:pPr>
            <a:r>
              <a:rPr sz="1000" b="0" i="0">
                <a:solidFill>
                  <a:srgbClr val="5E6C82"/>
                </a:solidFill>
                <a:latin typeface="Arial"/>
              </a:rP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